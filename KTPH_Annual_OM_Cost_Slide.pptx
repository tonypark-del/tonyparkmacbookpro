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3 · Smart diaper system" id="{fb51254b-d17e-17ae-b8ef-907f9b28a92d}">
          <p14:sldIdLst>
            <p14:sldId id="25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Maintenance_Cost_Basis_v2_EN.xlsx, sheet 'Annual Cost Schedule' (figures recalculated in build_cost_slide.js from the Year-1 inputs and the 5.0% escalation; they reproduce the sheet exactly).
ISO/IEC 27001/27017/27018 (added 2026-10-07): Year 1 initial certification S$8,000; Years 2, 3, 5 surveillance audits at 1/3 and Year 4 recertification at 2/3 of the initial audit (ISO/IEC 17021-1 / IAF MD 5 three-year cycle), plus the 5% escalation. Note the public Data Protection Notice states certification is targeted for H1 2027.
Labour is charged once: total O&amp;M labour of 36,000 in Year 1 = Item 6 preventive maintenance 19,200 + subscription portion 16,800 (sheet 'Labour Split Check').
Escalation of 5% is built in because MA Clause 13.1 does not permit the Charges to be adjusted during the term.
OPEN POINTS BEFORE ISSUE (internal - do not show to KTPH): (1) The Summary sheet says Year-1 penetration testing was removed (Year-1 operating cost 76,800; five-year operating 454,539; total 468,825), but the Annual Cost Schedule still carries 12,000 in Year 1 (88,800; 466,539; 480,825) and its own remark says the pre-deployment test is absorbed in the System price. This slide follows the schedule; set PENTEST_Y1 = 0 in build_cost_slide.js to follow the Summary. (2) Initial set-up 14,285.71 has no derivation; shown in amber. (3) The Summary header says WH 40 sensors (140 total) while the contract draft total is 135 (KTPH 60 / TTSH 40 / WH 35). (4) The cost is 2.16x the Oct 2025 quotation (210,000 over five years); the Remarks Wording sheet attributes this to the Synapxe cloud security requirements. Keep the INTERNAL action-list sheet out of any external copy.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40080"/>
            <a:ext cx="110916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MONIT  |  KTPH-RFP-26-165-MJ  |  Discussion document — Confidential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46520"/>
            <a:ext cx="66751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46520"/>
            <a:ext cx="66751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9260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3 · SMART DIAPER SYSTEM</a:t>
            </a:r>
            <a:endParaRPr lang="en-US" sz="1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Five-year operating and maintenance cost is S$489.7k, with 5% annual escalation built in so charges stay fixed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0350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Source: MONIT cost basis (Rev. 2, 16 Sep 2026); Master Agreement Clause 13.1 (Charges fixed for the term). SGD, ex-GST, rounded; 5.0% a year from Year 2. ISO: Y1 initial certification; Y2, Y3, Y5 surveillance (1/3) and Y4 recertification (2/3) of the initial audit, per ISO/IEC 17021-1.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2651760" cy="9144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6" name="Shape 4"/>
          <p:cNvSpPr/>
          <p:nvPr/>
        </p:nvSpPr>
        <p:spPr>
          <a:xfrm>
            <a:off x="713232" y="1801368"/>
            <a:ext cx="512064" cy="51206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1938528"/>
            <a:ext cx="237744" cy="23774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371600" y="1691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S$97.9k</a:t>
            </a:r>
            <a:endParaRPr lang="en-US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1371600" y="2148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Average operating cost / year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361944" y="1600200"/>
            <a:ext cx="2651760" cy="9144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1" name="Shape 8"/>
          <p:cNvSpPr/>
          <p:nvPr/>
        </p:nvSpPr>
        <p:spPr>
          <a:xfrm>
            <a:off x="3526536" y="1801368"/>
            <a:ext cx="512064" cy="51206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3696" y="1938528"/>
            <a:ext cx="237744" cy="23774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184904" y="1691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S$489.7k</a:t>
            </a:r>
            <a:endParaRPr lang="en-US" sz="2600" dirty="0"/>
          </a:p>
        </p:txBody>
      </p:sp>
      <p:sp>
        <p:nvSpPr>
          <p:cNvPr id="14" name="Text 10"/>
          <p:cNvSpPr txBox="1"/>
          <p:nvPr/>
        </p:nvSpPr>
        <p:spPr>
          <a:xfrm>
            <a:off x="4184904" y="2148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Five-year operating cost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75248" y="1600200"/>
            <a:ext cx="2651760" cy="9144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16" name="Shape 12"/>
          <p:cNvSpPr/>
          <p:nvPr/>
        </p:nvSpPr>
        <p:spPr>
          <a:xfrm>
            <a:off x="6339840" y="1801368"/>
            <a:ext cx="512064" cy="51206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7000" y="1938528"/>
            <a:ext cx="237744" cy="23774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998208" y="1691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S$387.7k</a:t>
            </a:r>
            <a:endParaRPr lang="en-US" sz="2600" dirty="0"/>
          </a:p>
        </p:txBody>
      </p:sp>
      <p:sp>
        <p:nvSpPr>
          <p:cNvPr id="19" name="Text 14"/>
          <p:cNvSpPr txBox="1"/>
          <p:nvPr/>
        </p:nvSpPr>
        <p:spPr>
          <a:xfrm>
            <a:off x="6998208" y="2148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Annual subscription (79% of total)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88552" y="1600200"/>
            <a:ext cx="2651760" cy="9144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21" name="Shape 16"/>
          <p:cNvSpPr/>
          <p:nvPr/>
        </p:nvSpPr>
        <p:spPr>
          <a:xfrm>
            <a:off x="9153144" y="1801368"/>
            <a:ext cx="512064" cy="512064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0304" y="1938528"/>
            <a:ext cx="237744" cy="237744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811512" y="1691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S$102.0k</a:t>
            </a:r>
            <a:endParaRPr lang="en-US" sz="2600" dirty="0"/>
          </a:p>
        </p:txBody>
      </p:sp>
      <p:sp>
        <p:nvSpPr>
          <p:cNvPr id="24" name="Text 18"/>
          <p:cNvSpPr txBox="1"/>
          <p:nvPr/>
        </p:nvSpPr>
        <p:spPr>
          <a:xfrm>
            <a:off x="9811512" y="2148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Preventive maintenance (21% of total)</a:t>
            </a:r>
            <a:endParaRPr lang="en-US" sz="11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724912"/>
          <a:ext cx="795528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758952"/>
                <a:gridCol w="758952"/>
                <a:gridCol w="758952"/>
                <a:gridCol w="758952"/>
                <a:gridCol w="758952"/>
                <a:gridCol w="1234440"/>
              </a:tblGrid>
              <a:tr h="26517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Line item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Year 1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Year 2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Year 3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Year 4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Year 5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5-year total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2A4A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</a:rPr>
                        <a:t>Azure server (Singapore, site-isolated)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</a:rPr>
                        <a:t>24,000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</a:rPr>
                        <a:t>25,200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</a:rPr>
                        <a:t>26,460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</a:rPr>
                        <a:t>27,783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</a:rPr>
                        <a:t>29,172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</a:rPr>
                        <a:t>132,615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</a:rPr>
                        <a:t>Azure Front Door (WAF / CDN)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</a:rPr>
                        <a:t>4,800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</a:rPr>
                        <a:t>5,040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</a:rPr>
                        <a:t>5,292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</a:rPr>
                        <a:t>5,557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</a:rPr>
                        <a:t>5,834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</a:rPr>
                        <a:t>26,523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</a:rPr>
                        <a:t>MONIT SaaS platform (Azure PaaS)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</a:rPr>
                        <a:t>12,000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</a:rPr>
                        <a:t>12,600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</a:rPr>
                        <a:t>13,230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</a:rPr>
                        <a:t>13,892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</a:rPr>
                        <a:t>14,586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</a:rPr>
                        <a:t>66,308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</a:rPr>
                        <a:t>Penetration re-test (one per year)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</a:rPr>
                        <a:t>12,000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</a:rPr>
                        <a:t>7,000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</a:rPr>
                        <a:t>7,350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</a:rPr>
                        <a:t>7,718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</a:rPr>
                        <a:t>8,103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</a:rPr>
                        <a:t>42,171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</a:rPr>
                        <a:t>ISO 27001/27017/27018 certification &amp; audits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</a:rPr>
                        <a:t>8,000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</a:rPr>
                        <a:t>2,800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</a:rPr>
                        <a:t>2,940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</a:rPr>
                        <a:t>6,174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</a:rPr>
                        <a:t>3,241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</a:rPr>
                        <a:t>23,155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</a:rPr>
                        <a:t>Remote support &amp; 24×7 monitoring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</a:rPr>
                        <a:t>16,800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</a:rPr>
                        <a:t>18,000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</a:rPr>
                        <a:t>19,290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</a:rPr>
                        <a:t>20,675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</a:rPr>
                        <a:t>22,158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</a:rPr>
                        <a:t>96,923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4F8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</a:rPr>
                        <a:t>Subscription (Section 3.1) subtotal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FF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</a:rPr>
                        <a:t>77,600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FF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</a:rPr>
                        <a:t>70,640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FF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</a:rPr>
                        <a:t>74,562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FF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</a:rPr>
                        <a:t>81,797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FF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</a:rPr>
                        <a:t>83,096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FF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</a:rPr>
                        <a:t>387,695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FF1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</a:rPr>
                        <a:t>Preventive maintenance labour (Item 6)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</a:rPr>
                        <a:t>19,200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</a:rPr>
                        <a:t>19,800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</a:rPr>
                        <a:t>20,400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</a:rPr>
                        <a:t>21,000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F2937"/>
                          </a:solidFill>
                        </a:rPr>
                        <a:t>21,600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</a:rPr>
                        <a:t>102,000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Total annual operating cost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96,800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90,440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94,962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102,797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104,696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</a:rPr>
                        <a:t>489,695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4A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i="1" dirty="0">
                          <a:solidFill>
                            <a:srgbClr val="7A4F00"/>
                          </a:solidFill>
                        </a:rPr>
                        <a:t>Initial set-up (one-off) – to confirm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i="1" dirty="0">
                          <a:solidFill>
                            <a:srgbClr val="7A4F00"/>
                          </a:solidFill>
                        </a:rPr>
                        <a:t>14,286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7A4F00"/>
                          </a:solidFill>
                        </a:rPr>
                        <a:t>–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7A4F00"/>
                          </a:solidFill>
                        </a:rPr>
                        <a:t>–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7A4F00"/>
                          </a:solidFill>
                        </a:rPr>
                        <a:t>–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7A4F00"/>
                          </a:solidFill>
                        </a:rPr>
                        <a:t>–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i="1" dirty="0">
                          <a:solidFill>
                            <a:srgbClr val="7A4F00"/>
                          </a:solidFill>
                        </a:rPr>
                        <a:t>14,286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26517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</a:rPr>
                        <a:t>Total annual expenditure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FF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</a:rPr>
                        <a:t>111,086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FF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</a:rPr>
                        <a:t>90,440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FF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</a:rPr>
                        <a:t>94,962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FF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</a:rPr>
                        <a:t>102,797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FF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</a:rPr>
                        <a:t>104,696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FF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F2937"/>
                          </a:solidFill>
                        </a:rPr>
                        <a:t>503,980</a:t>
                      </a:r>
                      <a:endParaRPr lang="en-US" sz="1050" dirty="0"/>
                    </a:p>
                  </a:txBody>
                  <a:tcPr marL="73152" marR="73152" marT="27432" marB="2743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5DC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FF1"/>
                    </a:solidFill>
                  </a:tcPr>
                </a:tc>
              </a:tr>
            </a:tbl>
          </a:graphicData>
        </a:graphic>
      </p:graphicFrame>
      <p:sp>
        <p:nvSpPr>
          <p:cNvPr id="26" name="Shape 19"/>
          <p:cNvSpPr/>
          <p:nvPr/>
        </p:nvSpPr>
        <p:spPr>
          <a:xfrm>
            <a:off x="8732520" y="2724912"/>
            <a:ext cx="2907792" cy="3182112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27" name="Text 20"/>
          <p:cNvSpPr txBox="1"/>
          <p:nvPr/>
        </p:nvSpPr>
        <p:spPr>
          <a:xfrm>
            <a:off x="8915400" y="2852928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What the price covers</a:t>
            </a:r>
            <a:endParaRPr lang="en-US" sz="1400" dirty="0"/>
          </a:p>
        </p:txBody>
      </p:sp>
      <p:sp>
        <p:nvSpPr>
          <p:cNvPr id="28" name="Text 21"/>
          <p:cNvSpPr txBox="1"/>
          <p:nvPr/>
        </p:nvSpPr>
        <p:spPr>
          <a:xfrm>
            <a:off x="8915400" y="3200400"/>
            <a:ext cx="256032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chemeClr val="bg1"/>
                </a:solidFill>
              </a:rPr>
              <a:t>Hosting in Singapore with a separate tenancy for each hospital and n+1 redundancy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chemeClr val="bg1"/>
                </a:solidFill>
              </a:rPr>
              <a:t>Encrypted backup, replication and a web application firewall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chemeClr val="bg1"/>
                </a:solidFill>
              </a:rPr>
              <a:t>Annual penetration re-test by a licensed provider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chemeClr val="bg1"/>
                </a:solidFill>
              </a:rPr>
              <a:t>ISO 27001/27017/27018 certification, yearly surveillance audits and Year-4 recertification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chemeClr val="bg1"/>
                </a:solidFill>
              </a:rPr>
              <a:t>Remote support, incident response and 24×7 security monitoring</a:t>
            </a:r>
            <a:endParaRPr lang="en-US" sz="105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chemeClr val="bg1"/>
                </a:solidFill>
              </a:rPr>
              <a:t>Four preventive-maintenance rounds a year across all three hospitals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446520"/>
            <a:ext cx="667512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NIT RFP">
  <a:themeElements>
    <a:clrScheme name="MONIT RFP">
      <a:dk1>
        <a:srgbClr val="1F2937"/>
      </a:dk1>
      <a:lt1>
        <a:srgbClr val="FFFFFF"/>
      </a:lt1>
      <a:dk2>
        <a:srgbClr val="0B2A4A"/>
      </a:dk2>
      <a:lt2>
        <a:srgbClr val="F1F4F8"/>
      </a:lt2>
      <a:accent1>
        <a:srgbClr val="00A3AD"/>
      </a:accent1>
      <a:accent2>
        <a:srgbClr val="0B2A4A"/>
      </a:accent2>
      <a:accent3>
        <a:srgbClr val="F2A900"/>
      </a:accent3>
      <a:accent4>
        <a:srgbClr val="6B7A8F"/>
      </a:accent4>
      <a:accent5>
        <a:srgbClr val="2E7D6B"/>
      </a:accent5>
      <a:accent6>
        <a:srgbClr val="C0392B"/>
      </a:accent6>
      <a:hlink>
        <a:srgbClr val="00A3AD"/>
      </a:hlink>
      <a:folHlink>
        <a:srgbClr val="6B7A8F"/>
      </a:folHlink>
    </a:clrScheme>
    <a:fontScheme name="MONIT RFP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KTPH-RFP-26-165-MJ — Annual operating and maintenance cost</dc:title>
  <dc:subject>PptxGenJS Presentation</dc:subject>
  <dc:creator>MONIT</dc:creator>
  <cp:lastModifiedBy>MONIT</cp:lastModifiedBy>
  <cp:revision>1</cp:revision>
  <dcterms:created xsi:type="dcterms:W3CDTF">2026-10-07T14:19:49Z</dcterms:created>
  <dcterms:modified xsi:type="dcterms:W3CDTF">2026-10-07T14:19:49Z</dcterms:modified>
</cp:coreProperties>
</file>