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4 · Understanding of the project" id="{54b788be-e8ec-8618-2ddd-68a072fa1e05}">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the 'Proposed approach and methodology' question asks HOW MONIT will execute the project, not only how the technology works. Each card answers one evaluation question and points to the slide that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Timings marked 'MA' come from the Master Agreement; the 28-day mobilisation comes from the RFP. Durations in teal (survey window, install rate, 4-week hypercare) are MONIT proposals, not contract terms - confirm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table shows responsibilities, not headcount. Named individuals to be added in the submission. Intega Pte Ltd is the Singapore partner providing on-site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are stated as prevention measures, not as past incidents. Behind them: residents spending 4-5 hours in day rooms outside gateway range, a gateway lost after its USB adapter was bent, and a sensor registered on the tablet but not visible on the web dashboard. All were resolved on site; the checks below stop them recurring.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1672" cy="868680"/>
          </a:xfrm>
          <a:prstGeom prst="rect">
            <a:avLst/>
          </a:prstGeom>
          <a:noFill/>
          <a:ln/>
        </p:spPr>
        <p:txBody>
          <a:bodyPr wrap="square" rtlCol="0"/>
          <a:lstStyle>
            <a:lvl1pPr algn="l" indent="0" marL="0">
              <a:buNone/>
              <a:defRPr lang="en-US" sz="2200" b="1" dirty="0">
                <a:solidFill>
                  <a:schemeClr val="tx2"/>
                </a:solidFill>
              </a:defRPr>
            </a:lvl1pPr>
          </a:lstStyle>
          <a:p>
            <a:pPr algn="l" indent="0" marL="0">
              <a:buNone/>
            </a:pPr>
            <a:endParaRPr lang="en-US" sz="2200" dirty="0"/>
          </a:p>
        </p:txBody>
      </p:sp>
      <p:sp>
        <p:nvSpPr>
          <p:cNvPr id="3" name="Text 0"/>
          <p:cNvSpPr/>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chemeClr val="accent4"/>
                </a:solidFill>
              </a:rPr>
              <a:t>MONIT  |  KTPH-RFP-26-165-MJ  |  Discussion document — Confidential</a:t>
            </a:r>
            <a:endParaRPr lang="en-US" sz="9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Our approach is built to answer the four questions KTPH will use to judge delivery risk</a:t>
            </a:r>
            <a:endParaRPr lang="en-US" sz="2200" dirty="0"/>
          </a:p>
        </p:txBody>
      </p:sp>
      <p:sp>
        <p:nvSpPr>
          <p:cNvPr id="4" name="Text 2"/>
          <p:cNvSpPr txBox="1"/>
          <p:nvPr/>
        </p:nvSpPr>
        <p:spPr>
          <a:xfrm>
            <a:off x="548640" y="6199632"/>
            <a:ext cx="11064240" cy="201168"/>
          </a:xfrm>
          <a:prstGeom prst="rect">
            <a:avLst/>
          </a:prstGeom>
          <a:noFill/>
          <a:ln/>
        </p:spPr>
        <p:txBody>
          <a:bodyPr wrap="square" lIns="0" tIns="0" rIns="0" bIns="0" rtlCol="0" anchor="t"/>
          <a:lstStyle/>
          <a:p>
            <a:pPr indent="0" marL="0">
              <a:buNone/>
            </a:pPr>
            <a:r>
              <a:rPr lang="en-US" sz="900" dirty="0">
                <a:solidFill>
                  <a:schemeClr val="accent4"/>
                </a:solidFill>
              </a:rPr>
              <a:t>Source: RFP Section 1 (28-day mobilisation); Master Agreement Clauses 4, 12, 23 and Schedule 2; MONIT field experience in Singapore (2025–2026).</a:t>
            </a:r>
            <a:endParaRPr lang="en-US" sz="900" dirty="0"/>
          </a:p>
        </p:txBody>
      </p:sp>
      <p:sp>
        <p:nvSpPr>
          <p:cNvPr id="6" name="Shape 3"/>
          <p:cNvSpPr/>
          <p:nvPr/>
        </p:nvSpPr>
        <p:spPr>
          <a:xfrm>
            <a:off x="548640" y="1645920"/>
            <a:ext cx="5468112" cy="2121408"/>
          </a:xfrm>
          <a:prstGeom prst="rect">
            <a:avLst/>
          </a:prstGeom>
          <a:solidFill>
            <a:schemeClr val="bg2"/>
          </a:solidFill>
          <a:ln/>
        </p:spPr>
      </p:sp>
      <p:sp>
        <p:nvSpPr>
          <p:cNvPr id="7" name="Shape 4"/>
          <p:cNvSpPr/>
          <p:nvPr/>
        </p:nvSpPr>
        <p:spPr>
          <a:xfrm>
            <a:off x="731520" y="1828800"/>
            <a:ext cx="475488" cy="475488"/>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850392" y="1947672"/>
            <a:ext cx="237744" cy="237744"/>
          </a:xfrm>
          <a:prstGeom prst="rect">
            <a:avLst/>
          </a:prstGeom>
        </p:spPr>
      </p:pic>
      <p:sp>
        <p:nvSpPr>
          <p:cNvPr id="9" name="Text 5"/>
          <p:cNvSpPr txBox="1"/>
          <p:nvPr/>
        </p:nvSpPr>
        <p:spPr>
          <a:xfrm>
            <a:off x="1325880" y="1828800"/>
            <a:ext cx="3364992" cy="475488"/>
          </a:xfrm>
          <a:prstGeom prst="rect">
            <a:avLst/>
          </a:prstGeom>
          <a:noFill/>
          <a:ln/>
        </p:spPr>
        <p:txBody>
          <a:bodyPr wrap="square" lIns="0" tIns="0" rIns="0" bIns="0" rtlCol="0" anchor="ctr"/>
          <a:lstStyle/>
          <a:p>
            <a:pPr indent="0" marL="0">
              <a:buNone/>
            </a:pPr>
            <a:r>
              <a:rPr lang="en-US" sz="1500" b="1" dirty="0">
                <a:solidFill>
                  <a:schemeClr val="tx2"/>
                </a:solidFill>
              </a:rPr>
              <a:t>A credible plan</a:t>
            </a:r>
            <a:endParaRPr lang="en-US" sz="1500" dirty="0"/>
          </a:p>
        </p:txBody>
      </p:sp>
      <p:sp>
        <p:nvSpPr>
          <p:cNvPr id="10" name="Text 6"/>
          <p:cNvSpPr txBox="1"/>
          <p:nvPr/>
        </p:nvSpPr>
        <p:spPr>
          <a:xfrm>
            <a:off x="4690872" y="1828800"/>
            <a:ext cx="1143000" cy="475488"/>
          </a:xfrm>
          <a:prstGeom prst="rect">
            <a:avLst/>
          </a:prstGeom>
          <a:noFill/>
          <a:ln/>
        </p:spPr>
        <p:txBody>
          <a:bodyPr wrap="square" lIns="0" tIns="0" rIns="0" bIns="0" rtlCol="0" anchor="ctr"/>
          <a:lstStyle/>
          <a:p>
            <a:pPr algn="r" indent="0" marL="0">
              <a:buNone/>
            </a:pPr>
            <a:r>
              <a:rPr lang="en-US" sz="1000" b="1" dirty="0">
                <a:solidFill>
                  <a:schemeClr val="accent1"/>
                </a:solidFill>
              </a:rPr>
              <a:t>Next slide</a:t>
            </a:r>
            <a:endParaRPr lang="en-US" sz="1000" dirty="0"/>
          </a:p>
        </p:txBody>
      </p:sp>
      <p:sp>
        <p:nvSpPr>
          <p:cNvPr id="11" name="Text 7"/>
          <p:cNvSpPr txBox="1"/>
          <p:nvPr/>
        </p:nvSpPr>
        <p:spPr>
          <a:xfrm>
            <a:off x="731520" y="2423160"/>
            <a:ext cx="5102352" cy="411480"/>
          </a:xfrm>
          <a:prstGeom prst="rect">
            <a:avLst/>
          </a:prstGeom>
          <a:noFill/>
          <a:ln/>
        </p:spPr>
        <p:txBody>
          <a:bodyPr wrap="square" lIns="0" tIns="0" rIns="0" bIns="0" rtlCol="0" anchor="t"/>
          <a:lstStyle/>
          <a:p>
            <a:pPr indent="0" marL="0">
              <a:buNone/>
            </a:pPr>
            <a:r>
              <a:rPr lang="en-US" sz="1100" b="1" dirty="0">
                <a:solidFill>
                  <a:srgbClr val="6B7A8F"/>
                </a:solidFill>
              </a:rPr>
              <a:t>KTPH asks:  </a:t>
            </a:r>
            <a:pPr indent="0" marL="0">
              <a:buNone/>
            </a:pPr>
            <a:r>
              <a:rPr lang="en-US" sz="1100" i="1" dirty="0">
                <a:solidFill>
                  <a:srgbClr val="6B7A8F"/>
                </a:solidFill>
              </a:rPr>
              <a:t>Can MONIT explain who does what, in which order, and to what standard?</a:t>
            </a:r>
            <a:endParaRPr lang="en-US" sz="1100" dirty="0"/>
          </a:p>
        </p:txBody>
      </p:sp>
      <p:sp>
        <p:nvSpPr>
          <p:cNvPr id="12" name="Text 8"/>
          <p:cNvSpPr txBox="1"/>
          <p:nvPr/>
        </p:nvSpPr>
        <p:spPr>
          <a:xfrm>
            <a:off x="731520" y="2862072"/>
            <a:ext cx="5102352" cy="81381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Six phases from Letter of Award to hand-over, each with a deliverable and a sign-off</a:t>
            </a:r>
            <a:endParaRPr lang="en-US" sz="1200" dirty="0"/>
          </a:p>
          <a:p>
            <a:pPr marL="152400" indent="-152400">
              <a:spcAft>
                <a:spcPts val="400"/>
              </a:spcAft>
              <a:buSzPct val="100000"/>
              <a:buChar char="•"/>
            </a:pPr>
            <a:r>
              <a:rPr lang="en-US" sz="1200" dirty="0">
                <a:solidFill>
                  <a:schemeClr val="tx1"/>
                </a:solidFill>
              </a:rPr>
              <a:t>One MONIT project manager as single point of contact</a:t>
            </a:r>
            <a:endParaRPr lang="en-US" sz="1200" dirty="0"/>
          </a:p>
        </p:txBody>
      </p:sp>
      <p:sp>
        <p:nvSpPr>
          <p:cNvPr id="13" name="Shape 9"/>
          <p:cNvSpPr/>
          <p:nvPr/>
        </p:nvSpPr>
        <p:spPr>
          <a:xfrm>
            <a:off x="6172200" y="1645920"/>
            <a:ext cx="5468112" cy="2121408"/>
          </a:xfrm>
          <a:prstGeom prst="rect">
            <a:avLst/>
          </a:prstGeom>
          <a:solidFill>
            <a:schemeClr val="bg2"/>
          </a:solidFill>
          <a:ln/>
        </p:spPr>
      </p:sp>
      <p:sp>
        <p:nvSpPr>
          <p:cNvPr id="14" name="Shape 10"/>
          <p:cNvSpPr/>
          <p:nvPr/>
        </p:nvSpPr>
        <p:spPr>
          <a:xfrm>
            <a:off x="6355080" y="1828800"/>
            <a:ext cx="475488" cy="475488"/>
          </a:xfrm>
          <a:prstGeom prst="ellipse">
            <a:avLst/>
          </a:prstGeom>
          <a:solidFill>
            <a:schemeClr val="tx2"/>
          </a:solidFill>
          <a:ln/>
        </p:spPr>
      </p:sp>
      <p:pic>
        <p:nvPicPr>
          <p:cNvPr id="15" name="Image 1" descr="preencoded.png">    </p:cNvPr>
          <p:cNvPicPr>
            <a:picLocks noChangeAspect="1"/>
          </p:cNvPicPr>
          <p:nvPr/>
        </p:nvPicPr>
        <p:blipFill>
          <a:blip r:embed="rId2"/>
          <a:stretch>
            <a:fillRect/>
          </a:stretch>
        </p:blipFill>
        <p:spPr>
          <a:xfrm>
            <a:off x="6473952" y="1947672"/>
            <a:ext cx="237744" cy="237744"/>
          </a:xfrm>
          <a:prstGeom prst="rect">
            <a:avLst/>
          </a:prstGeom>
        </p:spPr>
      </p:pic>
      <p:sp>
        <p:nvSpPr>
          <p:cNvPr id="16" name="Text 11"/>
          <p:cNvSpPr txBox="1"/>
          <p:nvPr/>
        </p:nvSpPr>
        <p:spPr>
          <a:xfrm>
            <a:off x="6949440" y="1828800"/>
            <a:ext cx="3364992" cy="475488"/>
          </a:xfrm>
          <a:prstGeom prst="rect">
            <a:avLst/>
          </a:prstGeom>
          <a:noFill/>
          <a:ln/>
        </p:spPr>
        <p:txBody>
          <a:bodyPr wrap="square" lIns="0" tIns="0" rIns="0" bIns="0" rtlCol="0" anchor="ctr"/>
          <a:lstStyle/>
          <a:p>
            <a:pPr indent="0" marL="0">
              <a:buNone/>
            </a:pPr>
            <a:r>
              <a:rPr lang="en-US" sz="1500" b="1" dirty="0">
                <a:solidFill>
                  <a:schemeClr val="tx2"/>
                </a:solidFill>
              </a:rPr>
              <a:t>Minimal disruption to care</a:t>
            </a:r>
            <a:endParaRPr lang="en-US" sz="1500" dirty="0"/>
          </a:p>
        </p:txBody>
      </p:sp>
      <p:sp>
        <p:nvSpPr>
          <p:cNvPr id="17" name="Text 12"/>
          <p:cNvSpPr txBox="1"/>
          <p:nvPr/>
        </p:nvSpPr>
        <p:spPr>
          <a:xfrm>
            <a:off x="10314432" y="1828800"/>
            <a:ext cx="1143000" cy="475488"/>
          </a:xfrm>
          <a:prstGeom prst="rect">
            <a:avLst/>
          </a:prstGeom>
          <a:noFill/>
          <a:ln/>
        </p:spPr>
        <p:txBody>
          <a:bodyPr wrap="square" lIns="0" tIns="0" rIns="0" bIns="0" rtlCol="0" anchor="ctr"/>
          <a:lstStyle/>
          <a:p>
            <a:pPr algn="r" indent="0" marL="0">
              <a:buNone/>
            </a:pPr>
            <a:r>
              <a:rPr lang="en-US" sz="1000" b="1" dirty="0">
                <a:solidFill>
                  <a:schemeClr val="accent1"/>
                </a:solidFill>
              </a:rPr>
              <a:t>Slides 2 and 4</a:t>
            </a:r>
            <a:endParaRPr lang="en-US" sz="1000" dirty="0"/>
          </a:p>
        </p:txBody>
      </p:sp>
      <p:sp>
        <p:nvSpPr>
          <p:cNvPr id="18" name="Text 13"/>
          <p:cNvSpPr txBox="1"/>
          <p:nvPr/>
        </p:nvSpPr>
        <p:spPr>
          <a:xfrm>
            <a:off x="6355080" y="2423160"/>
            <a:ext cx="5102352" cy="411480"/>
          </a:xfrm>
          <a:prstGeom prst="rect">
            <a:avLst/>
          </a:prstGeom>
          <a:noFill/>
          <a:ln/>
        </p:spPr>
        <p:txBody>
          <a:bodyPr wrap="square" lIns="0" tIns="0" rIns="0" bIns="0" rtlCol="0" anchor="t"/>
          <a:lstStyle/>
          <a:p>
            <a:pPr indent="0" marL="0">
              <a:buNone/>
            </a:pPr>
            <a:r>
              <a:rPr lang="en-US" sz="1100" b="1" dirty="0">
                <a:solidFill>
                  <a:srgbClr val="6B7A8F"/>
                </a:solidFill>
              </a:rPr>
              <a:t>KTPH asks:  </a:t>
            </a:r>
            <a:pPr indent="0" marL="0">
              <a:buNone/>
            </a:pPr>
            <a:r>
              <a:rPr lang="en-US" sz="1100" i="1" dirty="0">
                <a:solidFill>
                  <a:srgbClr val="6B7A8F"/>
                </a:solidFill>
              </a:rPr>
              <a:t>Will installation and go-live disturb wards, nurses and patients?</a:t>
            </a:r>
            <a:endParaRPr lang="en-US" sz="1100" dirty="0"/>
          </a:p>
        </p:txBody>
      </p:sp>
      <p:sp>
        <p:nvSpPr>
          <p:cNvPr id="19" name="Text 14"/>
          <p:cNvSpPr txBox="1"/>
          <p:nvPr/>
        </p:nvSpPr>
        <p:spPr>
          <a:xfrm>
            <a:off x="6355080" y="2862072"/>
            <a:ext cx="5102352" cy="81381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Pilot ward first at each hospital, then ward by ward at agreed times</a:t>
            </a:r>
            <a:endParaRPr lang="en-US" sz="1200" dirty="0"/>
          </a:p>
          <a:p>
            <a:pPr marL="152400" indent="-152400">
              <a:spcAft>
                <a:spcPts val="400"/>
              </a:spcAft>
              <a:buSzPct val="100000"/>
              <a:buChar char="•"/>
            </a:pPr>
            <a:r>
              <a:rPr lang="en-US" sz="1200" dirty="0">
                <a:solidFill>
                  <a:schemeClr val="tx1"/>
                </a:solidFill>
              </a:rPr>
              <a:t>Mounting follows each hospital's rules: ceiling, concealed or plug-in with no drilling</a:t>
            </a:r>
            <a:endParaRPr lang="en-US" sz="1200" dirty="0"/>
          </a:p>
        </p:txBody>
      </p:sp>
      <p:sp>
        <p:nvSpPr>
          <p:cNvPr id="20" name="Shape 15"/>
          <p:cNvSpPr/>
          <p:nvPr/>
        </p:nvSpPr>
        <p:spPr>
          <a:xfrm>
            <a:off x="548640" y="3904488"/>
            <a:ext cx="5468112" cy="2121408"/>
          </a:xfrm>
          <a:prstGeom prst="rect">
            <a:avLst/>
          </a:prstGeom>
          <a:solidFill>
            <a:schemeClr val="bg2"/>
          </a:solidFill>
          <a:ln/>
        </p:spPr>
      </p:sp>
      <p:sp>
        <p:nvSpPr>
          <p:cNvPr id="21" name="Shape 16"/>
          <p:cNvSpPr/>
          <p:nvPr/>
        </p:nvSpPr>
        <p:spPr>
          <a:xfrm>
            <a:off x="731520" y="4087368"/>
            <a:ext cx="475488" cy="475488"/>
          </a:xfrm>
          <a:prstGeom prst="ellipse">
            <a:avLst/>
          </a:prstGeom>
          <a:solidFill>
            <a:schemeClr val="tx2"/>
          </a:solidFill>
          <a:ln/>
        </p:spPr>
      </p:sp>
      <p:pic>
        <p:nvPicPr>
          <p:cNvPr id="22" name="Image 2" descr="preencoded.png">    </p:cNvPr>
          <p:cNvPicPr>
            <a:picLocks noChangeAspect="1"/>
          </p:cNvPicPr>
          <p:nvPr/>
        </p:nvPicPr>
        <p:blipFill>
          <a:blip r:embed="rId3"/>
          <a:stretch>
            <a:fillRect/>
          </a:stretch>
        </p:blipFill>
        <p:spPr>
          <a:xfrm>
            <a:off x="850392" y="4206240"/>
            <a:ext cx="237744" cy="237744"/>
          </a:xfrm>
          <a:prstGeom prst="rect">
            <a:avLst/>
          </a:prstGeom>
        </p:spPr>
      </p:pic>
      <p:sp>
        <p:nvSpPr>
          <p:cNvPr id="23" name="Text 17"/>
          <p:cNvSpPr txBox="1"/>
          <p:nvPr/>
        </p:nvSpPr>
        <p:spPr>
          <a:xfrm>
            <a:off x="1325880" y="4087368"/>
            <a:ext cx="3364992" cy="475488"/>
          </a:xfrm>
          <a:prstGeom prst="rect">
            <a:avLst/>
          </a:prstGeom>
          <a:noFill/>
          <a:ln/>
        </p:spPr>
        <p:txBody>
          <a:bodyPr wrap="square" lIns="0" tIns="0" rIns="0" bIns="0" rtlCol="0" anchor="ctr"/>
          <a:lstStyle/>
          <a:p>
            <a:pPr indent="0" marL="0">
              <a:buNone/>
            </a:pPr>
            <a:r>
              <a:rPr lang="en-US" sz="1500" b="1" dirty="0">
                <a:solidFill>
                  <a:schemeClr val="tx2"/>
                </a:solidFill>
              </a:rPr>
              <a:t>Acceptance-ready</a:t>
            </a:r>
            <a:endParaRPr lang="en-US" sz="1500" dirty="0"/>
          </a:p>
        </p:txBody>
      </p:sp>
      <p:sp>
        <p:nvSpPr>
          <p:cNvPr id="24" name="Text 18"/>
          <p:cNvSpPr txBox="1"/>
          <p:nvPr/>
        </p:nvSpPr>
        <p:spPr>
          <a:xfrm>
            <a:off x="4690872" y="4087368"/>
            <a:ext cx="1143000" cy="475488"/>
          </a:xfrm>
          <a:prstGeom prst="rect">
            <a:avLst/>
          </a:prstGeom>
          <a:noFill/>
          <a:ln/>
        </p:spPr>
        <p:txBody>
          <a:bodyPr wrap="square" lIns="0" tIns="0" rIns="0" bIns="0" rtlCol="0" anchor="ctr"/>
          <a:lstStyle/>
          <a:p>
            <a:pPr algn="r" indent="0" marL="0">
              <a:buNone/>
            </a:pPr>
            <a:r>
              <a:rPr lang="en-US" sz="1000" b="1" dirty="0">
                <a:solidFill>
                  <a:schemeClr val="accent1"/>
                </a:solidFill>
              </a:rPr>
              <a:t>Slides 2 and 3</a:t>
            </a:r>
            <a:endParaRPr lang="en-US" sz="1000" dirty="0"/>
          </a:p>
        </p:txBody>
      </p:sp>
      <p:sp>
        <p:nvSpPr>
          <p:cNvPr id="25" name="Text 19"/>
          <p:cNvSpPr txBox="1"/>
          <p:nvPr/>
        </p:nvSpPr>
        <p:spPr>
          <a:xfrm>
            <a:off x="731520" y="4681728"/>
            <a:ext cx="5102352" cy="411480"/>
          </a:xfrm>
          <a:prstGeom prst="rect">
            <a:avLst/>
          </a:prstGeom>
          <a:noFill/>
          <a:ln/>
        </p:spPr>
        <p:txBody>
          <a:bodyPr wrap="square" lIns="0" tIns="0" rIns="0" bIns="0" rtlCol="0" anchor="t"/>
          <a:lstStyle/>
          <a:p>
            <a:pPr indent="0" marL="0">
              <a:buNone/>
            </a:pPr>
            <a:r>
              <a:rPr lang="en-US" sz="1100" b="1" dirty="0">
                <a:solidFill>
                  <a:srgbClr val="6B7A8F"/>
                </a:solidFill>
              </a:rPr>
              <a:t>KTPH asks:  </a:t>
            </a:r>
            <a:pPr indent="0" marL="0">
              <a:buNone/>
            </a:pPr>
            <a:r>
              <a:rPr lang="en-US" sz="1100" i="1" dirty="0">
                <a:solidFill>
                  <a:srgbClr val="6B7A8F"/>
                </a:solidFill>
              </a:rPr>
              <a:t>Can KTPH verify quality before accepting and paying?</a:t>
            </a:r>
            <a:endParaRPr lang="en-US" sz="1100" dirty="0"/>
          </a:p>
        </p:txBody>
      </p:sp>
      <p:sp>
        <p:nvSpPr>
          <p:cNvPr id="26" name="Text 20"/>
          <p:cNvSpPr txBox="1"/>
          <p:nvPr/>
        </p:nvSpPr>
        <p:spPr>
          <a:xfrm>
            <a:off x="731520" y="5120640"/>
            <a:ext cx="5102352" cy="81381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Factory test before shipment, witnessed acceptance tests on site</a:t>
            </a:r>
            <a:endParaRPr lang="en-US" sz="1200" dirty="0"/>
          </a:p>
          <a:p>
            <a:pPr marL="152400" indent="-152400">
              <a:spcAft>
                <a:spcPts val="400"/>
              </a:spcAft>
              <a:buSzPct val="100000"/>
              <a:buChar char="•"/>
            </a:pPr>
            <a:r>
              <a:rPr lang="en-US" sz="1200" dirty="0">
                <a:solidFill>
                  <a:schemeClr val="tx1"/>
                </a:solidFill>
              </a:rPr>
              <a:t>Final Acceptance Notice per hospital; invoice only after acceptance</a:t>
            </a:r>
            <a:endParaRPr lang="en-US" sz="1200" dirty="0"/>
          </a:p>
        </p:txBody>
      </p:sp>
      <p:sp>
        <p:nvSpPr>
          <p:cNvPr id="27" name="Shape 21"/>
          <p:cNvSpPr/>
          <p:nvPr/>
        </p:nvSpPr>
        <p:spPr>
          <a:xfrm>
            <a:off x="6172200" y="3904488"/>
            <a:ext cx="5468112" cy="2121408"/>
          </a:xfrm>
          <a:prstGeom prst="rect">
            <a:avLst/>
          </a:prstGeom>
          <a:solidFill>
            <a:schemeClr val="bg2"/>
          </a:solidFill>
          <a:ln/>
        </p:spPr>
      </p:sp>
      <p:sp>
        <p:nvSpPr>
          <p:cNvPr id="28" name="Shape 22"/>
          <p:cNvSpPr/>
          <p:nvPr/>
        </p:nvSpPr>
        <p:spPr>
          <a:xfrm>
            <a:off x="6355080" y="4087368"/>
            <a:ext cx="475488" cy="475488"/>
          </a:xfrm>
          <a:prstGeom prst="ellipse">
            <a:avLst/>
          </a:prstGeom>
          <a:solidFill>
            <a:schemeClr val="tx2"/>
          </a:solidFill>
          <a:ln/>
        </p:spPr>
      </p:sp>
      <p:pic>
        <p:nvPicPr>
          <p:cNvPr id="29" name="Image 3" descr="preencoded.png">    </p:cNvPr>
          <p:cNvPicPr>
            <a:picLocks noChangeAspect="1"/>
          </p:cNvPicPr>
          <p:nvPr/>
        </p:nvPicPr>
        <p:blipFill>
          <a:blip r:embed="rId4"/>
          <a:stretch>
            <a:fillRect/>
          </a:stretch>
        </p:blipFill>
        <p:spPr>
          <a:xfrm>
            <a:off x="6473952" y="4206240"/>
            <a:ext cx="237744" cy="237744"/>
          </a:xfrm>
          <a:prstGeom prst="rect">
            <a:avLst/>
          </a:prstGeom>
        </p:spPr>
      </p:pic>
      <p:sp>
        <p:nvSpPr>
          <p:cNvPr id="30" name="Text 23"/>
          <p:cNvSpPr txBox="1"/>
          <p:nvPr/>
        </p:nvSpPr>
        <p:spPr>
          <a:xfrm>
            <a:off x="6949440" y="4087368"/>
            <a:ext cx="3364992" cy="475488"/>
          </a:xfrm>
          <a:prstGeom prst="rect">
            <a:avLst/>
          </a:prstGeom>
          <a:noFill/>
          <a:ln/>
        </p:spPr>
        <p:txBody>
          <a:bodyPr wrap="square" lIns="0" tIns="0" rIns="0" bIns="0" rtlCol="0" anchor="ctr"/>
          <a:lstStyle/>
          <a:p>
            <a:pPr indent="0" marL="0">
              <a:buNone/>
            </a:pPr>
            <a:r>
              <a:rPr lang="en-US" sz="1500" b="1" dirty="0">
                <a:solidFill>
                  <a:schemeClr val="tx2"/>
                </a:solidFill>
              </a:rPr>
              <a:t>Delivered across three hospitals</a:t>
            </a:r>
            <a:endParaRPr lang="en-US" sz="1500" dirty="0"/>
          </a:p>
        </p:txBody>
      </p:sp>
      <p:sp>
        <p:nvSpPr>
          <p:cNvPr id="31" name="Text 24"/>
          <p:cNvSpPr txBox="1"/>
          <p:nvPr/>
        </p:nvSpPr>
        <p:spPr>
          <a:xfrm>
            <a:off x="10314432" y="4087368"/>
            <a:ext cx="1143000" cy="475488"/>
          </a:xfrm>
          <a:prstGeom prst="rect">
            <a:avLst/>
          </a:prstGeom>
          <a:noFill/>
          <a:ln/>
        </p:spPr>
        <p:txBody>
          <a:bodyPr wrap="square" lIns="0" tIns="0" rIns="0" bIns="0" rtlCol="0" anchor="ctr"/>
          <a:lstStyle/>
          <a:p>
            <a:pPr algn="r" indent="0" marL="0">
              <a:buNone/>
            </a:pPr>
            <a:r>
              <a:rPr lang="en-US" sz="1000" b="1" dirty="0">
                <a:solidFill>
                  <a:schemeClr val="accent1"/>
                </a:solidFill>
              </a:rPr>
              <a:t>Slide 3</a:t>
            </a:r>
            <a:endParaRPr lang="en-US" sz="1000" dirty="0"/>
          </a:p>
        </p:txBody>
      </p:sp>
      <p:sp>
        <p:nvSpPr>
          <p:cNvPr id="32" name="Text 25"/>
          <p:cNvSpPr txBox="1"/>
          <p:nvPr/>
        </p:nvSpPr>
        <p:spPr>
          <a:xfrm>
            <a:off x="6355080" y="4681728"/>
            <a:ext cx="5102352" cy="411480"/>
          </a:xfrm>
          <a:prstGeom prst="rect">
            <a:avLst/>
          </a:prstGeom>
          <a:noFill/>
          <a:ln/>
        </p:spPr>
        <p:txBody>
          <a:bodyPr wrap="square" lIns="0" tIns="0" rIns="0" bIns="0" rtlCol="0" anchor="t"/>
          <a:lstStyle/>
          <a:p>
            <a:pPr indent="0" marL="0">
              <a:buNone/>
            </a:pPr>
            <a:r>
              <a:rPr lang="en-US" sz="1100" b="1" dirty="0">
                <a:solidFill>
                  <a:srgbClr val="6B7A8F"/>
                </a:solidFill>
              </a:rPr>
              <a:t>KTPH asks:  </a:t>
            </a:r>
            <a:pPr indent="0" marL="0">
              <a:buNone/>
            </a:pPr>
            <a:r>
              <a:rPr lang="en-US" sz="1100" i="1" dirty="0">
                <a:solidFill>
                  <a:srgbClr val="6B7A8F"/>
                </a:solidFill>
              </a:rPr>
              <a:t>Can one vendor handle KTPH, Woodlands Health and TTSH together?</a:t>
            </a:r>
            <a:endParaRPr lang="en-US" sz="1100" dirty="0"/>
          </a:p>
        </p:txBody>
      </p:sp>
      <p:sp>
        <p:nvSpPr>
          <p:cNvPr id="33" name="Text 26"/>
          <p:cNvSpPr txBox="1"/>
          <p:nvPr/>
        </p:nvSpPr>
        <p:spPr>
          <a:xfrm>
            <a:off x="6355080" y="5120640"/>
            <a:ext cx="5102352" cy="81381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Same proven pattern at all three sites, sequenced in one plan</a:t>
            </a:r>
            <a:endParaRPr lang="en-US" sz="1200" dirty="0"/>
          </a:p>
          <a:p>
            <a:pPr marL="152400" indent="-152400">
              <a:spcAft>
                <a:spcPts val="400"/>
              </a:spcAft>
              <a:buSzPct val="100000"/>
              <a:buChar char="•"/>
            </a:pPr>
            <a:r>
              <a:rPr lang="en-US" sz="1200" dirty="0">
                <a:solidFill>
                  <a:schemeClr val="tx1"/>
                </a:solidFill>
              </a:rPr>
              <a:t>MONIT engineering plus local on-site support from our Singapore partner</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Six phases take each hospital from Letter of Award to hand-over, each closed by a hospital sign-off</a:t>
            </a:r>
            <a:endParaRPr lang="en-US" sz="2200" dirty="0"/>
          </a:p>
        </p:txBody>
      </p:sp>
      <p:sp>
        <p:nvSpPr>
          <p:cNvPr id="4" name="Text 2"/>
          <p:cNvSpPr txBox="1"/>
          <p:nvPr/>
        </p:nvSpPr>
        <p:spPr>
          <a:xfrm>
            <a:off x="548640" y="6199632"/>
            <a:ext cx="11064240" cy="201168"/>
          </a:xfrm>
          <a:prstGeom prst="rect">
            <a:avLst/>
          </a:prstGeom>
          <a:noFill/>
          <a:ln/>
        </p:spPr>
        <p:txBody>
          <a:bodyPr wrap="square" lIns="0" tIns="0" rIns="0" bIns="0" rtlCol="0" anchor="t"/>
          <a:lstStyle/>
          <a:p>
            <a:pPr indent="0" marL="0">
              <a:buNone/>
            </a:pPr>
            <a:r>
              <a:rPr lang="en-US" sz="900" dirty="0">
                <a:solidFill>
                  <a:schemeClr val="accent4"/>
                </a:solidFill>
              </a:rPr>
              <a:t>Source: RFP Section 1 (mobilisation); Master Agreement Clauses 12, 23 and Schedule 2 (training, testing, acceptance, invoicing). Teal cells are MONIT proposals to be confirmed.</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417320"/>
                <a:gridCol w="3291840"/>
                <a:gridCol w="1874520"/>
                <a:gridCol w="1783080"/>
                <a:gridCol w="1353312"/>
                <a:gridCol w="1371600"/>
              </a:tblGrid>
              <a:tr h="320040">
                <a:tc>
                  <a:txBody>
                    <a:bodyPr/>
                    <a:lstStyle/>
                    <a:p>
                      <a:pPr indent="0" marL="0">
                        <a:buNone/>
                      </a:pPr>
                      <a:r>
                        <a:rPr lang="en-US" sz="1000" b="1" dirty="0">
                          <a:solidFill>
                            <a:srgbClr val="FFFFFF"/>
                          </a:solidFill>
                        </a:rPr>
                        <a:t>Phase</a:t>
                      </a:r>
                      <a:endParaRPr lang="en-US" sz="1000" dirty="0"/>
                    </a:p>
                  </a:txBody>
                  <a:tcPr marL="64008" marR="64008" marT="36576" marB="36576"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00" b="1" dirty="0">
                          <a:solidFill>
                            <a:srgbClr val="FFFFFF"/>
                          </a:solidFill>
                        </a:rPr>
                        <a:t>Key activities</a:t>
                      </a:r>
                      <a:endParaRPr lang="en-US" sz="1000" dirty="0"/>
                    </a:p>
                  </a:txBody>
                  <a:tcPr marL="64008" marR="64008" marT="36576" marB="36576"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00" b="1" dirty="0">
                          <a:solidFill>
                            <a:srgbClr val="FFFFFF"/>
                          </a:solidFill>
                        </a:rPr>
                        <a:t>MONIT deliverable</a:t>
                      </a:r>
                      <a:endParaRPr lang="en-US" sz="1000" dirty="0"/>
                    </a:p>
                  </a:txBody>
                  <a:tcPr marL="64008" marR="64008" marT="36576" marB="36576"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00" b="1" dirty="0">
                          <a:solidFill>
                            <a:srgbClr val="FFFFFF"/>
                          </a:solidFill>
                        </a:rPr>
                        <a:t>Hospital input</a:t>
                      </a:r>
                      <a:endParaRPr lang="en-US" sz="1000" dirty="0"/>
                    </a:p>
                  </a:txBody>
                  <a:tcPr marL="64008" marR="64008" marT="36576" marB="36576"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00" b="1" dirty="0">
                          <a:solidFill>
                            <a:srgbClr val="FFFFFF"/>
                          </a:solidFill>
                        </a:rPr>
                        <a:t>Sign-off</a:t>
                      </a:r>
                      <a:endParaRPr lang="en-US" sz="1000" dirty="0"/>
                    </a:p>
                  </a:txBody>
                  <a:tcPr marL="64008" marR="64008" marT="36576" marB="36576"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00" b="1" dirty="0">
                          <a:solidFill>
                            <a:srgbClr val="FFFFFF"/>
                          </a:solidFill>
                        </a:rPr>
                        <a:t>Timing</a:t>
                      </a:r>
                      <a:endParaRPr lang="en-US" sz="1000" dirty="0"/>
                    </a:p>
                  </a:txBody>
                  <a:tcPr marL="64008" marR="64008" marT="36576" marB="36576" anchor="ctr">
                    <a:lnL w="0" cap="flat" cmpd="sng" algn="ctr">
                      <a:noFill/>
                    </a:lnL>
                    <a:lnR w="0" cap="flat" cmpd="sng" algn="ctr">
                      <a:noFill/>
                    </a:lnR>
                    <a:lnT w="0" cap="flat" cmpd="sng" algn="ctr">
                      <a:noFill/>
                    </a:lnT>
                    <a:lnB w="0" cap="flat" cmpd="sng" algn="ctr">
                      <a:noFill/>
                    </a:lnB>
                    <a:solidFill>
                      <a:srgbClr val="0B2A4A"/>
                    </a:solidFill>
                  </a:tcPr>
                </a:tc>
              </a:tr>
              <a:tr h="676656">
                <a:tc>
                  <a:txBody>
                    <a:bodyPr/>
                    <a:lstStyle/>
                    <a:p>
                      <a:pPr indent="0" marL="0">
                        <a:buNone/>
                      </a:pPr>
                      <a:r>
                        <a:rPr lang="en-US" sz="1000" b="1" dirty="0">
                          <a:solidFill>
                            <a:srgbClr val="0B2A4A"/>
                          </a:solidFill>
                        </a:rPr>
                        <a:t>1  Mobilise</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Kick-off with ALPS and the three hospitals; project managers named; insurance in place</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Project plan and contact list</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Leads named for IT, nursing and facilities</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Plan agreed at kick-off</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Within 28 days of award (RFP)</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676656">
                <a:tc>
                  <a:txBody>
                    <a:bodyPr/>
                    <a:lstStyle/>
                    <a:p>
                      <a:pPr indent="0" marL="0">
                        <a:buNone/>
                      </a:pPr>
                      <a:r>
                        <a:rPr lang="en-US" sz="1000" b="1" dirty="0">
                          <a:solidFill>
                            <a:srgbClr val="0B2A4A"/>
                          </a:solidFill>
                        </a:rPr>
                        <a:t>2  Survey and design</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Review ward layouts; survey 2.4 GHz Wi-Fi and power points, including day rooms and corridors; fix the gateway count per ward</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Site design per ward: gateway positions and quantities</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Ward layouts, SSID and VLAN details, ward access</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Site design signed by hospital IT and ward</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b="1" dirty="0">
                          <a:solidFill>
                            <a:srgbClr val="0B6F76"/>
                          </a:solidFill>
                        </a:rPr>
                        <a:t>PROPOSED  </a:t>
                      </a:r>
                      <a:pPr indent="0" marL="0">
                        <a:buNone/>
                      </a:pPr>
                      <a:r>
                        <a:rPr lang="en-US" sz="1000" dirty="0">
                          <a:solidFill>
                            <a:srgbClr val="1F2937"/>
                          </a:solidFill>
                        </a:rPr>
                        <a:t>Weeks 2–4</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r>
              <a:tr h="676656">
                <a:tc>
                  <a:txBody>
                    <a:bodyPr/>
                    <a:lstStyle/>
                    <a:p>
                      <a:pPr indent="0" marL="0">
                        <a:buNone/>
                      </a:pPr>
                      <a:r>
                        <a:rPr lang="en-US" sz="1000" b="1" dirty="0">
                          <a:solidFill>
                            <a:srgbClr val="0B2A4A"/>
                          </a:solidFill>
                        </a:rPr>
                        <a:t>3  Test and deliver</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Factory test of every sensor and gateway; kits labelled by hospital and ward; advance delivery notice</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Test records and delivery note</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Receiving point and storage</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Delivery accepted</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Before installation (MA)</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676656">
                <a:tc>
                  <a:txBody>
                    <a:bodyPr/>
                    <a:lstStyle/>
                    <a:p>
                      <a:pPr indent="0" marL="0">
                        <a:buNone/>
                      </a:pPr>
                      <a:r>
                        <a:rPr lang="en-US" sz="1000" b="1" dirty="0">
                          <a:solidFill>
                            <a:srgbClr val="0B2A4A"/>
                          </a:solidFill>
                        </a:rPr>
                        <a:t>4  Install and commission</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Pilot ward first at each hospital, then ward by ward; gateways mounted to each hospital's rules; sensors registered; dashboard set up at the nurse station</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Commissioning checklist per ward</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Escorted access at agreed times; IT on call for network join</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Ward commissioning signed</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b="1" dirty="0">
                          <a:solidFill>
                            <a:srgbClr val="0B6F76"/>
                          </a:solidFill>
                        </a:rPr>
                        <a:t>PROPOSED  </a:t>
                      </a:r>
                      <a:pPr indent="0" marL="0">
                        <a:buNone/>
                      </a:pPr>
                      <a:r>
                        <a:rPr lang="en-US" sz="1000" dirty="0">
                          <a:solidFill>
                            <a:srgbClr val="1F2937"/>
                          </a:solidFill>
                        </a:rPr>
                        <a:t>1–2 wards per day</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r>
              <a:tr h="676656">
                <a:tc>
                  <a:txBody>
                    <a:bodyPr/>
                    <a:lstStyle/>
                    <a:p>
                      <a:pPr indent="0" marL="0">
                        <a:buNone/>
                      </a:pPr>
                      <a:r>
                        <a:rPr lang="en-US" sz="1000" b="1" dirty="0">
                          <a:solidFill>
                            <a:srgbClr val="0B2A4A"/>
                          </a:solidFill>
                        </a:rPr>
                        <a:t>5  Accept</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Acceptance tests witnessed by hospital staff: alerts, dashboard, connectivity, reconnection after power loss</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Test report and certificate</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Witnesses from nursing and IT</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Final Acceptance Notice per hospital</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Invoice within 7 days of acceptance (MA)</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676656">
                <a:tc>
                  <a:txBody>
                    <a:bodyPr/>
                    <a:lstStyle/>
                    <a:p>
                      <a:pPr indent="0" marL="0">
                        <a:buNone/>
                      </a:pPr>
                      <a:r>
                        <a:rPr lang="en-US" sz="1000" b="1" dirty="0">
                          <a:solidFill>
                            <a:srgbClr val="0B2A4A"/>
                          </a:solidFill>
                        </a:rPr>
                        <a:t>6  Train and stabilise</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On-site training for nurses and IT administrators; quick-reference guides; daily check of connectivity and alerts during hypercare</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Training records; hypercare report</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Staff released for training; ward nursing champions</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Hand-over to maintenance</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Plan ≤14 days of contract; training ≤14 days of delivery (MA)</a:t>
                      </a:r>
                      <a:endParaRPr lang="en-US" sz="10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bl>
          </a:graphicData>
        </a:graphic>
      </p:graphicFrame>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Clear roles, a fixed meeting rhythm and written change control keep all three hospitals on one plan</a:t>
            </a:r>
            <a:endParaRPr lang="en-US" sz="2200" dirty="0"/>
          </a:p>
        </p:txBody>
      </p:sp>
      <p:sp>
        <p:nvSpPr>
          <p:cNvPr id="4" name="Text 2"/>
          <p:cNvSpPr txBox="1"/>
          <p:nvPr/>
        </p:nvSpPr>
        <p:spPr>
          <a:xfrm>
            <a:off x="548640" y="6199632"/>
            <a:ext cx="11064240" cy="201168"/>
          </a:xfrm>
          <a:prstGeom prst="rect">
            <a:avLst/>
          </a:prstGeom>
          <a:noFill/>
          <a:ln/>
        </p:spPr>
        <p:txBody>
          <a:bodyPr wrap="square" lIns="0" tIns="0" rIns="0" bIns="0" rtlCol="0" anchor="t"/>
          <a:lstStyle/>
          <a:p>
            <a:pPr indent="0" marL="0">
              <a:buNone/>
            </a:pPr>
            <a:r>
              <a:rPr lang="en-US" sz="900" dirty="0">
                <a:solidFill>
                  <a:schemeClr val="accent4"/>
                </a:solidFill>
              </a:rPr>
              <a:t>Source: Master Agreement Clauses 4 and 23 (project managers, quarterly meetings, change control); MONIT. Teal boxes are MONIT proposals to be confirmed.</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903720" cy="914400"/>
        </p:xfrm>
        <a:graphic>
          <a:graphicData uri="http://schemas.openxmlformats.org/drawingml/2006/table">
            <a:tbl>
              <a:tblPr/>
              <a:tblGrid>
                <a:gridCol w="1737360"/>
                <a:gridCol w="1874520"/>
                <a:gridCol w="3291840"/>
              </a:tblGrid>
              <a:tr h="566928">
                <a:tc>
                  <a:txBody>
                    <a:bodyPr/>
                    <a:lstStyle/>
                    <a:p>
                      <a:pPr indent="0" marL="0">
                        <a:buNone/>
                      </a:pPr>
                      <a:r>
                        <a:rPr lang="en-US" sz="1100" b="1" dirty="0">
                          <a:solidFill>
                            <a:srgbClr val="FFFFFF"/>
                          </a:solidFill>
                        </a:rPr>
                        <a:t>Role</a:t>
                      </a:r>
                      <a:endParaRPr lang="en-US" sz="1100" dirty="0"/>
                    </a:p>
                  </a:txBody>
                  <a:tcPr marL="64008" marR="64008" marT="36576" marB="36576"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Who</a:t>
                      </a:r>
                      <a:endParaRPr lang="en-US" sz="1100" dirty="0"/>
                    </a:p>
                  </a:txBody>
                  <a:tcPr marL="64008" marR="64008" marT="36576" marB="36576"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Responsibility</a:t>
                      </a:r>
                      <a:endParaRPr lang="en-US" sz="1100" dirty="0"/>
                    </a:p>
                  </a:txBody>
                  <a:tcPr marL="64008" marR="64008" marT="36576" marB="36576" anchor="ctr">
                    <a:lnL w="0" cap="flat" cmpd="sng" algn="ctr">
                      <a:noFill/>
                    </a:lnL>
                    <a:lnR w="0" cap="flat" cmpd="sng" algn="ctr">
                      <a:noFill/>
                    </a:lnR>
                    <a:lnT w="0" cap="flat" cmpd="sng" algn="ctr">
                      <a:noFill/>
                    </a:lnT>
                    <a:lnB w="0" cap="flat" cmpd="sng" algn="ctr">
                      <a:noFill/>
                    </a:lnB>
                    <a:solidFill>
                      <a:srgbClr val="0B2A4A"/>
                    </a:solidFill>
                  </a:tcPr>
                </a:tc>
              </a:tr>
              <a:tr h="566928">
                <a:tc>
                  <a:txBody>
                    <a:bodyPr/>
                    <a:lstStyle/>
                    <a:p>
                      <a:pPr indent="0" marL="0">
                        <a:buNone/>
                      </a:pPr>
                      <a:r>
                        <a:rPr lang="en-US" sz="1100" b="1" dirty="0">
                          <a:solidFill>
                            <a:srgbClr val="0B2A4A"/>
                          </a:solidFill>
                        </a:rPr>
                        <a:t>Project manager</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MONIT</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Single point of contact; plan, progress, risks and reporting</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0B2A4A"/>
                          </a:solidFill>
                        </a:rPr>
                        <a:t>Engineering and cloud</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MONIT</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Platform set-up, security, hosting in Singapore, remote support</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566928">
                <a:tc>
                  <a:txBody>
                    <a:bodyPr/>
                    <a:lstStyle/>
                    <a:p>
                      <a:pPr indent="0" marL="0">
                        <a:buNone/>
                      </a:pPr>
                      <a:r>
                        <a:rPr lang="en-US" sz="1100" b="1" dirty="0">
                          <a:solidFill>
                            <a:srgbClr val="0B2A4A"/>
                          </a:solidFill>
                        </a:rPr>
                        <a:t>On-site support</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Intega (Singapore partner)</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Installation, on-site troubleshooting, part replacement</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0B2A4A"/>
                          </a:solidFill>
                        </a:rPr>
                        <a:t>Hospital IT</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KTPH / WH / TTSH</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2.4 GHz Wi-Fi access, network approvals, power points</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566928">
                <a:tc>
                  <a:txBody>
                    <a:bodyPr/>
                    <a:lstStyle/>
                    <a:p>
                      <a:pPr indent="0" marL="0">
                        <a:buNone/>
                      </a:pPr>
                      <a:r>
                        <a:rPr lang="en-US" sz="1100" b="1" dirty="0">
                          <a:solidFill>
                            <a:srgbClr val="0B2A4A"/>
                          </a:solidFill>
                        </a:rPr>
                        <a:t>Nursing champions</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Each ward</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Workflow sign-off, user feedback, first-line help</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0B2A4A"/>
                          </a:solidFill>
                        </a:rPr>
                        <a:t>Procurement</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ALPS / MMD</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Contract, change approval, acceptance records</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bl>
          </a:graphicData>
        </a:graphic>
      </p:graphicFrame>
      <p:sp>
        <p:nvSpPr>
          <p:cNvPr id="7" name="Shape 3"/>
          <p:cNvSpPr/>
          <p:nvPr/>
        </p:nvSpPr>
        <p:spPr>
          <a:xfrm>
            <a:off x="7680960" y="1645920"/>
            <a:ext cx="3959352" cy="1143000"/>
          </a:xfrm>
          <a:prstGeom prst="rect">
            <a:avLst/>
          </a:prstGeom>
          <a:solidFill>
            <a:schemeClr val="bg2"/>
          </a:solidFill>
          <a:ln/>
        </p:spPr>
      </p:sp>
      <p:sp>
        <p:nvSpPr>
          <p:cNvPr id="8" name="Shape 4"/>
          <p:cNvSpPr/>
          <p:nvPr/>
        </p:nvSpPr>
        <p:spPr>
          <a:xfrm>
            <a:off x="7863840" y="1783080"/>
            <a:ext cx="411480" cy="411480"/>
          </a:xfrm>
          <a:prstGeom prst="ellipse">
            <a:avLst/>
          </a:prstGeom>
          <a:solidFill>
            <a:schemeClr val="tx2"/>
          </a:solidFill>
          <a:ln/>
        </p:spPr>
      </p:sp>
      <p:pic>
        <p:nvPicPr>
          <p:cNvPr id="9" name="Image 0" descr="preencoded.png">    </p:cNvPr>
          <p:cNvPicPr>
            <a:picLocks noChangeAspect="1"/>
          </p:cNvPicPr>
          <p:nvPr/>
        </p:nvPicPr>
        <p:blipFill>
          <a:blip r:embed="rId1"/>
          <a:stretch>
            <a:fillRect/>
          </a:stretch>
        </p:blipFill>
        <p:spPr>
          <a:xfrm>
            <a:off x="7966710" y="1885950"/>
            <a:ext cx="205740" cy="205740"/>
          </a:xfrm>
          <a:prstGeom prst="rect">
            <a:avLst/>
          </a:prstGeom>
        </p:spPr>
      </p:pic>
      <p:sp>
        <p:nvSpPr>
          <p:cNvPr id="10" name="Text 5"/>
          <p:cNvSpPr txBox="1"/>
          <p:nvPr/>
        </p:nvSpPr>
        <p:spPr>
          <a:xfrm>
            <a:off x="8394192" y="1783080"/>
            <a:ext cx="3044952" cy="411480"/>
          </a:xfrm>
          <a:prstGeom prst="rect">
            <a:avLst/>
          </a:prstGeom>
          <a:noFill/>
          <a:ln/>
        </p:spPr>
        <p:txBody>
          <a:bodyPr wrap="square" lIns="0" tIns="0" rIns="0" bIns="0" rtlCol="0" anchor="ctr"/>
          <a:lstStyle/>
          <a:p>
            <a:pPr indent="0" marL="0">
              <a:buNone/>
            </a:pPr>
            <a:r>
              <a:rPr lang="en-US" sz="1400" b="1" dirty="0">
                <a:solidFill>
                  <a:schemeClr val="tx2"/>
                </a:solidFill>
              </a:rPr>
              <a:t>Meeting rhythm</a:t>
            </a:r>
            <a:endParaRPr lang="en-US" sz="1400" dirty="0"/>
          </a:p>
        </p:txBody>
      </p:sp>
      <p:sp>
        <p:nvSpPr>
          <p:cNvPr id="11" name="Text 6"/>
          <p:cNvSpPr txBox="1"/>
          <p:nvPr/>
        </p:nvSpPr>
        <p:spPr>
          <a:xfrm>
            <a:off x="7863840" y="2286000"/>
            <a:ext cx="3593592" cy="4114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Quarterly project-manager meetings (Master Agreement)</a:t>
            </a:r>
            <a:endParaRPr lang="en-US" sz="1100" dirty="0"/>
          </a:p>
        </p:txBody>
      </p:sp>
      <p:sp>
        <p:nvSpPr>
          <p:cNvPr id="12" name="Proposed response"/>
          <p:cNvSpPr/>
          <p:nvPr/>
        </p:nvSpPr>
        <p:spPr>
          <a:xfrm>
            <a:off x="7680960" y="2880360"/>
            <a:ext cx="3959352" cy="685800"/>
          </a:xfrm>
          <a:prstGeom prst="rect">
            <a:avLst/>
          </a:prstGeom>
          <a:solidFill>
            <a:srgbClr val="E6F6F7"/>
          </a:solidFill>
          <a:ln w="12700">
            <a:solidFill>
              <a:srgbClr val="00A3AD"/>
            </a:solidFill>
            <a:prstDash val="dash"/>
          </a:ln>
        </p:spPr>
      </p:sp>
      <p:sp>
        <p:nvSpPr>
          <p:cNvPr id="13" name="Text 8"/>
          <p:cNvSpPr txBox="1"/>
          <p:nvPr/>
        </p:nvSpPr>
        <p:spPr>
          <a:xfrm>
            <a:off x="7790688" y="2880360"/>
            <a:ext cx="3739896" cy="685800"/>
          </a:xfrm>
          <a:prstGeom prst="rect">
            <a:avLst/>
          </a:prstGeom>
          <a:noFill/>
          <a:ln/>
        </p:spPr>
        <p:txBody>
          <a:bodyPr wrap="square" lIns="0" tIns="0" rIns="0" bIns="0" rtlCol="0" anchor="ctr"/>
          <a:lstStyle/>
          <a:p>
            <a:pPr indent="0" marL="0">
              <a:buNone/>
            </a:pPr>
            <a:r>
              <a:rPr lang="en-US" sz="1050" b="1" dirty="0">
                <a:solidFill>
                  <a:srgbClr val="0B6F76"/>
                </a:solidFill>
              </a:rPr>
              <a:t>PROPOSED  </a:t>
            </a:r>
            <a:pPr indent="0" marL="0">
              <a:buNone/>
            </a:pPr>
            <a:r>
              <a:rPr lang="en-US" sz="1050" dirty="0">
                <a:solidFill>
                  <a:srgbClr val="1F2937"/>
                </a:solidFill>
              </a:rPr>
              <a:t>Weekly progress call and one-page written report while deployment is under way</a:t>
            </a:r>
            <a:endParaRPr lang="en-US" sz="1050" dirty="0"/>
          </a:p>
        </p:txBody>
      </p:sp>
      <p:sp>
        <p:nvSpPr>
          <p:cNvPr id="14" name="Shape 9"/>
          <p:cNvSpPr/>
          <p:nvPr/>
        </p:nvSpPr>
        <p:spPr>
          <a:xfrm>
            <a:off x="7680960" y="3703320"/>
            <a:ext cx="3959352" cy="502920"/>
          </a:xfrm>
          <a:prstGeom prst="rect">
            <a:avLst/>
          </a:prstGeom>
          <a:solidFill>
            <a:schemeClr val="bg2"/>
          </a:solidFill>
          <a:ln/>
        </p:spPr>
      </p:sp>
      <p:sp>
        <p:nvSpPr>
          <p:cNvPr id="15" name="Text 10"/>
          <p:cNvSpPr txBox="1"/>
          <p:nvPr/>
        </p:nvSpPr>
        <p:spPr>
          <a:xfrm>
            <a:off x="7863840" y="3703320"/>
            <a:ext cx="3593592" cy="502920"/>
          </a:xfrm>
          <a:prstGeom prst="rect">
            <a:avLst/>
          </a:prstGeom>
          <a:noFill/>
          <a:ln/>
        </p:spPr>
        <p:txBody>
          <a:bodyPr wrap="square" lIns="0" tIns="0" rIns="0" bIns="0" rtlCol="0" anchor="ctr"/>
          <a:lstStyle/>
          <a:p>
            <a:pPr indent="0" marL="0">
              <a:buNone/>
            </a:pPr>
            <a:r>
              <a:rPr lang="en-US" sz="1400" b="1" dirty="0">
                <a:solidFill>
                  <a:schemeClr val="tx2"/>
                </a:solidFill>
              </a:rPr>
              <a:t>Escalation</a:t>
            </a:r>
            <a:endParaRPr lang="en-US" sz="1400" dirty="0"/>
          </a:p>
        </p:txBody>
      </p:sp>
      <p:sp>
        <p:nvSpPr>
          <p:cNvPr id="16" name="Proposed response"/>
          <p:cNvSpPr/>
          <p:nvPr/>
        </p:nvSpPr>
        <p:spPr>
          <a:xfrm>
            <a:off x="7680960" y="4251960"/>
            <a:ext cx="3959352" cy="685800"/>
          </a:xfrm>
          <a:prstGeom prst="rect">
            <a:avLst/>
          </a:prstGeom>
          <a:solidFill>
            <a:srgbClr val="E6F6F7"/>
          </a:solidFill>
          <a:ln w="12700">
            <a:solidFill>
              <a:srgbClr val="00A3AD"/>
            </a:solidFill>
            <a:prstDash val="dash"/>
          </a:ln>
        </p:spPr>
      </p:sp>
      <p:sp>
        <p:nvSpPr>
          <p:cNvPr id="17" name="Text 12"/>
          <p:cNvSpPr txBox="1"/>
          <p:nvPr/>
        </p:nvSpPr>
        <p:spPr>
          <a:xfrm>
            <a:off x="7790688" y="4251960"/>
            <a:ext cx="3739896" cy="685800"/>
          </a:xfrm>
          <a:prstGeom prst="rect">
            <a:avLst/>
          </a:prstGeom>
          <a:noFill/>
          <a:ln/>
        </p:spPr>
        <p:txBody>
          <a:bodyPr wrap="square" lIns="0" tIns="0" rIns="0" bIns="0" rtlCol="0" anchor="ctr"/>
          <a:lstStyle/>
          <a:p>
            <a:pPr indent="0" marL="0">
              <a:buNone/>
            </a:pPr>
            <a:r>
              <a:rPr lang="en-US" sz="1050" b="1" dirty="0">
                <a:solidFill>
                  <a:srgbClr val="0B6F76"/>
                </a:solidFill>
              </a:rPr>
              <a:t>PROPOSED  </a:t>
            </a:r>
            <a:pPr indent="0" marL="0">
              <a:buNone/>
            </a:pPr>
            <a:r>
              <a:rPr lang="en-US" sz="1050" dirty="0">
                <a:solidFill>
                  <a:srgbClr val="1F2937"/>
                </a:solidFill>
              </a:rPr>
              <a:t>Project manager → MONIT CTO → MONIT CEO, within the agreed service-level times</a:t>
            </a:r>
            <a:endParaRPr lang="en-US" sz="1050" dirty="0"/>
          </a:p>
        </p:txBody>
      </p:sp>
      <p:sp>
        <p:nvSpPr>
          <p:cNvPr id="18" name="Shape 13"/>
          <p:cNvSpPr/>
          <p:nvPr/>
        </p:nvSpPr>
        <p:spPr>
          <a:xfrm>
            <a:off x="7680960" y="5074920"/>
            <a:ext cx="3959352" cy="868680"/>
          </a:xfrm>
          <a:prstGeom prst="rect">
            <a:avLst/>
          </a:prstGeom>
          <a:solidFill>
            <a:schemeClr val="tx2"/>
          </a:solidFill>
          <a:ln/>
        </p:spPr>
      </p:sp>
      <p:sp>
        <p:nvSpPr>
          <p:cNvPr id="19" name="Text 14"/>
          <p:cNvSpPr txBox="1"/>
          <p:nvPr/>
        </p:nvSpPr>
        <p:spPr>
          <a:xfrm>
            <a:off x="7863840" y="5074920"/>
            <a:ext cx="3593592" cy="868680"/>
          </a:xfrm>
          <a:prstGeom prst="rect">
            <a:avLst/>
          </a:prstGeom>
          <a:noFill/>
          <a:ln/>
        </p:spPr>
        <p:txBody>
          <a:bodyPr wrap="square" lIns="0" tIns="0" rIns="0" bIns="0" rtlCol="0" anchor="ctr"/>
          <a:lstStyle/>
          <a:p>
            <a:pPr indent="0" marL="0">
              <a:buNone/>
            </a:pPr>
            <a:r>
              <a:rPr lang="en-US" sz="1150" b="1" dirty="0">
                <a:solidFill>
                  <a:schemeClr val="bg1"/>
                </a:solidFill>
              </a:rPr>
              <a:t>Change control:  </a:t>
            </a:r>
            <a:pPr indent="0" marL="0">
              <a:buNone/>
            </a:pPr>
            <a:r>
              <a:rPr lang="en-US" sz="1150" dirty="0">
                <a:solidFill>
                  <a:schemeClr val="bg1"/>
                </a:solidFill>
              </a:rPr>
              <a:t>every change is approved in writing before work starts; no unapproved charges.</a:t>
            </a:r>
            <a:endParaRPr lang="en-US" sz="115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Site readiness checks are built on what we learned in Singapore deployments, so issues are fixed before go-live</a:t>
            </a:r>
            <a:endParaRPr lang="en-US" sz="2200" dirty="0"/>
          </a:p>
        </p:txBody>
      </p:sp>
      <p:sp>
        <p:nvSpPr>
          <p:cNvPr id="4" name="Text 2"/>
          <p:cNvSpPr txBox="1"/>
          <p:nvPr/>
        </p:nvSpPr>
        <p:spPr>
          <a:xfrm>
            <a:off x="548640" y="6199632"/>
            <a:ext cx="11064240" cy="201168"/>
          </a:xfrm>
          <a:prstGeom prst="rect">
            <a:avLst/>
          </a:prstGeom>
          <a:noFill/>
          <a:ln/>
        </p:spPr>
        <p:txBody>
          <a:bodyPr wrap="square" lIns="0" tIns="0" rIns="0" bIns="0" rtlCol="0" anchor="t"/>
          <a:lstStyle/>
          <a:p>
            <a:pPr indent="0" marL="0">
              <a:buNone/>
            </a:pPr>
            <a:r>
              <a:rPr lang="en-US" sz="900" dirty="0">
                <a:solidFill>
                  <a:schemeClr val="accent4"/>
                </a:solidFill>
              </a:rPr>
              <a:t>Source: MONIT deployments in Singapore 2025–2026 (hospital clinical trial, long-term-care PoC); NHG requirement table; Master Agreement Schedule 3 (gateway radio and power).</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926080"/>
                <a:gridCol w="6035040"/>
                <a:gridCol w="2130552"/>
              </a:tblGrid>
              <a:tr h="548640">
                <a:tc>
                  <a:txBody>
                    <a:bodyPr/>
                    <a:lstStyle/>
                    <a:p>
                      <a:pPr indent="0" marL="0">
                        <a:buNone/>
                      </a:pPr>
                      <a:r>
                        <a:rPr lang="en-US" sz="1100" b="1" dirty="0">
                          <a:solidFill>
                            <a:srgbClr val="FFFFFF"/>
                          </a:solidFill>
                        </a:rPr>
                        <a:t>Risk</a:t>
                      </a:r>
                      <a:endParaRPr lang="en-US" sz="1100" dirty="0"/>
                    </a:p>
                  </a:txBody>
                  <a:tcPr marL="64008" marR="64008" marT="36576" marB="36576"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How we prevent it</a:t>
                      </a:r>
                      <a:endParaRPr lang="en-US" sz="1100" dirty="0"/>
                    </a:p>
                  </a:txBody>
                  <a:tcPr marL="64008" marR="64008" marT="36576" marB="36576"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When checked</a:t>
                      </a:r>
                      <a:endParaRPr lang="en-US" sz="1100" dirty="0"/>
                    </a:p>
                  </a:txBody>
                  <a:tcPr marL="64008" marR="64008" marT="36576" marB="36576" anchor="ctr">
                    <a:lnL w="0" cap="flat" cmpd="sng" algn="ctr">
                      <a:noFill/>
                    </a:lnL>
                    <a:lnR w="0" cap="flat" cmpd="sng" algn="ctr">
                      <a:noFill/>
                    </a:lnR>
                    <a:lnT w="0" cap="flat" cmpd="sng" algn="ctr">
                      <a:noFill/>
                    </a:lnT>
                    <a:lnB w="0" cap="flat" cmpd="sng" algn="ctr">
                      <a:noFill/>
                    </a:lnB>
                    <a:solidFill>
                      <a:srgbClr val="0B2A4A"/>
                    </a:solidFill>
                  </a:tcPr>
                </a:tc>
              </a:tr>
              <a:tr h="548640">
                <a:tc>
                  <a:txBody>
                    <a:bodyPr/>
                    <a:lstStyle/>
                    <a:p>
                      <a:pPr indent="0" marL="0">
                        <a:buNone/>
                      </a:pPr>
                      <a:r>
                        <a:rPr lang="en-US" sz="1100" b="1" dirty="0">
                          <a:solidFill>
                            <a:srgbClr val="0B2A4A"/>
                          </a:solidFill>
                        </a:rPr>
                        <a:t>Gateways use 2.4 GHz Wi-Fi only</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Confirm SSID, authentication and VLAN with hospital IT; test the join at every gateway position</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Survey; commissioning</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0B2A4A"/>
                          </a:solidFill>
                        </a:rPr>
                        <a:t>No power point where a gateway is needed</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Map power points in the survey; ceiling power at KTPH, concealed plug-in at WH, wall plug-in without drilling at TTSH</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Survey</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548640">
                <a:tc>
                  <a:txBody>
                    <a:bodyPr/>
                    <a:lstStyle/>
                    <a:p>
                      <a:pPr indent="0" marL="0">
                        <a:buNone/>
                      </a:pPr>
                      <a:r>
                        <a:rPr lang="en-US" sz="1100" b="1" dirty="0">
                          <a:solidFill>
                            <a:srgbClr val="0B2A4A"/>
                          </a:solidFill>
                        </a:rPr>
                        <a:t>Patients spend hours in day rooms and corridors</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Survey covers day rooms and common areas; add or move gateways where patients spend time</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Survey; first week of hypercare</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0B2A4A"/>
                          </a:solidFill>
                        </a:rPr>
                        <a:t>Gateway plug knocked or damaged</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Mount away from walkways and secure the plug; keep spare gateways in Singapore for quick swap</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Installation; maintenance</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548640">
                <a:tc>
                  <a:txBody>
                    <a:bodyPr/>
                    <a:lstStyle/>
                    <a:p>
                      <a:pPr indent="0" marL="0">
                        <a:buNone/>
                      </a:pPr>
                      <a:r>
                        <a:rPr lang="en-US" sz="1100" b="1" dirty="0">
                          <a:solidFill>
                            <a:srgbClr val="0B2A4A"/>
                          </a:solidFill>
                        </a:rPr>
                        <a:t>Dashboard and app show different status</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One registration per sensor; check dashboard, app and nurse-station view match before sign-off</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Acceptance test</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0B2A4A"/>
                          </a:solidFill>
                        </a:rPr>
                        <a:t>Patient or bed changes</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Simple re-assignment steps in training and the quick-reference guide</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Training</a:t>
                      </a:r>
                      <a:endParaRPr lang="en-US" sz="1100" dirty="0"/>
                    </a:p>
                  </a:txBody>
                  <a:tcPr marL="64008" marR="64008" marT="36576" marB="36576"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bl>
          </a:graphicData>
        </a:graphic>
      </p:graphicFrame>
      <p:sp>
        <p:nvSpPr>
          <p:cNvPr id="7" name="Shape 3"/>
          <p:cNvSpPr/>
          <p:nvPr/>
        </p:nvSpPr>
        <p:spPr>
          <a:xfrm>
            <a:off x="548640" y="5577840"/>
            <a:ext cx="11091672" cy="475488"/>
          </a:xfrm>
          <a:prstGeom prst="rect">
            <a:avLst/>
          </a:prstGeom>
          <a:solidFill>
            <a:schemeClr val="tx2"/>
          </a:solidFill>
          <a:ln/>
        </p:spPr>
      </p:sp>
      <p:sp>
        <p:nvSpPr>
          <p:cNvPr id="8" name="Text 4"/>
          <p:cNvSpPr txBox="1"/>
          <p:nvPr/>
        </p:nvSpPr>
        <p:spPr>
          <a:xfrm>
            <a:off x="777240" y="5577840"/>
            <a:ext cx="10607040" cy="475488"/>
          </a:xfrm>
          <a:prstGeom prst="rect">
            <a:avLst/>
          </a:prstGeom>
          <a:noFill/>
          <a:ln/>
        </p:spPr>
        <p:txBody>
          <a:bodyPr wrap="square" lIns="0" tIns="0" rIns="0" bIns="0" rtlCol="0" anchor="ctr"/>
          <a:lstStyle/>
          <a:p>
            <a:pPr indent="0" marL="0">
              <a:buNone/>
            </a:pPr>
            <a:r>
              <a:rPr lang="en-US" sz="1200" b="1" dirty="0">
                <a:solidFill>
                  <a:schemeClr val="bg1"/>
                </a:solidFill>
              </a:rPr>
              <a:t>Result:  </a:t>
            </a:r>
            <a:pPr indent="0" marL="0">
              <a:buNone/>
            </a:pPr>
            <a:r>
              <a:rPr lang="en-US" sz="1200" dirty="0">
                <a:solidFill>
                  <a:schemeClr val="bg1"/>
                </a:solidFill>
              </a:rPr>
              <a:t>each ward is accepted only after coverage, power, network and dashboard checks pass.</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MONIT RFP">
  <a:themeElements>
    <a:clrScheme name="MONIT RFP">
      <a:dk1>
        <a:srgbClr val="1F2937"/>
      </a:dk1>
      <a:lt1>
        <a:srgbClr val="FFFFFF"/>
      </a:lt1>
      <a:dk2>
        <a:srgbClr val="0B2A4A"/>
      </a:dk2>
      <a:lt2>
        <a:srgbClr val="F1F4F8"/>
      </a:lt2>
      <a:accent1>
        <a:srgbClr val="00A3AD"/>
      </a:accent1>
      <a:accent2>
        <a:srgbClr val="0B2A4A"/>
      </a:accent2>
      <a:accent3>
        <a:srgbClr val="F2A900"/>
      </a:accent3>
      <a:accent4>
        <a:srgbClr val="6B7A8F"/>
      </a:accent4>
      <a:accent5>
        <a:srgbClr val="2E7D6B"/>
      </a:accent5>
      <a:accent6>
        <a:srgbClr val="C0392B"/>
      </a:accent6>
      <a:hlink>
        <a:srgbClr val="00A3AD"/>
      </a:hlink>
      <a:folHlink>
        <a:srgbClr val="6B7A8F"/>
      </a:folHlink>
    </a:clrScheme>
    <a:fontScheme name="MONIT RF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KTPH-RFP-26-165-MJ — Proposed approach and methodology</dc:title>
  <dc:subject>PptxGenJS Presentation</dc:subject>
  <dc:creator>MONIT</dc:creator>
  <cp:lastModifiedBy>MONIT</cp:lastModifiedBy>
  <cp:revision>1</cp:revision>
  <dcterms:created xsi:type="dcterms:W3CDTF">2026-10-06T10:17:56Z</dcterms:created>
  <dcterms:modified xsi:type="dcterms:W3CDTF">2026-10-06T10:17:56Z</dcterms:modified>
</cp:coreProperties>
</file>