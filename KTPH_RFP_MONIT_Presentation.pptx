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c5cfb80-ac37-4b02-5c0f-89d67687ec6f}">
          <p14:sldIdLst>
            <p14:sldId id="256"/>
          </p14:sldIdLst>
        </p14:section>
        <p14:section name="Executive summary" id="{8525f87d-d1c7-21aa-5317-c61112cab170}">
          <p14:sldIdLst>
            <p14:sldId id="257"/>
            <p14:sldId id="258"/>
          </p14:sldIdLst>
        </p14:section>
        <p14:section name="1 · Company introduction" id="{98243c24-1700-4ddc-c87e-33d6d3aa57e7}">
          <p14:sldIdLst>
            <p14:sldId id="259"/>
          </p14:sldIdLst>
        </p14:section>
        <p14:section name="2 · Industry certifications and standards" id="{f8497909-e92e-def8-1bdd-4540b7d7e159}">
          <p14:sldIdLst>
            <p14:sldId id="260"/>
          </p14:sldIdLst>
        </p14:section>
        <p14:section name="3 · Smart diaper system" id="{ff954478-ff61-24f0-364b-d5777d0a0778}">
          <p14:sldIdLst>
            <p14:sldId id="261"/>
            <p14:sldId id="262"/>
            <p14:sldId id="263"/>
            <p14:sldId id="264"/>
            <p14:sldId id="265"/>
          </p14:sldIdLst>
        </p14:section>
        <p14:section name="4 · Understanding of the project" id="{63d0c49b-0660-a61f-5295-9e51c5f24e2b}">
          <p14:sldIdLst>
            <p14:sldId id="266"/>
            <p14:sldId id="267"/>
            <p14:sldId id="268"/>
            <p14:sldId id="269"/>
            <p14:sldId id="270"/>
          </p14:sldIdLst>
        </p14:section>
        <p14:section name="5 · Project timeline" id="{8fc0a309-6982-f2ab-a04d-3c0cd0b5511d}">
          <p14:sldIdLst>
            <p14:sldId id="271"/>
          </p14:sldIdLst>
        </p14:section>
        <p14:section name="6 · References and track record" id="{1f7192a1-1cb7-8b10-de65-6ae4b2be87ab}">
          <p14:sldIdLst>
            <p14:sldId id="272"/>
          </p14:sldIdLst>
        </p14:section>
        <p14:section name="7 · Sustainability initiatives" id="{a14521a6-fd97-3f61-c70e-eda15332aeb0}">
          <p14:sldIdLst>
            <p14:sldId id="273"/>
          </p14:sldIdLst>
        </p14:section>
        <p14:section name="8 · Network connectivity and relay devices" id="{3c874f95-573b-1372-4346-2ef3ab70f52e}">
          <p14:sldIdLst>
            <p14:sldId id="274"/>
            <p14:sldId id="275"/>
            <p14:sldId id="276"/>
            <p14:sldId id="277"/>
          </p14:sldIdLst>
        </p14:section>
        <p14:section name="Discussion" id="{7210e81f-fd16-28f7-8bf7-9d2949c4dc78}">
          <p14:sldIdLst>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Replace 'MONIT' wordmark with the official logo before the meeting. All amber [INPUT REQUIRED] boxes in this deck mark information that was NOT in the RFP files and must be supplied by MONIT.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messages. Each row should be validated by MONIT product, clinical and operations leads before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taken directly from the RFP consent form and Section 1. Note that several dates (site briefings, clarifications, closing) may already have passed depending on the meeting date - confirm the current stage with ALPS.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with approved company profile. Suggested content: founding year, HQ and Singapore entity/UEN (needed for the Master Agreement), team size, R&amp;D focus, number of installed beds/countries, funding/partners.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ISO/IEC 27001, 27017 and 27018 are planned (not yet certified) - state the certification body, audit stage and target date, and do not describe them as held until issued. Provide certificate numbers, issuing bodies and expiry dates for the other items, and append copies. Note that ALPS is ISO14000 and OSHA certified and expects vendors to follow its environmental and safety requirements. The consent form requires medical devices to be HSA-registered - confirm the device class and registration for the sensor.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chain left-to-right. Confirm which radio the sensor uses to talk to the relay (e.g. BLE / sub-GHz) and whether the relay posts directly to cloud or an on-prem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Provide published or internal clinical evidence: study design, site, number of patients/events, sensitivity, specificity, latency, false-alarm rate. Never present numbers that are not traceable to a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wireframe with real screenshots. Confirm: user roles, audit log, mobile alerts, EMR/nurse-call integration options, data hosting location (Singapore), PDPA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Align the SLA with the Master Agreement for Supply and Maintenance of Equipment. Provide response/resolution times, support hours, spares holding, escalation path, local Singapore support presence.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other relevant information: staff time saved, reduced skin complications, consumables optimisation, patient comfort, awards, regulatory approvals, roadmap, interoperability.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MONIT's reading of the RFP. Validate with ALPS in the meeting - particularly the number of wards/beds in scope, which is not stated in the files received.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Methodology. Emphasise the pilot ward per hospital and the Wi-Fi site survey before ordering relays.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 the floor plans for each hospital and mark relay positions. The floor plans were not part of the files supplied for this draft.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MANDATORY RFP ITEM. The method must be defensible. Confirm the real coverage radius per relay, max sensors per relay, wall-attenuation assumptions and redundancy policy with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MANDATORY: the RFP requires the proposed number of relay devices per ward. Counts are intentionally blank because the floor plans were not provided with the files. Use the sizing rule on the previous slide, fill each ward row and sum the totals.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Indicative plan. Replace lead times with real figures: sensor/relay manufacturing and shipment, IMDA/HSA paperwork, installation capacity. Week 1 = week of award.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Provide 3+ comparable references (hospitals, nursing homes, public sector). For each: customer, scale, scope, dates, results and a contact person who agreed to be called.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each of the four RFP sub-points with facts: renewable energy (e.g. solar), energy tracking in offices/factories, environmental policies, Green Label / energy-efficient products. If MONIT has no initiative in an area, say so honestly and describe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relay device(s). Bring a physical unit if the presentation allows. Confirm Wi-Fi standards supported (2.4/5 GHz, WPA2/WPA3-Personal/Enterprise), IMDA registration of the relay, power (PoE or adapter), mounting.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real provisioning flow. Options typically are: (a) local web/app provisioning by hospital IT, (b) pre-staged configuration file / central push, (c) WPS/QR. State which is supported and who performs it (hospital IT vs MONIT engineer with hospital IT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ANSWER TO ALPS'S QUESTION. The mechanism described is the standard design pattern (non-volatile storage, configuration preserved across OTA, A/B partitions with rollback, auto-reconnect). MONIT engineering must confirm this matches the real firmware; edit anything that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submission checklist in Annex A includes IT security, PDPA and SaaS security compliance forms. Make sure these statements are consistent with those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drive the meeting. Record answers and owners.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owners and dates during the meeting. Also remind the team of submission requirements: compliance tables stamped and signed, Annex A checklist, certificates, price proposal in Ariba, security deposit and insurance after award.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2A4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40080"/>
            <a:ext cx="11091672" cy="868680"/>
          </a:xfrm>
          <a:prstGeom prst="rect">
            <a:avLst/>
          </a:prstGeom>
          <a:noFill/>
          <a:ln/>
        </p:spPr>
        <p:txBody>
          <a:bodyPr wrap="square" rtlCol="0"/>
          <a:lstStyle>
            <a:lvl1pPr algn="l" indent="0" marL="0">
              <a:buNone/>
              <a:defRPr lang="en-US" sz="2200" b="1" dirty="0">
                <a:solidFill>
                  <a:schemeClr val="tx2"/>
                </a:solidFill>
              </a:defRPr>
            </a:lvl1pPr>
          </a:lstStyle>
          <a:p>
            <a:pPr algn="l" indent="0" marL="0">
              <a:buNone/>
            </a:pPr>
            <a:endParaRPr lang="en-US" sz="2200" dirty="0"/>
          </a:p>
        </p:txBody>
      </p:sp>
      <p:sp>
        <p:nvSpPr>
          <p:cNvPr id="3" name="Text 0"/>
          <p:cNvSpPr/>
          <p:nvPr/>
        </p:nvSpPr>
        <p:spPr>
          <a:xfrm>
            <a:off x="548640" y="6446520"/>
            <a:ext cx="7315200" cy="228600"/>
          </a:xfrm>
          <a:prstGeom prst="rect">
            <a:avLst/>
          </a:prstGeom>
          <a:noFill/>
          <a:ln/>
        </p:spPr>
        <p:txBody>
          <a:bodyPr wrap="square" lIns="0" tIns="0" rIns="0" bIns="0" rtlCol="0" anchor="ctr"/>
          <a:lstStyle/>
          <a:p>
            <a:pPr indent="0" marL="0">
              <a:buNone/>
            </a:pPr>
            <a:r>
              <a:rPr lang="en-US" sz="900" dirty="0">
                <a:solidFill>
                  <a:schemeClr val="accent4"/>
                </a:solidFill>
              </a:rPr>
              <a:t>MONIT  |  KTPH-RFP-26-165-MJ  |  Discussion document — Confidential</a:t>
            </a:r>
            <a:endParaRPr lang="en-US" sz="9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3.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3.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3.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3.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3.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731520"/>
            <a:ext cx="3657600" cy="365760"/>
          </a:xfrm>
          <a:prstGeom prst="rect">
            <a:avLst/>
          </a:prstGeom>
          <a:noFill/>
          <a:ln/>
        </p:spPr>
        <p:txBody>
          <a:bodyPr wrap="square" lIns="0" tIns="0" rIns="0" bIns="0" rtlCol="0" anchor="t"/>
          <a:lstStyle/>
          <a:p>
            <a:pPr indent="0" marL="0">
              <a:buNone/>
            </a:pPr>
            <a:r>
              <a:rPr lang="en-US" sz="1600" b="1" spc="600" kern="0" dirty="0">
                <a:solidFill>
                  <a:schemeClr val="accent1"/>
                </a:solidFill>
              </a:rPr>
              <a:t>MONIT</a:t>
            </a:r>
            <a:endParaRPr lang="en-US" sz="1600" dirty="0"/>
          </a:p>
        </p:txBody>
      </p:sp>
      <p:sp>
        <p:nvSpPr>
          <p:cNvPr id="3" name="Text 1"/>
          <p:cNvSpPr txBox="1"/>
          <p:nvPr/>
        </p:nvSpPr>
        <p:spPr>
          <a:xfrm>
            <a:off x="822960" y="1828800"/>
            <a:ext cx="8686800" cy="146304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AI-Enabled Smart Diaper Care System</a:t>
            </a:r>
            <a:endParaRPr lang="en-US" sz="4000" dirty="0"/>
          </a:p>
        </p:txBody>
      </p:sp>
      <p:sp>
        <p:nvSpPr>
          <p:cNvPr id="4" name="Text 2"/>
          <p:cNvSpPr txBox="1"/>
          <p:nvPr/>
        </p:nvSpPr>
        <p:spPr>
          <a:xfrm>
            <a:off x="822960" y="3474720"/>
            <a:ext cx="7863840" cy="822960"/>
          </a:xfrm>
          <a:prstGeom prst="rect">
            <a:avLst/>
          </a:prstGeom>
          <a:noFill/>
          <a:ln/>
        </p:spPr>
        <p:txBody>
          <a:bodyPr wrap="square" lIns="0" tIns="0" rIns="0" bIns="0" rtlCol="0" anchor="t"/>
          <a:lstStyle/>
          <a:p>
            <a:pPr indent="0" marL="0">
              <a:buNone/>
            </a:pPr>
            <a:r>
              <a:rPr lang="en-US" sz="1800" dirty="0">
                <a:solidFill>
                  <a:srgbClr val="CADCFC"/>
                </a:solidFill>
              </a:rPr>
              <a:t>Response to RFP KTPH-RFP-26-165-MJ — discussion document for ALPS Pte. Ltd. and the KTPH / Woodlands Health / TTSH project teams</a:t>
            </a:r>
            <a:endParaRPr lang="en-US" sz="1800" dirty="0"/>
          </a:p>
        </p:txBody>
      </p:sp>
      <p:sp>
        <p:nvSpPr>
          <p:cNvPr id="5" name="Text 3"/>
          <p:cNvSpPr txBox="1"/>
          <p:nvPr/>
        </p:nvSpPr>
        <p:spPr>
          <a:xfrm>
            <a:off x="822960" y="5029200"/>
            <a:ext cx="7315200" cy="274320"/>
          </a:xfrm>
          <a:prstGeom prst="rect">
            <a:avLst/>
          </a:prstGeom>
          <a:noFill/>
          <a:ln/>
        </p:spPr>
        <p:txBody>
          <a:bodyPr wrap="square" lIns="0" tIns="0" rIns="0" bIns="0" rtlCol="0" anchor="t"/>
          <a:lstStyle/>
          <a:p>
            <a:pPr indent="0" marL="0">
              <a:buNone/>
            </a:pPr>
            <a:r>
              <a:rPr lang="en-US" sz="1200" dirty="0">
                <a:solidFill>
                  <a:srgbClr val="CADCFC"/>
                </a:solidFill>
              </a:rPr>
              <a:t>Supply and Delivery of AI-Enabled Smart Diaper Care System</a:t>
            </a:r>
            <a:endParaRPr lang="en-US" sz="1200" dirty="0"/>
          </a:p>
        </p:txBody>
      </p:sp>
      <p:sp>
        <p:nvSpPr>
          <p:cNvPr id="6" name="Text 4"/>
          <p:cNvSpPr txBox="1"/>
          <p:nvPr/>
        </p:nvSpPr>
        <p:spPr>
          <a:xfrm>
            <a:off x="822960" y="5349240"/>
            <a:ext cx="7315200" cy="274320"/>
          </a:xfrm>
          <a:prstGeom prst="rect">
            <a:avLst/>
          </a:prstGeom>
          <a:noFill/>
          <a:ln/>
        </p:spPr>
        <p:txBody>
          <a:bodyPr wrap="square" lIns="0" tIns="0" rIns="0" bIns="0" rtlCol="0" anchor="t"/>
          <a:lstStyle/>
          <a:p>
            <a:pPr indent="0" marL="0">
              <a:buNone/>
            </a:pPr>
            <a:r>
              <a:rPr lang="en-US" sz="1200" dirty="0">
                <a:solidFill>
                  <a:srgbClr val="CADCFC"/>
                </a:solidFill>
              </a:rPr>
              <a:t>Draft for discussion  |  Confidential</a:t>
            </a:r>
            <a:endParaRPr lang="en-US" sz="1200" dirty="0"/>
          </a:p>
        </p:txBody>
      </p:sp>
      <p:sp>
        <p:nvSpPr>
          <p:cNvPr id="7" name="Shape 5"/>
          <p:cNvSpPr/>
          <p:nvPr/>
        </p:nvSpPr>
        <p:spPr>
          <a:xfrm>
            <a:off x="9326880" y="1188720"/>
            <a:ext cx="2651760" cy="2651760"/>
          </a:xfrm>
          <a:prstGeom prst="ellipse">
            <a:avLst/>
          </a:prstGeom>
          <a:solidFill>
            <a:schemeClr val="accent1">
              <a:alpha val="75000"/>
            </a:schemeClr>
          </a:solidFill>
          <a:ln/>
        </p:spPr>
      </p:sp>
      <p:sp>
        <p:nvSpPr>
          <p:cNvPr id="8" name="Shape 6"/>
          <p:cNvSpPr/>
          <p:nvPr/>
        </p:nvSpPr>
        <p:spPr>
          <a:xfrm>
            <a:off x="10241280" y="3108960"/>
            <a:ext cx="1554480" cy="1554480"/>
          </a:xfrm>
          <a:prstGeom prst="ellipse">
            <a:avLst/>
          </a:prstGeom>
          <a:solidFill>
            <a:schemeClr val="bg1">
              <a:alpha val="15000"/>
            </a:schemeClr>
          </a:solidFill>
          <a:ln/>
        </p:spPr>
      </p:sp>
      <p:pic>
        <p:nvPicPr>
          <p:cNvPr id="9" name="Image 0" descr="preencoded.png">    </p:cNvPr>
          <p:cNvPicPr>
            <a:picLocks noChangeAspect="1"/>
          </p:cNvPicPr>
          <p:nvPr/>
        </p:nvPicPr>
        <p:blipFill>
          <a:blip r:embed="rId1"/>
          <a:stretch>
            <a:fillRect/>
          </a:stretch>
        </p:blipFill>
        <p:spPr>
          <a:xfrm>
            <a:off x="10012680" y="187452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EXECUTIVE SUMMARY</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MONIT offers a validated, Wi-Fi-ready smart diaper system deployable across all three hospitals</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ALPS RFP KTPH-RFP-26-165-MJ; MONIT analysis. Items in amber require MONIT inputs.</a:t>
            </a:r>
            <a:endParaRPr lang="en-US" sz="900" dirty="0"/>
          </a:p>
        </p:txBody>
      </p:sp>
      <p:sp>
        <p:nvSpPr>
          <p:cNvPr id="6" name="Shape 3"/>
          <p:cNvSpPr/>
          <p:nvPr/>
        </p:nvSpPr>
        <p:spPr>
          <a:xfrm>
            <a:off x="548640" y="1691640"/>
            <a:ext cx="548640" cy="548640"/>
          </a:xfrm>
          <a:prstGeom prst="ellipse">
            <a:avLst/>
          </a:prstGeom>
          <a:solidFill>
            <a:schemeClr val="tx2"/>
          </a:solidFill>
          <a:ln/>
        </p:spPr>
      </p:sp>
      <p:sp>
        <p:nvSpPr>
          <p:cNvPr id="7" name="Text 4"/>
          <p:cNvSpPr txBox="1"/>
          <p:nvPr/>
        </p:nvSpPr>
        <p:spPr>
          <a:xfrm>
            <a:off x="548640" y="16916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1</a:t>
            </a:r>
            <a:endParaRPr lang="en-US" sz="1800" dirty="0"/>
          </a:p>
        </p:txBody>
      </p:sp>
      <p:sp>
        <p:nvSpPr>
          <p:cNvPr id="8" name="Text 5"/>
          <p:cNvSpPr txBox="1"/>
          <p:nvPr/>
        </p:nvSpPr>
        <p:spPr>
          <a:xfrm>
            <a:off x="1371600" y="1691640"/>
            <a:ext cx="2926080" cy="548640"/>
          </a:xfrm>
          <a:prstGeom prst="rect">
            <a:avLst/>
          </a:prstGeom>
          <a:noFill/>
          <a:ln/>
        </p:spPr>
        <p:txBody>
          <a:bodyPr wrap="square" lIns="0" tIns="0" rIns="0" bIns="0" rtlCol="0" anchor="ctr"/>
          <a:lstStyle/>
          <a:p>
            <a:pPr indent="0" marL="0">
              <a:buNone/>
            </a:pPr>
            <a:r>
              <a:rPr lang="en-US" sz="1600" b="1" dirty="0">
                <a:solidFill>
                  <a:schemeClr val="tx2"/>
                </a:solidFill>
              </a:rPr>
              <a:t>Proven technology</a:t>
            </a:r>
            <a:endParaRPr lang="en-US" sz="1600" dirty="0"/>
          </a:p>
        </p:txBody>
      </p:sp>
      <p:sp>
        <p:nvSpPr>
          <p:cNvPr id="9" name="Text 6"/>
          <p:cNvSpPr txBox="1"/>
          <p:nvPr/>
        </p:nvSpPr>
        <p:spPr>
          <a:xfrm>
            <a:off x="4389120" y="1691640"/>
            <a:ext cx="7223760" cy="548640"/>
          </a:xfrm>
          <a:prstGeom prst="rect">
            <a:avLst/>
          </a:prstGeom>
          <a:noFill/>
          <a:ln/>
        </p:spPr>
        <p:txBody>
          <a:bodyPr wrap="square" lIns="0" tIns="0" rIns="0" bIns="0" rtlCol="0" anchor="ctr"/>
          <a:lstStyle/>
          <a:p>
            <a:pPr indent="0" marL="0">
              <a:buNone/>
            </a:pPr>
            <a:r>
              <a:rPr lang="en-US" sz="1300" dirty="0">
                <a:solidFill>
                  <a:schemeClr val="tx1"/>
                </a:solidFill>
              </a:rPr>
              <a:t>Clinically validated sensor with measured detection performance; certified or certifying to the standards ALPS expects (BizSAFE, ISO incl. 27001/27017/27018, IMDA, HSA).</a:t>
            </a:r>
            <a:endParaRPr lang="en-US" sz="1300" dirty="0"/>
          </a:p>
        </p:txBody>
      </p:sp>
      <p:sp>
        <p:nvSpPr>
          <p:cNvPr id="10" name="Shape 7"/>
          <p:cNvSpPr/>
          <p:nvPr/>
        </p:nvSpPr>
        <p:spPr>
          <a:xfrm>
            <a:off x="548640" y="2441448"/>
            <a:ext cx="11091672" cy="0"/>
          </a:xfrm>
          <a:prstGeom prst="line">
            <a:avLst/>
          </a:prstGeom>
          <a:noFill/>
          <a:ln w="9525">
            <a:solidFill>
              <a:srgbClr val="D5DCE6"/>
            </a:solidFill>
            <a:prstDash val="solid"/>
          </a:ln>
        </p:spPr>
      </p:sp>
      <p:sp>
        <p:nvSpPr>
          <p:cNvPr id="11" name="Shape 8"/>
          <p:cNvSpPr/>
          <p:nvPr/>
        </p:nvSpPr>
        <p:spPr>
          <a:xfrm>
            <a:off x="548640" y="2578608"/>
            <a:ext cx="548640" cy="548640"/>
          </a:xfrm>
          <a:prstGeom prst="ellipse">
            <a:avLst/>
          </a:prstGeom>
          <a:solidFill>
            <a:schemeClr val="tx2"/>
          </a:solidFill>
          <a:ln/>
        </p:spPr>
      </p:sp>
      <p:sp>
        <p:nvSpPr>
          <p:cNvPr id="12" name="Text 9"/>
          <p:cNvSpPr txBox="1"/>
          <p:nvPr/>
        </p:nvSpPr>
        <p:spPr>
          <a:xfrm>
            <a:off x="548640" y="257860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2</a:t>
            </a:r>
            <a:endParaRPr lang="en-US" sz="1800" dirty="0"/>
          </a:p>
        </p:txBody>
      </p:sp>
      <p:sp>
        <p:nvSpPr>
          <p:cNvPr id="13" name="Text 10"/>
          <p:cNvSpPr txBox="1"/>
          <p:nvPr/>
        </p:nvSpPr>
        <p:spPr>
          <a:xfrm>
            <a:off x="1371600" y="2578608"/>
            <a:ext cx="2926080" cy="548640"/>
          </a:xfrm>
          <a:prstGeom prst="rect">
            <a:avLst/>
          </a:prstGeom>
          <a:noFill/>
          <a:ln/>
        </p:spPr>
        <p:txBody>
          <a:bodyPr wrap="square" lIns="0" tIns="0" rIns="0" bIns="0" rtlCol="0" anchor="ctr"/>
          <a:lstStyle/>
          <a:p>
            <a:pPr indent="0" marL="0">
              <a:buNone/>
            </a:pPr>
            <a:r>
              <a:rPr lang="en-US" sz="1600" b="1" dirty="0">
                <a:solidFill>
                  <a:schemeClr val="tx2"/>
                </a:solidFill>
              </a:rPr>
              <a:t>Complete, integrated system</a:t>
            </a:r>
            <a:endParaRPr lang="en-US" sz="1600" dirty="0"/>
          </a:p>
        </p:txBody>
      </p:sp>
      <p:sp>
        <p:nvSpPr>
          <p:cNvPr id="14" name="Text 11"/>
          <p:cNvSpPr txBox="1"/>
          <p:nvPr/>
        </p:nvSpPr>
        <p:spPr>
          <a:xfrm>
            <a:off x="4389120" y="2578608"/>
            <a:ext cx="7223760" cy="548640"/>
          </a:xfrm>
          <a:prstGeom prst="rect">
            <a:avLst/>
          </a:prstGeom>
          <a:noFill/>
          <a:ln/>
        </p:spPr>
        <p:txBody>
          <a:bodyPr wrap="square" lIns="0" tIns="0" rIns="0" bIns="0" rtlCol="0" anchor="ctr"/>
          <a:lstStyle/>
          <a:p>
            <a:pPr indent="0" marL="0">
              <a:buNone/>
            </a:pPr>
            <a:r>
              <a:rPr lang="en-US" sz="1300" dirty="0">
                <a:solidFill>
                  <a:schemeClr val="tx1"/>
                </a:solidFill>
              </a:rPr>
              <a:t>Sensor → relay → hospital Wi-Fi → cloud → nurse dashboard, delivered as one fully integrated system as the RFP requires.</a:t>
            </a:r>
            <a:endParaRPr lang="en-US" sz="1300" dirty="0"/>
          </a:p>
        </p:txBody>
      </p:sp>
      <p:sp>
        <p:nvSpPr>
          <p:cNvPr id="15" name="Shape 12"/>
          <p:cNvSpPr/>
          <p:nvPr/>
        </p:nvSpPr>
        <p:spPr>
          <a:xfrm>
            <a:off x="548640" y="3328416"/>
            <a:ext cx="11091672" cy="0"/>
          </a:xfrm>
          <a:prstGeom prst="line">
            <a:avLst/>
          </a:prstGeom>
          <a:noFill/>
          <a:ln w="9525">
            <a:solidFill>
              <a:srgbClr val="D5DCE6"/>
            </a:solidFill>
            <a:prstDash val="solid"/>
          </a:ln>
        </p:spPr>
      </p:sp>
      <p:sp>
        <p:nvSpPr>
          <p:cNvPr id="16" name="Shape 13"/>
          <p:cNvSpPr/>
          <p:nvPr/>
        </p:nvSpPr>
        <p:spPr>
          <a:xfrm>
            <a:off x="548640" y="3465576"/>
            <a:ext cx="548640" cy="548640"/>
          </a:xfrm>
          <a:prstGeom prst="ellipse">
            <a:avLst/>
          </a:prstGeom>
          <a:solidFill>
            <a:schemeClr val="tx2"/>
          </a:solidFill>
          <a:ln/>
        </p:spPr>
      </p:sp>
      <p:sp>
        <p:nvSpPr>
          <p:cNvPr id="17" name="Text 14"/>
          <p:cNvSpPr txBox="1"/>
          <p:nvPr/>
        </p:nvSpPr>
        <p:spPr>
          <a:xfrm>
            <a:off x="548640" y="3465576"/>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3</a:t>
            </a:r>
            <a:endParaRPr lang="en-US" sz="1800" dirty="0"/>
          </a:p>
        </p:txBody>
      </p:sp>
      <p:sp>
        <p:nvSpPr>
          <p:cNvPr id="18" name="Text 15"/>
          <p:cNvSpPr txBox="1"/>
          <p:nvPr/>
        </p:nvSpPr>
        <p:spPr>
          <a:xfrm>
            <a:off x="1371600" y="3465576"/>
            <a:ext cx="2926080" cy="548640"/>
          </a:xfrm>
          <a:prstGeom prst="rect">
            <a:avLst/>
          </a:prstGeom>
          <a:noFill/>
          <a:ln/>
        </p:spPr>
        <p:txBody>
          <a:bodyPr wrap="square" lIns="0" tIns="0" rIns="0" bIns="0" rtlCol="0" anchor="ctr"/>
          <a:lstStyle/>
          <a:p>
            <a:pPr indent="0" marL="0">
              <a:buNone/>
            </a:pPr>
            <a:r>
              <a:rPr lang="en-US" sz="1600" b="1" dirty="0">
                <a:solidFill>
                  <a:schemeClr val="tx2"/>
                </a:solidFill>
              </a:rPr>
              <a:t>Sized to your wards</a:t>
            </a:r>
            <a:endParaRPr lang="en-US" sz="1600" dirty="0"/>
          </a:p>
        </p:txBody>
      </p:sp>
      <p:sp>
        <p:nvSpPr>
          <p:cNvPr id="19" name="Text 16"/>
          <p:cNvSpPr txBox="1"/>
          <p:nvPr/>
        </p:nvSpPr>
        <p:spPr>
          <a:xfrm>
            <a:off x="4389120" y="3465576"/>
            <a:ext cx="7223760" cy="548640"/>
          </a:xfrm>
          <a:prstGeom prst="rect">
            <a:avLst/>
          </a:prstGeom>
          <a:noFill/>
          <a:ln/>
        </p:spPr>
        <p:txBody>
          <a:bodyPr wrap="square" lIns="0" tIns="0" rIns="0" bIns="0" rtlCol="0" anchor="ctr"/>
          <a:lstStyle/>
          <a:p>
            <a:pPr indent="0" marL="0">
              <a:buNone/>
            </a:pPr>
            <a:r>
              <a:rPr lang="en-US" sz="1300" dirty="0">
                <a:solidFill>
                  <a:schemeClr val="tx1"/>
                </a:solidFill>
              </a:rPr>
              <a:t>Relay quantities derived per ward from the floor plans of KTPH, Woodlands Health and TTSH using a transparent coverage-based method.</a:t>
            </a:r>
            <a:endParaRPr lang="en-US" sz="1300" dirty="0"/>
          </a:p>
        </p:txBody>
      </p:sp>
      <p:sp>
        <p:nvSpPr>
          <p:cNvPr id="20" name="Shape 17"/>
          <p:cNvSpPr/>
          <p:nvPr/>
        </p:nvSpPr>
        <p:spPr>
          <a:xfrm>
            <a:off x="548640" y="4215384"/>
            <a:ext cx="11091672" cy="0"/>
          </a:xfrm>
          <a:prstGeom prst="line">
            <a:avLst/>
          </a:prstGeom>
          <a:noFill/>
          <a:ln w="9525">
            <a:solidFill>
              <a:srgbClr val="D5DCE6"/>
            </a:solidFill>
            <a:prstDash val="solid"/>
          </a:ln>
        </p:spPr>
      </p:sp>
      <p:sp>
        <p:nvSpPr>
          <p:cNvPr id="21" name="Shape 18"/>
          <p:cNvSpPr/>
          <p:nvPr/>
        </p:nvSpPr>
        <p:spPr>
          <a:xfrm>
            <a:off x="548640" y="4352544"/>
            <a:ext cx="548640" cy="548640"/>
          </a:xfrm>
          <a:prstGeom prst="ellipse">
            <a:avLst/>
          </a:prstGeom>
          <a:solidFill>
            <a:schemeClr val="tx2"/>
          </a:solidFill>
          <a:ln/>
        </p:spPr>
      </p:sp>
      <p:sp>
        <p:nvSpPr>
          <p:cNvPr id="22" name="Text 19"/>
          <p:cNvSpPr txBox="1"/>
          <p:nvPr/>
        </p:nvSpPr>
        <p:spPr>
          <a:xfrm>
            <a:off x="548640" y="4352544"/>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4</a:t>
            </a:r>
            <a:endParaRPr lang="en-US" sz="1800" dirty="0"/>
          </a:p>
        </p:txBody>
      </p:sp>
      <p:sp>
        <p:nvSpPr>
          <p:cNvPr id="23" name="Text 20"/>
          <p:cNvSpPr txBox="1"/>
          <p:nvPr/>
        </p:nvSpPr>
        <p:spPr>
          <a:xfrm>
            <a:off x="1371600" y="4352544"/>
            <a:ext cx="2926080" cy="548640"/>
          </a:xfrm>
          <a:prstGeom prst="rect">
            <a:avLst/>
          </a:prstGeom>
          <a:noFill/>
          <a:ln/>
        </p:spPr>
        <p:txBody>
          <a:bodyPr wrap="square" lIns="0" tIns="0" rIns="0" bIns="0" rtlCol="0" anchor="ctr"/>
          <a:lstStyle/>
          <a:p>
            <a:pPr indent="0" marL="0">
              <a:buNone/>
            </a:pPr>
            <a:r>
              <a:rPr lang="en-US" sz="1600" b="1" dirty="0">
                <a:solidFill>
                  <a:schemeClr val="tx2"/>
                </a:solidFill>
              </a:rPr>
              <a:t>Zero-touch Wi-Fi operations</a:t>
            </a:r>
            <a:endParaRPr lang="en-US" sz="1600" dirty="0"/>
          </a:p>
        </p:txBody>
      </p:sp>
      <p:sp>
        <p:nvSpPr>
          <p:cNvPr id="24" name="Text 21"/>
          <p:cNvSpPr txBox="1"/>
          <p:nvPr/>
        </p:nvSpPr>
        <p:spPr>
          <a:xfrm>
            <a:off x="4389120" y="4352544"/>
            <a:ext cx="7223760" cy="548640"/>
          </a:xfrm>
          <a:prstGeom prst="rect">
            <a:avLst/>
          </a:prstGeom>
          <a:noFill/>
          <a:ln/>
        </p:spPr>
        <p:txBody>
          <a:bodyPr wrap="square" lIns="0" tIns="0" rIns="0" bIns="0" rtlCol="0" anchor="ctr"/>
          <a:lstStyle/>
          <a:p>
            <a:pPr indent="0" marL="0">
              <a:buNone/>
            </a:pPr>
            <a:r>
              <a:rPr lang="en-US" sz="1300" dirty="0">
                <a:solidFill>
                  <a:schemeClr val="tx1"/>
                </a:solidFill>
              </a:rPr>
              <a:t>Hospital Wi-Fi credentials are entered once; they survive power outages and firmware upgrades without re-keying.</a:t>
            </a:r>
            <a:endParaRPr lang="en-US" sz="1300" dirty="0"/>
          </a:p>
        </p:txBody>
      </p:sp>
      <p:sp>
        <p:nvSpPr>
          <p:cNvPr id="25" name="Shape 22"/>
          <p:cNvSpPr/>
          <p:nvPr/>
        </p:nvSpPr>
        <p:spPr>
          <a:xfrm>
            <a:off x="548640" y="5102352"/>
            <a:ext cx="11091672" cy="0"/>
          </a:xfrm>
          <a:prstGeom prst="line">
            <a:avLst/>
          </a:prstGeom>
          <a:noFill/>
          <a:ln w="9525">
            <a:solidFill>
              <a:srgbClr val="D5DCE6"/>
            </a:solidFill>
            <a:prstDash val="solid"/>
          </a:ln>
        </p:spPr>
      </p:sp>
      <p:sp>
        <p:nvSpPr>
          <p:cNvPr id="26" name="Shape 23"/>
          <p:cNvSpPr/>
          <p:nvPr/>
        </p:nvSpPr>
        <p:spPr>
          <a:xfrm>
            <a:off x="548640" y="5239512"/>
            <a:ext cx="548640" cy="548640"/>
          </a:xfrm>
          <a:prstGeom prst="ellipse">
            <a:avLst/>
          </a:prstGeom>
          <a:solidFill>
            <a:schemeClr val="tx2"/>
          </a:solidFill>
          <a:ln/>
        </p:spPr>
      </p:sp>
      <p:sp>
        <p:nvSpPr>
          <p:cNvPr id="27" name="Text 24"/>
          <p:cNvSpPr txBox="1"/>
          <p:nvPr/>
        </p:nvSpPr>
        <p:spPr>
          <a:xfrm>
            <a:off x="548640" y="5239512"/>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5</a:t>
            </a:r>
            <a:endParaRPr lang="en-US" sz="1800" dirty="0"/>
          </a:p>
        </p:txBody>
      </p:sp>
      <p:sp>
        <p:nvSpPr>
          <p:cNvPr id="28" name="Text 25"/>
          <p:cNvSpPr txBox="1"/>
          <p:nvPr/>
        </p:nvSpPr>
        <p:spPr>
          <a:xfrm>
            <a:off x="1371600" y="5239512"/>
            <a:ext cx="2926080" cy="548640"/>
          </a:xfrm>
          <a:prstGeom prst="rect">
            <a:avLst/>
          </a:prstGeom>
          <a:noFill/>
          <a:ln/>
        </p:spPr>
        <p:txBody>
          <a:bodyPr wrap="square" lIns="0" tIns="0" rIns="0" bIns="0" rtlCol="0" anchor="ctr"/>
          <a:lstStyle/>
          <a:p>
            <a:pPr indent="0" marL="0">
              <a:buNone/>
            </a:pPr>
            <a:r>
              <a:rPr lang="en-US" sz="1600" b="1" dirty="0">
                <a:solidFill>
                  <a:schemeClr val="tx2"/>
                </a:solidFill>
              </a:rPr>
              <a:t>Low-risk delivery</a:t>
            </a:r>
            <a:endParaRPr lang="en-US" sz="1600" dirty="0"/>
          </a:p>
        </p:txBody>
      </p:sp>
      <p:sp>
        <p:nvSpPr>
          <p:cNvPr id="29" name="Text 26"/>
          <p:cNvSpPr txBox="1"/>
          <p:nvPr/>
        </p:nvSpPr>
        <p:spPr>
          <a:xfrm>
            <a:off x="4389120" y="5239512"/>
            <a:ext cx="7223760" cy="548640"/>
          </a:xfrm>
          <a:prstGeom prst="rect">
            <a:avLst/>
          </a:prstGeom>
          <a:noFill/>
          <a:ln/>
        </p:spPr>
        <p:txBody>
          <a:bodyPr wrap="square" lIns="0" tIns="0" rIns="0" bIns="0" rtlCol="0" anchor="ctr"/>
          <a:lstStyle/>
          <a:p>
            <a:pPr indent="0" marL="0">
              <a:buNone/>
            </a:pPr>
            <a:r>
              <a:rPr lang="en-US" sz="1300" dirty="0">
                <a:solidFill>
                  <a:schemeClr val="tx1"/>
                </a:solidFill>
              </a:rPr>
              <a:t>Phased plan aligned to the 28-day mobilisation period, pilot-first rollout, hypercare, and an SLA-backed service model.</a:t>
            </a:r>
            <a:endParaRPr lang="en-US" sz="13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EXECUTIVE SUMMARY</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One system, three public hospitals: firm pricing, mandatory relay sizing and a vendor presentation</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RFP Consent Form; Section 1 – Conditions of RFP (clauses 5, 8, 10, 13, 20). Dates as stated in the RFP documents.</a:t>
            </a:r>
            <a:endParaRPr lang="en-US" sz="900" dirty="0"/>
          </a:p>
        </p:txBody>
      </p:sp>
      <p:sp>
        <p:nvSpPr>
          <p:cNvPr id="6" name="Text 3"/>
          <p:cNvSpPr txBox="1"/>
          <p:nvPr/>
        </p:nvSpPr>
        <p:spPr>
          <a:xfrm>
            <a:off x="548640" y="1645920"/>
            <a:ext cx="5029200" cy="320040"/>
          </a:xfrm>
          <a:prstGeom prst="rect">
            <a:avLst/>
          </a:prstGeom>
          <a:noFill/>
          <a:ln/>
        </p:spPr>
        <p:txBody>
          <a:bodyPr wrap="square" lIns="0" tIns="0" rIns="0" bIns="0" rtlCol="0" anchor="t"/>
          <a:lstStyle/>
          <a:p>
            <a:pPr indent="0" marL="0">
              <a:buNone/>
            </a:pPr>
            <a:r>
              <a:rPr lang="en-US" sz="1500" b="1" dirty="0">
                <a:solidFill>
                  <a:schemeClr val="tx2"/>
                </a:solidFill>
              </a:rPr>
              <a:t>Key RFP milestones</a:t>
            </a:r>
            <a:endParaRPr lang="en-US" sz="1500" dirty="0"/>
          </a:p>
        </p:txBody>
      </p:sp>
      <p:sp>
        <p:nvSpPr>
          <p:cNvPr id="7" name="Shape 4"/>
          <p:cNvSpPr/>
          <p:nvPr/>
        </p:nvSpPr>
        <p:spPr>
          <a:xfrm>
            <a:off x="594360" y="2176272"/>
            <a:ext cx="182880" cy="182880"/>
          </a:xfrm>
          <a:prstGeom prst="ellipse">
            <a:avLst/>
          </a:prstGeom>
          <a:solidFill>
            <a:schemeClr val="accent1"/>
          </a:solidFill>
          <a:ln/>
        </p:spPr>
      </p:sp>
      <p:sp>
        <p:nvSpPr>
          <p:cNvPr id="8" name="Text 5"/>
          <p:cNvSpPr txBox="1"/>
          <p:nvPr/>
        </p:nvSpPr>
        <p:spPr>
          <a:xfrm>
            <a:off x="960120" y="2103120"/>
            <a:ext cx="1554480" cy="365760"/>
          </a:xfrm>
          <a:prstGeom prst="rect">
            <a:avLst/>
          </a:prstGeom>
          <a:noFill/>
          <a:ln/>
        </p:spPr>
        <p:txBody>
          <a:bodyPr wrap="square" lIns="0" tIns="0" rIns="0" bIns="0" rtlCol="0" anchor="ctr"/>
          <a:lstStyle/>
          <a:p>
            <a:pPr indent="0" marL="0">
              <a:buNone/>
            </a:pPr>
            <a:r>
              <a:rPr lang="en-US" sz="1300" b="1" dirty="0">
                <a:solidFill>
                  <a:schemeClr val="tx2"/>
                </a:solidFill>
              </a:rPr>
              <a:t>25 Aug 2026</a:t>
            </a:r>
            <a:endParaRPr lang="en-US" sz="1300" dirty="0"/>
          </a:p>
        </p:txBody>
      </p:sp>
      <p:sp>
        <p:nvSpPr>
          <p:cNvPr id="9" name="Text 6"/>
          <p:cNvSpPr txBox="1"/>
          <p:nvPr/>
        </p:nvSpPr>
        <p:spPr>
          <a:xfrm>
            <a:off x="2560320" y="2103120"/>
            <a:ext cx="3108960" cy="365760"/>
          </a:xfrm>
          <a:prstGeom prst="rect">
            <a:avLst/>
          </a:prstGeom>
          <a:noFill/>
          <a:ln/>
        </p:spPr>
        <p:txBody>
          <a:bodyPr wrap="square" lIns="0" tIns="0" rIns="0" bIns="0" rtlCol="0" anchor="ctr"/>
          <a:lstStyle/>
          <a:p>
            <a:pPr indent="0" marL="0">
              <a:buNone/>
            </a:pPr>
            <a:r>
              <a:rPr lang="en-US" sz="1200" dirty="0">
                <a:solidFill>
                  <a:schemeClr val="tx1"/>
                </a:solidFill>
              </a:rPr>
              <a:t>RFP documents available on Ariba</a:t>
            </a:r>
            <a:endParaRPr lang="en-US" sz="1200" dirty="0"/>
          </a:p>
        </p:txBody>
      </p:sp>
      <p:sp>
        <p:nvSpPr>
          <p:cNvPr id="10" name="Shape 7"/>
          <p:cNvSpPr/>
          <p:nvPr/>
        </p:nvSpPr>
        <p:spPr>
          <a:xfrm>
            <a:off x="594360" y="2724912"/>
            <a:ext cx="182880" cy="182880"/>
          </a:xfrm>
          <a:prstGeom prst="ellipse">
            <a:avLst/>
          </a:prstGeom>
          <a:solidFill>
            <a:schemeClr val="accent1"/>
          </a:solidFill>
          <a:ln/>
        </p:spPr>
      </p:sp>
      <p:sp>
        <p:nvSpPr>
          <p:cNvPr id="11" name="Text 8"/>
          <p:cNvSpPr txBox="1"/>
          <p:nvPr/>
        </p:nvSpPr>
        <p:spPr>
          <a:xfrm>
            <a:off x="960120" y="2651760"/>
            <a:ext cx="1554480" cy="365760"/>
          </a:xfrm>
          <a:prstGeom prst="rect">
            <a:avLst/>
          </a:prstGeom>
          <a:noFill/>
          <a:ln/>
        </p:spPr>
        <p:txBody>
          <a:bodyPr wrap="square" lIns="0" tIns="0" rIns="0" bIns="0" rtlCol="0" anchor="ctr"/>
          <a:lstStyle/>
          <a:p>
            <a:pPr indent="0" marL="0">
              <a:buNone/>
            </a:pPr>
            <a:r>
              <a:rPr lang="en-US" sz="1300" b="1" dirty="0">
                <a:solidFill>
                  <a:schemeClr val="tx2"/>
                </a:solidFill>
              </a:rPr>
              <a:t>31 Aug – 2 Sep</a:t>
            </a:r>
            <a:endParaRPr lang="en-US" sz="1300" dirty="0"/>
          </a:p>
        </p:txBody>
      </p:sp>
      <p:sp>
        <p:nvSpPr>
          <p:cNvPr id="12" name="Text 9"/>
          <p:cNvSpPr txBox="1"/>
          <p:nvPr/>
        </p:nvSpPr>
        <p:spPr>
          <a:xfrm>
            <a:off x="2560320" y="2651760"/>
            <a:ext cx="3108960" cy="365760"/>
          </a:xfrm>
          <a:prstGeom prst="rect">
            <a:avLst/>
          </a:prstGeom>
          <a:noFill/>
          <a:ln/>
        </p:spPr>
        <p:txBody>
          <a:bodyPr wrap="square" lIns="0" tIns="0" rIns="0" bIns="0" rtlCol="0" anchor="ctr"/>
          <a:lstStyle/>
          <a:p>
            <a:pPr indent="0" marL="0">
              <a:buNone/>
            </a:pPr>
            <a:r>
              <a:rPr lang="en-US" sz="1200" dirty="0">
                <a:solidFill>
                  <a:schemeClr val="tx1"/>
                </a:solidFill>
              </a:rPr>
              <a:t>Compulsory site briefings: KTPH → Woodlands Health → TTSH</a:t>
            </a:r>
            <a:endParaRPr lang="en-US" sz="1200" dirty="0"/>
          </a:p>
        </p:txBody>
      </p:sp>
      <p:sp>
        <p:nvSpPr>
          <p:cNvPr id="13" name="Shape 10"/>
          <p:cNvSpPr/>
          <p:nvPr/>
        </p:nvSpPr>
        <p:spPr>
          <a:xfrm>
            <a:off x="594360" y="3273552"/>
            <a:ext cx="182880" cy="182880"/>
          </a:xfrm>
          <a:prstGeom prst="ellipse">
            <a:avLst/>
          </a:prstGeom>
          <a:solidFill>
            <a:schemeClr val="accent1"/>
          </a:solidFill>
          <a:ln/>
        </p:spPr>
      </p:sp>
      <p:sp>
        <p:nvSpPr>
          <p:cNvPr id="14" name="Text 11"/>
          <p:cNvSpPr txBox="1"/>
          <p:nvPr/>
        </p:nvSpPr>
        <p:spPr>
          <a:xfrm>
            <a:off x="960120" y="3200400"/>
            <a:ext cx="1554480" cy="365760"/>
          </a:xfrm>
          <a:prstGeom prst="rect">
            <a:avLst/>
          </a:prstGeom>
          <a:noFill/>
          <a:ln/>
        </p:spPr>
        <p:txBody>
          <a:bodyPr wrap="square" lIns="0" tIns="0" rIns="0" bIns="0" rtlCol="0" anchor="ctr"/>
          <a:lstStyle/>
          <a:p>
            <a:pPr indent="0" marL="0">
              <a:buNone/>
            </a:pPr>
            <a:r>
              <a:rPr lang="en-US" sz="1300" b="1" dirty="0">
                <a:solidFill>
                  <a:schemeClr val="tx2"/>
                </a:solidFill>
              </a:rPr>
              <a:t>11 Sep, 12:00</a:t>
            </a:r>
            <a:endParaRPr lang="en-US" sz="1300" dirty="0"/>
          </a:p>
        </p:txBody>
      </p:sp>
      <p:sp>
        <p:nvSpPr>
          <p:cNvPr id="15" name="Text 12"/>
          <p:cNvSpPr txBox="1"/>
          <p:nvPr/>
        </p:nvSpPr>
        <p:spPr>
          <a:xfrm>
            <a:off x="2560320" y="3200400"/>
            <a:ext cx="3108960" cy="365760"/>
          </a:xfrm>
          <a:prstGeom prst="rect">
            <a:avLst/>
          </a:prstGeom>
          <a:noFill/>
          <a:ln/>
        </p:spPr>
        <p:txBody>
          <a:bodyPr wrap="square" lIns="0" tIns="0" rIns="0" bIns="0" rtlCol="0" anchor="ctr"/>
          <a:lstStyle/>
          <a:p>
            <a:pPr indent="0" marL="0">
              <a:buNone/>
            </a:pPr>
            <a:r>
              <a:rPr lang="en-US" sz="1200" dirty="0">
                <a:solidFill>
                  <a:schemeClr val="tx1"/>
                </a:solidFill>
              </a:rPr>
              <a:t>Written clarifications deadline (email to MMD)</a:t>
            </a:r>
            <a:endParaRPr lang="en-US" sz="1200" dirty="0"/>
          </a:p>
        </p:txBody>
      </p:sp>
      <p:sp>
        <p:nvSpPr>
          <p:cNvPr id="16" name="Shape 13"/>
          <p:cNvSpPr/>
          <p:nvPr/>
        </p:nvSpPr>
        <p:spPr>
          <a:xfrm>
            <a:off x="594360" y="3822192"/>
            <a:ext cx="182880" cy="182880"/>
          </a:xfrm>
          <a:prstGeom prst="ellipse">
            <a:avLst/>
          </a:prstGeom>
          <a:solidFill>
            <a:schemeClr val="accent1"/>
          </a:solidFill>
          <a:ln/>
        </p:spPr>
      </p:sp>
      <p:sp>
        <p:nvSpPr>
          <p:cNvPr id="17" name="Text 14"/>
          <p:cNvSpPr txBox="1"/>
          <p:nvPr/>
        </p:nvSpPr>
        <p:spPr>
          <a:xfrm>
            <a:off x="960120" y="3749040"/>
            <a:ext cx="1554480" cy="365760"/>
          </a:xfrm>
          <a:prstGeom prst="rect">
            <a:avLst/>
          </a:prstGeom>
          <a:noFill/>
          <a:ln/>
        </p:spPr>
        <p:txBody>
          <a:bodyPr wrap="square" lIns="0" tIns="0" rIns="0" bIns="0" rtlCol="0" anchor="ctr"/>
          <a:lstStyle/>
          <a:p>
            <a:pPr indent="0" marL="0">
              <a:buNone/>
            </a:pPr>
            <a:r>
              <a:rPr lang="en-US" sz="1300" b="1" dirty="0">
                <a:solidFill>
                  <a:schemeClr val="tx2"/>
                </a:solidFill>
              </a:rPr>
              <a:t>18 Sep, 15:00</a:t>
            </a:r>
            <a:endParaRPr lang="en-US" sz="1300" dirty="0"/>
          </a:p>
        </p:txBody>
      </p:sp>
      <p:sp>
        <p:nvSpPr>
          <p:cNvPr id="18" name="Text 15"/>
          <p:cNvSpPr txBox="1"/>
          <p:nvPr/>
        </p:nvSpPr>
        <p:spPr>
          <a:xfrm>
            <a:off x="2560320" y="3749040"/>
            <a:ext cx="3108960" cy="365760"/>
          </a:xfrm>
          <a:prstGeom prst="rect">
            <a:avLst/>
          </a:prstGeom>
          <a:noFill/>
          <a:ln/>
        </p:spPr>
        <p:txBody>
          <a:bodyPr wrap="square" lIns="0" tIns="0" rIns="0" bIns="0" rtlCol="0" anchor="ctr"/>
          <a:lstStyle/>
          <a:p>
            <a:pPr indent="0" marL="0">
              <a:buNone/>
            </a:pPr>
            <a:r>
              <a:rPr lang="en-US" sz="1200" dirty="0">
                <a:solidFill>
                  <a:schemeClr val="tx1"/>
                </a:solidFill>
              </a:rPr>
              <a:t>RFP closes on Ariba — late submissions blocked</a:t>
            </a:r>
            <a:endParaRPr lang="en-US" sz="1200" dirty="0"/>
          </a:p>
        </p:txBody>
      </p:sp>
      <p:sp>
        <p:nvSpPr>
          <p:cNvPr id="19" name="Shape 16"/>
          <p:cNvSpPr/>
          <p:nvPr/>
        </p:nvSpPr>
        <p:spPr>
          <a:xfrm>
            <a:off x="594360" y="4370832"/>
            <a:ext cx="182880" cy="182880"/>
          </a:xfrm>
          <a:prstGeom prst="ellipse">
            <a:avLst/>
          </a:prstGeom>
          <a:solidFill>
            <a:schemeClr val="accent1"/>
          </a:solidFill>
          <a:ln/>
        </p:spPr>
      </p:sp>
      <p:sp>
        <p:nvSpPr>
          <p:cNvPr id="20" name="Text 17"/>
          <p:cNvSpPr txBox="1"/>
          <p:nvPr/>
        </p:nvSpPr>
        <p:spPr>
          <a:xfrm>
            <a:off x="960120" y="4297680"/>
            <a:ext cx="1554480" cy="365760"/>
          </a:xfrm>
          <a:prstGeom prst="rect">
            <a:avLst/>
          </a:prstGeom>
          <a:noFill/>
          <a:ln/>
        </p:spPr>
        <p:txBody>
          <a:bodyPr wrap="square" lIns="0" tIns="0" rIns="0" bIns="0" rtlCol="0" anchor="ctr"/>
          <a:lstStyle/>
          <a:p>
            <a:pPr indent="0" marL="0">
              <a:buNone/>
            </a:pPr>
            <a:r>
              <a:rPr lang="en-US" sz="1300" b="1" dirty="0">
                <a:solidFill>
                  <a:schemeClr val="tx2"/>
                </a:solidFill>
              </a:rPr>
              <a:t>On request</a:t>
            </a:r>
            <a:endParaRPr lang="en-US" sz="1300" dirty="0"/>
          </a:p>
        </p:txBody>
      </p:sp>
      <p:sp>
        <p:nvSpPr>
          <p:cNvPr id="21" name="Text 18"/>
          <p:cNvSpPr txBox="1"/>
          <p:nvPr/>
        </p:nvSpPr>
        <p:spPr>
          <a:xfrm>
            <a:off x="2560320" y="4297680"/>
            <a:ext cx="3108960" cy="365760"/>
          </a:xfrm>
          <a:prstGeom prst="rect">
            <a:avLst/>
          </a:prstGeom>
          <a:noFill/>
          <a:ln/>
        </p:spPr>
        <p:txBody>
          <a:bodyPr wrap="square" lIns="0" tIns="0" rIns="0" bIns="0" rtlCol="0" anchor="ctr"/>
          <a:lstStyle/>
          <a:p>
            <a:pPr indent="0" marL="0">
              <a:buNone/>
            </a:pPr>
            <a:r>
              <a:rPr lang="en-US" sz="1200" dirty="0">
                <a:solidFill>
                  <a:schemeClr val="tx1"/>
                </a:solidFill>
              </a:rPr>
              <a:t>Vendor presentation and/or samples (clause 20)</a:t>
            </a:r>
            <a:endParaRPr lang="en-US" sz="1200" dirty="0"/>
          </a:p>
        </p:txBody>
      </p:sp>
      <p:sp>
        <p:nvSpPr>
          <p:cNvPr id="22" name="Shape 19"/>
          <p:cNvSpPr/>
          <p:nvPr/>
        </p:nvSpPr>
        <p:spPr>
          <a:xfrm>
            <a:off x="6035040" y="1691640"/>
            <a:ext cx="2697480" cy="1325880"/>
          </a:xfrm>
          <a:prstGeom prst="rect">
            <a:avLst/>
          </a:prstGeom>
          <a:solidFill>
            <a:schemeClr val="bg2"/>
          </a:solidFill>
          <a:ln/>
        </p:spPr>
      </p:sp>
      <p:sp>
        <p:nvSpPr>
          <p:cNvPr id="23" name="Text 20"/>
          <p:cNvSpPr txBox="1"/>
          <p:nvPr/>
        </p:nvSpPr>
        <p:spPr>
          <a:xfrm>
            <a:off x="6217920" y="1801368"/>
            <a:ext cx="228600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180</a:t>
            </a:r>
            <a:endParaRPr lang="en-US" sz="4000" dirty="0"/>
          </a:p>
        </p:txBody>
      </p:sp>
      <p:sp>
        <p:nvSpPr>
          <p:cNvPr id="24" name="Text 21"/>
          <p:cNvSpPr txBox="1"/>
          <p:nvPr/>
        </p:nvSpPr>
        <p:spPr>
          <a:xfrm>
            <a:off x="6217920" y="2496312"/>
            <a:ext cx="2331720" cy="457200"/>
          </a:xfrm>
          <a:prstGeom prst="rect">
            <a:avLst/>
          </a:prstGeom>
          <a:noFill/>
          <a:ln/>
        </p:spPr>
        <p:txBody>
          <a:bodyPr wrap="square" lIns="0" tIns="0" rIns="0" bIns="0" rtlCol="0" anchor="t"/>
          <a:lstStyle/>
          <a:p>
            <a:pPr indent="0" marL="0">
              <a:buNone/>
            </a:pPr>
            <a:r>
              <a:rPr lang="en-US" sz="1100" dirty="0">
                <a:solidFill>
                  <a:schemeClr val="accent4"/>
                </a:solidFill>
              </a:rPr>
              <a:t>days price validity from closing date</a:t>
            </a:r>
            <a:endParaRPr lang="en-US" sz="1100" dirty="0"/>
          </a:p>
        </p:txBody>
      </p:sp>
      <p:sp>
        <p:nvSpPr>
          <p:cNvPr id="25" name="Shape 22"/>
          <p:cNvSpPr/>
          <p:nvPr/>
        </p:nvSpPr>
        <p:spPr>
          <a:xfrm>
            <a:off x="8869680" y="1691640"/>
            <a:ext cx="2697480" cy="1325880"/>
          </a:xfrm>
          <a:prstGeom prst="rect">
            <a:avLst/>
          </a:prstGeom>
          <a:solidFill>
            <a:schemeClr val="bg2"/>
          </a:solidFill>
          <a:ln/>
        </p:spPr>
      </p:sp>
      <p:sp>
        <p:nvSpPr>
          <p:cNvPr id="26" name="Text 23"/>
          <p:cNvSpPr txBox="1"/>
          <p:nvPr/>
        </p:nvSpPr>
        <p:spPr>
          <a:xfrm>
            <a:off x="9052560" y="1801368"/>
            <a:ext cx="228600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10%</a:t>
            </a:r>
            <a:endParaRPr lang="en-US" sz="4000" dirty="0"/>
          </a:p>
        </p:txBody>
      </p:sp>
      <p:sp>
        <p:nvSpPr>
          <p:cNvPr id="27" name="Text 24"/>
          <p:cNvSpPr txBox="1"/>
          <p:nvPr/>
        </p:nvSpPr>
        <p:spPr>
          <a:xfrm>
            <a:off x="9052560" y="2496312"/>
            <a:ext cx="2331720" cy="457200"/>
          </a:xfrm>
          <a:prstGeom prst="rect">
            <a:avLst/>
          </a:prstGeom>
          <a:noFill/>
          <a:ln/>
        </p:spPr>
        <p:txBody>
          <a:bodyPr wrap="square" lIns="0" tIns="0" rIns="0" bIns="0" rtlCol="0" anchor="t"/>
          <a:lstStyle/>
          <a:p>
            <a:pPr indent="0" marL="0">
              <a:buNone/>
            </a:pPr>
            <a:r>
              <a:rPr lang="en-US" sz="1100" dirty="0">
                <a:solidFill>
                  <a:schemeClr val="accent4"/>
                </a:solidFill>
              </a:rPr>
              <a:t>security deposit within 14 days of acceptance</a:t>
            </a:r>
            <a:endParaRPr lang="en-US" sz="1100" dirty="0"/>
          </a:p>
        </p:txBody>
      </p:sp>
      <p:sp>
        <p:nvSpPr>
          <p:cNvPr id="28" name="Shape 25"/>
          <p:cNvSpPr/>
          <p:nvPr/>
        </p:nvSpPr>
        <p:spPr>
          <a:xfrm>
            <a:off x="6035040" y="3154680"/>
            <a:ext cx="2697480" cy="1325880"/>
          </a:xfrm>
          <a:prstGeom prst="rect">
            <a:avLst/>
          </a:prstGeom>
          <a:solidFill>
            <a:schemeClr val="bg2"/>
          </a:solidFill>
          <a:ln/>
        </p:spPr>
      </p:sp>
      <p:sp>
        <p:nvSpPr>
          <p:cNvPr id="29" name="Text 26"/>
          <p:cNvSpPr txBox="1"/>
          <p:nvPr/>
        </p:nvSpPr>
        <p:spPr>
          <a:xfrm>
            <a:off x="6217920" y="3264408"/>
            <a:ext cx="228600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28</a:t>
            </a:r>
            <a:endParaRPr lang="en-US" sz="4000" dirty="0"/>
          </a:p>
        </p:txBody>
      </p:sp>
      <p:sp>
        <p:nvSpPr>
          <p:cNvPr id="30" name="Text 27"/>
          <p:cNvSpPr txBox="1"/>
          <p:nvPr/>
        </p:nvSpPr>
        <p:spPr>
          <a:xfrm>
            <a:off x="6217920" y="3959352"/>
            <a:ext cx="2331720" cy="457200"/>
          </a:xfrm>
          <a:prstGeom prst="rect">
            <a:avLst/>
          </a:prstGeom>
          <a:noFill/>
          <a:ln/>
        </p:spPr>
        <p:txBody>
          <a:bodyPr wrap="square" lIns="0" tIns="0" rIns="0" bIns="0" rtlCol="0" anchor="t"/>
          <a:lstStyle/>
          <a:p>
            <a:pPr indent="0" marL="0">
              <a:buNone/>
            </a:pPr>
            <a:r>
              <a:rPr lang="en-US" sz="1100" dirty="0">
                <a:solidFill>
                  <a:schemeClr val="accent4"/>
                </a:solidFill>
              </a:rPr>
              <a:t>days minimum to mobilise resources</a:t>
            </a:r>
            <a:endParaRPr lang="en-US" sz="1100" dirty="0"/>
          </a:p>
        </p:txBody>
      </p:sp>
      <p:sp>
        <p:nvSpPr>
          <p:cNvPr id="31" name="Shape 28"/>
          <p:cNvSpPr/>
          <p:nvPr/>
        </p:nvSpPr>
        <p:spPr>
          <a:xfrm>
            <a:off x="8869680" y="3154680"/>
            <a:ext cx="2697480" cy="1325880"/>
          </a:xfrm>
          <a:prstGeom prst="rect">
            <a:avLst/>
          </a:prstGeom>
          <a:solidFill>
            <a:schemeClr val="bg2"/>
          </a:solidFill>
          <a:ln/>
        </p:spPr>
      </p:sp>
      <p:sp>
        <p:nvSpPr>
          <p:cNvPr id="32" name="Text 29"/>
          <p:cNvSpPr txBox="1"/>
          <p:nvPr/>
        </p:nvSpPr>
        <p:spPr>
          <a:xfrm>
            <a:off x="9052560" y="3264408"/>
            <a:ext cx="2286000" cy="68580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60</a:t>
            </a:r>
            <a:endParaRPr lang="en-US" sz="4000" dirty="0"/>
          </a:p>
        </p:txBody>
      </p:sp>
      <p:sp>
        <p:nvSpPr>
          <p:cNvPr id="33" name="Text 30"/>
          <p:cNvSpPr txBox="1"/>
          <p:nvPr/>
        </p:nvSpPr>
        <p:spPr>
          <a:xfrm>
            <a:off x="9052560" y="3959352"/>
            <a:ext cx="2331720" cy="457200"/>
          </a:xfrm>
          <a:prstGeom prst="rect">
            <a:avLst/>
          </a:prstGeom>
          <a:noFill/>
          <a:ln/>
        </p:spPr>
        <p:txBody>
          <a:bodyPr wrap="square" lIns="0" tIns="0" rIns="0" bIns="0" rtlCol="0" anchor="t"/>
          <a:lstStyle/>
          <a:p>
            <a:pPr indent="0" marL="0">
              <a:buNone/>
            </a:pPr>
            <a:r>
              <a:rPr lang="en-US" sz="1100" dirty="0">
                <a:solidFill>
                  <a:schemeClr val="accent4"/>
                </a:solidFill>
              </a:rPr>
              <a:t>days payment term</a:t>
            </a:r>
            <a:endParaRPr lang="en-US" sz="1100" dirty="0"/>
          </a:p>
        </p:txBody>
      </p:sp>
      <p:sp>
        <p:nvSpPr>
          <p:cNvPr id="34" name="Text 31"/>
          <p:cNvSpPr txBox="1"/>
          <p:nvPr/>
        </p:nvSpPr>
        <p:spPr>
          <a:xfrm>
            <a:off x="6035040" y="4663440"/>
            <a:ext cx="5486400" cy="274320"/>
          </a:xfrm>
          <a:prstGeom prst="rect">
            <a:avLst/>
          </a:prstGeom>
          <a:noFill/>
          <a:ln/>
        </p:spPr>
        <p:txBody>
          <a:bodyPr wrap="square" lIns="0" tIns="0" rIns="0" bIns="0" rtlCol="0" anchor="t"/>
          <a:lstStyle/>
          <a:p>
            <a:pPr indent="0" marL="0">
              <a:buNone/>
            </a:pPr>
            <a:r>
              <a:rPr lang="en-US" sz="1400" b="1" dirty="0">
                <a:solidFill>
                  <a:schemeClr val="tx2"/>
                </a:solidFill>
              </a:rPr>
              <a:t>Three sites in scope</a:t>
            </a:r>
            <a:endParaRPr lang="en-US" sz="1400" dirty="0"/>
          </a:p>
        </p:txBody>
      </p:sp>
      <p:sp>
        <p:nvSpPr>
          <p:cNvPr id="35" name="Shape 32"/>
          <p:cNvSpPr/>
          <p:nvPr/>
        </p:nvSpPr>
        <p:spPr>
          <a:xfrm>
            <a:off x="6035040" y="5029200"/>
            <a:ext cx="1783080" cy="731520"/>
          </a:xfrm>
          <a:prstGeom prst="roundRect">
            <a:avLst>
              <a:gd name="adj" fmla="val 10000"/>
            </a:avLst>
          </a:prstGeom>
          <a:solidFill>
            <a:schemeClr val="tx2"/>
          </a:solidFill>
          <a:ln/>
        </p:spPr>
      </p:sp>
      <p:sp>
        <p:nvSpPr>
          <p:cNvPr id="36" name="Text 33"/>
          <p:cNvSpPr txBox="1"/>
          <p:nvPr/>
        </p:nvSpPr>
        <p:spPr>
          <a:xfrm>
            <a:off x="6126480" y="5029200"/>
            <a:ext cx="1600200" cy="731520"/>
          </a:xfrm>
          <a:prstGeom prst="rect">
            <a:avLst/>
          </a:prstGeom>
          <a:noFill/>
          <a:ln/>
        </p:spPr>
        <p:txBody>
          <a:bodyPr wrap="square" lIns="0" tIns="0" rIns="0" bIns="0" rtlCol="0" anchor="ctr"/>
          <a:lstStyle/>
          <a:p>
            <a:pPr algn="ctr" indent="0" marL="0">
              <a:buNone/>
            </a:pPr>
            <a:r>
              <a:rPr lang="en-US" sz="1200" b="1" dirty="0">
                <a:solidFill>
                  <a:schemeClr val="bg1"/>
                </a:solidFill>
              </a:rPr>
              <a:t>Khoo Teck Puat Hospital</a:t>
            </a:r>
            <a:endParaRPr lang="en-US" sz="1200" dirty="0"/>
          </a:p>
        </p:txBody>
      </p:sp>
      <p:sp>
        <p:nvSpPr>
          <p:cNvPr id="37" name="Shape 34"/>
          <p:cNvSpPr/>
          <p:nvPr/>
        </p:nvSpPr>
        <p:spPr>
          <a:xfrm>
            <a:off x="7927848" y="5029200"/>
            <a:ext cx="1783080" cy="731520"/>
          </a:xfrm>
          <a:prstGeom prst="roundRect">
            <a:avLst>
              <a:gd name="adj" fmla="val 10000"/>
            </a:avLst>
          </a:prstGeom>
          <a:solidFill>
            <a:schemeClr val="tx2"/>
          </a:solidFill>
          <a:ln/>
        </p:spPr>
      </p:sp>
      <p:sp>
        <p:nvSpPr>
          <p:cNvPr id="38" name="Text 35"/>
          <p:cNvSpPr txBox="1"/>
          <p:nvPr/>
        </p:nvSpPr>
        <p:spPr>
          <a:xfrm>
            <a:off x="8019288" y="5029200"/>
            <a:ext cx="1600200" cy="731520"/>
          </a:xfrm>
          <a:prstGeom prst="rect">
            <a:avLst/>
          </a:prstGeom>
          <a:noFill/>
          <a:ln/>
        </p:spPr>
        <p:txBody>
          <a:bodyPr wrap="square" lIns="0" tIns="0" rIns="0" bIns="0" rtlCol="0" anchor="ctr"/>
          <a:lstStyle/>
          <a:p>
            <a:pPr algn="ctr" indent="0" marL="0">
              <a:buNone/>
            </a:pPr>
            <a:r>
              <a:rPr lang="en-US" sz="1200" b="1" dirty="0">
                <a:solidFill>
                  <a:schemeClr val="bg1"/>
                </a:solidFill>
              </a:rPr>
              <a:t>Woodlands Health</a:t>
            </a:r>
            <a:endParaRPr lang="en-US" sz="1200" dirty="0"/>
          </a:p>
        </p:txBody>
      </p:sp>
      <p:sp>
        <p:nvSpPr>
          <p:cNvPr id="39" name="Shape 36"/>
          <p:cNvSpPr/>
          <p:nvPr/>
        </p:nvSpPr>
        <p:spPr>
          <a:xfrm>
            <a:off x="9820656" y="5029200"/>
            <a:ext cx="1783080" cy="731520"/>
          </a:xfrm>
          <a:prstGeom prst="roundRect">
            <a:avLst>
              <a:gd name="adj" fmla="val 10000"/>
            </a:avLst>
          </a:prstGeom>
          <a:solidFill>
            <a:schemeClr val="tx2"/>
          </a:solidFill>
          <a:ln/>
        </p:spPr>
      </p:sp>
      <p:sp>
        <p:nvSpPr>
          <p:cNvPr id="40" name="Text 37"/>
          <p:cNvSpPr txBox="1"/>
          <p:nvPr/>
        </p:nvSpPr>
        <p:spPr>
          <a:xfrm>
            <a:off x="9912096" y="5029200"/>
            <a:ext cx="1600200" cy="731520"/>
          </a:xfrm>
          <a:prstGeom prst="rect">
            <a:avLst/>
          </a:prstGeom>
          <a:noFill/>
          <a:ln/>
        </p:spPr>
        <p:txBody>
          <a:bodyPr wrap="square" lIns="0" tIns="0" rIns="0" bIns="0" rtlCol="0" anchor="ctr"/>
          <a:lstStyle/>
          <a:p>
            <a:pPr algn="ctr" indent="0" marL="0">
              <a:buNone/>
            </a:pPr>
            <a:r>
              <a:rPr lang="en-US" sz="1200" b="1" dirty="0">
                <a:solidFill>
                  <a:schemeClr val="bg1"/>
                </a:solidFill>
              </a:rPr>
              <a:t>Tan Tock Seng Hospital</a:t>
            </a:r>
            <a:endParaRPr lang="en-US" sz="1200" dirty="0"/>
          </a:p>
        </p:txBody>
      </p:sp>
      <p:sp>
        <p:nvSpPr>
          <p:cNvPr id="41" name="Text 38"/>
          <p:cNvSpPr txBox="1"/>
          <p:nvPr/>
        </p:nvSpPr>
        <p:spPr>
          <a:xfrm>
            <a:off x="548640" y="5029200"/>
            <a:ext cx="5120640" cy="457200"/>
          </a:xfrm>
          <a:prstGeom prst="rect">
            <a:avLst/>
          </a:prstGeom>
          <a:noFill/>
          <a:ln/>
        </p:spPr>
        <p:txBody>
          <a:bodyPr wrap="square" lIns="0" tIns="0" rIns="0" bIns="0" rtlCol="0" anchor="t"/>
          <a:lstStyle/>
          <a:p>
            <a:pPr indent="0" marL="0">
              <a:buNone/>
            </a:pPr>
            <a:r>
              <a:rPr lang="en-US" sz="1200" dirty="0">
                <a:solidFill>
                  <a:schemeClr val="accent4"/>
                </a:solidFill>
              </a:rPr>
              <a:t>SGD, ex-GST  •  HSA-registered devices  •  Fully integrated system</a:t>
            </a:r>
            <a:endParaRPr lang="en-US" sz="12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1 · COMPANY INTRODUCTION</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MONIT is a healthcare-technology company focused on making incontinence care smarter and more dignified</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MONIT. Replace placeholders with approved corporate facts.</a:t>
            </a:r>
            <a:endParaRPr lang="en-US" sz="900" dirty="0"/>
          </a:p>
        </p:txBody>
      </p:sp>
      <p:sp>
        <p:nvSpPr>
          <p:cNvPr id="6" name="Input placeholder"/>
          <p:cNvSpPr/>
          <p:nvPr/>
        </p:nvSpPr>
        <p:spPr>
          <a:xfrm>
            <a:off x="548640" y="1691640"/>
            <a:ext cx="5120640" cy="1097280"/>
          </a:xfrm>
          <a:prstGeom prst="rect">
            <a:avLst/>
          </a:prstGeom>
          <a:solidFill>
            <a:srgbClr val="FFF4D6"/>
          </a:solidFill>
          <a:ln w="12700">
            <a:solidFill>
              <a:srgbClr val="F2A900"/>
            </a:solidFill>
            <a:prstDash val="dash"/>
          </a:ln>
        </p:spPr>
      </p:sp>
      <p:sp>
        <p:nvSpPr>
          <p:cNvPr id="7" name="Text 4"/>
          <p:cNvSpPr txBox="1"/>
          <p:nvPr/>
        </p:nvSpPr>
        <p:spPr>
          <a:xfrm>
            <a:off x="640080" y="1691640"/>
            <a:ext cx="4937760" cy="1097280"/>
          </a:xfrm>
          <a:prstGeom prst="rect">
            <a:avLst/>
          </a:prstGeom>
          <a:noFill/>
          <a:ln/>
        </p:spPr>
        <p:txBody>
          <a:bodyPr wrap="square" lIns="0" tIns="0" rIns="0" bIns="0" rtlCol="0" anchor="ctr"/>
          <a:lstStyle/>
          <a:p>
            <a:pPr indent="0" marL="0">
              <a:buNone/>
            </a:pPr>
            <a:r>
              <a:rPr lang="en-US" sz="1100" i="1" dirty="0">
                <a:solidFill>
                  <a:srgbClr val="7A4F00"/>
                </a:solidFill>
              </a:rPr>
              <a:t>[INPUT REQUIRED] Company profile: founded, HQ, Singapore entity &amp; UEN, ownership, headcount, mission statement.</a:t>
            </a:r>
            <a:endParaRPr lang="en-US" sz="1100" dirty="0"/>
          </a:p>
        </p:txBody>
      </p:sp>
      <p:sp>
        <p:nvSpPr>
          <p:cNvPr id="8" name="Input placeholder"/>
          <p:cNvSpPr/>
          <p:nvPr/>
        </p:nvSpPr>
        <p:spPr>
          <a:xfrm>
            <a:off x="548640" y="2971800"/>
            <a:ext cx="5120640" cy="1280160"/>
          </a:xfrm>
          <a:prstGeom prst="rect">
            <a:avLst/>
          </a:prstGeom>
          <a:solidFill>
            <a:srgbClr val="FFF4D6"/>
          </a:solidFill>
          <a:ln w="12700">
            <a:solidFill>
              <a:srgbClr val="F2A900"/>
            </a:solidFill>
            <a:prstDash val="dash"/>
          </a:ln>
        </p:spPr>
      </p:sp>
      <p:sp>
        <p:nvSpPr>
          <p:cNvPr id="9" name="Text 6"/>
          <p:cNvSpPr txBox="1"/>
          <p:nvPr/>
        </p:nvSpPr>
        <p:spPr>
          <a:xfrm>
            <a:off x="640080" y="2971800"/>
            <a:ext cx="4937760" cy="1280160"/>
          </a:xfrm>
          <a:prstGeom prst="rect">
            <a:avLst/>
          </a:prstGeom>
          <a:noFill/>
          <a:ln/>
        </p:spPr>
        <p:txBody>
          <a:bodyPr wrap="square" lIns="0" tIns="0" rIns="0" bIns="0" rtlCol="0" anchor="ctr"/>
          <a:lstStyle/>
          <a:p>
            <a:pPr indent="0" marL="0">
              <a:buNone/>
            </a:pPr>
            <a:r>
              <a:rPr lang="en-US" sz="1100" i="1" dirty="0">
                <a:solidFill>
                  <a:srgbClr val="7A4F00"/>
                </a:solidFill>
              </a:rPr>
              <a:t>[INPUT REQUIRED] Core technology / IP: sensor hardware, AI detection algorithm, patents, R&amp;D footprint.</a:t>
            </a:r>
            <a:endParaRPr lang="en-US" sz="1100" dirty="0"/>
          </a:p>
        </p:txBody>
      </p:sp>
      <p:sp>
        <p:nvSpPr>
          <p:cNvPr id="10" name="Input placeholder"/>
          <p:cNvSpPr/>
          <p:nvPr/>
        </p:nvSpPr>
        <p:spPr>
          <a:xfrm>
            <a:off x="548640" y="4434840"/>
            <a:ext cx="5120640" cy="1371600"/>
          </a:xfrm>
          <a:prstGeom prst="rect">
            <a:avLst/>
          </a:prstGeom>
          <a:solidFill>
            <a:srgbClr val="FFF4D6"/>
          </a:solidFill>
          <a:ln w="12700">
            <a:solidFill>
              <a:srgbClr val="F2A900"/>
            </a:solidFill>
            <a:prstDash val="dash"/>
          </a:ln>
        </p:spPr>
      </p:sp>
      <p:sp>
        <p:nvSpPr>
          <p:cNvPr id="11" name="Text 8"/>
          <p:cNvSpPr txBox="1"/>
          <p:nvPr/>
        </p:nvSpPr>
        <p:spPr>
          <a:xfrm>
            <a:off x="640080" y="4434840"/>
            <a:ext cx="4937760" cy="1371600"/>
          </a:xfrm>
          <a:prstGeom prst="rect">
            <a:avLst/>
          </a:prstGeom>
          <a:noFill/>
          <a:ln/>
        </p:spPr>
        <p:txBody>
          <a:bodyPr wrap="square" lIns="0" tIns="0" rIns="0" bIns="0" rtlCol="0" anchor="ctr"/>
          <a:lstStyle/>
          <a:p>
            <a:pPr indent="0" marL="0">
              <a:buNone/>
            </a:pPr>
            <a:r>
              <a:rPr lang="en-US" sz="1100" i="1" dirty="0">
                <a:solidFill>
                  <a:srgbClr val="7A4F00"/>
                </a:solidFill>
              </a:rPr>
              <a:t>[INPUT REQUIRED] Healthcare footprint: countries, hospitals / care homes served, beds covered.</a:t>
            </a:r>
            <a:endParaRPr lang="en-US" sz="1100" dirty="0"/>
          </a:p>
        </p:txBody>
      </p:sp>
      <p:sp>
        <p:nvSpPr>
          <p:cNvPr id="12" name="Shape 9"/>
          <p:cNvSpPr/>
          <p:nvPr/>
        </p:nvSpPr>
        <p:spPr>
          <a:xfrm>
            <a:off x="6035040" y="1691640"/>
            <a:ext cx="2697480" cy="1371600"/>
          </a:xfrm>
          <a:prstGeom prst="rect">
            <a:avLst/>
          </a:prstGeom>
          <a:solidFill>
            <a:schemeClr val="bg2"/>
          </a:solidFill>
          <a:ln/>
        </p:spPr>
      </p:sp>
      <p:sp>
        <p:nvSpPr>
          <p:cNvPr id="13" name="Text 10"/>
          <p:cNvSpPr txBox="1"/>
          <p:nvPr/>
        </p:nvSpPr>
        <p:spPr>
          <a:xfrm>
            <a:off x="6217920" y="1828800"/>
            <a:ext cx="2286000" cy="73152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[xx]</a:t>
            </a:r>
            <a:endParaRPr lang="en-US" sz="4000" dirty="0"/>
          </a:p>
        </p:txBody>
      </p:sp>
      <p:sp>
        <p:nvSpPr>
          <p:cNvPr id="14" name="Text 11"/>
          <p:cNvSpPr txBox="1"/>
          <p:nvPr/>
        </p:nvSpPr>
        <p:spPr>
          <a:xfrm>
            <a:off x="6217920" y="2560320"/>
            <a:ext cx="2286000" cy="365760"/>
          </a:xfrm>
          <a:prstGeom prst="rect">
            <a:avLst/>
          </a:prstGeom>
          <a:noFill/>
          <a:ln/>
        </p:spPr>
        <p:txBody>
          <a:bodyPr wrap="square" lIns="0" tIns="0" rIns="0" bIns="0" rtlCol="0" anchor="t"/>
          <a:lstStyle/>
          <a:p>
            <a:pPr indent="0" marL="0">
              <a:buNone/>
            </a:pPr>
            <a:r>
              <a:rPr lang="en-US" sz="1200" dirty="0">
                <a:solidFill>
                  <a:schemeClr val="accent4"/>
                </a:solidFill>
              </a:rPr>
              <a:t>Years in operation</a:t>
            </a:r>
            <a:endParaRPr lang="en-US" sz="1200" dirty="0"/>
          </a:p>
        </p:txBody>
      </p:sp>
      <p:sp>
        <p:nvSpPr>
          <p:cNvPr id="15" name="Shape 12"/>
          <p:cNvSpPr/>
          <p:nvPr/>
        </p:nvSpPr>
        <p:spPr>
          <a:xfrm>
            <a:off x="8869680" y="1691640"/>
            <a:ext cx="2697480" cy="1371600"/>
          </a:xfrm>
          <a:prstGeom prst="rect">
            <a:avLst/>
          </a:prstGeom>
          <a:solidFill>
            <a:schemeClr val="bg2"/>
          </a:solidFill>
          <a:ln/>
        </p:spPr>
      </p:sp>
      <p:sp>
        <p:nvSpPr>
          <p:cNvPr id="16" name="Text 13"/>
          <p:cNvSpPr txBox="1"/>
          <p:nvPr/>
        </p:nvSpPr>
        <p:spPr>
          <a:xfrm>
            <a:off x="9052560" y="1828800"/>
            <a:ext cx="2286000" cy="73152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[xx]</a:t>
            </a:r>
            <a:endParaRPr lang="en-US" sz="4000" dirty="0"/>
          </a:p>
        </p:txBody>
      </p:sp>
      <p:sp>
        <p:nvSpPr>
          <p:cNvPr id="17" name="Text 14"/>
          <p:cNvSpPr txBox="1"/>
          <p:nvPr/>
        </p:nvSpPr>
        <p:spPr>
          <a:xfrm>
            <a:off x="9052560" y="2560320"/>
            <a:ext cx="2286000" cy="365760"/>
          </a:xfrm>
          <a:prstGeom prst="rect">
            <a:avLst/>
          </a:prstGeom>
          <a:noFill/>
          <a:ln/>
        </p:spPr>
        <p:txBody>
          <a:bodyPr wrap="square" lIns="0" tIns="0" rIns="0" bIns="0" rtlCol="0" anchor="t"/>
          <a:lstStyle/>
          <a:p>
            <a:pPr indent="0" marL="0">
              <a:buNone/>
            </a:pPr>
            <a:r>
              <a:rPr lang="en-US" sz="1200" dirty="0">
                <a:solidFill>
                  <a:schemeClr val="accent4"/>
                </a:solidFill>
              </a:rPr>
              <a:t>Sites / facilities live</a:t>
            </a:r>
            <a:endParaRPr lang="en-US" sz="1200" dirty="0"/>
          </a:p>
        </p:txBody>
      </p:sp>
      <p:sp>
        <p:nvSpPr>
          <p:cNvPr id="18" name="Shape 15"/>
          <p:cNvSpPr/>
          <p:nvPr/>
        </p:nvSpPr>
        <p:spPr>
          <a:xfrm>
            <a:off x="6035040" y="3246120"/>
            <a:ext cx="2697480" cy="1371600"/>
          </a:xfrm>
          <a:prstGeom prst="rect">
            <a:avLst/>
          </a:prstGeom>
          <a:solidFill>
            <a:schemeClr val="bg2"/>
          </a:solidFill>
          <a:ln/>
        </p:spPr>
      </p:sp>
      <p:sp>
        <p:nvSpPr>
          <p:cNvPr id="19" name="Text 16"/>
          <p:cNvSpPr txBox="1"/>
          <p:nvPr/>
        </p:nvSpPr>
        <p:spPr>
          <a:xfrm>
            <a:off x="6217920" y="3383280"/>
            <a:ext cx="2286000" cy="73152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[xx]</a:t>
            </a:r>
            <a:endParaRPr lang="en-US" sz="4000" dirty="0"/>
          </a:p>
        </p:txBody>
      </p:sp>
      <p:sp>
        <p:nvSpPr>
          <p:cNvPr id="20" name="Text 17"/>
          <p:cNvSpPr txBox="1"/>
          <p:nvPr/>
        </p:nvSpPr>
        <p:spPr>
          <a:xfrm>
            <a:off x="6217920" y="4114800"/>
            <a:ext cx="2286000" cy="365760"/>
          </a:xfrm>
          <a:prstGeom prst="rect">
            <a:avLst/>
          </a:prstGeom>
          <a:noFill/>
          <a:ln/>
        </p:spPr>
        <p:txBody>
          <a:bodyPr wrap="square" lIns="0" tIns="0" rIns="0" bIns="0" rtlCol="0" anchor="t"/>
          <a:lstStyle/>
          <a:p>
            <a:pPr indent="0" marL="0">
              <a:buNone/>
            </a:pPr>
            <a:r>
              <a:rPr lang="en-US" sz="1200" dirty="0">
                <a:solidFill>
                  <a:schemeClr val="accent4"/>
                </a:solidFill>
              </a:rPr>
              <a:t>Beds monitored</a:t>
            </a:r>
            <a:endParaRPr lang="en-US" sz="1200" dirty="0"/>
          </a:p>
        </p:txBody>
      </p:sp>
      <p:sp>
        <p:nvSpPr>
          <p:cNvPr id="21" name="Shape 18"/>
          <p:cNvSpPr/>
          <p:nvPr/>
        </p:nvSpPr>
        <p:spPr>
          <a:xfrm>
            <a:off x="8869680" y="3246120"/>
            <a:ext cx="2697480" cy="1371600"/>
          </a:xfrm>
          <a:prstGeom prst="rect">
            <a:avLst/>
          </a:prstGeom>
          <a:solidFill>
            <a:schemeClr val="bg2"/>
          </a:solidFill>
          <a:ln/>
        </p:spPr>
      </p:sp>
      <p:sp>
        <p:nvSpPr>
          <p:cNvPr id="22" name="Text 19"/>
          <p:cNvSpPr txBox="1"/>
          <p:nvPr/>
        </p:nvSpPr>
        <p:spPr>
          <a:xfrm>
            <a:off x="9052560" y="3383280"/>
            <a:ext cx="2286000" cy="73152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[xx]</a:t>
            </a:r>
            <a:endParaRPr lang="en-US" sz="4000" dirty="0"/>
          </a:p>
        </p:txBody>
      </p:sp>
      <p:sp>
        <p:nvSpPr>
          <p:cNvPr id="23" name="Text 20"/>
          <p:cNvSpPr txBox="1"/>
          <p:nvPr/>
        </p:nvSpPr>
        <p:spPr>
          <a:xfrm>
            <a:off x="9052560" y="4114800"/>
            <a:ext cx="2286000" cy="365760"/>
          </a:xfrm>
          <a:prstGeom prst="rect">
            <a:avLst/>
          </a:prstGeom>
          <a:noFill/>
          <a:ln/>
        </p:spPr>
        <p:txBody>
          <a:bodyPr wrap="square" lIns="0" tIns="0" rIns="0" bIns="0" rtlCol="0" anchor="t"/>
          <a:lstStyle/>
          <a:p>
            <a:pPr indent="0" marL="0">
              <a:buNone/>
            </a:pPr>
            <a:r>
              <a:rPr lang="en-US" sz="1200" dirty="0">
                <a:solidFill>
                  <a:schemeClr val="accent4"/>
                </a:solidFill>
              </a:rPr>
              <a:t>Countries</a:t>
            </a:r>
            <a:endParaRPr lang="en-US" sz="1200" dirty="0"/>
          </a:p>
        </p:txBody>
      </p:sp>
      <p:sp>
        <p:nvSpPr>
          <p:cNvPr id="24" name="Shape 21"/>
          <p:cNvSpPr/>
          <p:nvPr/>
        </p:nvSpPr>
        <p:spPr>
          <a:xfrm>
            <a:off x="6035040" y="4846320"/>
            <a:ext cx="5532120" cy="960120"/>
          </a:xfrm>
          <a:prstGeom prst="rect">
            <a:avLst/>
          </a:prstGeom>
          <a:solidFill>
            <a:schemeClr val="tx2"/>
          </a:solidFill>
          <a:ln/>
        </p:spPr>
      </p:sp>
      <p:sp>
        <p:nvSpPr>
          <p:cNvPr id="25" name="Text 22"/>
          <p:cNvSpPr txBox="1"/>
          <p:nvPr/>
        </p:nvSpPr>
        <p:spPr>
          <a:xfrm>
            <a:off x="6217920" y="4846320"/>
            <a:ext cx="5166360" cy="960120"/>
          </a:xfrm>
          <a:prstGeom prst="rect">
            <a:avLst/>
          </a:prstGeom>
          <a:noFill/>
          <a:ln/>
        </p:spPr>
        <p:txBody>
          <a:bodyPr wrap="square" lIns="0" tIns="0" rIns="0" bIns="0" rtlCol="0" anchor="ctr"/>
          <a:lstStyle/>
          <a:p>
            <a:pPr indent="0" marL="0">
              <a:buNone/>
            </a:pPr>
            <a:r>
              <a:rPr lang="en-US" sz="1300" dirty="0">
                <a:solidFill>
                  <a:schemeClr val="bg1"/>
                </a:solidFill>
              </a:rPr>
              <a:t>Why it matters to ALPS: a single accountable vendor for hardware, software, installation and service across three hospitals.</a:t>
            </a:r>
            <a:endParaRPr lang="en-US" sz="13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2 · INDUSTRY CERTIFICATIONS AND STANDARDS</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Our certifications, plus ISO 27001/27017/27018 now planned, cover safety, quality and information security</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MONIT certificates and certification plan; RFP Consent Form (HSA registration requirement); Section 1 clause 19 (ISO14000/OSHA). Attach copies in the proposal.</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3200400"/>
                <a:gridCol w="4297680"/>
                <a:gridCol w="2468880"/>
                <a:gridCol w="1124712"/>
              </a:tblGrid>
              <a:tr h="420624">
                <a:tc>
                  <a:txBody>
                    <a:bodyPr/>
                    <a:lstStyle/>
                    <a:p>
                      <a:pPr indent="0" marL="0">
                        <a:buNone/>
                      </a:pPr>
                      <a:r>
                        <a:rPr lang="en-US" sz="1050" b="1" dirty="0">
                          <a:solidFill>
                            <a:srgbClr val="FFFFFF"/>
                          </a:solidFill>
                        </a:rPr>
                        <a:t>Standard / certification</a:t>
                      </a:r>
                      <a:endParaRPr lang="en-US" sz="105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050" b="1" dirty="0">
                          <a:solidFill>
                            <a:srgbClr val="FFFFFF"/>
                          </a:solidFill>
                        </a:rPr>
                        <a:t>Why it matters for this RFP</a:t>
                      </a:r>
                      <a:endParaRPr lang="en-US" sz="105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050" b="1" dirty="0">
                          <a:solidFill>
                            <a:srgbClr val="FFFFFF"/>
                          </a:solidFill>
                        </a:rPr>
                        <a:t>Status / certificate no.</a:t>
                      </a:r>
                      <a:endParaRPr lang="en-US" sz="105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050" b="1" dirty="0">
                          <a:solidFill>
                            <a:srgbClr val="FFFFFF"/>
                          </a:solidFill>
                        </a:rPr>
                        <a:t>Valid until</a:t>
                      </a:r>
                      <a:endParaRPr lang="en-US" sz="105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r>
              <a:tr h="420624">
                <a:tc>
                  <a:txBody>
                    <a:bodyPr/>
                    <a:lstStyle/>
                    <a:p>
                      <a:pPr indent="0" marL="0">
                        <a:buNone/>
                      </a:pPr>
                      <a:r>
                        <a:rPr lang="en-US" sz="1050" b="1" dirty="0">
                          <a:solidFill>
                            <a:srgbClr val="1F2937"/>
                          </a:solidFill>
                        </a:rPr>
                        <a:t>BizSAFE (level 3 / Star)</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Contractor safety for on-site installation in hospitals</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i="1" dirty="0">
                          <a:solidFill>
                            <a:srgbClr val="7A4F00"/>
                          </a:solidFill>
                        </a:rPr>
                        <a:t>[INPUT REQUIRED] level &amp; cert no.</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050" i="1" dirty="0">
                          <a:solidFill>
                            <a:srgbClr val="7A4F00"/>
                          </a:solidFill>
                        </a:rPr>
                        <a:t>[INPUT]</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r>
              <a:tr h="420624">
                <a:tc>
                  <a:txBody>
                    <a:bodyPr/>
                    <a:lstStyle/>
                    <a:p>
                      <a:pPr indent="0" marL="0">
                        <a:buNone/>
                      </a:pPr>
                      <a:r>
                        <a:rPr lang="en-US" sz="1050" b="1" dirty="0">
                          <a:solidFill>
                            <a:srgbClr val="1F2937"/>
                          </a:solidFill>
                        </a:rPr>
                        <a:t>ISO 9001 – Quality management</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50" dirty="0">
                          <a:solidFill>
                            <a:srgbClr val="1F2937"/>
                          </a:solidFill>
                        </a:rPr>
                        <a:t>Consistent delivery, QA and service processes</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50" i="1" dirty="0">
                          <a:solidFill>
                            <a:srgbClr val="7A4F00"/>
                          </a:solidFill>
                        </a:rPr>
                        <a:t>[INPUT REQUIRED]</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050" i="1" dirty="0">
                          <a:solidFill>
                            <a:srgbClr val="7A4F00"/>
                          </a:solidFill>
                        </a:rPr>
                        <a:t>[INPUT]</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r>
              <a:tr h="420624">
                <a:tc>
                  <a:txBody>
                    <a:bodyPr/>
                    <a:lstStyle/>
                    <a:p>
                      <a:pPr indent="0" marL="0">
                        <a:buNone/>
                      </a:pPr>
                      <a:r>
                        <a:rPr lang="en-US" sz="1050" b="1" dirty="0">
                          <a:solidFill>
                            <a:srgbClr val="1F2937"/>
                          </a:solidFill>
                        </a:rPr>
                        <a:t>ISO 13485 – Medical devices QMS</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Design &amp; manufacture of the sensor as a medical device</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i="1" dirty="0">
                          <a:solidFill>
                            <a:srgbClr val="7A4F00"/>
                          </a:solidFill>
                        </a:rPr>
                        <a:t>[INPUT REQUIRED]</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050" i="1" dirty="0">
                          <a:solidFill>
                            <a:srgbClr val="7A4F00"/>
                          </a:solidFill>
                        </a:rPr>
                        <a:t>[INPUT]</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r>
              <a:tr h="420624">
                <a:tc>
                  <a:txBody>
                    <a:bodyPr/>
                    <a:lstStyle/>
                    <a:p>
                      <a:pPr indent="0" marL="0">
                        <a:buNone/>
                      </a:pPr>
                      <a:r>
                        <a:rPr lang="en-US" sz="1050" b="1" dirty="0">
                          <a:solidFill>
                            <a:srgbClr val="1F2937"/>
                          </a:solidFill>
                        </a:rPr>
                        <a:t>ISO/IEC 27001 – Information security (ISMS)</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50" dirty="0">
                          <a:solidFill>
                            <a:srgbClr val="1F2937"/>
                          </a:solidFill>
                        </a:rPr>
                        <a:t>Systematic protection of patient-related data across platform and dashboard</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50" dirty="0">
                          <a:solidFill>
                            <a:srgbClr val="1F2937"/>
                          </a:solidFill>
                        </a:rPr>
                        <a:t>Certification planned — in progress</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50" dirty="0">
                          <a:solidFill>
                            <a:srgbClr val="1F2937"/>
                          </a:solidFill>
                        </a:rPr>
                        <a:t>Target: [INPUT]</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r h="420624">
                <a:tc>
                  <a:txBody>
                    <a:bodyPr/>
                    <a:lstStyle/>
                    <a:p>
                      <a:pPr indent="0" marL="0">
                        <a:buNone/>
                      </a:pPr>
                      <a:r>
                        <a:rPr lang="en-US" sz="1050" b="1" dirty="0">
                          <a:solidFill>
                            <a:srgbClr val="1F2937"/>
                          </a:solidFill>
                        </a:rPr>
                        <a:t>ISO/IEC 27017 – Cloud security controls</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Security controls for the cloud platform hosting hospital data</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Certification planned — in progress</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Target: [INPUT]</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420624">
                <a:tc>
                  <a:txBody>
                    <a:bodyPr/>
                    <a:lstStyle/>
                    <a:p>
                      <a:pPr indent="0" marL="0">
                        <a:buNone/>
                      </a:pPr>
                      <a:r>
                        <a:rPr lang="en-US" sz="1050" b="1" dirty="0">
                          <a:solidFill>
                            <a:srgbClr val="1F2937"/>
                          </a:solidFill>
                        </a:rPr>
                        <a:t>ISO/IEC 27018 – PII protection in public cloud</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50" dirty="0">
                          <a:solidFill>
                            <a:srgbClr val="1F2937"/>
                          </a:solidFill>
                        </a:rPr>
                        <a:t>Safeguards personal data processed in the cloud; supports PDPA compliance</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50" dirty="0">
                          <a:solidFill>
                            <a:srgbClr val="1F2937"/>
                          </a:solidFill>
                        </a:rPr>
                        <a:t>Certification planned — in progress</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50" dirty="0">
                          <a:solidFill>
                            <a:srgbClr val="1F2937"/>
                          </a:solidFill>
                        </a:rPr>
                        <a:t>Target: [INPUT]</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r h="420624">
                <a:tc>
                  <a:txBody>
                    <a:bodyPr/>
                    <a:lstStyle/>
                    <a:p>
                      <a:pPr indent="0" marL="0">
                        <a:buNone/>
                      </a:pPr>
                      <a:r>
                        <a:rPr lang="en-US" sz="1050" b="1" dirty="0">
                          <a:solidFill>
                            <a:srgbClr val="1F2937"/>
                          </a:solidFill>
                        </a:rPr>
                        <a:t>ISO 14001 / ISO 45001</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Aligns with ALPS's ISO14000 / OSHA requirements</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i="1" dirty="0">
                          <a:solidFill>
                            <a:srgbClr val="7A4F00"/>
                          </a:solidFill>
                        </a:rPr>
                        <a:t>[INPUT REQUIRED]</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050" i="1" dirty="0">
                          <a:solidFill>
                            <a:srgbClr val="7A4F00"/>
                          </a:solidFill>
                        </a:rPr>
                        <a:t>[INPUT]</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r>
              <a:tr h="420624">
                <a:tc>
                  <a:txBody>
                    <a:bodyPr/>
                    <a:lstStyle/>
                    <a:p>
                      <a:pPr indent="0" marL="0">
                        <a:buNone/>
                      </a:pPr>
                      <a:r>
                        <a:rPr lang="en-US" sz="1050" b="1" dirty="0">
                          <a:solidFill>
                            <a:srgbClr val="1F2937"/>
                          </a:solidFill>
                        </a:rPr>
                        <a:t>IMDA – network devices (relay)</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50" dirty="0">
                          <a:solidFill>
                            <a:srgbClr val="1F2937"/>
                          </a:solidFill>
                        </a:rPr>
                        <a:t>Relay / Wi-Fi radio equipment lawfully connected in Singapore</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050" i="1" dirty="0">
                          <a:solidFill>
                            <a:srgbClr val="7A4F00"/>
                          </a:solidFill>
                        </a:rPr>
                        <a:t>[INPUT REQUIRED] registration / label no.</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050" i="1" dirty="0">
                          <a:solidFill>
                            <a:srgbClr val="7A4F00"/>
                          </a:solidFill>
                        </a:rPr>
                        <a:t>[INPUT]</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r>
              <a:tr h="420624">
                <a:tc>
                  <a:txBody>
                    <a:bodyPr/>
                    <a:lstStyle/>
                    <a:p>
                      <a:pPr indent="0" marL="0">
                        <a:buNone/>
                      </a:pPr>
                      <a:r>
                        <a:rPr lang="en-US" sz="1050" b="1" dirty="0">
                          <a:solidFill>
                            <a:srgbClr val="1F2937"/>
                          </a:solidFill>
                        </a:rPr>
                        <a:t>HSA – medical device registration</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dirty="0">
                          <a:solidFill>
                            <a:srgbClr val="1F2937"/>
                          </a:solidFill>
                        </a:rPr>
                        <a:t>RFP requires registration for Class B/C/D (before 1 May 2010) and Class A (before 1 May 2011) — confirm applicability</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50" i="1" dirty="0">
                          <a:solidFill>
                            <a:srgbClr val="7A4F00"/>
                          </a:solidFill>
                        </a:rPr>
                        <a:t>[INPUT REQUIRED] class &amp; reg. no.</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050" i="1" dirty="0">
                          <a:solidFill>
                            <a:srgbClr val="7A4F00"/>
                          </a:solidFill>
                        </a:rPr>
                        <a:t>[INPUT]</a:t>
                      </a:r>
                      <a:endParaRPr lang="en-US" sz="105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3 · SMART DIAPER SYSTEM</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The system turns every diaper change into a timely, data-driven decision — detect, notify, document</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MONIT. Architecture is indicative; confirm radio protocol and data path with the product team.</a:t>
            </a:r>
            <a:endParaRPr lang="en-US" sz="900" dirty="0"/>
          </a:p>
        </p:txBody>
      </p:sp>
      <p:sp>
        <p:nvSpPr>
          <p:cNvPr id="6" name="Shape 3"/>
          <p:cNvSpPr/>
          <p:nvPr/>
        </p:nvSpPr>
        <p:spPr>
          <a:xfrm>
            <a:off x="548640" y="1737360"/>
            <a:ext cx="2011680" cy="2286000"/>
          </a:xfrm>
          <a:prstGeom prst="rect">
            <a:avLst/>
          </a:prstGeom>
          <a:solidFill>
            <a:schemeClr val="bg2"/>
          </a:solidFill>
          <a:ln/>
        </p:spPr>
      </p:sp>
      <p:sp>
        <p:nvSpPr>
          <p:cNvPr id="7" name="Shape 4"/>
          <p:cNvSpPr/>
          <p:nvPr/>
        </p:nvSpPr>
        <p:spPr>
          <a:xfrm>
            <a:off x="1280160" y="1874520"/>
            <a:ext cx="548640" cy="548640"/>
          </a:xfrm>
          <a:prstGeom prst="ellipse">
            <a:avLst/>
          </a:prstGeom>
          <a:solidFill>
            <a:schemeClr val="tx2"/>
          </a:solidFill>
          <a:ln/>
        </p:spPr>
      </p:sp>
      <p:pic>
        <p:nvPicPr>
          <p:cNvPr id="8" name="Image 0" descr="preencoded.png">    </p:cNvPr>
          <p:cNvPicPr>
            <a:picLocks noChangeAspect="1"/>
          </p:cNvPicPr>
          <p:nvPr/>
        </p:nvPicPr>
        <p:blipFill>
          <a:blip r:embed="rId1"/>
          <a:stretch>
            <a:fillRect/>
          </a:stretch>
        </p:blipFill>
        <p:spPr>
          <a:xfrm>
            <a:off x="1417320" y="2011680"/>
            <a:ext cx="274320" cy="274320"/>
          </a:xfrm>
          <a:prstGeom prst="rect">
            <a:avLst/>
          </a:prstGeom>
        </p:spPr>
      </p:pic>
      <p:sp>
        <p:nvSpPr>
          <p:cNvPr id="9" name="Text 5"/>
          <p:cNvSpPr txBox="1"/>
          <p:nvPr/>
        </p:nvSpPr>
        <p:spPr>
          <a:xfrm>
            <a:off x="640080" y="2560320"/>
            <a:ext cx="1828800" cy="320040"/>
          </a:xfrm>
          <a:prstGeom prst="rect">
            <a:avLst/>
          </a:prstGeom>
          <a:noFill/>
          <a:ln/>
        </p:spPr>
        <p:txBody>
          <a:bodyPr wrap="square" lIns="0" tIns="0" rIns="0" bIns="0" rtlCol="0" anchor="t"/>
          <a:lstStyle/>
          <a:p>
            <a:pPr algn="ctr" indent="0" marL="0">
              <a:buNone/>
            </a:pPr>
            <a:r>
              <a:rPr lang="en-US" sz="1400" b="1" dirty="0">
                <a:solidFill>
                  <a:schemeClr val="tx2"/>
                </a:solidFill>
              </a:rPr>
              <a:t>Sensor</a:t>
            </a:r>
            <a:endParaRPr lang="en-US" sz="1400" dirty="0"/>
          </a:p>
        </p:txBody>
      </p:sp>
      <p:sp>
        <p:nvSpPr>
          <p:cNvPr id="10" name="Text 6"/>
          <p:cNvSpPr txBox="1"/>
          <p:nvPr/>
        </p:nvSpPr>
        <p:spPr>
          <a:xfrm>
            <a:off x="685800" y="2926080"/>
            <a:ext cx="1737360" cy="1005840"/>
          </a:xfrm>
          <a:prstGeom prst="rect">
            <a:avLst/>
          </a:prstGeom>
          <a:noFill/>
          <a:ln/>
        </p:spPr>
        <p:txBody>
          <a:bodyPr wrap="square" lIns="0" tIns="0" rIns="0" bIns="0" rtlCol="0" anchor="t"/>
          <a:lstStyle/>
          <a:p>
            <a:pPr algn="ctr" indent="0" marL="0">
              <a:buNone/>
            </a:pPr>
            <a:r>
              <a:rPr lang="en-US" sz="1100" dirty="0">
                <a:solidFill>
                  <a:schemeClr val="tx1"/>
                </a:solidFill>
              </a:rPr>
              <a:t>Clips onto the diaper; detects urination / stool events</a:t>
            </a:r>
            <a:endParaRPr lang="en-US" sz="1100" dirty="0"/>
          </a:p>
        </p:txBody>
      </p:sp>
      <p:sp>
        <p:nvSpPr>
          <p:cNvPr id="11" name="Shape 7"/>
          <p:cNvSpPr/>
          <p:nvPr/>
        </p:nvSpPr>
        <p:spPr>
          <a:xfrm>
            <a:off x="2560320" y="2148840"/>
            <a:ext cx="228600" cy="0"/>
          </a:xfrm>
          <a:prstGeom prst="line">
            <a:avLst/>
          </a:prstGeom>
          <a:noFill/>
          <a:ln w="25400">
            <a:solidFill>
              <a:srgbClr val="00A3AD"/>
            </a:solidFill>
            <a:prstDash val="solid"/>
            <a:tailEnd type="triangle"/>
          </a:ln>
        </p:spPr>
      </p:sp>
      <p:sp>
        <p:nvSpPr>
          <p:cNvPr id="12" name="Shape 8"/>
          <p:cNvSpPr/>
          <p:nvPr/>
        </p:nvSpPr>
        <p:spPr>
          <a:xfrm>
            <a:off x="2788920" y="1737360"/>
            <a:ext cx="2011680" cy="2286000"/>
          </a:xfrm>
          <a:prstGeom prst="rect">
            <a:avLst/>
          </a:prstGeom>
          <a:solidFill>
            <a:schemeClr val="bg2"/>
          </a:solidFill>
          <a:ln/>
        </p:spPr>
      </p:sp>
      <p:sp>
        <p:nvSpPr>
          <p:cNvPr id="13" name="Shape 9"/>
          <p:cNvSpPr/>
          <p:nvPr/>
        </p:nvSpPr>
        <p:spPr>
          <a:xfrm>
            <a:off x="3520440" y="1874520"/>
            <a:ext cx="548640" cy="548640"/>
          </a:xfrm>
          <a:prstGeom prst="ellipse">
            <a:avLst/>
          </a:prstGeom>
          <a:solidFill>
            <a:schemeClr val="accent1"/>
          </a:solidFill>
          <a:ln/>
        </p:spPr>
      </p:sp>
      <p:pic>
        <p:nvPicPr>
          <p:cNvPr id="14" name="Image 1" descr="preencoded.png">    </p:cNvPr>
          <p:cNvPicPr>
            <a:picLocks noChangeAspect="1"/>
          </p:cNvPicPr>
          <p:nvPr/>
        </p:nvPicPr>
        <p:blipFill>
          <a:blip r:embed="rId2"/>
          <a:stretch>
            <a:fillRect/>
          </a:stretch>
        </p:blipFill>
        <p:spPr>
          <a:xfrm>
            <a:off x="3657600" y="2011680"/>
            <a:ext cx="274320" cy="274320"/>
          </a:xfrm>
          <a:prstGeom prst="rect">
            <a:avLst/>
          </a:prstGeom>
        </p:spPr>
      </p:pic>
      <p:sp>
        <p:nvSpPr>
          <p:cNvPr id="15" name="Text 10"/>
          <p:cNvSpPr txBox="1"/>
          <p:nvPr/>
        </p:nvSpPr>
        <p:spPr>
          <a:xfrm>
            <a:off x="2880360" y="2560320"/>
            <a:ext cx="1828800" cy="320040"/>
          </a:xfrm>
          <a:prstGeom prst="rect">
            <a:avLst/>
          </a:prstGeom>
          <a:noFill/>
          <a:ln/>
        </p:spPr>
        <p:txBody>
          <a:bodyPr wrap="square" lIns="0" tIns="0" rIns="0" bIns="0" rtlCol="0" anchor="t"/>
          <a:lstStyle/>
          <a:p>
            <a:pPr algn="ctr" indent="0" marL="0">
              <a:buNone/>
            </a:pPr>
            <a:r>
              <a:rPr lang="en-US" sz="1400" b="1" dirty="0">
                <a:solidFill>
                  <a:schemeClr val="tx2"/>
                </a:solidFill>
              </a:rPr>
              <a:t>Relay device</a:t>
            </a:r>
            <a:endParaRPr lang="en-US" sz="1400" dirty="0"/>
          </a:p>
        </p:txBody>
      </p:sp>
      <p:sp>
        <p:nvSpPr>
          <p:cNvPr id="16" name="Text 11"/>
          <p:cNvSpPr txBox="1"/>
          <p:nvPr/>
        </p:nvSpPr>
        <p:spPr>
          <a:xfrm>
            <a:off x="2926080" y="2926080"/>
            <a:ext cx="1737360" cy="1005840"/>
          </a:xfrm>
          <a:prstGeom prst="rect">
            <a:avLst/>
          </a:prstGeom>
          <a:noFill/>
          <a:ln/>
        </p:spPr>
        <p:txBody>
          <a:bodyPr wrap="square" lIns="0" tIns="0" rIns="0" bIns="0" rtlCol="0" anchor="t"/>
          <a:lstStyle/>
          <a:p>
            <a:pPr algn="ctr" indent="0" marL="0">
              <a:buNone/>
            </a:pPr>
            <a:r>
              <a:rPr lang="en-US" sz="1100" dirty="0">
                <a:solidFill>
                  <a:schemeClr val="tx1"/>
                </a:solidFill>
              </a:rPr>
              <a:t>Collects sensor data in the ward and forwards via hospital Wi-Fi</a:t>
            </a:r>
            <a:endParaRPr lang="en-US" sz="1100" dirty="0"/>
          </a:p>
        </p:txBody>
      </p:sp>
      <p:sp>
        <p:nvSpPr>
          <p:cNvPr id="17" name="Shape 12"/>
          <p:cNvSpPr/>
          <p:nvPr/>
        </p:nvSpPr>
        <p:spPr>
          <a:xfrm>
            <a:off x="4800600" y="2148840"/>
            <a:ext cx="228600" cy="0"/>
          </a:xfrm>
          <a:prstGeom prst="line">
            <a:avLst/>
          </a:prstGeom>
          <a:noFill/>
          <a:ln w="25400">
            <a:solidFill>
              <a:srgbClr val="00A3AD"/>
            </a:solidFill>
            <a:prstDash val="solid"/>
            <a:tailEnd type="triangle"/>
          </a:ln>
        </p:spPr>
      </p:sp>
      <p:sp>
        <p:nvSpPr>
          <p:cNvPr id="18" name="Shape 13"/>
          <p:cNvSpPr/>
          <p:nvPr/>
        </p:nvSpPr>
        <p:spPr>
          <a:xfrm>
            <a:off x="5029200" y="1737360"/>
            <a:ext cx="2011680" cy="2286000"/>
          </a:xfrm>
          <a:prstGeom prst="rect">
            <a:avLst/>
          </a:prstGeom>
          <a:solidFill>
            <a:schemeClr val="bg2"/>
          </a:solidFill>
          <a:ln/>
        </p:spPr>
      </p:sp>
      <p:sp>
        <p:nvSpPr>
          <p:cNvPr id="19" name="Shape 14"/>
          <p:cNvSpPr/>
          <p:nvPr/>
        </p:nvSpPr>
        <p:spPr>
          <a:xfrm>
            <a:off x="5760720" y="1874520"/>
            <a:ext cx="548640" cy="548640"/>
          </a:xfrm>
          <a:prstGeom prst="ellipse">
            <a:avLst/>
          </a:prstGeom>
          <a:solidFill>
            <a:schemeClr val="tx2"/>
          </a:solidFill>
          <a:ln/>
        </p:spPr>
      </p:sp>
      <p:pic>
        <p:nvPicPr>
          <p:cNvPr id="20" name="Image 2" descr="preencoded.png">    </p:cNvPr>
          <p:cNvPicPr>
            <a:picLocks noChangeAspect="1"/>
          </p:cNvPicPr>
          <p:nvPr/>
        </p:nvPicPr>
        <p:blipFill>
          <a:blip r:embed="rId3"/>
          <a:stretch>
            <a:fillRect/>
          </a:stretch>
        </p:blipFill>
        <p:spPr>
          <a:xfrm>
            <a:off x="5897880" y="2011680"/>
            <a:ext cx="274320" cy="274320"/>
          </a:xfrm>
          <a:prstGeom prst="rect">
            <a:avLst/>
          </a:prstGeom>
        </p:spPr>
      </p:pic>
      <p:sp>
        <p:nvSpPr>
          <p:cNvPr id="21" name="Text 15"/>
          <p:cNvSpPr txBox="1"/>
          <p:nvPr/>
        </p:nvSpPr>
        <p:spPr>
          <a:xfrm>
            <a:off x="5120640" y="2560320"/>
            <a:ext cx="1828800" cy="320040"/>
          </a:xfrm>
          <a:prstGeom prst="rect">
            <a:avLst/>
          </a:prstGeom>
          <a:noFill/>
          <a:ln/>
        </p:spPr>
        <p:txBody>
          <a:bodyPr wrap="square" lIns="0" tIns="0" rIns="0" bIns="0" rtlCol="0" anchor="t"/>
          <a:lstStyle/>
          <a:p>
            <a:pPr algn="ctr" indent="0" marL="0">
              <a:buNone/>
            </a:pPr>
            <a:r>
              <a:rPr lang="en-US" sz="1400" b="1" dirty="0">
                <a:solidFill>
                  <a:schemeClr val="tx2"/>
                </a:solidFill>
              </a:rPr>
              <a:t>Platform</a:t>
            </a:r>
            <a:endParaRPr lang="en-US" sz="1400" dirty="0"/>
          </a:p>
        </p:txBody>
      </p:sp>
      <p:sp>
        <p:nvSpPr>
          <p:cNvPr id="22" name="Text 16"/>
          <p:cNvSpPr txBox="1"/>
          <p:nvPr/>
        </p:nvSpPr>
        <p:spPr>
          <a:xfrm>
            <a:off x="5166360" y="2926080"/>
            <a:ext cx="1737360" cy="1005840"/>
          </a:xfrm>
          <a:prstGeom prst="rect">
            <a:avLst/>
          </a:prstGeom>
          <a:noFill/>
          <a:ln/>
        </p:spPr>
        <p:txBody>
          <a:bodyPr wrap="square" lIns="0" tIns="0" rIns="0" bIns="0" rtlCol="0" anchor="t"/>
          <a:lstStyle/>
          <a:p>
            <a:pPr algn="ctr" indent="0" marL="0">
              <a:buNone/>
            </a:pPr>
            <a:r>
              <a:rPr lang="en-US" sz="1100" dirty="0">
                <a:solidFill>
                  <a:schemeClr val="tx1"/>
                </a:solidFill>
              </a:rPr>
              <a:t>AI detection, event history, secure storage</a:t>
            </a:r>
            <a:endParaRPr lang="en-US" sz="1100" dirty="0"/>
          </a:p>
        </p:txBody>
      </p:sp>
      <p:sp>
        <p:nvSpPr>
          <p:cNvPr id="23" name="Shape 17"/>
          <p:cNvSpPr/>
          <p:nvPr/>
        </p:nvSpPr>
        <p:spPr>
          <a:xfrm>
            <a:off x="7040880" y="2148840"/>
            <a:ext cx="228600" cy="0"/>
          </a:xfrm>
          <a:prstGeom prst="line">
            <a:avLst/>
          </a:prstGeom>
          <a:noFill/>
          <a:ln w="25400">
            <a:solidFill>
              <a:srgbClr val="00A3AD"/>
            </a:solidFill>
            <a:prstDash val="solid"/>
            <a:tailEnd type="triangle"/>
          </a:ln>
        </p:spPr>
      </p:sp>
      <p:sp>
        <p:nvSpPr>
          <p:cNvPr id="24" name="Shape 18"/>
          <p:cNvSpPr/>
          <p:nvPr/>
        </p:nvSpPr>
        <p:spPr>
          <a:xfrm>
            <a:off x="7269480" y="1737360"/>
            <a:ext cx="2011680" cy="2286000"/>
          </a:xfrm>
          <a:prstGeom prst="rect">
            <a:avLst/>
          </a:prstGeom>
          <a:solidFill>
            <a:schemeClr val="bg2"/>
          </a:solidFill>
          <a:ln/>
        </p:spPr>
      </p:sp>
      <p:sp>
        <p:nvSpPr>
          <p:cNvPr id="25" name="Shape 19"/>
          <p:cNvSpPr/>
          <p:nvPr/>
        </p:nvSpPr>
        <p:spPr>
          <a:xfrm>
            <a:off x="8001000" y="1874520"/>
            <a:ext cx="548640" cy="548640"/>
          </a:xfrm>
          <a:prstGeom prst="ellipse">
            <a:avLst/>
          </a:prstGeom>
          <a:solidFill>
            <a:schemeClr val="accent1"/>
          </a:solidFill>
          <a:ln/>
        </p:spPr>
      </p:sp>
      <p:pic>
        <p:nvPicPr>
          <p:cNvPr id="26" name="Image 3" descr="preencoded.png">    </p:cNvPr>
          <p:cNvPicPr>
            <a:picLocks noChangeAspect="1"/>
          </p:cNvPicPr>
          <p:nvPr/>
        </p:nvPicPr>
        <p:blipFill>
          <a:blip r:embed="rId4"/>
          <a:stretch>
            <a:fillRect/>
          </a:stretch>
        </p:blipFill>
        <p:spPr>
          <a:xfrm>
            <a:off x="8138160" y="2011680"/>
            <a:ext cx="274320" cy="274320"/>
          </a:xfrm>
          <a:prstGeom prst="rect">
            <a:avLst/>
          </a:prstGeom>
        </p:spPr>
      </p:pic>
      <p:sp>
        <p:nvSpPr>
          <p:cNvPr id="27" name="Text 20"/>
          <p:cNvSpPr txBox="1"/>
          <p:nvPr/>
        </p:nvSpPr>
        <p:spPr>
          <a:xfrm>
            <a:off x="7360920" y="2560320"/>
            <a:ext cx="1828800" cy="320040"/>
          </a:xfrm>
          <a:prstGeom prst="rect">
            <a:avLst/>
          </a:prstGeom>
          <a:noFill/>
          <a:ln/>
        </p:spPr>
        <p:txBody>
          <a:bodyPr wrap="square" lIns="0" tIns="0" rIns="0" bIns="0" rtlCol="0" anchor="t"/>
          <a:lstStyle/>
          <a:p>
            <a:pPr algn="ctr" indent="0" marL="0">
              <a:buNone/>
            </a:pPr>
            <a:r>
              <a:rPr lang="en-US" sz="1400" b="1" dirty="0">
                <a:solidFill>
                  <a:schemeClr val="tx2"/>
                </a:solidFill>
              </a:rPr>
              <a:t>Nurse alert</a:t>
            </a:r>
            <a:endParaRPr lang="en-US" sz="1400" dirty="0"/>
          </a:p>
        </p:txBody>
      </p:sp>
      <p:sp>
        <p:nvSpPr>
          <p:cNvPr id="28" name="Text 21"/>
          <p:cNvSpPr txBox="1"/>
          <p:nvPr/>
        </p:nvSpPr>
        <p:spPr>
          <a:xfrm>
            <a:off x="7406640" y="2926080"/>
            <a:ext cx="1737360" cy="1005840"/>
          </a:xfrm>
          <a:prstGeom prst="rect">
            <a:avLst/>
          </a:prstGeom>
          <a:noFill/>
          <a:ln/>
        </p:spPr>
        <p:txBody>
          <a:bodyPr wrap="square" lIns="0" tIns="0" rIns="0" bIns="0" rtlCol="0" anchor="t"/>
          <a:lstStyle/>
          <a:p>
            <a:pPr algn="ctr" indent="0" marL="0">
              <a:buNone/>
            </a:pPr>
            <a:r>
              <a:rPr lang="en-US" sz="1100" dirty="0">
                <a:solidFill>
                  <a:schemeClr val="tx1"/>
                </a:solidFill>
              </a:rPr>
              <a:t>Real-time alert to station dashboard / mobile</a:t>
            </a:r>
            <a:endParaRPr lang="en-US" sz="1100" dirty="0"/>
          </a:p>
        </p:txBody>
      </p:sp>
      <p:sp>
        <p:nvSpPr>
          <p:cNvPr id="29" name="Shape 22"/>
          <p:cNvSpPr/>
          <p:nvPr/>
        </p:nvSpPr>
        <p:spPr>
          <a:xfrm>
            <a:off x="9281160" y="2148840"/>
            <a:ext cx="228600" cy="0"/>
          </a:xfrm>
          <a:prstGeom prst="line">
            <a:avLst/>
          </a:prstGeom>
          <a:noFill/>
          <a:ln w="25400">
            <a:solidFill>
              <a:srgbClr val="00A3AD"/>
            </a:solidFill>
            <a:prstDash val="solid"/>
            <a:tailEnd type="triangle"/>
          </a:ln>
        </p:spPr>
      </p:sp>
      <p:sp>
        <p:nvSpPr>
          <p:cNvPr id="30" name="Shape 23"/>
          <p:cNvSpPr/>
          <p:nvPr/>
        </p:nvSpPr>
        <p:spPr>
          <a:xfrm>
            <a:off x="9509760" y="1737360"/>
            <a:ext cx="2011680" cy="2286000"/>
          </a:xfrm>
          <a:prstGeom prst="rect">
            <a:avLst/>
          </a:prstGeom>
          <a:solidFill>
            <a:schemeClr val="bg2"/>
          </a:solidFill>
          <a:ln/>
        </p:spPr>
      </p:sp>
      <p:sp>
        <p:nvSpPr>
          <p:cNvPr id="31" name="Shape 24"/>
          <p:cNvSpPr/>
          <p:nvPr/>
        </p:nvSpPr>
        <p:spPr>
          <a:xfrm>
            <a:off x="10241280" y="1874520"/>
            <a:ext cx="548640" cy="548640"/>
          </a:xfrm>
          <a:prstGeom prst="ellipse">
            <a:avLst/>
          </a:prstGeom>
          <a:solidFill>
            <a:schemeClr val="tx2"/>
          </a:solidFill>
          <a:ln/>
        </p:spPr>
      </p:sp>
      <p:pic>
        <p:nvPicPr>
          <p:cNvPr id="32" name="Image 4" descr="preencoded.png">    </p:cNvPr>
          <p:cNvPicPr>
            <a:picLocks noChangeAspect="1"/>
          </p:cNvPicPr>
          <p:nvPr/>
        </p:nvPicPr>
        <p:blipFill>
          <a:blip r:embed="rId5"/>
          <a:stretch>
            <a:fillRect/>
          </a:stretch>
        </p:blipFill>
        <p:spPr>
          <a:xfrm>
            <a:off x="10378440" y="2011680"/>
            <a:ext cx="274320" cy="274320"/>
          </a:xfrm>
          <a:prstGeom prst="rect">
            <a:avLst/>
          </a:prstGeom>
        </p:spPr>
      </p:pic>
      <p:sp>
        <p:nvSpPr>
          <p:cNvPr id="33" name="Text 25"/>
          <p:cNvSpPr txBox="1"/>
          <p:nvPr/>
        </p:nvSpPr>
        <p:spPr>
          <a:xfrm>
            <a:off x="9601200" y="2560320"/>
            <a:ext cx="1828800" cy="320040"/>
          </a:xfrm>
          <a:prstGeom prst="rect">
            <a:avLst/>
          </a:prstGeom>
          <a:noFill/>
          <a:ln/>
        </p:spPr>
        <p:txBody>
          <a:bodyPr wrap="square" lIns="0" tIns="0" rIns="0" bIns="0" rtlCol="0" anchor="t"/>
          <a:lstStyle/>
          <a:p>
            <a:pPr algn="ctr" indent="0" marL="0">
              <a:buNone/>
            </a:pPr>
            <a:r>
              <a:rPr lang="en-US" sz="1400" b="1" dirty="0">
                <a:solidFill>
                  <a:schemeClr val="tx2"/>
                </a:solidFill>
              </a:rPr>
              <a:t>Insights</a:t>
            </a:r>
            <a:endParaRPr lang="en-US" sz="1400" dirty="0"/>
          </a:p>
        </p:txBody>
      </p:sp>
      <p:sp>
        <p:nvSpPr>
          <p:cNvPr id="34" name="Text 26"/>
          <p:cNvSpPr txBox="1"/>
          <p:nvPr/>
        </p:nvSpPr>
        <p:spPr>
          <a:xfrm>
            <a:off x="9646920" y="2926080"/>
            <a:ext cx="1737360" cy="1005840"/>
          </a:xfrm>
          <a:prstGeom prst="rect">
            <a:avLst/>
          </a:prstGeom>
          <a:noFill/>
          <a:ln/>
        </p:spPr>
        <p:txBody>
          <a:bodyPr wrap="square" lIns="0" tIns="0" rIns="0" bIns="0" rtlCol="0" anchor="t"/>
          <a:lstStyle/>
          <a:p>
            <a:pPr algn="ctr" indent="0" marL="0">
              <a:buNone/>
            </a:pPr>
            <a:r>
              <a:rPr lang="en-US" sz="1100" dirty="0">
                <a:solidFill>
                  <a:schemeClr val="tx1"/>
                </a:solidFill>
              </a:rPr>
              <a:t>Reports on change intervals, workload, skin-care trends</a:t>
            </a:r>
            <a:endParaRPr lang="en-US" sz="1100" dirty="0"/>
          </a:p>
        </p:txBody>
      </p:sp>
      <p:sp>
        <p:nvSpPr>
          <p:cNvPr id="35" name="Text 27"/>
          <p:cNvSpPr txBox="1"/>
          <p:nvPr/>
        </p:nvSpPr>
        <p:spPr>
          <a:xfrm>
            <a:off x="548640" y="4297680"/>
            <a:ext cx="5486400" cy="274320"/>
          </a:xfrm>
          <a:prstGeom prst="rect">
            <a:avLst/>
          </a:prstGeom>
          <a:noFill/>
          <a:ln/>
        </p:spPr>
        <p:txBody>
          <a:bodyPr wrap="square" lIns="0" tIns="0" rIns="0" bIns="0" rtlCol="0" anchor="t"/>
          <a:lstStyle/>
          <a:p>
            <a:pPr indent="0" marL="0">
              <a:buNone/>
            </a:pPr>
            <a:r>
              <a:rPr lang="en-US" sz="1400" b="1" dirty="0">
                <a:solidFill>
                  <a:schemeClr val="tx2"/>
                </a:solidFill>
              </a:rPr>
              <a:t>Value to hospitals</a:t>
            </a:r>
            <a:endParaRPr lang="en-US" sz="1400" dirty="0"/>
          </a:p>
        </p:txBody>
      </p:sp>
      <p:sp>
        <p:nvSpPr>
          <p:cNvPr id="36" name="Text 28"/>
          <p:cNvSpPr txBox="1"/>
          <p:nvPr/>
        </p:nvSpPr>
        <p:spPr>
          <a:xfrm>
            <a:off x="548640" y="4617720"/>
            <a:ext cx="5486400" cy="1371600"/>
          </a:xfrm>
          <a:prstGeom prst="rect">
            <a:avLst/>
          </a:prstGeom>
          <a:noFill/>
          <a:ln/>
        </p:spPr>
        <p:txBody>
          <a:bodyPr wrap="square" lIns="0" tIns="0" rIns="0" bIns="0" rtlCol="0" anchor="t"/>
          <a:lstStyle/>
          <a:p>
            <a:pPr marL="152400" indent="-152400">
              <a:spcAft>
                <a:spcPts val="500"/>
              </a:spcAft>
              <a:buSzPct val="100000"/>
              <a:buChar char="•"/>
            </a:pPr>
            <a:r>
              <a:rPr lang="en-US" sz="1300" dirty="0">
                <a:solidFill>
                  <a:schemeClr val="tx1"/>
                </a:solidFill>
              </a:rPr>
              <a:t>Right-time diaper changes instead of routine checks</a:t>
            </a:r>
            <a:endParaRPr lang="en-US" sz="1300" dirty="0"/>
          </a:p>
          <a:p>
            <a:pPr marL="152400" indent="-152400">
              <a:spcAft>
                <a:spcPts val="500"/>
              </a:spcAft>
              <a:buSzPct val="100000"/>
              <a:buChar char="•"/>
            </a:pPr>
            <a:r>
              <a:rPr lang="en-US" sz="1300" dirty="0">
                <a:solidFill>
                  <a:schemeClr val="tx1"/>
                </a:solidFill>
              </a:rPr>
              <a:t>Less nurse time on manual rounds; fewer disturbances for patients</a:t>
            </a:r>
            <a:endParaRPr lang="en-US" sz="1300" dirty="0"/>
          </a:p>
          <a:p>
            <a:pPr marL="152400" indent="-152400">
              <a:spcAft>
                <a:spcPts val="500"/>
              </a:spcAft>
              <a:buSzPct val="100000"/>
              <a:buChar char="•"/>
            </a:pPr>
            <a:r>
              <a:rPr lang="en-US" sz="1300" dirty="0">
                <a:solidFill>
                  <a:schemeClr val="tx1"/>
                </a:solidFill>
              </a:rPr>
              <a:t>Objective data to support skin-integrity and continence care</a:t>
            </a:r>
            <a:endParaRPr lang="en-US" sz="1300" dirty="0"/>
          </a:p>
        </p:txBody>
      </p:sp>
      <p:sp>
        <p:nvSpPr>
          <p:cNvPr id="37" name="Input placeholder"/>
          <p:cNvSpPr/>
          <p:nvPr/>
        </p:nvSpPr>
        <p:spPr>
          <a:xfrm>
            <a:off x="6400800" y="4297680"/>
            <a:ext cx="5239512" cy="1691640"/>
          </a:xfrm>
          <a:prstGeom prst="rect">
            <a:avLst/>
          </a:prstGeom>
          <a:solidFill>
            <a:srgbClr val="FFF4D6"/>
          </a:solidFill>
          <a:ln w="12700">
            <a:solidFill>
              <a:srgbClr val="F2A900"/>
            </a:solidFill>
            <a:prstDash val="dash"/>
          </a:ln>
        </p:spPr>
      </p:sp>
      <p:sp>
        <p:nvSpPr>
          <p:cNvPr id="38" name="Text 30"/>
          <p:cNvSpPr txBox="1"/>
          <p:nvPr/>
        </p:nvSpPr>
        <p:spPr>
          <a:xfrm>
            <a:off x="6492240" y="4297680"/>
            <a:ext cx="5056632" cy="1691640"/>
          </a:xfrm>
          <a:prstGeom prst="rect">
            <a:avLst/>
          </a:prstGeom>
          <a:noFill/>
          <a:ln/>
        </p:spPr>
        <p:txBody>
          <a:bodyPr wrap="square" lIns="0" tIns="0" rIns="0" bIns="0" rtlCol="0" anchor="ctr"/>
          <a:lstStyle/>
          <a:p>
            <a:pPr indent="0" marL="0">
              <a:buNone/>
            </a:pPr>
            <a:r>
              <a:rPr lang="en-US" sz="1100" i="1" dirty="0">
                <a:solidFill>
                  <a:srgbClr val="7A4F00"/>
                </a:solidFill>
              </a:rPr>
              <a:t>[INPUT REQUIRED] Product photo / system diagram, sensor specs (size, weight, battery life, diaper compatibility), relay specs.</a:t>
            </a:r>
            <a:endParaRPr lang="en-US" sz="11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3 · SMART DIAPER SYSTEM</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Clinical validation demonstrates reliable detection performance of the sensor hardware</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MONIT clinical / validation reports. Do not present figures until verified against the source studies.</a:t>
            </a:r>
            <a:endParaRPr lang="en-US" sz="900" dirty="0"/>
          </a:p>
        </p:txBody>
      </p:sp>
      <p:sp>
        <p:nvSpPr>
          <p:cNvPr id="6" name="Shape 3"/>
          <p:cNvSpPr/>
          <p:nvPr/>
        </p:nvSpPr>
        <p:spPr>
          <a:xfrm>
            <a:off x="548640" y="1691640"/>
            <a:ext cx="2651760" cy="1280160"/>
          </a:xfrm>
          <a:prstGeom prst="rect">
            <a:avLst/>
          </a:prstGeom>
          <a:solidFill>
            <a:schemeClr val="bg2"/>
          </a:solidFill>
          <a:ln/>
        </p:spPr>
      </p:sp>
      <p:sp>
        <p:nvSpPr>
          <p:cNvPr id="7" name="Text 4"/>
          <p:cNvSpPr txBox="1"/>
          <p:nvPr/>
        </p:nvSpPr>
        <p:spPr>
          <a:xfrm>
            <a:off x="731520" y="1783080"/>
            <a:ext cx="2286000" cy="685800"/>
          </a:xfrm>
          <a:prstGeom prst="rect">
            <a:avLst/>
          </a:prstGeom>
          <a:noFill/>
          <a:ln/>
        </p:spPr>
        <p:txBody>
          <a:bodyPr wrap="square" lIns="0" tIns="0" rIns="0" bIns="0" rtlCol="0" anchor="t"/>
          <a:lstStyle/>
          <a:p>
            <a:pPr indent="0" marL="0">
              <a:buNone/>
            </a:pPr>
            <a:r>
              <a:rPr lang="en-US" sz="3600" b="1" dirty="0">
                <a:solidFill>
                  <a:schemeClr val="accent3"/>
                </a:solidFill>
                <a:latin typeface="Cambria" pitchFamily="34" charset="0"/>
                <a:ea typeface="Cambria" pitchFamily="34" charset="-122"/>
                <a:cs typeface="Cambria" pitchFamily="34" charset="-120"/>
              </a:rPr>
              <a:t>[xx]%</a:t>
            </a:r>
            <a:endParaRPr lang="en-US" sz="3600" dirty="0"/>
          </a:p>
        </p:txBody>
      </p:sp>
      <p:sp>
        <p:nvSpPr>
          <p:cNvPr id="8" name="Text 5"/>
          <p:cNvSpPr txBox="1"/>
          <p:nvPr/>
        </p:nvSpPr>
        <p:spPr>
          <a:xfrm>
            <a:off x="731520" y="2514600"/>
            <a:ext cx="2286000" cy="365760"/>
          </a:xfrm>
          <a:prstGeom prst="rect">
            <a:avLst/>
          </a:prstGeom>
          <a:noFill/>
          <a:ln/>
        </p:spPr>
        <p:txBody>
          <a:bodyPr wrap="square" lIns="0" tIns="0" rIns="0" bIns="0" rtlCol="0" anchor="t"/>
          <a:lstStyle/>
          <a:p>
            <a:pPr indent="0" marL="0">
              <a:buNone/>
            </a:pPr>
            <a:r>
              <a:rPr lang="en-US" sz="1200" dirty="0">
                <a:solidFill>
                  <a:schemeClr val="accent4"/>
                </a:solidFill>
              </a:rPr>
              <a:t>Sensitivity</a:t>
            </a:r>
            <a:endParaRPr lang="en-US" sz="1200" dirty="0"/>
          </a:p>
        </p:txBody>
      </p:sp>
      <p:sp>
        <p:nvSpPr>
          <p:cNvPr id="9" name="Shape 6"/>
          <p:cNvSpPr/>
          <p:nvPr/>
        </p:nvSpPr>
        <p:spPr>
          <a:xfrm>
            <a:off x="3355848" y="1691640"/>
            <a:ext cx="2651760" cy="1280160"/>
          </a:xfrm>
          <a:prstGeom prst="rect">
            <a:avLst/>
          </a:prstGeom>
          <a:solidFill>
            <a:schemeClr val="bg2"/>
          </a:solidFill>
          <a:ln/>
        </p:spPr>
      </p:sp>
      <p:sp>
        <p:nvSpPr>
          <p:cNvPr id="10" name="Text 7"/>
          <p:cNvSpPr txBox="1"/>
          <p:nvPr/>
        </p:nvSpPr>
        <p:spPr>
          <a:xfrm>
            <a:off x="3538728" y="1783080"/>
            <a:ext cx="2286000" cy="685800"/>
          </a:xfrm>
          <a:prstGeom prst="rect">
            <a:avLst/>
          </a:prstGeom>
          <a:noFill/>
          <a:ln/>
        </p:spPr>
        <p:txBody>
          <a:bodyPr wrap="square" lIns="0" tIns="0" rIns="0" bIns="0" rtlCol="0" anchor="t"/>
          <a:lstStyle/>
          <a:p>
            <a:pPr indent="0" marL="0">
              <a:buNone/>
            </a:pPr>
            <a:r>
              <a:rPr lang="en-US" sz="3600" b="1" dirty="0">
                <a:solidFill>
                  <a:schemeClr val="accent3"/>
                </a:solidFill>
                <a:latin typeface="Cambria" pitchFamily="34" charset="0"/>
                <a:ea typeface="Cambria" pitchFamily="34" charset="-122"/>
                <a:cs typeface="Cambria" pitchFamily="34" charset="-120"/>
              </a:rPr>
              <a:t>[xx]%</a:t>
            </a:r>
            <a:endParaRPr lang="en-US" sz="3600" dirty="0"/>
          </a:p>
        </p:txBody>
      </p:sp>
      <p:sp>
        <p:nvSpPr>
          <p:cNvPr id="11" name="Text 8"/>
          <p:cNvSpPr txBox="1"/>
          <p:nvPr/>
        </p:nvSpPr>
        <p:spPr>
          <a:xfrm>
            <a:off x="3538728" y="2514600"/>
            <a:ext cx="2286000" cy="365760"/>
          </a:xfrm>
          <a:prstGeom prst="rect">
            <a:avLst/>
          </a:prstGeom>
          <a:noFill/>
          <a:ln/>
        </p:spPr>
        <p:txBody>
          <a:bodyPr wrap="square" lIns="0" tIns="0" rIns="0" bIns="0" rtlCol="0" anchor="t"/>
          <a:lstStyle/>
          <a:p>
            <a:pPr indent="0" marL="0">
              <a:buNone/>
            </a:pPr>
            <a:r>
              <a:rPr lang="en-US" sz="1200" dirty="0">
                <a:solidFill>
                  <a:schemeClr val="accent4"/>
                </a:solidFill>
              </a:rPr>
              <a:t>Specificity</a:t>
            </a:r>
            <a:endParaRPr lang="en-US" sz="1200" dirty="0"/>
          </a:p>
        </p:txBody>
      </p:sp>
      <p:sp>
        <p:nvSpPr>
          <p:cNvPr id="12" name="Shape 9"/>
          <p:cNvSpPr/>
          <p:nvPr/>
        </p:nvSpPr>
        <p:spPr>
          <a:xfrm>
            <a:off x="6163056" y="1691640"/>
            <a:ext cx="2651760" cy="1280160"/>
          </a:xfrm>
          <a:prstGeom prst="rect">
            <a:avLst/>
          </a:prstGeom>
          <a:solidFill>
            <a:schemeClr val="bg2"/>
          </a:solidFill>
          <a:ln/>
        </p:spPr>
      </p:sp>
      <p:sp>
        <p:nvSpPr>
          <p:cNvPr id="13" name="Text 10"/>
          <p:cNvSpPr txBox="1"/>
          <p:nvPr/>
        </p:nvSpPr>
        <p:spPr>
          <a:xfrm>
            <a:off x="6345936" y="1783080"/>
            <a:ext cx="2286000" cy="685800"/>
          </a:xfrm>
          <a:prstGeom prst="rect">
            <a:avLst/>
          </a:prstGeom>
          <a:noFill/>
          <a:ln/>
        </p:spPr>
        <p:txBody>
          <a:bodyPr wrap="square" lIns="0" tIns="0" rIns="0" bIns="0" rtlCol="0" anchor="t"/>
          <a:lstStyle/>
          <a:p>
            <a:pPr indent="0" marL="0">
              <a:buNone/>
            </a:pPr>
            <a:r>
              <a:rPr lang="en-US" sz="3600" b="1" dirty="0">
                <a:solidFill>
                  <a:schemeClr val="accent3"/>
                </a:solidFill>
                <a:latin typeface="Cambria" pitchFamily="34" charset="0"/>
                <a:ea typeface="Cambria" pitchFamily="34" charset="-122"/>
                <a:cs typeface="Cambria" pitchFamily="34" charset="-120"/>
              </a:rPr>
              <a:t>[xx] s</a:t>
            </a:r>
            <a:endParaRPr lang="en-US" sz="3600" dirty="0"/>
          </a:p>
        </p:txBody>
      </p:sp>
      <p:sp>
        <p:nvSpPr>
          <p:cNvPr id="14" name="Text 11"/>
          <p:cNvSpPr txBox="1"/>
          <p:nvPr/>
        </p:nvSpPr>
        <p:spPr>
          <a:xfrm>
            <a:off x="6345936" y="2514600"/>
            <a:ext cx="2286000" cy="365760"/>
          </a:xfrm>
          <a:prstGeom prst="rect">
            <a:avLst/>
          </a:prstGeom>
          <a:noFill/>
          <a:ln/>
        </p:spPr>
        <p:txBody>
          <a:bodyPr wrap="square" lIns="0" tIns="0" rIns="0" bIns="0" rtlCol="0" anchor="t"/>
          <a:lstStyle/>
          <a:p>
            <a:pPr indent="0" marL="0">
              <a:buNone/>
            </a:pPr>
            <a:r>
              <a:rPr lang="en-US" sz="1200" dirty="0">
                <a:solidFill>
                  <a:schemeClr val="accent4"/>
                </a:solidFill>
              </a:rPr>
              <a:t>Median detection latency</a:t>
            </a:r>
            <a:endParaRPr lang="en-US" sz="1200" dirty="0"/>
          </a:p>
        </p:txBody>
      </p:sp>
      <p:sp>
        <p:nvSpPr>
          <p:cNvPr id="15" name="Shape 12"/>
          <p:cNvSpPr/>
          <p:nvPr/>
        </p:nvSpPr>
        <p:spPr>
          <a:xfrm>
            <a:off x="8970264" y="1691640"/>
            <a:ext cx="2651760" cy="1280160"/>
          </a:xfrm>
          <a:prstGeom prst="rect">
            <a:avLst/>
          </a:prstGeom>
          <a:solidFill>
            <a:schemeClr val="bg2"/>
          </a:solidFill>
          <a:ln/>
        </p:spPr>
      </p:sp>
      <p:sp>
        <p:nvSpPr>
          <p:cNvPr id="16" name="Text 13"/>
          <p:cNvSpPr txBox="1"/>
          <p:nvPr/>
        </p:nvSpPr>
        <p:spPr>
          <a:xfrm>
            <a:off x="9153144" y="1783080"/>
            <a:ext cx="2286000" cy="685800"/>
          </a:xfrm>
          <a:prstGeom prst="rect">
            <a:avLst/>
          </a:prstGeom>
          <a:noFill/>
          <a:ln/>
        </p:spPr>
        <p:txBody>
          <a:bodyPr wrap="square" lIns="0" tIns="0" rIns="0" bIns="0" rtlCol="0" anchor="t"/>
          <a:lstStyle/>
          <a:p>
            <a:pPr indent="0" marL="0">
              <a:buNone/>
            </a:pPr>
            <a:r>
              <a:rPr lang="en-US" sz="3600" b="1" dirty="0">
                <a:solidFill>
                  <a:schemeClr val="accent3"/>
                </a:solidFill>
                <a:latin typeface="Cambria" pitchFamily="34" charset="0"/>
                <a:ea typeface="Cambria" pitchFamily="34" charset="-122"/>
                <a:cs typeface="Cambria" pitchFamily="34" charset="-120"/>
              </a:rPr>
              <a:t>[xx]</a:t>
            </a:r>
            <a:endParaRPr lang="en-US" sz="3600" dirty="0"/>
          </a:p>
        </p:txBody>
      </p:sp>
      <p:sp>
        <p:nvSpPr>
          <p:cNvPr id="17" name="Text 14"/>
          <p:cNvSpPr txBox="1"/>
          <p:nvPr/>
        </p:nvSpPr>
        <p:spPr>
          <a:xfrm>
            <a:off x="9153144" y="2514600"/>
            <a:ext cx="2286000" cy="365760"/>
          </a:xfrm>
          <a:prstGeom prst="rect">
            <a:avLst/>
          </a:prstGeom>
          <a:noFill/>
          <a:ln/>
        </p:spPr>
        <p:txBody>
          <a:bodyPr wrap="square" lIns="0" tIns="0" rIns="0" bIns="0" rtlCol="0" anchor="t"/>
          <a:lstStyle/>
          <a:p>
            <a:pPr indent="0" marL="0">
              <a:buNone/>
            </a:pPr>
            <a:r>
              <a:rPr lang="en-US" sz="1200" dirty="0">
                <a:solidFill>
                  <a:schemeClr val="accent4"/>
                </a:solidFill>
              </a:rPr>
              <a:t>False alarms / bed / day</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3246120"/>
          <a:ext cx="11091672" cy="914400"/>
        </p:xfrm>
        <a:graphic>
          <a:graphicData uri="http://schemas.openxmlformats.org/drawingml/2006/table">
            <a:tbl>
              <a:tblPr/>
              <a:tblGrid>
                <a:gridCol w="2926080"/>
                <a:gridCol w="2194560"/>
                <a:gridCol w="1645920"/>
                <a:gridCol w="2103120"/>
                <a:gridCol w="2221992"/>
              </a:tblGrid>
              <a:tr h="457200">
                <a:tc>
                  <a:txBody>
                    <a:bodyPr/>
                    <a:lstStyle/>
                    <a:p>
                      <a:pPr indent="0" marL="0">
                        <a:buNone/>
                      </a:pPr>
                      <a:r>
                        <a:rPr lang="en-US" sz="1100" b="1" dirty="0">
                          <a:solidFill>
                            <a:srgbClr val="FFFFFF"/>
                          </a:solidFill>
                        </a:rPr>
                        <a:t>Study / report</a:t>
                      </a:r>
                      <a:endParaRPr lang="en-US" sz="11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100" b="1" dirty="0">
                          <a:solidFill>
                            <a:srgbClr val="FFFFFF"/>
                          </a:solidFill>
                        </a:rPr>
                        <a:t>Setting</a:t>
                      </a:r>
                      <a:endParaRPr lang="en-US" sz="11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100" b="1" dirty="0">
                          <a:solidFill>
                            <a:srgbClr val="FFFFFF"/>
                          </a:solidFill>
                        </a:rPr>
                        <a:t>Sample</a:t>
                      </a:r>
                      <a:endParaRPr lang="en-US" sz="11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100" b="1" dirty="0">
                          <a:solidFill>
                            <a:srgbClr val="FFFFFF"/>
                          </a:solidFill>
                        </a:rPr>
                        <a:t>Design</a:t>
                      </a:r>
                      <a:endParaRPr lang="en-US" sz="11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100" b="1" dirty="0">
                          <a:solidFill>
                            <a:srgbClr val="FFFFFF"/>
                          </a:solidFill>
                        </a:rPr>
                        <a:t>Key result</a:t>
                      </a:r>
                      <a:endParaRPr lang="en-US" sz="11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r>
              <a:tr h="457200">
                <a:tc>
                  <a:txBody>
                    <a:bodyPr/>
                    <a:lstStyle/>
                    <a:p>
                      <a:pPr indent="0" marL="0">
                        <a:buNone/>
                      </a:pPr>
                      <a:r>
                        <a:rPr lang="en-US" sz="1100" i="1" dirty="0">
                          <a:solidFill>
                            <a:srgbClr val="7A4F00"/>
                          </a:solidFill>
                        </a:rPr>
                        <a:t>[INPUT REQUIRED]</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100" i="1" dirty="0">
                          <a:solidFill>
                            <a:srgbClr val="7A4F00"/>
                          </a:solidFill>
                        </a:rPr>
                        <a:t>[INPUT]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100" i="1" dirty="0">
                          <a:solidFill>
                            <a:srgbClr val="7A4F00"/>
                          </a:solidFill>
                        </a:rPr>
                        <a:t>[INPUT]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100" i="1" dirty="0">
                          <a:solidFill>
                            <a:srgbClr val="7A4F00"/>
                          </a:solidFill>
                        </a:rPr>
                        <a:t>[INPUT]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100" i="1" dirty="0">
                          <a:solidFill>
                            <a:srgbClr val="7A4F00"/>
                          </a:solidFill>
                        </a:rPr>
                        <a:t>[INPUT]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r>
              <a:tr h="457200">
                <a:tc>
                  <a:txBody>
                    <a:bodyPr/>
                    <a:lstStyle/>
                    <a:p>
                      <a:pPr indent="0" marL="0">
                        <a:buNone/>
                      </a:pPr>
                      <a:r>
                        <a:rPr lang="en-US" sz="1100" i="1" dirty="0">
                          <a:solidFill>
                            <a:srgbClr val="7A4F00"/>
                          </a:solidFill>
                        </a:rPr>
                        <a:t>[INPUT REQUIRED]</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100" i="1" dirty="0">
                          <a:solidFill>
                            <a:srgbClr val="7A4F00"/>
                          </a:solidFill>
                        </a:rPr>
                        <a:t>[INPUT]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100" i="1" dirty="0">
                          <a:solidFill>
                            <a:srgbClr val="7A4F00"/>
                          </a:solidFill>
                        </a:rPr>
                        <a:t>[INPUT]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100" i="1" dirty="0">
                          <a:solidFill>
                            <a:srgbClr val="7A4F00"/>
                          </a:solidFill>
                        </a:rPr>
                        <a:t>[INPUT]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100" i="1" dirty="0">
                          <a:solidFill>
                            <a:srgbClr val="7A4F00"/>
                          </a:solidFill>
                        </a:rPr>
                        <a:t>[INPUT]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r>
              <a:tr h="457200">
                <a:tc>
                  <a:txBody>
                    <a:bodyPr/>
                    <a:lstStyle/>
                    <a:p>
                      <a:pPr indent="0" marL="0">
                        <a:buNone/>
                      </a:pPr>
                      <a:r>
                        <a:rPr lang="en-US" sz="1100" i="1" dirty="0">
                          <a:solidFill>
                            <a:srgbClr val="7A4F00"/>
                          </a:solidFill>
                        </a:rPr>
                        <a:t>[INPUT REQUIRED]</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100" i="1" dirty="0">
                          <a:solidFill>
                            <a:srgbClr val="7A4F00"/>
                          </a:solidFill>
                        </a:rPr>
                        <a:t>[INPUT]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100" i="1" dirty="0">
                          <a:solidFill>
                            <a:srgbClr val="7A4F00"/>
                          </a:solidFill>
                        </a:rPr>
                        <a:t>[INPUT]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100" i="1" dirty="0">
                          <a:solidFill>
                            <a:srgbClr val="7A4F00"/>
                          </a:solidFill>
                        </a:rPr>
                        <a:t>[INPUT]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100" i="1" dirty="0">
                          <a:solidFill>
                            <a:srgbClr val="7A4F00"/>
                          </a:solidFill>
                        </a:rPr>
                        <a:t>[INPUT]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r>
            </a:tbl>
          </a:graphicData>
        </a:graphic>
      </p:graphicFrame>
      <p:sp>
        <p:nvSpPr>
          <p:cNvPr id="19" name="Text 15"/>
          <p:cNvSpPr txBox="1"/>
          <p:nvPr/>
        </p:nvSpPr>
        <p:spPr>
          <a:xfrm>
            <a:off x="548640" y="5349240"/>
            <a:ext cx="11091672" cy="457200"/>
          </a:xfrm>
          <a:prstGeom prst="rect">
            <a:avLst/>
          </a:prstGeom>
          <a:noFill/>
          <a:ln/>
        </p:spPr>
        <p:txBody>
          <a:bodyPr wrap="square" lIns="0" tIns="0" rIns="0" bIns="0" rtlCol="0" anchor="t"/>
          <a:lstStyle/>
          <a:p>
            <a:pPr indent="0" marL="0">
              <a:buNone/>
            </a:pPr>
            <a:r>
              <a:rPr lang="en-US" sz="1200" dirty="0">
                <a:solidFill>
                  <a:schemeClr val="accent4"/>
                </a:solidFill>
              </a:rPr>
              <a:t>Also include: hospital-environment testing (RF interference, multi-bed density), safety / biocompatibility tests, third-party test-lab reports.</a:t>
            </a:r>
            <a:endParaRPr lang="en-US" sz="12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3 · SMART DIAPER SYSTEM</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A ward-level dashboard gives nurses a single view of who needs care now</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MONIT. Screen shown is an illustrative wireframe, not the final UI.</a:t>
            </a:r>
            <a:endParaRPr lang="en-US" sz="900" dirty="0"/>
          </a:p>
        </p:txBody>
      </p:sp>
      <p:sp>
        <p:nvSpPr>
          <p:cNvPr id="6" name="Shape 3"/>
          <p:cNvSpPr/>
          <p:nvPr/>
        </p:nvSpPr>
        <p:spPr>
          <a:xfrm>
            <a:off x="548640" y="1691640"/>
            <a:ext cx="5760720" cy="4206240"/>
          </a:xfrm>
          <a:prstGeom prst="rect">
            <a:avLst/>
          </a:prstGeom>
          <a:solidFill>
            <a:srgbClr val="FFFFFF"/>
          </a:solidFill>
          <a:ln w="12700">
            <a:solidFill>
              <a:srgbClr val="D5DCE6"/>
            </a:solidFill>
            <a:prstDash val="solid"/>
          </a:ln>
          <a:effectLst>
            <a:outerShdw sx="100000" sy="100000" kx="0" ky="0" algn="bl" rotWithShape="0" blurRad="76200" dist="25400" dir="5400000">
              <a:srgbClr val="000000">
                <a:alpha val="12000"/>
              </a:srgbClr>
            </a:outerShdw>
          </a:effectLst>
        </p:spPr>
      </p:sp>
      <p:sp>
        <p:nvSpPr>
          <p:cNvPr id="7" name="Shape 4"/>
          <p:cNvSpPr/>
          <p:nvPr/>
        </p:nvSpPr>
        <p:spPr>
          <a:xfrm>
            <a:off x="548640" y="1691640"/>
            <a:ext cx="5760720" cy="411480"/>
          </a:xfrm>
          <a:prstGeom prst="rect">
            <a:avLst/>
          </a:prstGeom>
          <a:solidFill>
            <a:schemeClr val="tx2"/>
          </a:solidFill>
          <a:ln/>
        </p:spPr>
      </p:sp>
      <p:sp>
        <p:nvSpPr>
          <p:cNvPr id="8" name="Text 5"/>
          <p:cNvSpPr txBox="1"/>
          <p:nvPr/>
        </p:nvSpPr>
        <p:spPr>
          <a:xfrm>
            <a:off x="731520" y="1691640"/>
            <a:ext cx="5303520" cy="411480"/>
          </a:xfrm>
          <a:prstGeom prst="rect">
            <a:avLst/>
          </a:prstGeom>
          <a:noFill/>
          <a:ln/>
        </p:spPr>
        <p:txBody>
          <a:bodyPr wrap="square" lIns="0" tIns="0" rIns="0" bIns="0" rtlCol="0" anchor="ctr"/>
          <a:lstStyle/>
          <a:p>
            <a:pPr indent="0" marL="0">
              <a:buNone/>
            </a:pPr>
            <a:r>
              <a:rPr lang="en-US" sz="1200" b="1" dirty="0">
                <a:solidFill>
                  <a:schemeClr val="bg1"/>
                </a:solidFill>
              </a:rPr>
              <a:t>Ward 5A — Live bed status (illustrative)</a:t>
            </a:r>
            <a:endParaRPr lang="en-US" sz="1200" dirty="0"/>
          </a:p>
        </p:txBody>
      </p:sp>
      <p:sp>
        <p:nvSpPr>
          <p:cNvPr id="9" name="Shape 6"/>
          <p:cNvSpPr/>
          <p:nvPr/>
        </p:nvSpPr>
        <p:spPr>
          <a:xfrm>
            <a:off x="777240" y="2331720"/>
            <a:ext cx="1234440" cy="868680"/>
          </a:xfrm>
          <a:prstGeom prst="rect">
            <a:avLst/>
          </a:prstGeom>
          <a:solidFill>
            <a:schemeClr val="accent1">
              <a:alpha val="85000"/>
            </a:schemeClr>
          </a:solidFill>
          <a:ln/>
        </p:spPr>
      </p:sp>
      <p:sp>
        <p:nvSpPr>
          <p:cNvPr id="10" name="Text 7"/>
          <p:cNvSpPr txBox="1"/>
          <p:nvPr/>
        </p:nvSpPr>
        <p:spPr>
          <a:xfrm>
            <a:off x="777240" y="2423160"/>
            <a:ext cx="1234440" cy="274320"/>
          </a:xfrm>
          <a:prstGeom prst="rect">
            <a:avLst/>
          </a:prstGeom>
          <a:noFill/>
          <a:ln/>
        </p:spPr>
        <p:txBody>
          <a:bodyPr wrap="square" lIns="0" tIns="0" rIns="0" bIns="0" rtlCol="0" anchor="t"/>
          <a:lstStyle/>
          <a:p>
            <a:pPr algn="ctr" indent="0" marL="0">
              <a:buNone/>
            </a:pPr>
            <a:r>
              <a:rPr lang="en-US" sz="1100" b="1" dirty="0">
                <a:solidFill>
                  <a:schemeClr val="bg1"/>
                </a:solidFill>
              </a:rPr>
              <a:t>Bed 01</a:t>
            </a:r>
            <a:endParaRPr lang="en-US" sz="1100" dirty="0"/>
          </a:p>
        </p:txBody>
      </p:sp>
      <p:sp>
        <p:nvSpPr>
          <p:cNvPr id="11" name="Text 8"/>
          <p:cNvSpPr txBox="1"/>
          <p:nvPr/>
        </p:nvSpPr>
        <p:spPr>
          <a:xfrm>
            <a:off x="777240" y="2743200"/>
            <a:ext cx="1234440" cy="274320"/>
          </a:xfrm>
          <a:prstGeom prst="rect">
            <a:avLst/>
          </a:prstGeom>
          <a:noFill/>
          <a:ln/>
        </p:spPr>
        <p:txBody>
          <a:bodyPr wrap="square" lIns="0" tIns="0" rIns="0" bIns="0" rtlCol="0" anchor="t"/>
          <a:lstStyle/>
          <a:p>
            <a:pPr algn="ctr" indent="0" marL="0">
              <a:buNone/>
            </a:pPr>
            <a:r>
              <a:rPr lang="en-US" sz="1100" dirty="0">
                <a:solidFill>
                  <a:schemeClr val="bg1"/>
                </a:solidFill>
              </a:rPr>
              <a:t>OK</a:t>
            </a:r>
            <a:endParaRPr lang="en-US" sz="1100" dirty="0"/>
          </a:p>
        </p:txBody>
      </p:sp>
      <p:sp>
        <p:nvSpPr>
          <p:cNvPr id="12" name="Shape 9"/>
          <p:cNvSpPr/>
          <p:nvPr/>
        </p:nvSpPr>
        <p:spPr>
          <a:xfrm>
            <a:off x="2148840" y="2331720"/>
            <a:ext cx="1234440" cy="868680"/>
          </a:xfrm>
          <a:prstGeom prst="rect">
            <a:avLst/>
          </a:prstGeom>
          <a:solidFill>
            <a:schemeClr val="accent1">
              <a:alpha val="85000"/>
            </a:schemeClr>
          </a:solidFill>
          <a:ln/>
        </p:spPr>
      </p:sp>
      <p:sp>
        <p:nvSpPr>
          <p:cNvPr id="13" name="Text 10"/>
          <p:cNvSpPr txBox="1"/>
          <p:nvPr/>
        </p:nvSpPr>
        <p:spPr>
          <a:xfrm>
            <a:off x="2148840" y="2423160"/>
            <a:ext cx="1234440" cy="274320"/>
          </a:xfrm>
          <a:prstGeom prst="rect">
            <a:avLst/>
          </a:prstGeom>
          <a:noFill/>
          <a:ln/>
        </p:spPr>
        <p:txBody>
          <a:bodyPr wrap="square" lIns="0" tIns="0" rIns="0" bIns="0" rtlCol="0" anchor="t"/>
          <a:lstStyle/>
          <a:p>
            <a:pPr algn="ctr" indent="0" marL="0">
              <a:buNone/>
            </a:pPr>
            <a:r>
              <a:rPr lang="en-US" sz="1100" b="1" dirty="0">
                <a:solidFill>
                  <a:schemeClr val="bg1"/>
                </a:solidFill>
              </a:rPr>
              <a:t>Bed 02</a:t>
            </a:r>
            <a:endParaRPr lang="en-US" sz="1100" dirty="0"/>
          </a:p>
        </p:txBody>
      </p:sp>
      <p:sp>
        <p:nvSpPr>
          <p:cNvPr id="14" name="Text 11"/>
          <p:cNvSpPr txBox="1"/>
          <p:nvPr/>
        </p:nvSpPr>
        <p:spPr>
          <a:xfrm>
            <a:off x="2148840" y="2743200"/>
            <a:ext cx="1234440" cy="274320"/>
          </a:xfrm>
          <a:prstGeom prst="rect">
            <a:avLst/>
          </a:prstGeom>
          <a:noFill/>
          <a:ln/>
        </p:spPr>
        <p:txBody>
          <a:bodyPr wrap="square" lIns="0" tIns="0" rIns="0" bIns="0" rtlCol="0" anchor="t"/>
          <a:lstStyle/>
          <a:p>
            <a:pPr algn="ctr" indent="0" marL="0">
              <a:buNone/>
            </a:pPr>
            <a:r>
              <a:rPr lang="en-US" sz="1100" dirty="0">
                <a:solidFill>
                  <a:schemeClr val="bg1"/>
                </a:solidFill>
              </a:rPr>
              <a:t>OK</a:t>
            </a:r>
            <a:endParaRPr lang="en-US" sz="1100" dirty="0"/>
          </a:p>
        </p:txBody>
      </p:sp>
      <p:sp>
        <p:nvSpPr>
          <p:cNvPr id="15" name="Shape 12"/>
          <p:cNvSpPr/>
          <p:nvPr/>
        </p:nvSpPr>
        <p:spPr>
          <a:xfrm>
            <a:off x="3520440" y="2331720"/>
            <a:ext cx="1234440" cy="868680"/>
          </a:xfrm>
          <a:prstGeom prst="rect">
            <a:avLst/>
          </a:prstGeom>
          <a:solidFill>
            <a:schemeClr val="accent3">
              <a:alpha val="85000"/>
            </a:schemeClr>
          </a:solidFill>
          <a:ln/>
        </p:spPr>
      </p:sp>
      <p:sp>
        <p:nvSpPr>
          <p:cNvPr id="16" name="Text 13"/>
          <p:cNvSpPr txBox="1"/>
          <p:nvPr/>
        </p:nvSpPr>
        <p:spPr>
          <a:xfrm>
            <a:off x="3520440" y="2423160"/>
            <a:ext cx="1234440" cy="274320"/>
          </a:xfrm>
          <a:prstGeom prst="rect">
            <a:avLst/>
          </a:prstGeom>
          <a:noFill/>
          <a:ln/>
        </p:spPr>
        <p:txBody>
          <a:bodyPr wrap="square" lIns="0" tIns="0" rIns="0" bIns="0" rtlCol="0" anchor="t"/>
          <a:lstStyle/>
          <a:p>
            <a:pPr algn="ctr" indent="0" marL="0">
              <a:buNone/>
            </a:pPr>
            <a:r>
              <a:rPr lang="en-US" sz="1100" b="1" dirty="0">
                <a:solidFill>
                  <a:schemeClr val="bg1"/>
                </a:solidFill>
              </a:rPr>
              <a:t>Bed 03</a:t>
            </a:r>
            <a:endParaRPr lang="en-US" sz="1100" dirty="0"/>
          </a:p>
        </p:txBody>
      </p:sp>
      <p:sp>
        <p:nvSpPr>
          <p:cNvPr id="17" name="Text 14"/>
          <p:cNvSpPr txBox="1"/>
          <p:nvPr/>
        </p:nvSpPr>
        <p:spPr>
          <a:xfrm>
            <a:off x="3520440" y="2743200"/>
            <a:ext cx="1234440" cy="274320"/>
          </a:xfrm>
          <a:prstGeom prst="rect">
            <a:avLst/>
          </a:prstGeom>
          <a:noFill/>
          <a:ln/>
        </p:spPr>
        <p:txBody>
          <a:bodyPr wrap="square" lIns="0" tIns="0" rIns="0" bIns="0" rtlCol="0" anchor="t"/>
          <a:lstStyle/>
          <a:p>
            <a:pPr algn="ctr" indent="0" marL="0">
              <a:buNone/>
            </a:pPr>
            <a:r>
              <a:rPr lang="en-US" sz="1100" dirty="0">
                <a:solidFill>
                  <a:schemeClr val="bg1"/>
                </a:solidFill>
              </a:rPr>
              <a:t>Soon</a:t>
            </a:r>
            <a:endParaRPr lang="en-US" sz="1100" dirty="0"/>
          </a:p>
        </p:txBody>
      </p:sp>
      <p:sp>
        <p:nvSpPr>
          <p:cNvPr id="18" name="Shape 15"/>
          <p:cNvSpPr/>
          <p:nvPr/>
        </p:nvSpPr>
        <p:spPr>
          <a:xfrm>
            <a:off x="4892040" y="2331720"/>
            <a:ext cx="1234440" cy="868680"/>
          </a:xfrm>
          <a:prstGeom prst="rect">
            <a:avLst/>
          </a:prstGeom>
          <a:solidFill>
            <a:schemeClr val="accent1">
              <a:alpha val="85000"/>
            </a:schemeClr>
          </a:solidFill>
          <a:ln/>
        </p:spPr>
      </p:sp>
      <p:sp>
        <p:nvSpPr>
          <p:cNvPr id="19" name="Text 16"/>
          <p:cNvSpPr txBox="1"/>
          <p:nvPr/>
        </p:nvSpPr>
        <p:spPr>
          <a:xfrm>
            <a:off x="4892040" y="2423160"/>
            <a:ext cx="1234440" cy="274320"/>
          </a:xfrm>
          <a:prstGeom prst="rect">
            <a:avLst/>
          </a:prstGeom>
          <a:noFill/>
          <a:ln/>
        </p:spPr>
        <p:txBody>
          <a:bodyPr wrap="square" lIns="0" tIns="0" rIns="0" bIns="0" rtlCol="0" anchor="t"/>
          <a:lstStyle/>
          <a:p>
            <a:pPr algn="ctr" indent="0" marL="0">
              <a:buNone/>
            </a:pPr>
            <a:r>
              <a:rPr lang="en-US" sz="1100" b="1" dirty="0">
                <a:solidFill>
                  <a:schemeClr val="bg1"/>
                </a:solidFill>
              </a:rPr>
              <a:t>Bed 04</a:t>
            </a:r>
            <a:endParaRPr lang="en-US" sz="1100" dirty="0"/>
          </a:p>
        </p:txBody>
      </p:sp>
      <p:sp>
        <p:nvSpPr>
          <p:cNvPr id="20" name="Text 17"/>
          <p:cNvSpPr txBox="1"/>
          <p:nvPr/>
        </p:nvSpPr>
        <p:spPr>
          <a:xfrm>
            <a:off x="4892040" y="2743200"/>
            <a:ext cx="1234440" cy="274320"/>
          </a:xfrm>
          <a:prstGeom prst="rect">
            <a:avLst/>
          </a:prstGeom>
          <a:noFill/>
          <a:ln/>
        </p:spPr>
        <p:txBody>
          <a:bodyPr wrap="square" lIns="0" tIns="0" rIns="0" bIns="0" rtlCol="0" anchor="t"/>
          <a:lstStyle/>
          <a:p>
            <a:pPr algn="ctr" indent="0" marL="0">
              <a:buNone/>
            </a:pPr>
            <a:r>
              <a:rPr lang="en-US" sz="1100" dirty="0">
                <a:solidFill>
                  <a:schemeClr val="bg1"/>
                </a:solidFill>
              </a:rPr>
              <a:t>OK</a:t>
            </a:r>
            <a:endParaRPr lang="en-US" sz="1100" dirty="0"/>
          </a:p>
        </p:txBody>
      </p:sp>
      <p:sp>
        <p:nvSpPr>
          <p:cNvPr id="21" name="Shape 18"/>
          <p:cNvSpPr/>
          <p:nvPr/>
        </p:nvSpPr>
        <p:spPr>
          <a:xfrm>
            <a:off x="777240" y="3337560"/>
            <a:ext cx="1234440" cy="868680"/>
          </a:xfrm>
          <a:prstGeom prst="rect">
            <a:avLst/>
          </a:prstGeom>
          <a:solidFill>
            <a:schemeClr val="accent6">
              <a:alpha val="85000"/>
            </a:schemeClr>
          </a:solidFill>
          <a:ln/>
        </p:spPr>
      </p:sp>
      <p:sp>
        <p:nvSpPr>
          <p:cNvPr id="22" name="Text 19"/>
          <p:cNvSpPr txBox="1"/>
          <p:nvPr/>
        </p:nvSpPr>
        <p:spPr>
          <a:xfrm>
            <a:off x="777240" y="3429000"/>
            <a:ext cx="1234440" cy="274320"/>
          </a:xfrm>
          <a:prstGeom prst="rect">
            <a:avLst/>
          </a:prstGeom>
          <a:noFill/>
          <a:ln/>
        </p:spPr>
        <p:txBody>
          <a:bodyPr wrap="square" lIns="0" tIns="0" rIns="0" bIns="0" rtlCol="0" anchor="t"/>
          <a:lstStyle/>
          <a:p>
            <a:pPr algn="ctr" indent="0" marL="0">
              <a:buNone/>
            </a:pPr>
            <a:r>
              <a:rPr lang="en-US" sz="1100" b="1" dirty="0">
                <a:solidFill>
                  <a:schemeClr val="bg1"/>
                </a:solidFill>
              </a:rPr>
              <a:t>Bed 05</a:t>
            </a:r>
            <a:endParaRPr lang="en-US" sz="1100" dirty="0"/>
          </a:p>
        </p:txBody>
      </p:sp>
      <p:sp>
        <p:nvSpPr>
          <p:cNvPr id="23" name="Text 20"/>
          <p:cNvSpPr txBox="1"/>
          <p:nvPr/>
        </p:nvSpPr>
        <p:spPr>
          <a:xfrm>
            <a:off x="777240" y="3749040"/>
            <a:ext cx="1234440" cy="274320"/>
          </a:xfrm>
          <a:prstGeom prst="rect">
            <a:avLst/>
          </a:prstGeom>
          <a:noFill/>
          <a:ln/>
        </p:spPr>
        <p:txBody>
          <a:bodyPr wrap="square" lIns="0" tIns="0" rIns="0" bIns="0" rtlCol="0" anchor="t"/>
          <a:lstStyle/>
          <a:p>
            <a:pPr algn="ctr" indent="0" marL="0">
              <a:buNone/>
            </a:pPr>
            <a:r>
              <a:rPr lang="en-US" sz="1100" dirty="0">
                <a:solidFill>
                  <a:schemeClr val="bg1"/>
                </a:solidFill>
              </a:rPr>
              <a:t>Change now</a:t>
            </a:r>
            <a:endParaRPr lang="en-US" sz="1100" dirty="0"/>
          </a:p>
        </p:txBody>
      </p:sp>
      <p:sp>
        <p:nvSpPr>
          <p:cNvPr id="24" name="Shape 21"/>
          <p:cNvSpPr/>
          <p:nvPr/>
        </p:nvSpPr>
        <p:spPr>
          <a:xfrm>
            <a:off x="2148840" y="3337560"/>
            <a:ext cx="1234440" cy="868680"/>
          </a:xfrm>
          <a:prstGeom prst="rect">
            <a:avLst/>
          </a:prstGeom>
          <a:solidFill>
            <a:schemeClr val="accent1">
              <a:alpha val="85000"/>
            </a:schemeClr>
          </a:solidFill>
          <a:ln/>
        </p:spPr>
      </p:sp>
      <p:sp>
        <p:nvSpPr>
          <p:cNvPr id="25" name="Text 22"/>
          <p:cNvSpPr txBox="1"/>
          <p:nvPr/>
        </p:nvSpPr>
        <p:spPr>
          <a:xfrm>
            <a:off x="2148840" y="3429000"/>
            <a:ext cx="1234440" cy="274320"/>
          </a:xfrm>
          <a:prstGeom prst="rect">
            <a:avLst/>
          </a:prstGeom>
          <a:noFill/>
          <a:ln/>
        </p:spPr>
        <p:txBody>
          <a:bodyPr wrap="square" lIns="0" tIns="0" rIns="0" bIns="0" rtlCol="0" anchor="t"/>
          <a:lstStyle/>
          <a:p>
            <a:pPr algn="ctr" indent="0" marL="0">
              <a:buNone/>
            </a:pPr>
            <a:r>
              <a:rPr lang="en-US" sz="1100" b="1" dirty="0">
                <a:solidFill>
                  <a:schemeClr val="bg1"/>
                </a:solidFill>
              </a:rPr>
              <a:t>Bed 06</a:t>
            </a:r>
            <a:endParaRPr lang="en-US" sz="1100" dirty="0"/>
          </a:p>
        </p:txBody>
      </p:sp>
      <p:sp>
        <p:nvSpPr>
          <p:cNvPr id="26" name="Text 23"/>
          <p:cNvSpPr txBox="1"/>
          <p:nvPr/>
        </p:nvSpPr>
        <p:spPr>
          <a:xfrm>
            <a:off x="2148840" y="3749040"/>
            <a:ext cx="1234440" cy="274320"/>
          </a:xfrm>
          <a:prstGeom prst="rect">
            <a:avLst/>
          </a:prstGeom>
          <a:noFill/>
          <a:ln/>
        </p:spPr>
        <p:txBody>
          <a:bodyPr wrap="square" lIns="0" tIns="0" rIns="0" bIns="0" rtlCol="0" anchor="t"/>
          <a:lstStyle/>
          <a:p>
            <a:pPr algn="ctr" indent="0" marL="0">
              <a:buNone/>
            </a:pPr>
            <a:r>
              <a:rPr lang="en-US" sz="1100" dirty="0">
                <a:solidFill>
                  <a:schemeClr val="bg1"/>
                </a:solidFill>
              </a:rPr>
              <a:t>OK</a:t>
            </a:r>
            <a:endParaRPr lang="en-US" sz="1100" dirty="0"/>
          </a:p>
        </p:txBody>
      </p:sp>
      <p:sp>
        <p:nvSpPr>
          <p:cNvPr id="27" name="Shape 24"/>
          <p:cNvSpPr/>
          <p:nvPr/>
        </p:nvSpPr>
        <p:spPr>
          <a:xfrm>
            <a:off x="3520440" y="3337560"/>
            <a:ext cx="1234440" cy="868680"/>
          </a:xfrm>
          <a:prstGeom prst="rect">
            <a:avLst/>
          </a:prstGeom>
          <a:solidFill>
            <a:schemeClr val="accent1">
              <a:alpha val="85000"/>
            </a:schemeClr>
          </a:solidFill>
          <a:ln/>
        </p:spPr>
      </p:sp>
      <p:sp>
        <p:nvSpPr>
          <p:cNvPr id="28" name="Text 25"/>
          <p:cNvSpPr txBox="1"/>
          <p:nvPr/>
        </p:nvSpPr>
        <p:spPr>
          <a:xfrm>
            <a:off x="3520440" y="3429000"/>
            <a:ext cx="1234440" cy="274320"/>
          </a:xfrm>
          <a:prstGeom prst="rect">
            <a:avLst/>
          </a:prstGeom>
          <a:noFill/>
          <a:ln/>
        </p:spPr>
        <p:txBody>
          <a:bodyPr wrap="square" lIns="0" tIns="0" rIns="0" bIns="0" rtlCol="0" anchor="t"/>
          <a:lstStyle/>
          <a:p>
            <a:pPr algn="ctr" indent="0" marL="0">
              <a:buNone/>
            </a:pPr>
            <a:r>
              <a:rPr lang="en-US" sz="1100" b="1" dirty="0">
                <a:solidFill>
                  <a:schemeClr val="bg1"/>
                </a:solidFill>
              </a:rPr>
              <a:t>Bed 07</a:t>
            </a:r>
            <a:endParaRPr lang="en-US" sz="1100" dirty="0"/>
          </a:p>
        </p:txBody>
      </p:sp>
      <p:sp>
        <p:nvSpPr>
          <p:cNvPr id="29" name="Text 26"/>
          <p:cNvSpPr txBox="1"/>
          <p:nvPr/>
        </p:nvSpPr>
        <p:spPr>
          <a:xfrm>
            <a:off x="3520440" y="3749040"/>
            <a:ext cx="1234440" cy="274320"/>
          </a:xfrm>
          <a:prstGeom prst="rect">
            <a:avLst/>
          </a:prstGeom>
          <a:noFill/>
          <a:ln/>
        </p:spPr>
        <p:txBody>
          <a:bodyPr wrap="square" lIns="0" tIns="0" rIns="0" bIns="0" rtlCol="0" anchor="t"/>
          <a:lstStyle/>
          <a:p>
            <a:pPr algn="ctr" indent="0" marL="0">
              <a:buNone/>
            </a:pPr>
            <a:r>
              <a:rPr lang="en-US" sz="1100" dirty="0">
                <a:solidFill>
                  <a:schemeClr val="bg1"/>
                </a:solidFill>
              </a:rPr>
              <a:t>OK</a:t>
            </a:r>
            <a:endParaRPr lang="en-US" sz="1100" dirty="0"/>
          </a:p>
        </p:txBody>
      </p:sp>
      <p:sp>
        <p:nvSpPr>
          <p:cNvPr id="30" name="Shape 27"/>
          <p:cNvSpPr/>
          <p:nvPr/>
        </p:nvSpPr>
        <p:spPr>
          <a:xfrm>
            <a:off x="4892040" y="3337560"/>
            <a:ext cx="1234440" cy="868680"/>
          </a:xfrm>
          <a:prstGeom prst="rect">
            <a:avLst/>
          </a:prstGeom>
          <a:solidFill>
            <a:schemeClr val="accent3">
              <a:alpha val="85000"/>
            </a:schemeClr>
          </a:solidFill>
          <a:ln/>
        </p:spPr>
      </p:sp>
      <p:sp>
        <p:nvSpPr>
          <p:cNvPr id="31" name="Text 28"/>
          <p:cNvSpPr txBox="1"/>
          <p:nvPr/>
        </p:nvSpPr>
        <p:spPr>
          <a:xfrm>
            <a:off x="4892040" y="3429000"/>
            <a:ext cx="1234440" cy="274320"/>
          </a:xfrm>
          <a:prstGeom prst="rect">
            <a:avLst/>
          </a:prstGeom>
          <a:noFill/>
          <a:ln/>
        </p:spPr>
        <p:txBody>
          <a:bodyPr wrap="square" lIns="0" tIns="0" rIns="0" bIns="0" rtlCol="0" anchor="t"/>
          <a:lstStyle/>
          <a:p>
            <a:pPr algn="ctr" indent="0" marL="0">
              <a:buNone/>
            </a:pPr>
            <a:r>
              <a:rPr lang="en-US" sz="1100" b="1" dirty="0">
                <a:solidFill>
                  <a:schemeClr val="bg1"/>
                </a:solidFill>
              </a:rPr>
              <a:t>Bed 08</a:t>
            </a:r>
            <a:endParaRPr lang="en-US" sz="1100" dirty="0"/>
          </a:p>
        </p:txBody>
      </p:sp>
      <p:sp>
        <p:nvSpPr>
          <p:cNvPr id="32" name="Text 29"/>
          <p:cNvSpPr txBox="1"/>
          <p:nvPr/>
        </p:nvSpPr>
        <p:spPr>
          <a:xfrm>
            <a:off x="4892040" y="3749040"/>
            <a:ext cx="1234440" cy="274320"/>
          </a:xfrm>
          <a:prstGeom prst="rect">
            <a:avLst/>
          </a:prstGeom>
          <a:noFill/>
          <a:ln/>
        </p:spPr>
        <p:txBody>
          <a:bodyPr wrap="square" lIns="0" tIns="0" rIns="0" bIns="0" rtlCol="0" anchor="t"/>
          <a:lstStyle/>
          <a:p>
            <a:pPr algn="ctr" indent="0" marL="0">
              <a:buNone/>
            </a:pPr>
            <a:r>
              <a:rPr lang="en-US" sz="1100" dirty="0">
                <a:solidFill>
                  <a:schemeClr val="bg1"/>
                </a:solidFill>
              </a:rPr>
              <a:t>Soon</a:t>
            </a:r>
            <a:endParaRPr lang="en-US" sz="1100" dirty="0"/>
          </a:p>
        </p:txBody>
      </p:sp>
      <p:sp>
        <p:nvSpPr>
          <p:cNvPr id="33" name="Shape 30"/>
          <p:cNvSpPr/>
          <p:nvPr/>
        </p:nvSpPr>
        <p:spPr>
          <a:xfrm>
            <a:off x="777240" y="4343400"/>
            <a:ext cx="1234440" cy="868680"/>
          </a:xfrm>
          <a:prstGeom prst="rect">
            <a:avLst/>
          </a:prstGeom>
          <a:solidFill>
            <a:schemeClr val="accent1">
              <a:alpha val="85000"/>
            </a:schemeClr>
          </a:solidFill>
          <a:ln/>
        </p:spPr>
      </p:sp>
      <p:sp>
        <p:nvSpPr>
          <p:cNvPr id="34" name="Text 31"/>
          <p:cNvSpPr txBox="1"/>
          <p:nvPr/>
        </p:nvSpPr>
        <p:spPr>
          <a:xfrm>
            <a:off x="777240" y="4434840"/>
            <a:ext cx="1234440" cy="274320"/>
          </a:xfrm>
          <a:prstGeom prst="rect">
            <a:avLst/>
          </a:prstGeom>
          <a:noFill/>
          <a:ln/>
        </p:spPr>
        <p:txBody>
          <a:bodyPr wrap="square" lIns="0" tIns="0" rIns="0" bIns="0" rtlCol="0" anchor="t"/>
          <a:lstStyle/>
          <a:p>
            <a:pPr algn="ctr" indent="0" marL="0">
              <a:buNone/>
            </a:pPr>
            <a:r>
              <a:rPr lang="en-US" sz="1100" b="1" dirty="0">
                <a:solidFill>
                  <a:schemeClr val="bg1"/>
                </a:solidFill>
              </a:rPr>
              <a:t>Bed 09</a:t>
            </a:r>
            <a:endParaRPr lang="en-US" sz="1100" dirty="0"/>
          </a:p>
        </p:txBody>
      </p:sp>
      <p:sp>
        <p:nvSpPr>
          <p:cNvPr id="35" name="Text 32"/>
          <p:cNvSpPr txBox="1"/>
          <p:nvPr/>
        </p:nvSpPr>
        <p:spPr>
          <a:xfrm>
            <a:off x="777240" y="4754880"/>
            <a:ext cx="1234440" cy="274320"/>
          </a:xfrm>
          <a:prstGeom prst="rect">
            <a:avLst/>
          </a:prstGeom>
          <a:noFill/>
          <a:ln/>
        </p:spPr>
        <p:txBody>
          <a:bodyPr wrap="square" lIns="0" tIns="0" rIns="0" bIns="0" rtlCol="0" anchor="t"/>
          <a:lstStyle/>
          <a:p>
            <a:pPr algn="ctr" indent="0" marL="0">
              <a:buNone/>
            </a:pPr>
            <a:r>
              <a:rPr lang="en-US" sz="1100" dirty="0">
                <a:solidFill>
                  <a:schemeClr val="bg1"/>
                </a:solidFill>
              </a:rPr>
              <a:t>OK</a:t>
            </a:r>
            <a:endParaRPr lang="en-US" sz="1100" dirty="0"/>
          </a:p>
        </p:txBody>
      </p:sp>
      <p:sp>
        <p:nvSpPr>
          <p:cNvPr id="36" name="Shape 33"/>
          <p:cNvSpPr/>
          <p:nvPr/>
        </p:nvSpPr>
        <p:spPr>
          <a:xfrm>
            <a:off x="2148840" y="4343400"/>
            <a:ext cx="1234440" cy="868680"/>
          </a:xfrm>
          <a:prstGeom prst="rect">
            <a:avLst/>
          </a:prstGeom>
          <a:solidFill>
            <a:schemeClr val="accent1">
              <a:alpha val="85000"/>
            </a:schemeClr>
          </a:solidFill>
          <a:ln/>
        </p:spPr>
      </p:sp>
      <p:sp>
        <p:nvSpPr>
          <p:cNvPr id="37" name="Text 34"/>
          <p:cNvSpPr txBox="1"/>
          <p:nvPr/>
        </p:nvSpPr>
        <p:spPr>
          <a:xfrm>
            <a:off x="2148840" y="4434840"/>
            <a:ext cx="1234440" cy="274320"/>
          </a:xfrm>
          <a:prstGeom prst="rect">
            <a:avLst/>
          </a:prstGeom>
          <a:noFill/>
          <a:ln/>
        </p:spPr>
        <p:txBody>
          <a:bodyPr wrap="square" lIns="0" tIns="0" rIns="0" bIns="0" rtlCol="0" anchor="t"/>
          <a:lstStyle/>
          <a:p>
            <a:pPr algn="ctr" indent="0" marL="0">
              <a:buNone/>
            </a:pPr>
            <a:r>
              <a:rPr lang="en-US" sz="1100" b="1" dirty="0">
                <a:solidFill>
                  <a:schemeClr val="bg1"/>
                </a:solidFill>
              </a:rPr>
              <a:t>Bed 10</a:t>
            </a:r>
            <a:endParaRPr lang="en-US" sz="1100" dirty="0"/>
          </a:p>
        </p:txBody>
      </p:sp>
      <p:sp>
        <p:nvSpPr>
          <p:cNvPr id="38" name="Text 35"/>
          <p:cNvSpPr txBox="1"/>
          <p:nvPr/>
        </p:nvSpPr>
        <p:spPr>
          <a:xfrm>
            <a:off x="2148840" y="4754880"/>
            <a:ext cx="1234440" cy="274320"/>
          </a:xfrm>
          <a:prstGeom prst="rect">
            <a:avLst/>
          </a:prstGeom>
          <a:noFill/>
          <a:ln/>
        </p:spPr>
        <p:txBody>
          <a:bodyPr wrap="square" lIns="0" tIns="0" rIns="0" bIns="0" rtlCol="0" anchor="t"/>
          <a:lstStyle/>
          <a:p>
            <a:pPr algn="ctr" indent="0" marL="0">
              <a:buNone/>
            </a:pPr>
            <a:r>
              <a:rPr lang="en-US" sz="1100" dirty="0">
                <a:solidFill>
                  <a:schemeClr val="bg1"/>
                </a:solidFill>
              </a:rPr>
              <a:t>OK</a:t>
            </a:r>
            <a:endParaRPr lang="en-US" sz="1100" dirty="0"/>
          </a:p>
        </p:txBody>
      </p:sp>
      <p:sp>
        <p:nvSpPr>
          <p:cNvPr id="39" name="Shape 36"/>
          <p:cNvSpPr/>
          <p:nvPr/>
        </p:nvSpPr>
        <p:spPr>
          <a:xfrm>
            <a:off x="3520440" y="4343400"/>
            <a:ext cx="1234440" cy="868680"/>
          </a:xfrm>
          <a:prstGeom prst="rect">
            <a:avLst/>
          </a:prstGeom>
          <a:solidFill>
            <a:schemeClr val="accent1">
              <a:alpha val="85000"/>
            </a:schemeClr>
          </a:solidFill>
          <a:ln/>
        </p:spPr>
      </p:sp>
      <p:sp>
        <p:nvSpPr>
          <p:cNvPr id="40" name="Text 37"/>
          <p:cNvSpPr txBox="1"/>
          <p:nvPr/>
        </p:nvSpPr>
        <p:spPr>
          <a:xfrm>
            <a:off x="3520440" y="4434840"/>
            <a:ext cx="1234440" cy="274320"/>
          </a:xfrm>
          <a:prstGeom prst="rect">
            <a:avLst/>
          </a:prstGeom>
          <a:noFill/>
          <a:ln/>
        </p:spPr>
        <p:txBody>
          <a:bodyPr wrap="square" lIns="0" tIns="0" rIns="0" bIns="0" rtlCol="0" anchor="t"/>
          <a:lstStyle/>
          <a:p>
            <a:pPr algn="ctr" indent="0" marL="0">
              <a:buNone/>
            </a:pPr>
            <a:r>
              <a:rPr lang="en-US" sz="1100" b="1" dirty="0">
                <a:solidFill>
                  <a:schemeClr val="bg1"/>
                </a:solidFill>
              </a:rPr>
              <a:t>Bed 11</a:t>
            </a:r>
            <a:endParaRPr lang="en-US" sz="1100" dirty="0"/>
          </a:p>
        </p:txBody>
      </p:sp>
      <p:sp>
        <p:nvSpPr>
          <p:cNvPr id="41" name="Text 38"/>
          <p:cNvSpPr txBox="1"/>
          <p:nvPr/>
        </p:nvSpPr>
        <p:spPr>
          <a:xfrm>
            <a:off x="3520440" y="4754880"/>
            <a:ext cx="1234440" cy="274320"/>
          </a:xfrm>
          <a:prstGeom prst="rect">
            <a:avLst/>
          </a:prstGeom>
          <a:noFill/>
          <a:ln/>
        </p:spPr>
        <p:txBody>
          <a:bodyPr wrap="square" lIns="0" tIns="0" rIns="0" bIns="0" rtlCol="0" anchor="t"/>
          <a:lstStyle/>
          <a:p>
            <a:pPr algn="ctr" indent="0" marL="0">
              <a:buNone/>
            </a:pPr>
            <a:r>
              <a:rPr lang="en-US" sz="1100" dirty="0">
                <a:solidFill>
                  <a:schemeClr val="bg1"/>
                </a:solidFill>
              </a:rPr>
              <a:t>OK</a:t>
            </a:r>
            <a:endParaRPr lang="en-US" sz="1100" dirty="0"/>
          </a:p>
        </p:txBody>
      </p:sp>
      <p:sp>
        <p:nvSpPr>
          <p:cNvPr id="42" name="Shape 39"/>
          <p:cNvSpPr/>
          <p:nvPr/>
        </p:nvSpPr>
        <p:spPr>
          <a:xfrm>
            <a:off x="4892040" y="4343400"/>
            <a:ext cx="1234440" cy="868680"/>
          </a:xfrm>
          <a:prstGeom prst="rect">
            <a:avLst/>
          </a:prstGeom>
          <a:solidFill>
            <a:schemeClr val="accent6">
              <a:alpha val="85000"/>
            </a:schemeClr>
          </a:solidFill>
          <a:ln/>
        </p:spPr>
      </p:sp>
      <p:sp>
        <p:nvSpPr>
          <p:cNvPr id="43" name="Text 40"/>
          <p:cNvSpPr txBox="1"/>
          <p:nvPr/>
        </p:nvSpPr>
        <p:spPr>
          <a:xfrm>
            <a:off x="4892040" y="4434840"/>
            <a:ext cx="1234440" cy="274320"/>
          </a:xfrm>
          <a:prstGeom prst="rect">
            <a:avLst/>
          </a:prstGeom>
          <a:noFill/>
          <a:ln/>
        </p:spPr>
        <p:txBody>
          <a:bodyPr wrap="square" lIns="0" tIns="0" rIns="0" bIns="0" rtlCol="0" anchor="t"/>
          <a:lstStyle/>
          <a:p>
            <a:pPr algn="ctr" indent="0" marL="0">
              <a:buNone/>
            </a:pPr>
            <a:r>
              <a:rPr lang="en-US" sz="1100" b="1" dirty="0">
                <a:solidFill>
                  <a:schemeClr val="bg1"/>
                </a:solidFill>
              </a:rPr>
              <a:t>Bed 12</a:t>
            </a:r>
            <a:endParaRPr lang="en-US" sz="1100" dirty="0"/>
          </a:p>
        </p:txBody>
      </p:sp>
      <p:sp>
        <p:nvSpPr>
          <p:cNvPr id="44" name="Text 41"/>
          <p:cNvSpPr txBox="1"/>
          <p:nvPr/>
        </p:nvSpPr>
        <p:spPr>
          <a:xfrm>
            <a:off x="4892040" y="4754880"/>
            <a:ext cx="1234440" cy="274320"/>
          </a:xfrm>
          <a:prstGeom prst="rect">
            <a:avLst/>
          </a:prstGeom>
          <a:noFill/>
          <a:ln/>
        </p:spPr>
        <p:txBody>
          <a:bodyPr wrap="square" lIns="0" tIns="0" rIns="0" bIns="0" rtlCol="0" anchor="t"/>
          <a:lstStyle/>
          <a:p>
            <a:pPr algn="ctr" indent="0" marL="0">
              <a:buNone/>
            </a:pPr>
            <a:r>
              <a:rPr lang="en-US" sz="1100" dirty="0">
                <a:solidFill>
                  <a:schemeClr val="bg1"/>
                </a:solidFill>
              </a:rPr>
              <a:t>Change now</a:t>
            </a:r>
            <a:endParaRPr lang="en-US" sz="1100" dirty="0"/>
          </a:p>
        </p:txBody>
      </p:sp>
      <p:sp>
        <p:nvSpPr>
          <p:cNvPr id="45" name="Text 42"/>
          <p:cNvSpPr txBox="1"/>
          <p:nvPr/>
        </p:nvSpPr>
        <p:spPr>
          <a:xfrm>
            <a:off x="777240" y="5440680"/>
            <a:ext cx="4572000" cy="274320"/>
          </a:xfrm>
          <a:prstGeom prst="rect">
            <a:avLst/>
          </a:prstGeom>
          <a:noFill/>
          <a:ln/>
        </p:spPr>
        <p:txBody>
          <a:bodyPr wrap="square" lIns="0" tIns="0" rIns="0" bIns="0" rtlCol="0" anchor="t"/>
          <a:lstStyle/>
          <a:p>
            <a:pPr indent="0" marL="0">
              <a:buNone/>
            </a:pPr>
            <a:r>
              <a:rPr lang="en-US" sz="1100" b="1" dirty="0">
                <a:solidFill>
                  <a:schemeClr val="accent1"/>
                </a:solidFill>
              </a:rPr>
              <a:t>● OK   </a:t>
            </a:r>
            <a:pPr indent="0" marL="0">
              <a:buNone/>
            </a:pPr>
            <a:r>
              <a:rPr lang="en-US" sz="1100" b="1" dirty="0">
                <a:solidFill>
                  <a:schemeClr val="accent3"/>
                </a:solidFill>
              </a:rPr>
              <a:t>● Change soon   </a:t>
            </a:r>
            <a:pPr indent="0" marL="0">
              <a:buNone/>
            </a:pPr>
            <a:r>
              <a:rPr lang="en-US" sz="1100" b="1" dirty="0">
                <a:solidFill>
                  <a:schemeClr val="accent6"/>
                </a:solidFill>
              </a:rPr>
              <a:t>● Change now</a:t>
            </a:r>
            <a:endParaRPr lang="en-US" sz="1100" dirty="0"/>
          </a:p>
        </p:txBody>
      </p:sp>
      <p:sp>
        <p:nvSpPr>
          <p:cNvPr id="46" name="Shape 43"/>
          <p:cNvSpPr/>
          <p:nvPr/>
        </p:nvSpPr>
        <p:spPr>
          <a:xfrm>
            <a:off x="6675120" y="1783080"/>
            <a:ext cx="502920" cy="502920"/>
          </a:xfrm>
          <a:prstGeom prst="ellipse">
            <a:avLst/>
          </a:prstGeom>
          <a:solidFill>
            <a:schemeClr val="tx2"/>
          </a:solidFill>
          <a:ln/>
        </p:spPr>
      </p:sp>
      <p:pic>
        <p:nvPicPr>
          <p:cNvPr id="47" name="Image 0" descr="preencoded.png">    </p:cNvPr>
          <p:cNvPicPr>
            <a:picLocks noChangeAspect="1"/>
          </p:cNvPicPr>
          <p:nvPr/>
        </p:nvPicPr>
        <p:blipFill>
          <a:blip r:embed="rId1"/>
          <a:stretch>
            <a:fillRect/>
          </a:stretch>
        </p:blipFill>
        <p:spPr>
          <a:xfrm>
            <a:off x="6800850" y="1908810"/>
            <a:ext cx="251460" cy="251460"/>
          </a:xfrm>
          <a:prstGeom prst="rect">
            <a:avLst/>
          </a:prstGeom>
        </p:spPr>
      </p:pic>
      <p:sp>
        <p:nvSpPr>
          <p:cNvPr id="48" name="Text 44"/>
          <p:cNvSpPr txBox="1"/>
          <p:nvPr/>
        </p:nvSpPr>
        <p:spPr>
          <a:xfrm>
            <a:off x="7406640" y="1691640"/>
            <a:ext cx="4206240" cy="320040"/>
          </a:xfrm>
          <a:prstGeom prst="rect">
            <a:avLst/>
          </a:prstGeom>
          <a:noFill/>
          <a:ln/>
        </p:spPr>
        <p:txBody>
          <a:bodyPr wrap="square" lIns="0" tIns="0" rIns="0" bIns="0" rtlCol="0" anchor="t"/>
          <a:lstStyle/>
          <a:p>
            <a:pPr indent="0" marL="0">
              <a:buNone/>
            </a:pPr>
            <a:r>
              <a:rPr lang="en-US" sz="1400" b="1" dirty="0">
                <a:solidFill>
                  <a:schemeClr val="tx2"/>
                </a:solidFill>
              </a:rPr>
              <a:t>Real-time alerts</a:t>
            </a:r>
            <a:endParaRPr lang="en-US" sz="1400" dirty="0"/>
          </a:p>
        </p:txBody>
      </p:sp>
      <p:sp>
        <p:nvSpPr>
          <p:cNvPr id="49" name="Text 45"/>
          <p:cNvSpPr txBox="1"/>
          <p:nvPr/>
        </p:nvSpPr>
        <p:spPr>
          <a:xfrm>
            <a:off x="7406640" y="2029968"/>
            <a:ext cx="4206240" cy="594360"/>
          </a:xfrm>
          <a:prstGeom prst="rect">
            <a:avLst/>
          </a:prstGeom>
          <a:noFill/>
          <a:ln/>
        </p:spPr>
        <p:txBody>
          <a:bodyPr wrap="square" lIns="0" tIns="0" rIns="0" bIns="0" rtlCol="0" anchor="t"/>
          <a:lstStyle/>
          <a:p>
            <a:pPr indent="0" marL="0">
              <a:buNone/>
            </a:pPr>
            <a:r>
              <a:rPr lang="en-US" sz="1200" dirty="0">
                <a:solidFill>
                  <a:schemeClr val="tx1"/>
                </a:solidFill>
              </a:rPr>
              <a:t>Nurse station and mobile notification with escalation rules</a:t>
            </a:r>
            <a:endParaRPr lang="en-US" sz="1200" dirty="0"/>
          </a:p>
        </p:txBody>
      </p:sp>
      <p:sp>
        <p:nvSpPr>
          <p:cNvPr id="50" name="Shape 46"/>
          <p:cNvSpPr/>
          <p:nvPr/>
        </p:nvSpPr>
        <p:spPr>
          <a:xfrm>
            <a:off x="6675120" y="2862072"/>
            <a:ext cx="502920" cy="502920"/>
          </a:xfrm>
          <a:prstGeom prst="ellipse">
            <a:avLst/>
          </a:prstGeom>
          <a:solidFill>
            <a:schemeClr val="accent1"/>
          </a:solidFill>
          <a:ln/>
        </p:spPr>
      </p:sp>
      <p:pic>
        <p:nvPicPr>
          <p:cNvPr id="51" name="Image 1" descr="preencoded.png">    </p:cNvPr>
          <p:cNvPicPr>
            <a:picLocks noChangeAspect="1"/>
          </p:cNvPicPr>
          <p:nvPr/>
        </p:nvPicPr>
        <p:blipFill>
          <a:blip r:embed="rId2"/>
          <a:stretch>
            <a:fillRect/>
          </a:stretch>
        </p:blipFill>
        <p:spPr>
          <a:xfrm>
            <a:off x="6800850" y="2987802"/>
            <a:ext cx="251460" cy="251460"/>
          </a:xfrm>
          <a:prstGeom prst="rect">
            <a:avLst/>
          </a:prstGeom>
        </p:spPr>
      </p:pic>
      <p:sp>
        <p:nvSpPr>
          <p:cNvPr id="52" name="Text 47"/>
          <p:cNvSpPr txBox="1"/>
          <p:nvPr/>
        </p:nvSpPr>
        <p:spPr>
          <a:xfrm>
            <a:off x="7406640" y="2770632"/>
            <a:ext cx="4206240" cy="320040"/>
          </a:xfrm>
          <a:prstGeom prst="rect">
            <a:avLst/>
          </a:prstGeom>
          <a:noFill/>
          <a:ln/>
        </p:spPr>
        <p:txBody>
          <a:bodyPr wrap="square" lIns="0" tIns="0" rIns="0" bIns="0" rtlCol="0" anchor="t"/>
          <a:lstStyle/>
          <a:p>
            <a:pPr indent="0" marL="0">
              <a:buNone/>
            </a:pPr>
            <a:r>
              <a:rPr lang="en-US" sz="1400" b="1" dirty="0">
                <a:solidFill>
                  <a:schemeClr val="tx2"/>
                </a:solidFill>
              </a:rPr>
              <a:t>Care records</a:t>
            </a:r>
            <a:endParaRPr lang="en-US" sz="1400" dirty="0"/>
          </a:p>
        </p:txBody>
      </p:sp>
      <p:sp>
        <p:nvSpPr>
          <p:cNvPr id="53" name="Text 48"/>
          <p:cNvSpPr txBox="1"/>
          <p:nvPr/>
        </p:nvSpPr>
        <p:spPr>
          <a:xfrm>
            <a:off x="7406640" y="3108960"/>
            <a:ext cx="4206240" cy="594360"/>
          </a:xfrm>
          <a:prstGeom prst="rect">
            <a:avLst/>
          </a:prstGeom>
          <a:noFill/>
          <a:ln/>
        </p:spPr>
        <p:txBody>
          <a:bodyPr wrap="square" lIns="0" tIns="0" rIns="0" bIns="0" rtlCol="0" anchor="t"/>
          <a:lstStyle/>
          <a:p>
            <a:pPr indent="0" marL="0">
              <a:buNone/>
            </a:pPr>
            <a:r>
              <a:rPr lang="en-US" sz="1200" dirty="0">
                <a:solidFill>
                  <a:schemeClr val="tx1"/>
                </a:solidFill>
              </a:rPr>
              <a:t>Event history per bed; exportable for documentation</a:t>
            </a:r>
            <a:endParaRPr lang="en-US" sz="1200" dirty="0"/>
          </a:p>
        </p:txBody>
      </p:sp>
      <p:sp>
        <p:nvSpPr>
          <p:cNvPr id="54" name="Shape 49"/>
          <p:cNvSpPr/>
          <p:nvPr/>
        </p:nvSpPr>
        <p:spPr>
          <a:xfrm>
            <a:off x="6675120" y="3941064"/>
            <a:ext cx="502920" cy="502920"/>
          </a:xfrm>
          <a:prstGeom prst="ellipse">
            <a:avLst/>
          </a:prstGeom>
          <a:solidFill>
            <a:schemeClr val="tx2"/>
          </a:solidFill>
          <a:ln/>
        </p:spPr>
      </p:sp>
      <p:pic>
        <p:nvPicPr>
          <p:cNvPr id="55" name="Image 2" descr="preencoded.png">    </p:cNvPr>
          <p:cNvPicPr>
            <a:picLocks noChangeAspect="1"/>
          </p:cNvPicPr>
          <p:nvPr/>
        </p:nvPicPr>
        <p:blipFill>
          <a:blip r:embed="rId3"/>
          <a:stretch>
            <a:fillRect/>
          </a:stretch>
        </p:blipFill>
        <p:spPr>
          <a:xfrm>
            <a:off x="6800850" y="4066794"/>
            <a:ext cx="251460" cy="251460"/>
          </a:xfrm>
          <a:prstGeom prst="rect">
            <a:avLst/>
          </a:prstGeom>
        </p:spPr>
      </p:pic>
      <p:sp>
        <p:nvSpPr>
          <p:cNvPr id="56" name="Text 50"/>
          <p:cNvSpPr txBox="1"/>
          <p:nvPr/>
        </p:nvSpPr>
        <p:spPr>
          <a:xfrm>
            <a:off x="7406640" y="3849624"/>
            <a:ext cx="4206240" cy="320040"/>
          </a:xfrm>
          <a:prstGeom prst="rect">
            <a:avLst/>
          </a:prstGeom>
          <a:noFill/>
          <a:ln/>
        </p:spPr>
        <p:txBody>
          <a:bodyPr wrap="square" lIns="0" tIns="0" rIns="0" bIns="0" rtlCol="0" anchor="t"/>
          <a:lstStyle/>
          <a:p>
            <a:pPr indent="0" marL="0">
              <a:buNone/>
            </a:pPr>
            <a:r>
              <a:rPr lang="en-US" sz="1400" b="1" dirty="0">
                <a:solidFill>
                  <a:schemeClr val="tx2"/>
                </a:solidFill>
              </a:rPr>
              <a:t>Analytics</a:t>
            </a:r>
            <a:endParaRPr lang="en-US" sz="1400" dirty="0"/>
          </a:p>
        </p:txBody>
      </p:sp>
      <p:sp>
        <p:nvSpPr>
          <p:cNvPr id="57" name="Text 51"/>
          <p:cNvSpPr txBox="1"/>
          <p:nvPr/>
        </p:nvSpPr>
        <p:spPr>
          <a:xfrm>
            <a:off x="7406640" y="4187952"/>
            <a:ext cx="4206240" cy="594360"/>
          </a:xfrm>
          <a:prstGeom prst="rect">
            <a:avLst/>
          </a:prstGeom>
          <a:noFill/>
          <a:ln/>
        </p:spPr>
        <p:txBody>
          <a:bodyPr wrap="square" lIns="0" tIns="0" rIns="0" bIns="0" rtlCol="0" anchor="t"/>
          <a:lstStyle/>
          <a:p>
            <a:pPr indent="0" marL="0">
              <a:buNone/>
            </a:pPr>
            <a:r>
              <a:rPr lang="en-US" sz="1200" dirty="0">
                <a:solidFill>
                  <a:schemeClr val="tx1"/>
                </a:solidFill>
              </a:rPr>
              <a:t>Change intervals, response times, ward workload trends</a:t>
            </a:r>
            <a:endParaRPr lang="en-US" sz="1200" dirty="0"/>
          </a:p>
        </p:txBody>
      </p:sp>
      <p:sp>
        <p:nvSpPr>
          <p:cNvPr id="58" name="Shape 52"/>
          <p:cNvSpPr/>
          <p:nvPr/>
        </p:nvSpPr>
        <p:spPr>
          <a:xfrm>
            <a:off x="6675120" y="5020056"/>
            <a:ext cx="502920" cy="502920"/>
          </a:xfrm>
          <a:prstGeom prst="ellipse">
            <a:avLst/>
          </a:prstGeom>
          <a:solidFill>
            <a:schemeClr val="accent1"/>
          </a:solidFill>
          <a:ln/>
        </p:spPr>
      </p:sp>
      <p:pic>
        <p:nvPicPr>
          <p:cNvPr id="59" name="Image 3" descr="preencoded.png">    </p:cNvPr>
          <p:cNvPicPr>
            <a:picLocks noChangeAspect="1"/>
          </p:cNvPicPr>
          <p:nvPr/>
        </p:nvPicPr>
        <p:blipFill>
          <a:blip r:embed="rId4"/>
          <a:stretch>
            <a:fillRect/>
          </a:stretch>
        </p:blipFill>
        <p:spPr>
          <a:xfrm>
            <a:off x="6800850" y="5145786"/>
            <a:ext cx="251460" cy="251460"/>
          </a:xfrm>
          <a:prstGeom prst="rect">
            <a:avLst/>
          </a:prstGeom>
        </p:spPr>
      </p:pic>
      <p:sp>
        <p:nvSpPr>
          <p:cNvPr id="60" name="Text 53"/>
          <p:cNvSpPr txBox="1"/>
          <p:nvPr/>
        </p:nvSpPr>
        <p:spPr>
          <a:xfrm>
            <a:off x="7406640" y="4928616"/>
            <a:ext cx="4206240" cy="320040"/>
          </a:xfrm>
          <a:prstGeom prst="rect">
            <a:avLst/>
          </a:prstGeom>
          <a:noFill/>
          <a:ln/>
        </p:spPr>
        <p:txBody>
          <a:bodyPr wrap="square" lIns="0" tIns="0" rIns="0" bIns="0" rtlCol="0" anchor="t"/>
          <a:lstStyle/>
          <a:p>
            <a:pPr indent="0" marL="0">
              <a:buNone/>
            </a:pPr>
            <a:r>
              <a:rPr lang="en-US" sz="1400" b="1" dirty="0">
                <a:solidFill>
                  <a:schemeClr val="tx2"/>
                </a:solidFill>
              </a:rPr>
              <a:t>Admin &amp; security</a:t>
            </a:r>
            <a:endParaRPr lang="en-US" sz="1400" dirty="0"/>
          </a:p>
        </p:txBody>
      </p:sp>
      <p:sp>
        <p:nvSpPr>
          <p:cNvPr id="61" name="Text 54"/>
          <p:cNvSpPr txBox="1"/>
          <p:nvPr/>
        </p:nvSpPr>
        <p:spPr>
          <a:xfrm>
            <a:off x="7406640" y="5266944"/>
            <a:ext cx="4206240" cy="594360"/>
          </a:xfrm>
          <a:prstGeom prst="rect">
            <a:avLst/>
          </a:prstGeom>
          <a:noFill/>
          <a:ln/>
        </p:spPr>
        <p:txBody>
          <a:bodyPr wrap="square" lIns="0" tIns="0" rIns="0" bIns="0" rtlCol="0" anchor="t"/>
          <a:lstStyle/>
          <a:p>
            <a:pPr indent="0" marL="0">
              <a:buNone/>
            </a:pPr>
            <a:r>
              <a:rPr lang="en-US" sz="1200" dirty="0">
                <a:solidFill>
                  <a:schemeClr val="tx1"/>
                </a:solidFill>
              </a:rPr>
              <a:t>Role-based access, audit trail, PDPA-aligned data handling</a:t>
            </a:r>
            <a:endParaRPr lang="en-US" sz="12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3 · SMART DIAPER SYSTEM</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A dedicated service model keeps the system running with defined response times, spares and training</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MONIT. SLA values to be aligned with Section 2 Master Agreement (maintenance obligations) and Section 3 Technical Specifications.</a:t>
            </a:r>
            <a:endParaRPr lang="en-US" sz="900" dirty="0"/>
          </a:p>
        </p:txBody>
      </p:sp>
      <p:sp>
        <p:nvSpPr>
          <p:cNvPr id="6" name="Card Maintenance"/>
          <p:cNvSpPr/>
          <p:nvPr/>
        </p:nvSpPr>
        <p:spPr>
          <a:xfrm>
            <a:off x="548640" y="1691640"/>
            <a:ext cx="3566160" cy="2148840"/>
          </a:xfrm>
          <a:prstGeom prst="rect">
            <a:avLst/>
          </a:prstGeom>
          <a:solidFill>
            <a:schemeClr val="bg2"/>
          </a:solidFill>
          <a:ln/>
        </p:spPr>
      </p:sp>
      <p:sp>
        <p:nvSpPr>
          <p:cNvPr id="7" name="Shape 4"/>
          <p:cNvSpPr/>
          <p:nvPr/>
        </p:nvSpPr>
        <p:spPr>
          <a:xfrm>
            <a:off x="731520" y="1874520"/>
            <a:ext cx="475488" cy="475488"/>
          </a:xfrm>
          <a:prstGeom prst="ellipse">
            <a:avLst/>
          </a:prstGeom>
          <a:solidFill>
            <a:schemeClr val="tx2"/>
          </a:solidFill>
          <a:ln/>
        </p:spPr>
      </p:sp>
      <p:pic>
        <p:nvPicPr>
          <p:cNvPr id="8" name="Image 0" descr="preencoded.png">    </p:cNvPr>
          <p:cNvPicPr>
            <a:picLocks noChangeAspect="1"/>
          </p:cNvPicPr>
          <p:nvPr/>
        </p:nvPicPr>
        <p:blipFill>
          <a:blip r:embed="rId1"/>
          <a:stretch>
            <a:fillRect/>
          </a:stretch>
        </p:blipFill>
        <p:spPr>
          <a:xfrm>
            <a:off x="850392" y="1993392"/>
            <a:ext cx="237744" cy="237744"/>
          </a:xfrm>
          <a:prstGeom prst="rect">
            <a:avLst/>
          </a:prstGeom>
        </p:spPr>
      </p:pic>
      <p:sp>
        <p:nvSpPr>
          <p:cNvPr id="9" name="Text 5"/>
          <p:cNvSpPr txBox="1"/>
          <p:nvPr/>
        </p:nvSpPr>
        <p:spPr>
          <a:xfrm>
            <a:off x="1325880" y="1874520"/>
            <a:ext cx="2606040" cy="475488"/>
          </a:xfrm>
          <a:prstGeom prst="rect">
            <a:avLst/>
          </a:prstGeom>
          <a:noFill/>
          <a:ln/>
        </p:spPr>
        <p:txBody>
          <a:bodyPr wrap="square" lIns="0" tIns="0" rIns="0" bIns="0" rtlCol="0" anchor="ctr"/>
          <a:lstStyle/>
          <a:p>
            <a:pPr indent="0" marL="0">
              <a:buNone/>
            </a:pPr>
            <a:r>
              <a:rPr lang="en-US" sz="1400" b="1" dirty="0">
                <a:solidFill>
                  <a:schemeClr val="tx2"/>
                </a:solidFill>
              </a:rPr>
              <a:t>Maintenance</a:t>
            </a:r>
            <a:endParaRPr lang="en-US" sz="1400" dirty="0"/>
          </a:p>
        </p:txBody>
      </p:sp>
      <p:sp>
        <p:nvSpPr>
          <p:cNvPr id="10" name="Text 6"/>
          <p:cNvSpPr txBox="1"/>
          <p:nvPr/>
        </p:nvSpPr>
        <p:spPr>
          <a:xfrm>
            <a:off x="731520" y="2514600"/>
            <a:ext cx="3200400" cy="118872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tx1"/>
                </a:solidFill>
              </a:rPr>
              <a:t>Preventive checks &amp; remote health monitoring</a:t>
            </a:r>
            <a:endParaRPr lang="en-US" sz="1200" dirty="0"/>
          </a:p>
          <a:p>
            <a:pPr marL="152400" indent="-152400">
              <a:spcAft>
                <a:spcPts val="400"/>
              </a:spcAft>
              <a:buSzPct val="100000"/>
              <a:buChar char="•"/>
            </a:pPr>
            <a:r>
              <a:rPr lang="en-US" sz="1200" dirty="0">
                <a:solidFill>
                  <a:schemeClr val="tx1"/>
                </a:solidFill>
              </a:rPr>
              <a:t>Replacement of faulty sensors / relays</a:t>
            </a:r>
            <a:endParaRPr lang="en-US" sz="1200" dirty="0"/>
          </a:p>
          <a:p>
            <a:pPr marL="152400" indent="-152400">
              <a:spcAft>
                <a:spcPts val="400"/>
              </a:spcAft>
              <a:buSzPct val="100000"/>
              <a:buChar char="•"/>
            </a:pPr>
            <a:r>
              <a:rPr lang="en-US" sz="1200" dirty="0">
                <a:solidFill>
                  <a:schemeClr val="tx1"/>
                </a:solidFill>
              </a:rPr>
              <a:t>Spares pool held locally [confirm]</a:t>
            </a:r>
            <a:endParaRPr lang="en-US" sz="1200" dirty="0"/>
          </a:p>
        </p:txBody>
      </p:sp>
      <p:sp>
        <p:nvSpPr>
          <p:cNvPr id="11" name="Card Technical support"/>
          <p:cNvSpPr/>
          <p:nvPr/>
        </p:nvSpPr>
        <p:spPr>
          <a:xfrm>
            <a:off x="4315968" y="1691640"/>
            <a:ext cx="3566160" cy="2148840"/>
          </a:xfrm>
          <a:prstGeom prst="rect">
            <a:avLst/>
          </a:prstGeom>
          <a:solidFill>
            <a:schemeClr val="bg2"/>
          </a:solidFill>
          <a:ln/>
        </p:spPr>
      </p:sp>
      <p:sp>
        <p:nvSpPr>
          <p:cNvPr id="12" name="Shape 8"/>
          <p:cNvSpPr/>
          <p:nvPr/>
        </p:nvSpPr>
        <p:spPr>
          <a:xfrm>
            <a:off x="4498848" y="1874520"/>
            <a:ext cx="475488" cy="475488"/>
          </a:xfrm>
          <a:prstGeom prst="ellipse">
            <a:avLst/>
          </a:prstGeom>
          <a:solidFill>
            <a:schemeClr val="tx2"/>
          </a:solidFill>
          <a:ln/>
        </p:spPr>
      </p:sp>
      <p:pic>
        <p:nvPicPr>
          <p:cNvPr id="13" name="Image 1" descr="preencoded.png">    </p:cNvPr>
          <p:cNvPicPr>
            <a:picLocks noChangeAspect="1"/>
          </p:cNvPicPr>
          <p:nvPr/>
        </p:nvPicPr>
        <p:blipFill>
          <a:blip r:embed="rId2"/>
          <a:stretch>
            <a:fillRect/>
          </a:stretch>
        </p:blipFill>
        <p:spPr>
          <a:xfrm>
            <a:off x="4617720" y="1993392"/>
            <a:ext cx="237744" cy="237744"/>
          </a:xfrm>
          <a:prstGeom prst="rect">
            <a:avLst/>
          </a:prstGeom>
        </p:spPr>
      </p:pic>
      <p:sp>
        <p:nvSpPr>
          <p:cNvPr id="14" name="Text 9"/>
          <p:cNvSpPr txBox="1"/>
          <p:nvPr/>
        </p:nvSpPr>
        <p:spPr>
          <a:xfrm>
            <a:off x="5093208" y="1874520"/>
            <a:ext cx="2606040" cy="475488"/>
          </a:xfrm>
          <a:prstGeom prst="rect">
            <a:avLst/>
          </a:prstGeom>
          <a:noFill/>
          <a:ln/>
        </p:spPr>
        <p:txBody>
          <a:bodyPr wrap="square" lIns="0" tIns="0" rIns="0" bIns="0" rtlCol="0" anchor="ctr"/>
          <a:lstStyle/>
          <a:p>
            <a:pPr indent="0" marL="0">
              <a:buNone/>
            </a:pPr>
            <a:r>
              <a:rPr lang="en-US" sz="1400" b="1" dirty="0">
                <a:solidFill>
                  <a:schemeClr val="tx2"/>
                </a:solidFill>
              </a:rPr>
              <a:t>Technical support</a:t>
            </a:r>
            <a:endParaRPr lang="en-US" sz="1400" dirty="0"/>
          </a:p>
        </p:txBody>
      </p:sp>
      <p:sp>
        <p:nvSpPr>
          <p:cNvPr id="15" name="Text 10"/>
          <p:cNvSpPr txBox="1"/>
          <p:nvPr/>
        </p:nvSpPr>
        <p:spPr>
          <a:xfrm>
            <a:off x="4498848" y="2514600"/>
            <a:ext cx="3200400" cy="118872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tx1"/>
                </a:solidFill>
              </a:rPr>
              <a:t>Helpdesk hours: [INPUT]</a:t>
            </a:r>
            <a:endParaRPr lang="en-US" sz="1200" dirty="0"/>
          </a:p>
          <a:p>
            <a:pPr marL="152400" indent="-152400">
              <a:spcAft>
                <a:spcPts val="400"/>
              </a:spcAft>
              <a:buSzPct val="100000"/>
              <a:buChar char="•"/>
            </a:pPr>
            <a:r>
              <a:rPr lang="en-US" sz="1200" dirty="0">
                <a:solidFill>
                  <a:schemeClr val="tx1"/>
                </a:solidFill>
              </a:rPr>
              <a:t>Remote diagnostics via platform</a:t>
            </a:r>
            <a:endParaRPr lang="en-US" sz="1200" dirty="0"/>
          </a:p>
          <a:p>
            <a:pPr marL="152400" indent="-152400">
              <a:spcAft>
                <a:spcPts val="400"/>
              </a:spcAft>
              <a:buSzPct val="100000"/>
              <a:buChar char="•"/>
            </a:pPr>
            <a:r>
              <a:rPr lang="en-US" sz="1200" dirty="0">
                <a:solidFill>
                  <a:schemeClr val="tx1"/>
                </a:solidFill>
              </a:rPr>
              <a:t>Named account / service manager</a:t>
            </a:r>
            <a:endParaRPr lang="en-US" sz="1200" dirty="0"/>
          </a:p>
        </p:txBody>
      </p:sp>
      <p:sp>
        <p:nvSpPr>
          <p:cNvPr id="16" name="Card Training &amp; onboarding"/>
          <p:cNvSpPr/>
          <p:nvPr/>
        </p:nvSpPr>
        <p:spPr>
          <a:xfrm>
            <a:off x="8074152" y="1691640"/>
            <a:ext cx="3566160" cy="2148840"/>
          </a:xfrm>
          <a:prstGeom prst="rect">
            <a:avLst/>
          </a:prstGeom>
          <a:solidFill>
            <a:schemeClr val="bg2"/>
          </a:solidFill>
          <a:ln/>
        </p:spPr>
      </p:sp>
      <p:sp>
        <p:nvSpPr>
          <p:cNvPr id="17" name="Shape 12"/>
          <p:cNvSpPr/>
          <p:nvPr/>
        </p:nvSpPr>
        <p:spPr>
          <a:xfrm>
            <a:off x="8257032" y="1874520"/>
            <a:ext cx="475488" cy="475488"/>
          </a:xfrm>
          <a:prstGeom prst="ellipse">
            <a:avLst/>
          </a:prstGeom>
          <a:solidFill>
            <a:schemeClr val="tx2"/>
          </a:solidFill>
          <a:ln/>
        </p:spPr>
      </p:sp>
      <p:pic>
        <p:nvPicPr>
          <p:cNvPr id="18" name="Image 2" descr="preencoded.png">    </p:cNvPr>
          <p:cNvPicPr>
            <a:picLocks noChangeAspect="1"/>
          </p:cNvPicPr>
          <p:nvPr/>
        </p:nvPicPr>
        <p:blipFill>
          <a:blip r:embed="rId3"/>
          <a:stretch>
            <a:fillRect/>
          </a:stretch>
        </p:blipFill>
        <p:spPr>
          <a:xfrm>
            <a:off x="8375904" y="1993392"/>
            <a:ext cx="237744" cy="237744"/>
          </a:xfrm>
          <a:prstGeom prst="rect">
            <a:avLst/>
          </a:prstGeom>
        </p:spPr>
      </p:pic>
      <p:sp>
        <p:nvSpPr>
          <p:cNvPr id="19" name="Text 13"/>
          <p:cNvSpPr txBox="1"/>
          <p:nvPr/>
        </p:nvSpPr>
        <p:spPr>
          <a:xfrm>
            <a:off x="8851392" y="1874520"/>
            <a:ext cx="2606040" cy="475488"/>
          </a:xfrm>
          <a:prstGeom prst="rect">
            <a:avLst/>
          </a:prstGeom>
          <a:noFill/>
          <a:ln/>
        </p:spPr>
        <p:txBody>
          <a:bodyPr wrap="square" lIns="0" tIns="0" rIns="0" bIns="0" rtlCol="0" anchor="ctr"/>
          <a:lstStyle/>
          <a:p>
            <a:pPr indent="0" marL="0">
              <a:buNone/>
            </a:pPr>
            <a:r>
              <a:rPr lang="en-US" sz="1400" b="1" dirty="0">
                <a:solidFill>
                  <a:schemeClr val="tx2"/>
                </a:solidFill>
              </a:rPr>
              <a:t>Training &amp; onboarding</a:t>
            </a:r>
            <a:endParaRPr lang="en-US" sz="1400" dirty="0"/>
          </a:p>
        </p:txBody>
      </p:sp>
      <p:sp>
        <p:nvSpPr>
          <p:cNvPr id="20" name="Text 14"/>
          <p:cNvSpPr txBox="1"/>
          <p:nvPr/>
        </p:nvSpPr>
        <p:spPr>
          <a:xfrm>
            <a:off x="8257032" y="2514600"/>
            <a:ext cx="3200400" cy="118872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tx1"/>
                </a:solidFill>
              </a:rPr>
              <a:t>Nurse &amp; IT admin training</a:t>
            </a:r>
            <a:endParaRPr lang="en-US" sz="1200" dirty="0"/>
          </a:p>
          <a:p>
            <a:pPr marL="152400" indent="-152400">
              <a:spcAft>
                <a:spcPts val="400"/>
              </a:spcAft>
              <a:buSzPct val="100000"/>
              <a:buChar char="•"/>
            </a:pPr>
            <a:r>
              <a:rPr lang="en-US" sz="1200" dirty="0">
                <a:solidFill>
                  <a:schemeClr val="tx1"/>
                </a:solidFill>
              </a:rPr>
              <a:t>Quick-reference guides</a:t>
            </a:r>
            <a:endParaRPr lang="en-US" sz="1200" dirty="0"/>
          </a:p>
          <a:p>
            <a:pPr marL="152400" indent="-152400">
              <a:spcAft>
                <a:spcPts val="400"/>
              </a:spcAft>
              <a:buSzPct val="100000"/>
              <a:buChar char="•"/>
            </a:pPr>
            <a:r>
              <a:rPr lang="en-US" sz="1200" dirty="0">
                <a:solidFill>
                  <a:schemeClr val="tx1"/>
                </a:solidFill>
              </a:rPr>
              <a:t>On-site support during go-live</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4069080"/>
          <a:ext cx="11091672" cy="914400"/>
        </p:xfrm>
        <a:graphic>
          <a:graphicData uri="http://schemas.openxmlformats.org/drawingml/2006/table">
            <a:tbl>
              <a:tblPr/>
              <a:tblGrid>
                <a:gridCol w="2011680"/>
                <a:gridCol w="4023360"/>
                <a:gridCol w="2286000"/>
                <a:gridCol w="2770632"/>
              </a:tblGrid>
              <a:tr h="411480">
                <a:tc>
                  <a:txBody>
                    <a:bodyPr/>
                    <a:lstStyle/>
                    <a:p>
                      <a:pPr indent="0" marL="0">
                        <a:buNone/>
                      </a:pPr>
                      <a:r>
                        <a:rPr lang="en-US" sz="1100" b="1" dirty="0">
                          <a:solidFill>
                            <a:srgbClr val="FFFFFF"/>
                          </a:solidFill>
                        </a:rPr>
                        <a:t>Severity</a:t>
                      </a:r>
                      <a:endParaRPr lang="en-US" sz="11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100" b="1" dirty="0">
                          <a:solidFill>
                            <a:srgbClr val="FFFFFF"/>
                          </a:solidFill>
                        </a:rPr>
                        <a:t>Definition</a:t>
                      </a:r>
                      <a:endParaRPr lang="en-US" sz="11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100" b="1" dirty="0">
                          <a:solidFill>
                            <a:srgbClr val="FFFFFF"/>
                          </a:solidFill>
                        </a:rPr>
                        <a:t>Response</a:t>
                      </a:r>
                      <a:endParaRPr lang="en-US" sz="11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100" b="1" dirty="0">
                          <a:solidFill>
                            <a:srgbClr val="FFFFFF"/>
                          </a:solidFill>
                        </a:rPr>
                        <a:t>Resolution / workaround</a:t>
                      </a:r>
                      <a:endParaRPr lang="en-US" sz="11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r>
              <a:tr h="411480">
                <a:tc>
                  <a:txBody>
                    <a:bodyPr/>
                    <a:lstStyle/>
                    <a:p>
                      <a:pPr indent="0" marL="0">
                        <a:buNone/>
                      </a:pPr>
                      <a:r>
                        <a:rPr lang="en-US" sz="1100" b="1" dirty="0">
                          <a:solidFill>
                            <a:srgbClr val="1F2937"/>
                          </a:solidFill>
                        </a:rPr>
                        <a:t>P1 – Critical</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Ward-wide outage / no alerts</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i="1" dirty="0">
                          <a:solidFill>
                            <a:srgbClr val="7A4F00"/>
                          </a:solidFill>
                        </a:rPr>
                        <a:t>[INPUT]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100" i="1" dirty="0">
                          <a:solidFill>
                            <a:srgbClr val="7A4F00"/>
                          </a:solidFill>
                        </a:rPr>
                        <a:t>[INPUT]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r>
              <a:tr h="411480">
                <a:tc>
                  <a:txBody>
                    <a:bodyPr/>
                    <a:lstStyle/>
                    <a:p>
                      <a:pPr indent="0" marL="0">
                        <a:buNone/>
                      </a:pPr>
                      <a:r>
                        <a:rPr lang="en-US" sz="1100" b="1" dirty="0">
                          <a:solidFill>
                            <a:srgbClr val="1F2937"/>
                          </a:solidFill>
                        </a:rPr>
                        <a:t>P2 – Major</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Multiple beds affected</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i="1" dirty="0">
                          <a:solidFill>
                            <a:srgbClr val="7A4F00"/>
                          </a:solidFill>
                        </a:rPr>
                        <a:t>[INPUT]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100" i="1" dirty="0">
                          <a:solidFill>
                            <a:srgbClr val="7A4F00"/>
                          </a:solidFill>
                        </a:rPr>
                        <a:t>[INPUT]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r>
              <a:tr h="411480">
                <a:tc>
                  <a:txBody>
                    <a:bodyPr/>
                    <a:lstStyle/>
                    <a:p>
                      <a:pPr indent="0" marL="0">
                        <a:buNone/>
                      </a:pPr>
                      <a:r>
                        <a:rPr lang="en-US" sz="1100" b="1" dirty="0">
                          <a:solidFill>
                            <a:srgbClr val="1F2937"/>
                          </a:solidFill>
                        </a:rPr>
                        <a:t>P3 – Minor</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Single device / cosmetic</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i="1" dirty="0">
                          <a:solidFill>
                            <a:srgbClr val="7A4F00"/>
                          </a:solidFill>
                        </a:rPr>
                        <a:t>[INPUT]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100" i="1" dirty="0">
                          <a:solidFill>
                            <a:srgbClr val="7A4F00"/>
                          </a:solidFill>
                        </a:rPr>
                        <a:t>[INPUT]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3 · SMART DIAPER SYSTEM</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Beyond detection, the system supports staff productivity, patient dignity and consumable efficiency</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MONIT; benefit figures to be sourced from validated studies or pilot data.</a:t>
            </a:r>
            <a:endParaRPr lang="en-US" sz="900" dirty="0"/>
          </a:p>
        </p:txBody>
      </p:sp>
      <p:sp>
        <p:nvSpPr>
          <p:cNvPr id="6" name="Card Staff productivity"/>
          <p:cNvSpPr/>
          <p:nvPr/>
        </p:nvSpPr>
        <p:spPr>
          <a:xfrm>
            <a:off x="548640" y="1691640"/>
            <a:ext cx="5468112" cy="1965960"/>
          </a:xfrm>
          <a:prstGeom prst="rect">
            <a:avLst/>
          </a:prstGeom>
          <a:solidFill>
            <a:schemeClr val="bg2"/>
          </a:solidFill>
          <a:ln/>
        </p:spPr>
      </p:sp>
      <p:sp>
        <p:nvSpPr>
          <p:cNvPr id="7" name="Shape 4"/>
          <p:cNvSpPr/>
          <p:nvPr/>
        </p:nvSpPr>
        <p:spPr>
          <a:xfrm>
            <a:off x="731520" y="1874520"/>
            <a:ext cx="475488" cy="475488"/>
          </a:xfrm>
          <a:prstGeom prst="ellipse">
            <a:avLst/>
          </a:prstGeom>
          <a:solidFill>
            <a:schemeClr val="tx2"/>
          </a:solidFill>
          <a:ln/>
        </p:spPr>
      </p:sp>
      <p:pic>
        <p:nvPicPr>
          <p:cNvPr id="8" name="Image 0" descr="preencoded.png">    </p:cNvPr>
          <p:cNvPicPr>
            <a:picLocks noChangeAspect="1"/>
          </p:cNvPicPr>
          <p:nvPr/>
        </p:nvPicPr>
        <p:blipFill>
          <a:blip r:embed="rId1"/>
          <a:stretch>
            <a:fillRect/>
          </a:stretch>
        </p:blipFill>
        <p:spPr>
          <a:xfrm>
            <a:off x="850392" y="1993392"/>
            <a:ext cx="237744" cy="237744"/>
          </a:xfrm>
          <a:prstGeom prst="rect">
            <a:avLst/>
          </a:prstGeom>
        </p:spPr>
      </p:pic>
      <p:sp>
        <p:nvSpPr>
          <p:cNvPr id="9" name="Text 5"/>
          <p:cNvSpPr txBox="1"/>
          <p:nvPr/>
        </p:nvSpPr>
        <p:spPr>
          <a:xfrm>
            <a:off x="1325880" y="1874520"/>
            <a:ext cx="4507992" cy="475488"/>
          </a:xfrm>
          <a:prstGeom prst="rect">
            <a:avLst/>
          </a:prstGeom>
          <a:noFill/>
          <a:ln/>
        </p:spPr>
        <p:txBody>
          <a:bodyPr wrap="square" lIns="0" tIns="0" rIns="0" bIns="0" rtlCol="0" anchor="ctr"/>
          <a:lstStyle/>
          <a:p>
            <a:pPr indent="0" marL="0">
              <a:buNone/>
            </a:pPr>
            <a:r>
              <a:rPr lang="en-US" sz="1400" b="1" dirty="0">
                <a:solidFill>
                  <a:schemeClr val="tx2"/>
                </a:solidFill>
              </a:rPr>
              <a:t>Staff productivity</a:t>
            </a:r>
            <a:endParaRPr lang="en-US" sz="1400" dirty="0"/>
          </a:p>
        </p:txBody>
      </p:sp>
      <p:sp>
        <p:nvSpPr>
          <p:cNvPr id="10" name="Text 6"/>
          <p:cNvSpPr txBox="1"/>
          <p:nvPr/>
        </p:nvSpPr>
        <p:spPr>
          <a:xfrm>
            <a:off x="731520" y="2514600"/>
            <a:ext cx="5102352" cy="100584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chemeClr val="tx1"/>
                </a:solidFill>
              </a:rPr>
              <a:t>Targeted rounds replace routine checks</a:t>
            </a:r>
            <a:endParaRPr lang="en-US" sz="1300" dirty="0"/>
          </a:p>
          <a:p>
            <a:pPr marL="152400" indent="-152400">
              <a:spcAft>
                <a:spcPts val="400"/>
              </a:spcAft>
              <a:buSzPct val="100000"/>
              <a:buChar char="•"/>
            </a:pPr>
            <a:r>
              <a:rPr lang="en-US" sz="1300" dirty="0">
                <a:solidFill>
                  <a:schemeClr val="tx1"/>
                </a:solidFill>
              </a:rPr>
              <a:t>[INPUT REQUIRED] quantified evidence</a:t>
            </a:r>
            <a:endParaRPr lang="en-US" sz="1300" dirty="0"/>
          </a:p>
        </p:txBody>
      </p:sp>
      <p:sp>
        <p:nvSpPr>
          <p:cNvPr id="11" name="Card Patient outcomes"/>
          <p:cNvSpPr/>
          <p:nvPr/>
        </p:nvSpPr>
        <p:spPr>
          <a:xfrm>
            <a:off x="6172200" y="1691640"/>
            <a:ext cx="5468112" cy="1965960"/>
          </a:xfrm>
          <a:prstGeom prst="rect">
            <a:avLst/>
          </a:prstGeom>
          <a:solidFill>
            <a:schemeClr val="bg2"/>
          </a:solidFill>
          <a:ln/>
        </p:spPr>
      </p:sp>
      <p:sp>
        <p:nvSpPr>
          <p:cNvPr id="12" name="Shape 8"/>
          <p:cNvSpPr/>
          <p:nvPr/>
        </p:nvSpPr>
        <p:spPr>
          <a:xfrm>
            <a:off x="6355080" y="1874520"/>
            <a:ext cx="475488" cy="475488"/>
          </a:xfrm>
          <a:prstGeom prst="ellipse">
            <a:avLst/>
          </a:prstGeom>
          <a:solidFill>
            <a:schemeClr val="tx2"/>
          </a:solidFill>
          <a:ln/>
        </p:spPr>
      </p:sp>
      <p:pic>
        <p:nvPicPr>
          <p:cNvPr id="13" name="Image 1" descr="preencoded.png">    </p:cNvPr>
          <p:cNvPicPr>
            <a:picLocks noChangeAspect="1"/>
          </p:cNvPicPr>
          <p:nvPr/>
        </p:nvPicPr>
        <p:blipFill>
          <a:blip r:embed="rId2"/>
          <a:stretch>
            <a:fillRect/>
          </a:stretch>
        </p:blipFill>
        <p:spPr>
          <a:xfrm>
            <a:off x="6473952" y="1993392"/>
            <a:ext cx="237744" cy="237744"/>
          </a:xfrm>
          <a:prstGeom prst="rect">
            <a:avLst/>
          </a:prstGeom>
        </p:spPr>
      </p:pic>
      <p:sp>
        <p:nvSpPr>
          <p:cNvPr id="14" name="Text 9"/>
          <p:cNvSpPr txBox="1"/>
          <p:nvPr/>
        </p:nvSpPr>
        <p:spPr>
          <a:xfrm>
            <a:off x="6949440" y="1874520"/>
            <a:ext cx="4507992" cy="475488"/>
          </a:xfrm>
          <a:prstGeom prst="rect">
            <a:avLst/>
          </a:prstGeom>
          <a:noFill/>
          <a:ln/>
        </p:spPr>
        <p:txBody>
          <a:bodyPr wrap="square" lIns="0" tIns="0" rIns="0" bIns="0" rtlCol="0" anchor="ctr"/>
          <a:lstStyle/>
          <a:p>
            <a:pPr indent="0" marL="0">
              <a:buNone/>
            </a:pPr>
            <a:r>
              <a:rPr lang="en-US" sz="1400" b="1" dirty="0">
                <a:solidFill>
                  <a:schemeClr val="tx2"/>
                </a:solidFill>
              </a:rPr>
              <a:t>Patient outcomes</a:t>
            </a:r>
            <a:endParaRPr lang="en-US" sz="1400" dirty="0"/>
          </a:p>
        </p:txBody>
      </p:sp>
      <p:sp>
        <p:nvSpPr>
          <p:cNvPr id="15" name="Text 10"/>
          <p:cNvSpPr txBox="1"/>
          <p:nvPr/>
        </p:nvSpPr>
        <p:spPr>
          <a:xfrm>
            <a:off x="6355080" y="2514600"/>
            <a:ext cx="5102352" cy="100584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chemeClr val="tx1"/>
                </a:solidFill>
              </a:rPr>
              <a:t>Fewer prolonged-wetness events; supports skin integrity</a:t>
            </a:r>
            <a:endParaRPr lang="en-US" sz="1300" dirty="0"/>
          </a:p>
          <a:p>
            <a:pPr marL="152400" indent="-152400">
              <a:spcAft>
                <a:spcPts val="400"/>
              </a:spcAft>
              <a:buSzPct val="100000"/>
              <a:buChar char="•"/>
            </a:pPr>
            <a:r>
              <a:rPr lang="en-US" sz="1300" dirty="0">
                <a:solidFill>
                  <a:schemeClr val="tx1"/>
                </a:solidFill>
              </a:rPr>
              <a:t>[INPUT REQUIRED] quantified evidence</a:t>
            </a:r>
            <a:endParaRPr lang="en-US" sz="1300" dirty="0"/>
          </a:p>
        </p:txBody>
      </p:sp>
      <p:sp>
        <p:nvSpPr>
          <p:cNvPr id="16" name="Card Consumables"/>
          <p:cNvSpPr/>
          <p:nvPr/>
        </p:nvSpPr>
        <p:spPr>
          <a:xfrm>
            <a:off x="548640" y="3840480"/>
            <a:ext cx="5468112" cy="1965960"/>
          </a:xfrm>
          <a:prstGeom prst="rect">
            <a:avLst/>
          </a:prstGeom>
          <a:solidFill>
            <a:schemeClr val="bg2"/>
          </a:solidFill>
          <a:ln/>
        </p:spPr>
      </p:sp>
      <p:sp>
        <p:nvSpPr>
          <p:cNvPr id="17" name="Shape 12"/>
          <p:cNvSpPr/>
          <p:nvPr/>
        </p:nvSpPr>
        <p:spPr>
          <a:xfrm>
            <a:off x="731520" y="4023360"/>
            <a:ext cx="475488" cy="475488"/>
          </a:xfrm>
          <a:prstGeom prst="ellipse">
            <a:avLst/>
          </a:prstGeom>
          <a:solidFill>
            <a:schemeClr val="tx2"/>
          </a:solidFill>
          <a:ln/>
        </p:spPr>
      </p:sp>
      <p:pic>
        <p:nvPicPr>
          <p:cNvPr id="18" name="Image 2" descr="preencoded.png">    </p:cNvPr>
          <p:cNvPicPr>
            <a:picLocks noChangeAspect="1"/>
          </p:cNvPicPr>
          <p:nvPr/>
        </p:nvPicPr>
        <p:blipFill>
          <a:blip r:embed="rId3"/>
          <a:stretch>
            <a:fillRect/>
          </a:stretch>
        </p:blipFill>
        <p:spPr>
          <a:xfrm>
            <a:off x="850392" y="4142232"/>
            <a:ext cx="237744" cy="237744"/>
          </a:xfrm>
          <a:prstGeom prst="rect">
            <a:avLst/>
          </a:prstGeom>
        </p:spPr>
      </p:pic>
      <p:sp>
        <p:nvSpPr>
          <p:cNvPr id="19" name="Text 13"/>
          <p:cNvSpPr txBox="1"/>
          <p:nvPr/>
        </p:nvSpPr>
        <p:spPr>
          <a:xfrm>
            <a:off x="1325880" y="4023360"/>
            <a:ext cx="4507992" cy="475488"/>
          </a:xfrm>
          <a:prstGeom prst="rect">
            <a:avLst/>
          </a:prstGeom>
          <a:noFill/>
          <a:ln/>
        </p:spPr>
        <p:txBody>
          <a:bodyPr wrap="square" lIns="0" tIns="0" rIns="0" bIns="0" rtlCol="0" anchor="ctr"/>
          <a:lstStyle/>
          <a:p>
            <a:pPr indent="0" marL="0">
              <a:buNone/>
            </a:pPr>
            <a:r>
              <a:rPr lang="en-US" sz="1400" b="1" dirty="0">
                <a:solidFill>
                  <a:schemeClr val="tx2"/>
                </a:solidFill>
              </a:rPr>
              <a:t>Consumables</a:t>
            </a:r>
            <a:endParaRPr lang="en-US" sz="1400" dirty="0"/>
          </a:p>
        </p:txBody>
      </p:sp>
      <p:sp>
        <p:nvSpPr>
          <p:cNvPr id="20" name="Text 14"/>
          <p:cNvSpPr txBox="1"/>
          <p:nvPr/>
        </p:nvSpPr>
        <p:spPr>
          <a:xfrm>
            <a:off x="731520" y="4663440"/>
            <a:ext cx="5102352" cy="100584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chemeClr val="tx1"/>
                </a:solidFill>
              </a:rPr>
              <a:t>Change at the right time; reduced waste</a:t>
            </a:r>
            <a:endParaRPr lang="en-US" sz="1300" dirty="0"/>
          </a:p>
          <a:p>
            <a:pPr marL="152400" indent="-152400">
              <a:spcAft>
                <a:spcPts val="400"/>
              </a:spcAft>
              <a:buSzPct val="100000"/>
              <a:buChar char="•"/>
            </a:pPr>
            <a:r>
              <a:rPr lang="en-US" sz="1300" dirty="0">
                <a:solidFill>
                  <a:schemeClr val="tx1"/>
                </a:solidFill>
              </a:rPr>
              <a:t>[INPUT REQUIRED] quantified evidence</a:t>
            </a:r>
            <a:endParaRPr lang="en-US" sz="1300" dirty="0"/>
          </a:p>
        </p:txBody>
      </p:sp>
      <p:sp>
        <p:nvSpPr>
          <p:cNvPr id="21" name="Card Integration &amp; roadmap"/>
          <p:cNvSpPr/>
          <p:nvPr/>
        </p:nvSpPr>
        <p:spPr>
          <a:xfrm>
            <a:off x="6172200" y="3840480"/>
            <a:ext cx="5468112" cy="1965960"/>
          </a:xfrm>
          <a:prstGeom prst="rect">
            <a:avLst/>
          </a:prstGeom>
          <a:solidFill>
            <a:schemeClr val="bg2"/>
          </a:solidFill>
          <a:ln/>
        </p:spPr>
      </p:sp>
      <p:sp>
        <p:nvSpPr>
          <p:cNvPr id="22" name="Shape 16"/>
          <p:cNvSpPr/>
          <p:nvPr/>
        </p:nvSpPr>
        <p:spPr>
          <a:xfrm>
            <a:off x="6355080" y="4023360"/>
            <a:ext cx="475488" cy="475488"/>
          </a:xfrm>
          <a:prstGeom prst="ellipse">
            <a:avLst/>
          </a:prstGeom>
          <a:solidFill>
            <a:schemeClr val="tx2"/>
          </a:solidFill>
          <a:ln/>
        </p:spPr>
      </p:sp>
      <p:pic>
        <p:nvPicPr>
          <p:cNvPr id="23" name="Image 3" descr="preencoded.png">    </p:cNvPr>
          <p:cNvPicPr>
            <a:picLocks noChangeAspect="1"/>
          </p:cNvPicPr>
          <p:nvPr/>
        </p:nvPicPr>
        <p:blipFill>
          <a:blip r:embed="rId4"/>
          <a:stretch>
            <a:fillRect/>
          </a:stretch>
        </p:blipFill>
        <p:spPr>
          <a:xfrm>
            <a:off x="6473952" y="4142232"/>
            <a:ext cx="237744" cy="237744"/>
          </a:xfrm>
          <a:prstGeom prst="rect">
            <a:avLst/>
          </a:prstGeom>
        </p:spPr>
      </p:pic>
      <p:sp>
        <p:nvSpPr>
          <p:cNvPr id="24" name="Text 17"/>
          <p:cNvSpPr txBox="1"/>
          <p:nvPr/>
        </p:nvSpPr>
        <p:spPr>
          <a:xfrm>
            <a:off x="6949440" y="4023360"/>
            <a:ext cx="4507992" cy="475488"/>
          </a:xfrm>
          <a:prstGeom prst="rect">
            <a:avLst/>
          </a:prstGeom>
          <a:noFill/>
          <a:ln/>
        </p:spPr>
        <p:txBody>
          <a:bodyPr wrap="square" lIns="0" tIns="0" rIns="0" bIns="0" rtlCol="0" anchor="ctr"/>
          <a:lstStyle/>
          <a:p>
            <a:pPr indent="0" marL="0">
              <a:buNone/>
            </a:pPr>
            <a:r>
              <a:rPr lang="en-US" sz="1400" b="1" dirty="0">
                <a:solidFill>
                  <a:schemeClr val="tx2"/>
                </a:solidFill>
              </a:rPr>
              <a:t>Integration &amp; roadmap</a:t>
            </a:r>
            <a:endParaRPr lang="en-US" sz="1400" dirty="0"/>
          </a:p>
        </p:txBody>
      </p:sp>
      <p:sp>
        <p:nvSpPr>
          <p:cNvPr id="25" name="Text 18"/>
          <p:cNvSpPr txBox="1"/>
          <p:nvPr/>
        </p:nvSpPr>
        <p:spPr>
          <a:xfrm>
            <a:off x="6355080" y="4663440"/>
            <a:ext cx="5102352" cy="100584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chemeClr val="tx1"/>
                </a:solidFill>
              </a:rPr>
              <a:t>APIs, nurse-call / EMR options, future analytics</a:t>
            </a:r>
            <a:endParaRPr lang="en-US" sz="1300" dirty="0"/>
          </a:p>
          <a:p>
            <a:pPr marL="152400" indent="-152400">
              <a:spcAft>
                <a:spcPts val="400"/>
              </a:spcAft>
              <a:buSzPct val="100000"/>
              <a:buChar char="•"/>
            </a:pPr>
            <a:r>
              <a:rPr lang="en-US" sz="1300" dirty="0">
                <a:solidFill>
                  <a:schemeClr val="tx1"/>
                </a:solidFill>
              </a:rPr>
              <a:t>[INPUT REQUIRED] quantified evidence</a:t>
            </a:r>
            <a:endParaRPr lang="en-US" sz="13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4 · UNDERSTANDING OF THE PROJECT</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We understand ALPS needs one integrated, hospital-network-friendly system deployed consistently across three hospitals</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RFP Consent Form; Section 1 – Conditions of RFP (clauses 7, 20); Section 2 – Master Agreement; MONIT analysis.</a:t>
            </a:r>
            <a:endParaRPr lang="en-US" sz="900" dirty="0"/>
          </a:p>
        </p:txBody>
      </p:sp>
      <p:sp>
        <p:nvSpPr>
          <p:cNvPr id="6" name="Text 3"/>
          <p:cNvSpPr txBox="1"/>
          <p:nvPr/>
        </p:nvSpPr>
        <p:spPr>
          <a:xfrm>
            <a:off x="548640" y="1691640"/>
            <a:ext cx="5303520" cy="320040"/>
          </a:xfrm>
          <a:prstGeom prst="rect">
            <a:avLst/>
          </a:prstGeom>
          <a:noFill/>
          <a:ln/>
        </p:spPr>
        <p:txBody>
          <a:bodyPr wrap="square" lIns="0" tIns="0" rIns="0" bIns="0" rtlCol="0" anchor="t"/>
          <a:lstStyle/>
          <a:p>
            <a:pPr indent="0" marL="0">
              <a:buNone/>
            </a:pPr>
            <a:r>
              <a:rPr lang="en-US" sz="1600" b="1" dirty="0">
                <a:solidFill>
                  <a:schemeClr val="tx2"/>
                </a:solidFill>
              </a:rPr>
              <a:t>What the RFP asks for</a:t>
            </a:r>
            <a:endParaRPr lang="en-US" sz="1600" dirty="0"/>
          </a:p>
        </p:txBody>
      </p:sp>
      <p:sp>
        <p:nvSpPr>
          <p:cNvPr id="7" name="Text 4"/>
          <p:cNvSpPr txBox="1"/>
          <p:nvPr/>
        </p:nvSpPr>
        <p:spPr>
          <a:xfrm>
            <a:off x="548640" y="2103120"/>
            <a:ext cx="5303520" cy="3840480"/>
          </a:xfrm>
          <a:prstGeom prst="rect">
            <a:avLst/>
          </a:prstGeom>
          <a:noFill/>
          <a:ln/>
        </p:spPr>
        <p:txBody>
          <a:bodyPr wrap="square" lIns="0" tIns="0" rIns="0" bIns="0" rtlCol="0" anchor="t"/>
          <a:lstStyle/>
          <a:p>
            <a:pPr marL="152400" indent="-152400">
              <a:spcAft>
                <a:spcPts val="500"/>
              </a:spcAft>
              <a:buSzPct val="100000"/>
              <a:buChar char="•"/>
            </a:pPr>
            <a:r>
              <a:rPr lang="en-US" sz="1300" dirty="0">
                <a:solidFill>
                  <a:schemeClr val="tx1"/>
                </a:solidFill>
              </a:rPr>
              <a:t>Supply and delivery of an AI-enabled smart diaper care system</a:t>
            </a:r>
            <a:endParaRPr lang="en-US" sz="1300" dirty="0"/>
          </a:p>
          <a:p>
            <a:pPr marL="152400" indent="-152400">
              <a:spcAft>
                <a:spcPts val="500"/>
              </a:spcAft>
              <a:buSzPct val="100000"/>
              <a:buChar char="•"/>
            </a:pPr>
            <a:r>
              <a:rPr lang="en-US" sz="1300" dirty="0">
                <a:solidFill>
                  <a:schemeClr val="tx1"/>
                </a:solidFill>
              </a:rPr>
              <a:t>Fully integrated system with safe, efficient operation on site</a:t>
            </a:r>
            <a:endParaRPr lang="en-US" sz="1300" dirty="0"/>
          </a:p>
          <a:p>
            <a:pPr marL="152400" indent="-152400">
              <a:spcAft>
                <a:spcPts val="500"/>
              </a:spcAft>
              <a:buSzPct val="100000"/>
              <a:buChar char="•"/>
            </a:pPr>
            <a:r>
              <a:rPr lang="en-US" sz="1300" dirty="0">
                <a:solidFill>
                  <a:schemeClr val="tx1"/>
                </a:solidFill>
              </a:rPr>
              <a:t>Three sites: KTPH, Woodlands Health, TTSH</a:t>
            </a:r>
            <a:endParaRPr lang="en-US" sz="1300" dirty="0"/>
          </a:p>
          <a:p>
            <a:pPr marL="152400" indent="-152400">
              <a:spcAft>
                <a:spcPts val="500"/>
              </a:spcAft>
              <a:buSzPct val="100000"/>
              <a:buChar char="•"/>
            </a:pPr>
            <a:r>
              <a:rPr lang="en-US" sz="1300" dirty="0">
                <a:solidFill>
                  <a:schemeClr val="tx1"/>
                </a:solidFill>
              </a:rPr>
              <a:t>Connectivity through each hospital's Wi-Fi (credentials held by hospital)</a:t>
            </a:r>
            <a:endParaRPr lang="en-US" sz="1300" dirty="0"/>
          </a:p>
          <a:p>
            <a:pPr marL="152400" indent="-152400">
              <a:spcAft>
                <a:spcPts val="500"/>
              </a:spcAft>
              <a:buSzPct val="100000"/>
              <a:buChar char="•"/>
            </a:pPr>
            <a:r>
              <a:rPr lang="en-US" sz="1300" dirty="0">
                <a:solidFill>
                  <a:schemeClr val="tx1"/>
                </a:solidFill>
              </a:rPr>
              <a:t>Relay quantity per ward (mandatory response)</a:t>
            </a:r>
            <a:endParaRPr lang="en-US" sz="1300" dirty="0"/>
          </a:p>
          <a:p>
            <a:pPr marL="152400" indent="-152400">
              <a:spcAft>
                <a:spcPts val="500"/>
              </a:spcAft>
              <a:buSzPct val="100000"/>
              <a:buChar char="•"/>
            </a:pPr>
            <a:r>
              <a:rPr lang="en-US" sz="1300" dirty="0">
                <a:solidFill>
                  <a:schemeClr val="tx1"/>
                </a:solidFill>
              </a:rPr>
              <a:t>Firm prices valid 180 days; framework Master Agreement with POs; security deposit and insurance</a:t>
            </a:r>
            <a:endParaRPr lang="en-US" sz="1300" dirty="0"/>
          </a:p>
        </p:txBody>
      </p:sp>
      <p:sp>
        <p:nvSpPr>
          <p:cNvPr id="8" name="Text 5"/>
          <p:cNvSpPr txBox="1"/>
          <p:nvPr/>
        </p:nvSpPr>
        <p:spPr>
          <a:xfrm>
            <a:off x="6309360" y="1691640"/>
            <a:ext cx="5303520" cy="320040"/>
          </a:xfrm>
          <a:prstGeom prst="rect">
            <a:avLst/>
          </a:prstGeom>
          <a:noFill/>
          <a:ln/>
        </p:spPr>
        <p:txBody>
          <a:bodyPr wrap="square" lIns="0" tIns="0" rIns="0" bIns="0" rtlCol="0" anchor="t"/>
          <a:lstStyle/>
          <a:p>
            <a:pPr indent="0" marL="0">
              <a:buNone/>
            </a:pPr>
            <a:r>
              <a:rPr lang="en-US" sz="1600" b="1" dirty="0">
                <a:solidFill>
                  <a:schemeClr val="tx2"/>
                </a:solidFill>
              </a:rPr>
              <a:t>What ALPS will look for</a:t>
            </a:r>
            <a:endParaRPr lang="en-US" sz="1600" dirty="0"/>
          </a:p>
        </p:txBody>
      </p:sp>
      <p:sp>
        <p:nvSpPr>
          <p:cNvPr id="9" name="Shape 6"/>
          <p:cNvSpPr/>
          <p:nvPr/>
        </p:nvSpPr>
        <p:spPr>
          <a:xfrm>
            <a:off x="6309360" y="2103120"/>
            <a:ext cx="5330952" cy="822960"/>
          </a:xfrm>
          <a:prstGeom prst="rect">
            <a:avLst/>
          </a:prstGeom>
          <a:solidFill>
            <a:schemeClr val="bg2"/>
          </a:solidFill>
          <a:ln/>
        </p:spPr>
      </p:sp>
      <p:sp>
        <p:nvSpPr>
          <p:cNvPr id="10" name="Shape 7"/>
          <p:cNvSpPr/>
          <p:nvPr/>
        </p:nvSpPr>
        <p:spPr>
          <a:xfrm>
            <a:off x="6446520" y="2258568"/>
            <a:ext cx="512064" cy="512064"/>
          </a:xfrm>
          <a:prstGeom prst="ellipse">
            <a:avLst/>
          </a:prstGeom>
          <a:solidFill>
            <a:schemeClr val="tx2"/>
          </a:solidFill>
          <a:ln/>
        </p:spPr>
      </p:sp>
      <p:pic>
        <p:nvPicPr>
          <p:cNvPr id="11" name="Image 0" descr="preencoded.png">    </p:cNvPr>
          <p:cNvPicPr>
            <a:picLocks noChangeAspect="1"/>
          </p:cNvPicPr>
          <p:nvPr/>
        </p:nvPicPr>
        <p:blipFill>
          <a:blip r:embed="rId1"/>
          <a:stretch>
            <a:fillRect/>
          </a:stretch>
        </p:blipFill>
        <p:spPr>
          <a:xfrm>
            <a:off x="6574536" y="2386584"/>
            <a:ext cx="256032" cy="256032"/>
          </a:xfrm>
          <a:prstGeom prst="rect">
            <a:avLst/>
          </a:prstGeom>
        </p:spPr>
      </p:pic>
      <p:sp>
        <p:nvSpPr>
          <p:cNvPr id="12" name="Text 8"/>
          <p:cNvSpPr txBox="1"/>
          <p:nvPr/>
        </p:nvSpPr>
        <p:spPr>
          <a:xfrm>
            <a:off x="7132320" y="2176272"/>
            <a:ext cx="4389120" cy="274320"/>
          </a:xfrm>
          <a:prstGeom prst="rect">
            <a:avLst/>
          </a:prstGeom>
          <a:noFill/>
          <a:ln/>
        </p:spPr>
        <p:txBody>
          <a:bodyPr wrap="square" lIns="0" tIns="0" rIns="0" bIns="0" rtlCol="0" anchor="t"/>
          <a:lstStyle/>
          <a:p>
            <a:pPr indent="0" marL="0">
              <a:buNone/>
            </a:pPr>
            <a:r>
              <a:rPr lang="en-US" sz="1300" b="1" dirty="0">
                <a:solidFill>
                  <a:schemeClr val="tx2"/>
                </a:solidFill>
              </a:rPr>
              <a:t>Compliance</a:t>
            </a:r>
            <a:endParaRPr lang="en-US" sz="1300" dirty="0"/>
          </a:p>
        </p:txBody>
      </p:sp>
      <p:sp>
        <p:nvSpPr>
          <p:cNvPr id="13" name="Text 9"/>
          <p:cNvSpPr txBox="1"/>
          <p:nvPr/>
        </p:nvSpPr>
        <p:spPr>
          <a:xfrm>
            <a:off x="7132320" y="2468880"/>
            <a:ext cx="4389120" cy="411480"/>
          </a:xfrm>
          <a:prstGeom prst="rect">
            <a:avLst/>
          </a:prstGeom>
          <a:noFill/>
          <a:ln/>
        </p:spPr>
        <p:txBody>
          <a:bodyPr wrap="square" lIns="0" tIns="0" rIns="0" bIns="0" rtlCol="0" anchor="t"/>
          <a:lstStyle/>
          <a:p>
            <a:pPr indent="0" marL="0">
              <a:buNone/>
            </a:pPr>
            <a:r>
              <a:rPr lang="en-US" sz="1150" dirty="0">
                <a:solidFill>
                  <a:schemeClr val="tx1"/>
                </a:solidFill>
              </a:rPr>
              <a:t>Certifications, HSA, IMDA, IT security &amp; PDPA</a:t>
            </a:r>
            <a:endParaRPr lang="en-US" sz="1150" dirty="0"/>
          </a:p>
        </p:txBody>
      </p:sp>
      <p:sp>
        <p:nvSpPr>
          <p:cNvPr id="14" name="Shape 10"/>
          <p:cNvSpPr/>
          <p:nvPr/>
        </p:nvSpPr>
        <p:spPr>
          <a:xfrm>
            <a:off x="6309360" y="3063240"/>
            <a:ext cx="5330952" cy="822960"/>
          </a:xfrm>
          <a:prstGeom prst="rect">
            <a:avLst/>
          </a:prstGeom>
          <a:solidFill>
            <a:schemeClr val="bg2"/>
          </a:solidFill>
          <a:ln/>
        </p:spPr>
      </p:sp>
      <p:sp>
        <p:nvSpPr>
          <p:cNvPr id="15" name="Shape 11"/>
          <p:cNvSpPr/>
          <p:nvPr/>
        </p:nvSpPr>
        <p:spPr>
          <a:xfrm>
            <a:off x="6446520" y="3218688"/>
            <a:ext cx="512064" cy="512064"/>
          </a:xfrm>
          <a:prstGeom prst="ellipse">
            <a:avLst/>
          </a:prstGeom>
          <a:solidFill>
            <a:schemeClr val="accent1"/>
          </a:solidFill>
          <a:ln/>
        </p:spPr>
      </p:sp>
      <p:pic>
        <p:nvPicPr>
          <p:cNvPr id="16" name="Image 1" descr="preencoded.png">    </p:cNvPr>
          <p:cNvPicPr>
            <a:picLocks noChangeAspect="1"/>
          </p:cNvPicPr>
          <p:nvPr/>
        </p:nvPicPr>
        <p:blipFill>
          <a:blip r:embed="rId2"/>
          <a:stretch>
            <a:fillRect/>
          </a:stretch>
        </p:blipFill>
        <p:spPr>
          <a:xfrm>
            <a:off x="6574536" y="3346704"/>
            <a:ext cx="256032" cy="256032"/>
          </a:xfrm>
          <a:prstGeom prst="rect">
            <a:avLst/>
          </a:prstGeom>
        </p:spPr>
      </p:pic>
      <p:sp>
        <p:nvSpPr>
          <p:cNvPr id="17" name="Text 12"/>
          <p:cNvSpPr txBox="1"/>
          <p:nvPr/>
        </p:nvSpPr>
        <p:spPr>
          <a:xfrm>
            <a:off x="7132320" y="3136392"/>
            <a:ext cx="4389120" cy="274320"/>
          </a:xfrm>
          <a:prstGeom prst="rect">
            <a:avLst/>
          </a:prstGeom>
          <a:noFill/>
          <a:ln/>
        </p:spPr>
        <p:txBody>
          <a:bodyPr wrap="square" lIns="0" tIns="0" rIns="0" bIns="0" rtlCol="0" anchor="t"/>
          <a:lstStyle/>
          <a:p>
            <a:pPr indent="0" marL="0">
              <a:buNone/>
            </a:pPr>
            <a:r>
              <a:rPr lang="en-US" sz="1300" b="1" dirty="0">
                <a:solidFill>
                  <a:schemeClr val="tx2"/>
                </a:solidFill>
              </a:rPr>
              <a:t>IT readiness</a:t>
            </a:r>
            <a:endParaRPr lang="en-US" sz="1300" dirty="0"/>
          </a:p>
        </p:txBody>
      </p:sp>
      <p:sp>
        <p:nvSpPr>
          <p:cNvPr id="18" name="Text 13"/>
          <p:cNvSpPr txBox="1"/>
          <p:nvPr/>
        </p:nvSpPr>
        <p:spPr>
          <a:xfrm>
            <a:off x="7132320" y="3429000"/>
            <a:ext cx="4389120" cy="411480"/>
          </a:xfrm>
          <a:prstGeom prst="rect">
            <a:avLst/>
          </a:prstGeom>
          <a:noFill/>
          <a:ln/>
        </p:spPr>
        <p:txBody>
          <a:bodyPr wrap="square" lIns="0" tIns="0" rIns="0" bIns="0" rtlCol="0" anchor="t"/>
          <a:lstStyle/>
          <a:p>
            <a:pPr indent="0" marL="0">
              <a:buNone/>
            </a:pPr>
            <a:r>
              <a:rPr lang="en-US" sz="1150" dirty="0">
                <a:solidFill>
                  <a:schemeClr val="tx1"/>
                </a:solidFill>
              </a:rPr>
              <a:t>Zero re-keying of Wi-Fi passwords; minimal IT effort</a:t>
            </a:r>
            <a:endParaRPr lang="en-US" sz="1150" dirty="0"/>
          </a:p>
        </p:txBody>
      </p:sp>
      <p:sp>
        <p:nvSpPr>
          <p:cNvPr id="19" name="Shape 14"/>
          <p:cNvSpPr/>
          <p:nvPr/>
        </p:nvSpPr>
        <p:spPr>
          <a:xfrm>
            <a:off x="6309360" y="4023360"/>
            <a:ext cx="5330952" cy="822960"/>
          </a:xfrm>
          <a:prstGeom prst="rect">
            <a:avLst/>
          </a:prstGeom>
          <a:solidFill>
            <a:schemeClr val="bg2"/>
          </a:solidFill>
          <a:ln/>
        </p:spPr>
      </p:sp>
      <p:sp>
        <p:nvSpPr>
          <p:cNvPr id="20" name="Shape 15"/>
          <p:cNvSpPr/>
          <p:nvPr/>
        </p:nvSpPr>
        <p:spPr>
          <a:xfrm>
            <a:off x="6446520" y="4178808"/>
            <a:ext cx="512064" cy="512064"/>
          </a:xfrm>
          <a:prstGeom prst="ellipse">
            <a:avLst/>
          </a:prstGeom>
          <a:solidFill>
            <a:schemeClr val="tx2"/>
          </a:solidFill>
          <a:ln/>
        </p:spPr>
      </p:sp>
      <p:pic>
        <p:nvPicPr>
          <p:cNvPr id="21" name="Image 2" descr="preencoded.png">    </p:cNvPr>
          <p:cNvPicPr>
            <a:picLocks noChangeAspect="1"/>
          </p:cNvPicPr>
          <p:nvPr/>
        </p:nvPicPr>
        <p:blipFill>
          <a:blip r:embed="rId3"/>
          <a:stretch>
            <a:fillRect/>
          </a:stretch>
        </p:blipFill>
        <p:spPr>
          <a:xfrm>
            <a:off x="6574536" y="4306824"/>
            <a:ext cx="256032" cy="256032"/>
          </a:xfrm>
          <a:prstGeom prst="rect">
            <a:avLst/>
          </a:prstGeom>
        </p:spPr>
      </p:pic>
      <p:sp>
        <p:nvSpPr>
          <p:cNvPr id="22" name="Text 16"/>
          <p:cNvSpPr txBox="1"/>
          <p:nvPr/>
        </p:nvSpPr>
        <p:spPr>
          <a:xfrm>
            <a:off x="7132320" y="4096512"/>
            <a:ext cx="4389120" cy="274320"/>
          </a:xfrm>
          <a:prstGeom prst="rect">
            <a:avLst/>
          </a:prstGeom>
          <a:noFill/>
          <a:ln/>
        </p:spPr>
        <p:txBody>
          <a:bodyPr wrap="square" lIns="0" tIns="0" rIns="0" bIns="0" rtlCol="0" anchor="t"/>
          <a:lstStyle/>
          <a:p>
            <a:pPr indent="0" marL="0">
              <a:buNone/>
            </a:pPr>
            <a:r>
              <a:rPr lang="en-US" sz="1300" b="1" dirty="0">
                <a:solidFill>
                  <a:schemeClr val="tx2"/>
                </a:solidFill>
              </a:rPr>
              <a:t>Delivery certainty</a:t>
            </a:r>
            <a:endParaRPr lang="en-US" sz="1300" dirty="0"/>
          </a:p>
        </p:txBody>
      </p:sp>
      <p:sp>
        <p:nvSpPr>
          <p:cNvPr id="23" name="Text 17"/>
          <p:cNvSpPr txBox="1"/>
          <p:nvPr/>
        </p:nvSpPr>
        <p:spPr>
          <a:xfrm>
            <a:off x="7132320" y="4389120"/>
            <a:ext cx="4389120" cy="411480"/>
          </a:xfrm>
          <a:prstGeom prst="rect">
            <a:avLst/>
          </a:prstGeom>
          <a:noFill/>
          <a:ln/>
        </p:spPr>
        <p:txBody>
          <a:bodyPr wrap="square" lIns="0" tIns="0" rIns="0" bIns="0" rtlCol="0" anchor="t"/>
          <a:lstStyle/>
          <a:p>
            <a:pPr indent="0" marL="0">
              <a:buNone/>
            </a:pPr>
            <a:r>
              <a:rPr lang="en-US" sz="1150" dirty="0">
                <a:solidFill>
                  <a:schemeClr val="tx1"/>
                </a:solidFill>
              </a:rPr>
              <a:t>Clear plan and lead times; low disruption to wards</a:t>
            </a:r>
            <a:endParaRPr lang="en-US" sz="1150" dirty="0"/>
          </a:p>
        </p:txBody>
      </p:sp>
      <p:sp>
        <p:nvSpPr>
          <p:cNvPr id="24" name="Shape 18"/>
          <p:cNvSpPr/>
          <p:nvPr/>
        </p:nvSpPr>
        <p:spPr>
          <a:xfrm>
            <a:off x="6309360" y="4983480"/>
            <a:ext cx="5330952" cy="822960"/>
          </a:xfrm>
          <a:prstGeom prst="rect">
            <a:avLst/>
          </a:prstGeom>
          <a:solidFill>
            <a:schemeClr val="bg2"/>
          </a:solidFill>
          <a:ln/>
        </p:spPr>
      </p:sp>
      <p:sp>
        <p:nvSpPr>
          <p:cNvPr id="25" name="Shape 19"/>
          <p:cNvSpPr/>
          <p:nvPr/>
        </p:nvSpPr>
        <p:spPr>
          <a:xfrm>
            <a:off x="6446520" y="5138928"/>
            <a:ext cx="512064" cy="512064"/>
          </a:xfrm>
          <a:prstGeom prst="ellipse">
            <a:avLst/>
          </a:prstGeom>
          <a:solidFill>
            <a:schemeClr val="accent1"/>
          </a:solidFill>
          <a:ln/>
        </p:spPr>
      </p:sp>
      <p:pic>
        <p:nvPicPr>
          <p:cNvPr id="26" name="Image 3" descr="preencoded.png">    </p:cNvPr>
          <p:cNvPicPr>
            <a:picLocks noChangeAspect="1"/>
          </p:cNvPicPr>
          <p:nvPr/>
        </p:nvPicPr>
        <p:blipFill>
          <a:blip r:embed="rId4"/>
          <a:stretch>
            <a:fillRect/>
          </a:stretch>
        </p:blipFill>
        <p:spPr>
          <a:xfrm>
            <a:off x="6574536" y="5266944"/>
            <a:ext cx="256032" cy="256032"/>
          </a:xfrm>
          <a:prstGeom prst="rect">
            <a:avLst/>
          </a:prstGeom>
        </p:spPr>
      </p:pic>
      <p:sp>
        <p:nvSpPr>
          <p:cNvPr id="27" name="Text 20"/>
          <p:cNvSpPr txBox="1"/>
          <p:nvPr/>
        </p:nvSpPr>
        <p:spPr>
          <a:xfrm>
            <a:off x="7132320" y="5056632"/>
            <a:ext cx="4389120" cy="274320"/>
          </a:xfrm>
          <a:prstGeom prst="rect">
            <a:avLst/>
          </a:prstGeom>
          <a:noFill/>
          <a:ln/>
        </p:spPr>
        <p:txBody>
          <a:bodyPr wrap="square" lIns="0" tIns="0" rIns="0" bIns="0" rtlCol="0" anchor="t"/>
          <a:lstStyle/>
          <a:p>
            <a:pPr indent="0" marL="0">
              <a:buNone/>
            </a:pPr>
            <a:r>
              <a:rPr lang="en-US" sz="1300" b="1" dirty="0">
                <a:solidFill>
                  <a:schemeClr val="tx2"/>
                </a:solidFill>
              </a:rPr>
              <a:t>Sustainability</a:t>
            </a:r>
            <a:endParaRPr lang="en-US" sz="1300" dirty="0"/>
          </a:p>
        </p:txBody>
      </p:sp>
      <p:sp>
        <p:nvSpPr>
          <p:cNvPr id="28" name="Text 21"/>
          <p:cNvSpPr txBox="1"/>
          <p:nvPr/>
        </p:nvSpPr>
        <p:spPr>
          <a:xfrm>
            <a:off x="7132320" y="5349240"/>
            <a:ext cx="4389120" cy="411480"/>
          </a:xfrm>
          <a:prstGeom prst="rect">
            <a:avLst/>
          </a:prstGeom>
          <a:noFill/>
          <a:ln/>
        </p:spPr>
        <p:txBody>
          <a:bodyPr wrap="square" lIns="0" tIns="0" rIns="0" bIns="0" rtlCol="0" anchor="t"/>
          <a:lstStyle/>
          <a:p>
            <a:pPr indent="0" marL="0">
              <a:buNone/>
            </a:pPr>
            <a:r>
              <a:rPr lang="en-US" sz="1150" dirty="0">
                <a:solidFill>
                  <a:schemeClr val="tx1"/>
                </a:solidFill>
              </a:rPr>
              <a:t>Environmental practices aligned with ISO14000</a:t>
            </a:r>
            <a:endParaRPr lang="en-US" sz="115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4 · UNDERSTANDING OF THE PROJECT</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A four-phase approach de-risks deployment: plan, pilot, roll out, optimise</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MONIT proposed methodology. Durations on the timeline slide.</a:t>
            </a:r>
            <a:endParaRPr lang="en-US" sz="900" dirty="0"/>
          </a:p>
        </p:txBody>
      </p:sp>
      <p:sp>
        <p:nvSpPr>
          <p:cNvPr id="6" name="Shape 3"/>
          <p:cNvSpPr/>
          <p:nvPr/>
        </p:nvSpPr>
        <p:spPr>
          <a:xfrm>
            <a:off x="548640" y="1737360"/>
            <a:ext cx="2743200" cy="822960"/>
          </a:xfrm>
          <a:prstGeom prst="homePlate">
            <a:avLst/>
          </a:prstGeom>
          <a:solidFill>
            <a:schemeClr val="tx2"/>
          </a:solidFill>
          <a:ln/>
        </p:spPr>
      </p:sp>
      <p:sp>
        <p:nvSpPr>
          <p:cNvPr id="7" name="Text 4"/>
          <p:cNvSpPr txBox="1"/>
          <p:nvPr/>
        </p:nvSpPr>
        <p:spPr>
          <a:xfrm>
            <a:off x="777240" y="1737360"/>
            <a:ext cx="2103120" cy="82296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1  Plan</a:t>
            </a:r>
            <a:endParaRPr lang="en-US" sz="1800" dirty="0"/>
          </a:p>
        </p:txBody>
      </p:sp>
      <p:sp>
        <p:nvSpPr>
          <p:cNvPr id="8" name="Shape 5"/>
          <p:cNvSpPr/>
          <p:nvPr/>
        </p:nvSpPr>
        <p:spPr>
          <a:xfrm>
            <a:off x="548640" y="2743200"/>
            <a:ext cx="2606040" cy="2377440"/>
          </a:xfrm>
          <a:prstGeom prst="rect">
            <a:avLst/>
          </a:prstGeom>
          <a:solidFill>
            <a:schemeClr val="bg2"/>
          </a:solidFill>
          <a:ln/>
        </p:spPr>
      </p:sp>
      <p:sp>
        <p:nvSpPr>
          <p:cNvPr id="9" name="Text 6"/>
          <p:cNvSpPr txBox="1"/>
          <p:nvPr/>
        </p:nvSpPr>
        <p:spPr>
          <a:xfrm>
            <a:off x="731520" y="2926080"/>
            <a:ext cx="2286000" cy="2103120"/>
          </a:xfrm>
          <a:prstGeom prst="rect">
            <a:avLst/>
          </a:prstGeom>
          <a:noFill/>
          <a:ln/>
        </p:spPr>
        <p:txBody>
          <a:bodyPr wrap="square" lIns="0" tIns="0" rIns="0" bIns="0" rtlCol="0" anchor="t"/>
          <a:lstStyle/>
          <a:p>
            <a:pPr marL="152400" indent="-152400">
              <a:spcAft>
                <a:spcPts val="500"/>
              </a:spcAft>
              <a:buSzPct val="100000"/>
              <a:buChar char="•"/>
            </a:pPr>
            <a:r>
              <a:rPr lang="en-US" sz="1300" dirty="0">
                <a:solidFill>
                  <a:schemeClr val="tx1"/>
                </a:solidFill>
              </a:rPr>
              <a:t>Kick-off &amp; governance</a:t>
            </a:r>
            <a:endParaRPr lang="en-US" sz="1300" dirty="0"/>
          </a:p>
          <a:p>
            <a:pPr marL="152400" indent="-152400">
              <a:spcAft>
                <a:spcPts val="500"/>
              </a:spcAft>
              <a:buSzPct val="100000"/>
              <a:buChar char="•"/>
            </a:pPr>
            <a:r>
              <a:rPr lang="en-US" sz="1300" dirty="0">
                <a:solidFill>
                  <a:schemeClr val="tx1"/>
                </a:solidFill>
              </a:rPr>
              <a:t>Wi-Fi / RF site survey with hospital IT</a:t>
            </a:r>
            <a:endParaRPr lang="en-US" sz="1300" dirty="0"/>
          </a:p>
          <a:p>
            <a:pPr marL="152400" indent="-152400">
              <a:spcAft>
                <a:spcPts val="500"/>
              </a:spcAft>
              <a:buSzPct val="100000"/>
              <a:buChar char="•"/>
            </a:pPr>
            <a:r>
              <a:rPr lang="en-US" sz="1300" dirty="0">
                <a:solidFill>
                  <a:schemeClr val="tx1"/>
                </a:solidFill>
              </a:rPr>
              <a:t>Final relay count &amp; placement</a:t>
            </a:r>
            <a:endParaRPr lang="en-US" sz="1300" dirty="0"/>
          </a:p>
          <a:p>
            <a:pPr marL="152400" indent="-152400">
              <a:spcAft>
                <a:spcPts val="500"/>
              </a:spcAft>
              <a:buSzPct val="100000"/>
              <a:buChar char="•"/>
            </a:pPr>
            <a:r>
              <a:rPr lang="en-US" sz="1300" dirty="0">
                <a:solidFill>
                  <a:schemeClr val="tx1"/>
                </a:solidFill>
              </a:rPr>
              <a:t>Security &amp; PDPA review</a:t>
            </a:r>
            <a:endParaRPr lang="en-US" sz="1300" dirty="0"/>
          </a:p>
        </p:txBody>
      </p:sp>
      <p:sp>
        <p:nvSpPr>
          <p:cNvPr id="10" name="Shape 7"/>
          <p:cNvSpPr/>
          <p:nvPr/>
        </p:nvSpPr>
        <p:spPr>
          <a:xfrm>
            <a:off x="3337560" y="1737360"/>
            <a:ext cx="2743200" cy="822960"/>
          </a:xfrm>
          <a:prstGeom prst="homePlate">
            <a:avLst/>
          </a:prstGeom>
          <a:solidFill>
            <a:schemeClr val="accent1"/>
          </a:solidFill>
          <a:ln/>
        </p:spPr>
      </p:sp>
      <p:sp>
        <p:nvSpPr>
          <p:cNvPr id="11" name="Text 8"/>
          <p:cNvSpPr txBox="1"/>
          <p:nvPr/>
        </p:nvSpPr>
        <p:spPr>
          <a:xfrm>
            <a:off x="3566160" y="1737360"/>
            <a:ext cx="2103120" cy="82296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2  Pilot</a:t>
            </a:r>
            <a:endParaRPr lang="en-US" sz="1800" dirty="0"/>
          </a:p>
        </p:txBody>
      </p:sp>
      <p:sp>
        <p:nvSpPr>
          <p:cNvPr id="12" name="Shape 9"/>
          <p:cNvSpPr/>
          <p:nvPr/>
        </p:nvSpPr>
        <p:spPr>
          <a:xfrm>
            <a:off x="3337560" y="2743200"/>
            <a:ext cx="2606040" cy="2377440"/>
          </a:xfrm>
          <a:prstGeom prst="rect">
            <a:avLst/>
          </a:prstGeom>
          <a:solidFill>
            <a:schemeClr val="bg2"/>
          </a:solidFill>
          <a:ln/>
        </p:spPr>
      </p:sp>
      <p:sp>
        <p:nvSpPr>
          <p:cNvPr id="13" name="Text 10"/>
          <p:cNvSpPr txBox="1"/>
          <p:nvPr/>
        </p:nvSpPr>
        <p:spPr>
          <a:xfrm>
            <a:off x="3520440" y="2926080"/>
            <a:ext cx="2286000" cy="2103120"/>
          </a:xfrm>
          <a:prstGeom prst="rect">
            <a:avLst/>
          </a:prstGeom>
          <a:noFill/>
          <a:ln/>
        </p:spPr>
        <p:txBody>
          <a:bodyPr wrap="square" lIns="0" tIns="0" rIns="0" bIns="0" rtlCol="0" anchor="t"/>
          <a:lstStyle/>
          <a:p>
            <a:pPr marL="152400" indent="-152400">
              <a:spcAft>
                <a:spcPts val="500"/>
              </a:spcAft>
              <a:buSzPct val="100000"/>
              <a:buChar char="•"/>
            </a:pPr>
            <a:r>
              <a:rPr lang="en-US" sz="1300" dirty="0">
                <a:solidFill>
                  <a:schemeClr val="tx1"/>
                </a:solidFill>
              </a:rPr>
              <a:t>Install in 1 pilot ward / hospital</a:t>
            </a:r>
            <a:endParaRPr lang="en-US" sz="1300" dirty="0"/>
          </a:p>
          <a:p>
            <a:pPr marL="152400" indent="-152400">
              <a:spcAft>
                <a:spcPts val="500"/>
              </a:spcAft>
              <a:buSzPct val="100000"/>
              <a:buChar char="•"/>
            </a:pPr>
            <a:r>
              <a:rPr lang="en-US" sz="1300" dirty="0">
                <a:solidFill>
                  <a:schemeClr val="tx1"/>
                </a:solidFill>
              </a:rPr>
              <a:t>Credential provisioning once</a:t>
            </a:r>
            <a:endParaRPr lang="en-US" sz="1300" dirty="0"/>
          </a:p>
          <a:p>
            <a:pPr marL="152400" indent="-152400">
              <a:spcAft>
                <a:spcPts val="500"/>
              </a:spcAft>
              <a:buSzPct val="100000"/>
              <a:buChar char="•"/>
            </a:pPr>
            <a:r>
              <a:rPr lang="en-US" sz="1300" dirty="0">
                <a:solidFill>
                  <a:schemeClr val="tx1"/>
                </a:solidFill>
              </a:rPr>
              <a:t>Staff training</a:t>
            </a:r>
            <a:endParaRPr lang="en-US" sz="1300" dirty="0"/>
          </a:p>
          <a:p>
            <a:pPr marL="152400" indent="-152400">
              <a:spcAft>
                <a:spcPts val="500"/>
              </a:spcAft>
              <a:buSzPct val="100000"/>
              <a:buChar char="•"/>
            </a:pPr>
            <a:r>
              <a:rPr lang="en-US" sz="1300" dirty="0">
                <a:solidFill>
                  <a:schemeClr val="tx1"/>
                </a:solidFill>
              </a:rPr>
              <a:t>UAT &amp; acceptance</a:t>
            </a:r>
            <a:endParaRPr lang="en-US" sz="1300" dirty="0"/>
          </a:p>
        </p:txBody>
      </p:sp>
      <p:sp>
        <p:nvSpPr>
          <p:cNvPr id="14" name="Shape 11"/>
          <p:cNvSpPr/>
          <p:nvPr/>
        </p:nvSpPr>
        <p:spPr>
          <a:xfrm>
            <a:off x="6126480" y="1737360"/>
            <a:ext cx="2743200" cy="822960"/>
          </a:xfrm>
          <a:prstGeom prst="homePlate">
            <a:avLst/>
          </a:prstGeom>
          <a:solidFill>
            <a:schemeClr val="tx2"/>
          </a:solidFill>
          <a:ln/>
        </p:spPr>
      </p:sp>
      <p:sp>
        <p:nvSpPr>
          <p:cNvPr id="15" name="Text 12"/>
          <p:cNvSpPr txBox="1"/>
          <p:nvPr/>
        </p:nvSpPr>
        <p:spPr>
          <a:xfrm>
            <a:off x="6355080" y="1737360"/>
            <a:ext cx="2103120" cy="82296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3  Roll out</a:t>
            </a:r>
            <a:endParaRPr lang="en-US" sz="1800" dirty="0"/>
          </a:p>
        </p:txBody>
      </p:sp>
      <p:sp>
        <p:nvSpPr>
          <p:cNvPr id="16" name="Shape 13"/>
          <p:cNvSpPr/>
          <p:nvPr/>
        </p:nvSpPr>
        <p:spPr>
          <a:xfrm>
            <a:off x="6126480" y="2743200"/>
            <a:ext cx="2606040" cy="2377440"/>
          </a:xfrm>
          <a:prstGeom prst="rect">
            <a:avLst/>
          </a:prstGeom>
          <a:solidFill>
            <a:schemeClr val="bg2"/>
          </a:solidFill>
          <a:ln/>
        </p:spPr>
      </p:sp>
      <p:sp>
        <p:nvSpPr>
          <p:cNvPr id="17" name="Text 14"/>
          <p:cNvSpPr txBox="1"/>
          <p:nvPr/>
        </p:nvSpPr>
        <p:spPr>
          <a:xfrm>
            <a:off x="6309360" y="2926080"/>
            <a:ext cx="2286000" cy="2103120"/>
          </a:xfrm>
          <a:prstGeom prst="rect">
            <a:avLst/>
          </a:prstGeom>
          <a:noFill/>
          <a:ln/>
        </p:spPr>
        <p:txBody>
          <a:bodyPr wrap="square" lIns="0" tIns="0" rIns="0" bIns="0" rtlCol="0" anchor="t"/>
          <a:lstStyle/>
          <a:p>
            <a:pPr marL="152400" indent="-152400">
              <a:spcAft>
                <a:spcPts val="500"/>
              </a:spcAft>
              <a:buSzPct val="100000"/>
              <a:buChar char="•"/>
            </a:pPr>
            <a:r>
              <a:rPr lang="en-US" sz="1300" dirty="0">
                <a:solidFill>
                  <a:schemeClr val="tx1"/>
                </a:solidFill>
              </a:rPr>
              <a:t>Ward-by-ward installation</a:t>
            </a:r>
            <a:endParaRPr lang="en-US" sz="1300" dirty="0"/>
          </a:p>
          <a:p>
            <a:pPr marL="152400" indent="-152400">
              <a:spcAft>
                <a:spcPts val="500"/>
              </a:spcAft>
              <a:buSzPct val="100000"/>
              <a:buChar char="•"/>
            </a:pPr>
            <a:r>
              <a:rPr lang="en-US" sz="1300" dirty="0">
                <a:solidFill>
                  <a:schemeClr val="tx1"/>
                </a:solidFill>
              </a:rPr>
              <a:t>Minimise disruption to care</a:t>
            </a:r>
            <a:endParaRPr lang="en-US" sz="1300" dirty="0"/>
          </a:p>
          <a:p>
            <a:pPr marL="152400" indent="-152400">
              <a:spcAft>
                <a:spcPts val="500"/>
              </a:spcAft>
              <a:buSzPct val="100000"/>
              <a:buChar char="•"/>
            </a:pPr>
            <a:r>
              <a:rPr lang="en-US" sz="1300" dirty="0">
                <a:solidFill>
                  <a:schemeClr val="tx1"/>
                </a:solidFill>
              </a:rPr>
              <a:t>Daily progress tracking</a:t>
            </a:r>
            <a:endParaRPr lang="en-US" sz="1300" dirty="0"/>
          </a:p>
          <a:p>
            <a:pPr marL="152400" indent="-152400">
              <a:spcAft>
                <a:spcPts val="500"/>
              </a:spcAft>
              <a:buSzPct val="100000"/>
              <a:buChar char="•"/>
            </a:pPr>
            <a:r>
              <a:rPr lang="en-US" sz="1300" dirty="0">
                <a:solidFill>
                  <a:schemeClr val="tx1"/>
                </a:solidFill>
              </a:rPr>
              <a:t>Sign-off per ward</a:t>
            </a:r>
            <a:endParaRPr lang="en-US" sz="1300" dirty="0"/>
          </a:p>
        </p:txBody>
      </p:sp>
      <p:sp>
        <p:nvSpPr>
          <p:cNvPr id="18" name="Shape 15"/>
          <p:cNvSpPr/>
          <p:nvPr/>
        </p:nvSpPr>
        <p:spPr>
          <a:xfrm>
            <a:off x="8915400" y="1737360"/>
            <a:ext cx="2743200" cy="822960"/>
          </a:xfrm>
          <a:prstGeom prst="homePlate">
            <a:avLst/>
          </a:prstGeom>
          <a:solidFill>
            <a:schemeClr val="accent1"/>
          </a:solidFill>
          <a:ln/>
        </p:spPr>
      </p:sp>
      <p:sp>
        <p:nvSpPr>
          <p:cNvPr id="19" name="Text 16"/>
          <p:cNvSpPr txBox="1"/>
          <p:nvPr/>
        </p:nvSpPr>
        <p:spPr>
          <a:xfrm>
            <a:off x="9144000" y="1737360"/>
            <a:ext cx="2103120" cy="82296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4  Optimise</a:t>
            </a:r>
            <a:endParaRPr lang="en-US" sz="1800" dirty="0"/>
          </a:p>
        </p:txBody>
      </p:sp>
      <p:sp>
        <p:nvSpPr>
          <p:cNvPr id="20" name="Shape 17"/>
          <p:cNvSpPr/>
          <p:nvPr/>
        </p:nvSpPr>
        <p:spPr>
          <a:xfrm>
            <a:off x="8915400" y="2743200"/>
            <a:ext cx="2606040" cy="2377440"/>
          </a:xfrm>
          <a:prstGeom prst="rect">
            <a:avLst/>
          </a:prstGeom>
          <a:solidFill>
            <a:schemeClr val="bg2"/>
          </a:solidFill>
          <a:ln/>
        </p:spPr>
      </p:sp>
      <p:sp>
        <p:nvSpPr>
          <p:cNvPr id="21" name="Text 18"/>
          <p:cNvSpPr txBox="1"/>
          <p:nvPr/>
        </p:nvSpPr>
        <p:spPr>
          <a:xfrm>
            <a:off x="9098280" y="2926080"/>
            <a:ext cx="2286000" cy="2103120"/>
          </a:xfrm>
          <a:prstGeom prst="rect">
            <a:avLst/>
          </a:prstGeom>
          <a:noFill/>
          <a:ln/>
        </p:spPr>
        <p:txBody>
          <a:bodyPr wrap="square" lIns="0" tIns="0" rIns="0" bIns="0" rtlCol="0" anchor="t"/>
          <a:lstStyle/>
          <a:p>
            <a:pPr marL="152400" indent="-152400">
              <a:spcAft>
                <a:spcPts val="500"/>
              </a:spcAft>
              <a:buSzPct val="100000"/>
              <a:buChar char="•"/>
            </a:pPr>
            <a:r>
              <a:rPr lang="en-US" sz="1300" dirty="0">
                <a:solidFill>
                  <a:schemeClr val="tx1"/>
                </a:solidFill>
              </a:rPr>
              <a:t>Hypercare period</a:t>
            </a:r>
            <a:endParaRPr lang="en-US" sz="1300" dirty="0"/>
          </a:p>
          <a:p>
            <a:pPr marL="152400" indent="-152400">
              <a:spcAft>
                <a:spcPts val="500"/>
              </a:spcAft>
              <a:buSzPct val="100000"/>
              <a:buChar char="•"/>
            </a:pPr>
            <a:r>
              <a:rPr lang="en-US" sz="1300" dirty="0">
                <a:solidFill>
                  <a:schemeClr val="tx1"/>
                </a:solidFill>
              </a:rPr>
              <a:t>Alert-rule tuning</a:t>
            </a:r>
            <a:endParaRPr lang="en-US" sz="1300" dirty="0"/>
          </a:p>
          <a:p>
            <a:pPr marL="152400" indent="-152400">
              <a:spcAft>
                <a:spcPts val="500"/>
              </a:spcAft>
              <a:buSzPct val="100000"/>
              <a:buChar char="•"/>
            </a:pPr>
            <a:r>
              <a:rPr lang="en-US" sz="1300" dirty="0">
                <a:solidFill>
                  <a:schemeClr val="tx1"/>
                </a:solidFill>
              </a:rPr>
              <a:t>Usage &amp; benefit reporting</a:t>
            </a:r>
            <a:endParaRPr lang="en-US" sz="1300" dirty="0"/>
          </a:p>
          <a:p>
            <a:pPr marL="152400" indent="-152400">
              <a:spcAft>
                <a:spcPts val="500"/>
              </a:spcAft>
              <a:buSzPct val="100000"/>
              <a:buChar char="•"/>
            </a:pPr>
            <a:r>
              <a:rPr lang="en-US" sz="1300" dirty="0">
                <a:solidFill>
                  <a:schemeClr val="tx1"/>
                </a:solidFill>
              </a:rPr>
              <a:t>Handover to service team</a:t>
            </a:r>
            <a:endParaRPr lang="en-US" sz="13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4 · UNDERSTANDING OF THE PROJECT</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Deployment is planned ward by ward from each hospital's floor plan, with the same design pattern at all three sites</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Hospital floor plans (provided by ALPS at site briefings) — not included in the files received by MONIT for this document.</a:t>
            </a:r>
            <a:endParaRPr lang="en-US" sz="900" dirty="0"/>
          </a:p>
        </p:txBody>
      </p:sp>
      <p:sp>
        <p:nvSpPr>
          <p:cNvPr id="6" name="Shape 3"/>
          <p:cNvSpPr/>
          <p:nvPr/>
        </p:nvSpPr>
        <p:spPr>
          <a:xfrm>
            <a:off x="548640" y="1691640"/>
            <a:ext cx="3611880" cy="457200"/>
          </a:xfrm>
          <a:prstGeom prst="rect">
            <a:avLst/>
          </a:prstGeom>
          <a:solidFill>
            <a:schemeClr val="tx2"/>
          </a:solidFill>
          <a:ln/>
        </p:spPr>
      </p:sp>
      <p:sp>
        <p:nvSpPr>
          <p:cNvPr id="7" name="Text 4"/>
          <p:cNvSpPr txBox="1"/>
          <p:nvPr/>
        </p:nvSpPr>
        <p:spPr>
          <a:xfrm>
            <a:off x="685800" y="1691640"/>
            <a:ext cx="3383280" cy="457200"/>
          </a:xfrm>
          <a:prstGeom prst="rect">
            <a:avLst/>
          </a:prstGeom>
          <a:noFill/>
          <a:ln/>
        </p:spPr>
        <p:txBody>
          <a:bodyPr wrap="square" lIns="0" tIns="0" rIns="0" bIns="0" rtlCol="0" anchor="ctr"/>
          <a:lstStyle/>
          <a:p>
            <a:pPr indent="0" marL="0">
              <a:buNone/>
            </a:pPr>
            <a:r>
              <a:rPr lang="en-US" sz="1400" b="1" dirty="0">
                <a:solidFill>
                  <a:schemeClr val="bg1"/>
                </a:solidFill>
              </a:rPr>
              <a:t>Khoo Teck Puat Hospital</a:t>
            </a:r>
            <a:endParaRPr lang="en-US" sz="1400" dirty="0"/>
          </a:p>
        </p:txBody>
      </p:sp>
      <p:sp>
        <p:nvSpPr>
          <p:cNvPr id="8" name="Input placeholder"/>
          <p:cNvSpPr/>
          <p:nvPr/>
        </p:nvSpPr>
        <p:spPr>
          <a:xfrm>
            <a:off x="548640" y="2240280"/>
            <a:ext cx="3611880" cy="2103120"/>
          </a:xfrm>
          <a:prstGeom prst="rect">
            <a:avLst/>
          </a:prstGeom>
          <a:solidFill>
            <a:srgbClr val="FFF4D6"/>
          </a:solidFill>
          <a:ln w="12700">
            <a:solidFill>
              <a:srgbClr val="F2A900"/>
            </a:solidFill>
            <a:prstDash val="dash"/>
          </a:ln>
        </p:spPr>
      </p:sp>
      <p:sp>
        <p:nvSpPr>
          <p:cNvPr id="9" name="Text 6"/>
          <p:cNvSpPr txBox="1"/>
          <p:nvPr/>
        </p:nvSpPr>
        <p:spPr>
          <a:xfrm>
            <a:off x="640080" y="2240280"/>
            <a:ext cx="3429000" cy="2103120"/>
          </a:xfrm>
          <a:prstGeom prst="rect">
            <a:avLst/>
          </a:prstGeom>
          <a:noFill/>
          <a:ln/>
        </p:spPr>
        <p:txBody>
          <a:bodyPr wrap="square" lIns="0" tIns="0" rIns="0" bIns="0" rtlCol="0" anchor="ctr"/>
          <a:lstStyle/>
          <a:p>
            <a:pPr indent="0" marL="0">
              <a:buNone/>
            </a:pPr>
            <a:r>
              <a:rPr lang="en-US" sz="1100" i="1" dirty="0">
                <a:solidFill>
                  <a:srgbClr val="7A4F00"/>
                </a:solidFill>
              </a:rPr>
              <a:t>[INPUT REQUIRED] Floor plan with ward boundaries and proposed relay positions marked.</a:t>
            </a:r>
            <a:endParaRPr lang="en-US" sz="1100" dirty="0"/>
          </a:p>
        </p:txBody>
      </p:sp>
      <p:sp>
        <p:nvSpPr>
          <p:cNvPr id="10" name="Text 7"/>
          <p:cNvSpPr txBox="1"/>
          <p:nvPr/>
        </p:nvSpPr>
        <p:spPr>
          <a:xfrm>
            <a:off x="548640" y="4480560"/>
            <a:ext cx="3611880" cy="155448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chemeClr val="tx1"/>
                </a:solidFill>
              </a:rPr>
              <a:t>Wards in scope: [INPUT]</a:t>
            </a:r>
            <a:endParaRPr lang="en-US" sz="1200" dirty="0"/>
          </a:p>
          <a:p>
            <a:pPr marL="152400" indent="-152400">
              <a:spcAft>
                <a:spcPts val="500"/>
              </a:spcAft>
              <a:buSzPct val="100000"/>
              <a:buChar char="•"/>
            </a:pPr>
            <a:r>
              <a:rPr lang="en-US" sz="1200" dirty="0">
                <a:solidFill>
                  <a:schemeClr val="tx1"/>
                </a:solidFill>
              </a:rPr>
              <a:t>Beds in scope: [INPUT]</a:t>
            </a:r>
            <a:endParaRPr lang="en-US" sz="1200" dirty="0"/>
          </a:p>
          <a:p>
            <a:pPr marL="152400" indent="-152400">
              <a:spcAft>
                <a:spcPts val="500"/>
              </a:spcAft>
              <a:buSzPct val="100000"/>
              <a:buChar char="•"/>
            </a:pPr>
            <a:r>
              <a:rPr lang="en-US" sz="1200" dirty="0">
                <a:solidFill>
                  <a:schemeClr val="tx1"/>
                </a:solidFill>
              </a:rPr>
              <a:t>Relay positions: see next slides</a:t>
            </a:r>
            <a:endParaRPr lang="en-US" sz="1200" dirty="0"/>
          </a:p>
          <a:p>
            <a:pPr marL="152400" indent="-152400">
              <a:spcAft>
                <a:spcPts val="500"/>
              </a:spcAft>
              <a:buSzPct val="100000"/>
              <a:buChar char="•"/>
            </a:pPr>
            <a:r>
              <a:rPr lang="en-US" sz="1200" dirty="0">
                <a:solidFill>
                  <a:schemeClr val="tx1"/>
                </a:solidFill>
              </a:rPr>
              <a:t>Install window per ward: [INPUT]</a:t>
            </a:r>
            <a:endParaRPr lang="en-US" sz="1200" dirty="0"/>
          </a:p>
        </p:txBody>
      </p:sp>
      <p:sp>
        <p:nvSpPr>
          <p:cNvPr id="11" name="Shape 8"/>
          <p:cNvSpPr/>
          <p:nvPr/>
        </p:nvSpPr>
        <p:spPr>
          <a:xfrm>
            <a:off x="4297680" y="1691640"/>
            <a:ext cx="3611880" cy="457200"/>
          </a:xfrm>
          <a:prstGeom prst="rect">
            <a:avLst/>
          </a:prstGeom>
          <a:solidFill>
            <a:schemeClr val="tx2"/>
          </a:solidFill>
          <a:ln/>
        </p:spPr>
      </p:sp>
      <p:sp>
        <p:nvSpPr>
          <p:cNvPr id="12" name="Text 9"/>
          <p:cNvSpPr txBox="1"/>
          <p:nvPr/>
        </p:nvSpPr>
        <p:spPr>
          <a:xfrm>
            <a:off x="4434840" y="1691640"/>
            <a:ext cx="3383280" cy="457200"/>
          </a:xfrm>
          <a:prstGeom prst="rect">
            <a:avLst/>
          </a:prstGeom>
          <a:noFill/>
          <a:ln/>
        </p:spPr>
        <p:txBody>
          <a:bodyPr wrap="square" lIns="0" tIns="0" rIns="0" bIns="0" rtlCol="0" anchor="ctr"/>
          <a:lstStyle/>
          <a:p>
            <a:pPr indent="0" marL="0">
              <a:buNone/>
            </a:pPr>
            <a:r>
              <a:rPr lang="en-US" sz="1400" b="1" dirty="0">
                <a:solidFill>
                  <a:schemeClr val="bg1"/>
                </a:solidFill>
              </a:rPr>
              <a:t>Woodlands Health</a:t>
            </a:r>
            <a:endParaRPr lang="en-US" sz="1400" dirty="0"/>
          </a:p>
        </p:txBody>
      </p:sp>
      <p:sp>
        <p:nvSpPr>
          <p:cNvPr id="13" name="Input placeholder"/>
          <p:cNvSpPr/>
          <p:nvPr/>
        </p:nvSpPr>
        <p:spPr>
          <a:xfrm>
            <a:off x="4297680" y="2240280"/>
            <a:ext cx="3611880" cy="2103120"/>
          </a:xfrm>
          <a:prstGeom prst="rect">
            <a:avLst/>
          </a:prstGeom>
          <a:solidFill>
            <a:srgbClr val="FFF4D6"/>
          </a:solidFill>
          <a:ln w="12700">
            <a:solidFill>
              <a:srgbClr val="F2A900"/>
            </a:solidFill>
            <a:prstDash val="dash"/>
          </a:ln>
        </p:spPr>
      </p:sp>
      <p:sp>
        <p:nvSpPr>
          <p:cNvPr id="14" name="Text 11"/>
          <p:cNvSpPr txBox="1"/>
          <p:nvPr/>
        </p:nvSpPr>
        <p:spPr>
          <a:xfrm>
            <a:off x="4389120" y="2240280"/>
            <a:ext cx="3429000" cy="2103120"/>
          </a:xfrm>
          <a:prstGeom prst="rect">
            <a:avLst/>
          </a:prstGeom>
          <a:noFill/>
          <a:ln/>
        </p:spPr>
        <p:txBody>
          <a:bodyPr wrap="square" lIns="0" tIns="0" rIns="0" bIns="0" rtlCol="0" anchor="ctr"/>
          <a:lstStyle/>
          <a:p>
            <a:pPr indent="0" marL="0">
              <a:buNone/>
            </a:pPr>
            <a:r>
              <a:rPr lang="en-US" sz="1100" i="1" dirty="0">
                <a:solidFill>
                  <a:srgbClr val="7A4F00"/>
                </a:solidFill>
              </a:rPr>
              <a:t>[INPUT REQUIRED] Floor plan with ward boundaries and proposed relay positions marked.</a:t>
            </a:r>
            <a:endParaRPr lang="en-US" sz="1100" dirty="0"/>
          </a:p>
        </p:txBody>
      </p:sp>
      <p:sp>
        <p:nvSpPr>
          <p:cNvPr id="15" name="Text 12"/>
          <p:cNvSpPr txBox="1"/>
          <p:nvPr/>
        </p:nvSpPr>
        <p:spPr>
          <a:xfrm>
            <a:off x="4297680" y="4480560"/>
            <a:ext cx="3611880" cy="155448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chemeClr val="tx1"/>
                </a:solidFill>
              </a:rPr>
              <a:t>Wards in scope: [INPUT]</a:t>
            </a:r>
            <a:endParaRPr lang="en-US" sz="1200" dirty="0"/>
          </a:p>
          <a:p>
            <a:pPr marL="152400" indent="-152400">
              <a:spcAft>
                <a:spcPts val="500"/>
              </a:spcAft>
              <a:buSzPct val="100000"/>
              <a:buChar char="•"/>
            </a:pPr>
            <a:r>
              <a:rPr lang="en-US" sz="1200" dirty="0">
                <a:solidFill>
                  <a:schemeClr val="tx1"/>
                </a:solidFill>
              </a:rPr>
              <a:t>Beds in scope: [INPUT]</a:t>
            </a:r>
            <a:endParaRPr lang="en-US" sz="1200" dirty="0"/>
          </a:p>
          <a:p>
            <a:pPr marL="152400" indent="-152400">
              <a:spcAft>
                <a:spcPts val="500"/>
              </a:spcAft>
              <a:buSzPct val="100000"/>
              <a:buChar char="•"/>
            </a:pPr>
            <a:r>
              <a:rPr lang="en-US" sz="1200" dirty="0">
                <a:solidFill>
                  <a:schemeClr val="tx1"/>
                </a:solidFill>
              </a:rPr>
              <a:t>Relay positions: see next slides</a:t>
            </a:r>
            <a:endParaRPr lang="en-US" sz="1200" dirty="0"/>
          </a:p>
          <a:p>
            <a:pPr marL="152400" indent="-152400">
              <a:spcAft>
                <a:spcPts val="500"/>
              </a:spcAft>
              <a:buSzPct val="100000"/>
              <a:buChar char="•"/>
            </a:pPr>
            <a:r>
              <a:rPr lang="en-US" sz="1200" dirty="0">
                <a:solidFill>
                  <a:schemeClr val="tx1"/>
                </a:solidFill>
              </a:rPr>
              <a:t>Install window per ward: [INPUT]</a:t>
            </a:r>
            <a:endParaRPr lang="en-US" sz="1200" dirty="0"/>
          </a:p>
        </p:txBody>
      </p:sp>
      <p:sp>
        <p:nvSpPr>
          <p:cNvPr id="16" name="Shape 13"/>
          <p:cNvSpPr/>
          <p:nvPr/>
        </p:nvSpPr>
        <p:spPr>
          <a:xfrm>
            <a:off x="8046720" y="1691640"/>
            <a:ext cx="3611880" cy="457200"/>
          </a:xfrm>
          <a:prstGeom prst="rect">
            <a:avLst/>
          </a:prstGeom>
          <a:solidFill>
            <a:schemeClr val="tx2"/>
          </a:solidFill>
          <a:ln/>
        </p:spPr>
      </p:sp>
      <p:sp>
        <p:nvSpPr>
          <p:cNvPr id="17" name="Text 14"/>
          <p:cNvSpPr txBox="1"/>
          <p:nvPr/>
        </p:nvSpPr>
        <p:spPr>
          <a:xfrm>
            <a:off x="8183880" y="1691640"/>
            <a:ext cx="3383280" cy="457200"/>
          </a:xfrm>
          <a:prstGeom prst="rect">
            <a:avLst/>
          </a:prstGeom>
          <a:noFill/>
          <a:ln/>
        </p:spPr>
        <p:txBody>
          <a:bodyPr wrap="square" lIns="0" tIns="0" rIns="0" bIns="0" rtlCol="0" anchor="ctr"/>
          <a:lstStyle/>
          <a:p>
            <a:pPr indent="0" marL="0">
              <a:buNone/>
            </a:pPr>
            <a:r>
              <a:rPr lang="en-US" sz="1400" b="1" dirty="0">
                <a:solidFill>
                  <a:schemeClr val="bg1"/>
                </a:solidFill>
              </a:rPr>
              <a:t>Tan Tock Seng Hospital</a:t>
            </a:r>
            <a:endParaRPr lang="en-US" sz="1400" dirty="0"/>
          </a:p>
        </p:txBody>
      </p:sp>
      <p:sp>
        <p:nvSpPr>
          <p:cNvPr id="18" name="Input placeholder"/>
          <p:cNvSpPr/>
          <p:nvPr/>
        </p:nvSpPr>
        <p:spPr>
          <a:xfrm>
            <a:off x="8046720" y="2240280"/>
            <a:ext cx="3611880" cy="2103120"/>
          </a:xfrm>
          <a:prstGeom prst="rect">
            <a:avLst/>
          </a:prstGeom>
          <a:solidFill>
            <a:srgbClr val="FFF4D6"/>
          </a:solidFill>
          <a:ln w="12700">
            <a:solidFill>
              <a:srgbClr val="F2A900"/>
            </a:solidFill>
            <a:prstDash val="dash"/>
          </a:ln>
        </p:spPr>
      </p:sp>
      <p:sp>
        <p:nvSpPr>
          <p:cNvPr id="19" name="Text 16"/>
          <p:cNvSpPr txBox="1"/>
          <p:nvPr/>
        </p:nvSpPr>
        <p:spPr>
          <a:xfrm>
            <a:off x="8138160" y="2240280"/>
            <a:ext cx="3429000" cy="2103120"/>
          </a:xfrm>
          <a:prstGeom prst="rect">
            <a:avLst/>
          </a:prstGeom>
          <a:noFill/>
          <a:ln/>
        </p:spPr>
        <p:txBody>
          <a:bodyPr wrap="square" lIns="0" tIns="0" rIns="0" bIns="0" rtlCol="0" anchor="ctr"/>
          <a:lstStyle/>
          <a:p>
            <a:pPr indent="0" marL="0">
              <a:buNone/>
            </a:pPr>
            <a:r>
              <a:rPr lang="en-US" sz="1100" i="1" dirty="0">
                <a:solidFill>
                  <a:srgbClr val="7A4F00"/>
                </a:solidFill>
              </a:rPr>
              <a:t>[INPUT REQUIRED] Floor plan with ward boundaries and proposed relay positions marked.</a:t>
            </a:r>
            <a:endParaRPr lang="en-US" sz="1100" dirty="0"/>
          </a:p>
        </p:txBody>
      </p:sp>
      <p:sp>
        <p:nvSpPr>
          <p:cNvPr id="20" name="Text 17"/>
          <p:cNvSpPr txBox="1"/>
          <p:nvPr/>
        </p:nvSpPr>
        <p:spPr>
          <a:xfrm>
            <a:off x="8046720" y="4480560"/>
            <a:ext cx="3611880" cy="155448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chemeClr val="tx1"/>
                </a:solidFill>
              </a:rPr>
              <a:t>Wards in scope: [INPUT]</a:t>
            </a:r>
            <a:endParaRPr lang="en-US" sz="1200" dirty="0"/>
          </a:p>
          <a:p>
            <a:pPr marL="152400" indent="-152400">
              <a:spcAft>
                <a:spcPts val="500"/>
              </a:spcAft>
              <a:buSzPct val="100000"/>
              <a:buChar char="•"/>
            </a:pPr>
            <a:r>
              <a:rPr lang="en-US" sz="1200" dirty="0">
                <a:solidFill>
                  <a:schemeClr val="tx1"/>
                </a:solidFill>
              </a:rPr>
              <a:t>Beds in scope: [INPUT]</a:t>
            </a:r>
            <a:endParaRPr lang="en-US" sz="1200" dirty="0"/>
          </a:p>
          <a:p>
            <a:pPr marL="152400" indent="-152400">
              <a:spcAft>
                <a:spcPts val="500"/>
              </a:spcAft>
              <a:buSzPct val="100000"/>
              <a:buChar char="•"/>
            </a:pPr>
            <a:r>
              <a:rPr lang="en-US" sz="1200" dirty="0">
                <a:solidFill>
                  <a:schemeClr val="tx1"/>
                </a:solidFill>
              </a:rPr>
              <a:t>Relay positions: see next slides</a:t>
            </a:r>
            <a:endParaRPr lang="en-US" sz="1200" dirty="0"/>
          </a:p>
          <a:p>
            <a:pPr marL="152400" indent="-152400">
              <a:spcAft>
                <a:spcPts val="500"/>
              </a:spcAft>
              <a:buSzPct val="100000"/>
              <a:buChar char="•"/>
            </a:pPr>
            <a:r>
              <a:rPr lang="en-US" sz="1200" dirty="0">
                <a:solidFill>
                  <a:schemeClr val="tx1"/>
                </a:solidFill>
              </a:rPr>
              <a:t>Install window per ward: [INPUT]</a:t>
            </a:r>
            <a:endParaRPr lang="en-US" sz="12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4 · UNDERSTANDING OF THE PROJECT</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Relay quantities follow a transparent, coverage-based method that is verified by an on-site survey</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MONIT sizing method. Coverage radius and beds-per-relay are assumptions to be confirmed by the product / RF team.</a:t>
            </a:r>
            <a:endParaRPr lang="en-US" sz="900" dirty="0"/>
          </a:p>
        </p:txBody>
      </p:sp>
      <p:sp>
        <p:nvSpPr>
          <p:cNvPr id="6" name="Shape 3"/>
          <p:cNvSpPr/>
          <p:nvPr/>
        </p:nvSpPr>
        <p:spPr>
          <a:xfrm>
            <a:off x="594360" y="1737360"/>
            <a:ext cx="502920" cy="502920"/>
          </a:xfrm>
          <a:prstGeom prst="ellipse">
            <a:avLst/>
          </a:prstGeom>
          <a:solidFill>
            <a:schemeClr val="tx2"/>
          </a:solidFill>
          <a:ln/>
        </p:spPr>
      </p:sp>
      <p:sp>
        <p:nvSpPr>
          <p:cNvPr id="7" name="Text 4"/>
          <p:cNvSpPr txBox="1"/>
          <p:nvPr/>
        </p:nvSpPr>
        <p:spPr>
          <a:xfrm>
            <a:off x="594360" y="17373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1234440" y="1737360"/>
            <a:ext cx="1371600" cy="502920"/>
          </a:xfrm>
          <a:prstGeom prst="rect">
            <a:avLst/>
          </a:prstGeom>
          <a:noFill/>
          <a:ln/>
        </p:spPr>
        <p:txBody>
          <a:bodyPr wrap="square" lIns="0" tIns="0" rIns="0" bIns="0" rtlCol="0" anchor="ctr"/>
          <a:lstStyle/>
          <a:p>
            <a:pPr indent="0" marL="0">
              <a:buNone/>
            </a:pPr>
            <a:r>
              <a:rPr lang="en-US" sz="1400" b="1" dirty="0">
                <a:solidFill>
                  <a:schemeClr val="tx2"/>
                </a:solidFill>
              </a:rPr>
              <a:t>Map</a:t>
            </a:r>
            <a:endParaRPr lang="en-US" sz="1400" dirty="0"/>
          </a:p>
        </p:txBody>
      </p:sp>
      <p:sp>
        <p:nvSpPr>
          <p:cNvPr id="9" name="Text 6"/>
          <p:cNvSpPr txBox="1"/>
          <p:nvPr/>
        </p:nvSpPr>
        <p:spPr>
          <a:xfrm>
            <a:off x="594360" y="2377440"/>
            <a:ext cx="2011680" cy="868680"/>
          </a:xfrm>
          <a:prstGeom prst="rect">
            <a:avLst/>
          </a:prstGeom>
          <a:noFill/>
          <a:ln/>
        </p:spPr>
        <p:txBody>
          <a:bodyPr wrap="square" lIns="0" tIns="0" rIns="0" bIns="0" rtlCol="0" anchor="t"/>
          <a:lstStyle/>
          <a:p>
            <a:pPr indent="0" marL="0">
              <a:buNone/>
            </a:pPr>
            <a:r>
              <a:rPr lang="en-US" sz="1150" dirty="0">
                <a:solidFill>
                  <a:schemeClr val="tx1"/>
                </a:solidFill>
              </a:rPr>
              <a:t>Mark bed locations &amp; wall types on each ward floor plan</a:t>
            </a:r>
            <a:endParaRPr lang="en-US" sz="1150" dirty="0"/>
          </a:p>
        </p:txBody>
      </p:sp>
      <p:sp>
        <p:nvSpPr>
          <p:cNvPr id="10" name="Shape 7"/>
          <p:cNvSpPr/>
          <p:nvPr/>
        </p:nvSpPr>
        <p:spPr>
          <a:xfrm>
            <a:off x="2834640" y="1737360"/>
            <a:ext cx="502920" cy="502920"/>
          </a:xfrm>
          <a:prstGeom prst="ellipse">
            <a:avLst/>
          </a:prstGeom>
          <a:solidFill>
            <a:schemeClr val="accent1"/>
          </a:solidFill>
          <a:ln/>
        </p:spPr>
      </p:sp>
      <p:sp>
        <p:nvSpPr>
          <p:cNvPr id="11" name="Text 8"/>
          <p:cNvSpPr txBox="1"/>
          <p:nvPr/>
        </p:nvSpPr>
        <p:spPr>
          <a:xfrm>
            <a:off x="2834640" y="17373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3474720" y="1737360"/>
            <a:ext cx="1371600" cy="502920"/>
          </a:xfrm>
          <a:prstGeom prst="rect">
            <a:avLst/>
          </a:prstGeom>
          <a:noFill/>
          <a:ln/>
        </p:spPr>
        <p:txBody>
          <a:bodyPr wrap="square" lIns="0" tIns="0" rIns="0" bIns="0" rtlCol="0" anchor="ctr"/>
          <a:lstStyle/>
          <a:p>
            <a:pPr indent="0" marL="0">
              <a:buNone/>
            </a:pPr>
            <a:r>
              <a:rPr lang="en-US" sz="1400" b="1" dirty="0">
                <a:solidFill>
                  <a:schemeClr val="tx2"/>
                </a:solidFill>
              </a:rPr>
              <a:t>Cover</a:t>
            </a:r>
            <a:endParaRPr lang="en-US" sz="1400" dirty="0"/>
          </a:p>
        </p:txBody>
      </p:sp>
      <p:sp>
        <p:nvSpPr>
          <p:cNvPr id="13" name="Text 10"/>
          <p:cNvSpPr txBox="1"/>
          <p:nvPr/>
        </p:nvSpPr>
        <p:spPr>
          <a:xfrm>
            <a:off x="2834640" y="2377440"/>
            <a:ext cx="2011680" cy="868680"/>
          </a:xfrm>
          <a:prstGeom prst="rect">
            <a:avLst/>
          </a:prstGeom>
          <a:noFill/>
          <a:ln/>
        </p:spPr>
        <p:txBody>
          <a:bodyPr wrap="square" lIns="0" tIns="0" rIns="0" bIns="0" rtlCol="0" anchor="t"/>
          <a:lstStyle/>
          <a:p>
            <a:pPr indent="0" marL="0">
              <a:buNone/>
            </a:pPr>
            <a:r>
              <a:rPr lang="en-US" sz="1150" dirty="0">
                <a:solidFill>
                  <a:schemeClr val="tx1"/>
                </a:solidFill>
              </a:rPr>
              <a:t>Place relays so every bed lies within the validated coverage radius</a:t>
            </a:r>
            <a:endParaRPr lang="en-US" sz="1150" dirty="0"/>
          </a:p>
        </p:txBody>
      </p:sp>
      <p:sp>
        <p:nvSpPr>
          <p:cNvPr id="14" name="Shape 11"/>
          <p:cNvSpPr/>
          <p:nvPr/>
        </p:nvSpPr>
        <p:spPr>
          <a:xfrm>
            <a:off x="5074920" y="1737360"/>
            <a:ext cx="502920" cy="502920"/>
          </a:xfrm>
          <a:prstGeom prst="ellipse">
            <a:avLst/>
          </a:prstGeom>
          <a:solidFill>
            <a:schemeClr val="tx2"/>
          </a:solidFill>
          <a:ln/>
        </p:spPr>
      </p:sp>
      <p:sp>
        <p:nvSpPr>
          <p:cNvPr id="15" name="Text 12"/>
          <p:cNvSpPr txBox="1"/>
          <p:nvPr/>
        </p:nvSpPr>
        <p:spPr>
          <a:xfrm>
            <a:off x="5074920" y="17373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3"/>
          <p:cNvSpPr txBox="1"/>
          <p:nvPr/>
        </p:nvSpPr>
        <p:spPr>
          <a:xfrm>
            <a:off x="5715000" y="1737360"/>
            <a:ext cx="1371600" cy="502920"/>
          </a:xfrm>
          <a:prstGeom prst="rect">
            <a:avLst/>
          </a:prstGeom>
          <a:noFill/>
          <a:ln/>
        </p:spPr>
        <p:txBody>
          <a:bodyPr wrap="square" lIns="0" tIns="0" rIns="0" bIns="0" rtlCol="0" anchor="ctr"/>
          <a:lstStyle/>
          <a:p>
            <a:pPr indent="0" marL="0">
              <a:buNone/>
            </a:pPr>
            <a:r>
              <a:rPr lang="en-US" sz="1400" b="1" dirty="0">
                <a:solidFill>
                  <a:schemeClr val="tx2"/>
                </a:solidFill>
              </a:rPr>
              <a:t>Check capacity</a:t>
            </a:r>
            <a:endParaRPr lang="en-US" sz="1400" dirty="0"/>
          </a:p>
        </p:txBody>
      </p:sp>
      <p:sp>
        <p:nvSpPr>
          <p:cNvPr id="17" name="Text 14"/>
          <p:cNvSpPr txBox="1"/>
          <p:nvPr/>
        </p:nvSpPr>
        <p:spPr>
          <a:xfrm>
            <a:off x="5074920" y="2377440"/>
            <a:ext cx="2011680" cy="868680"/>
          </a:xfrm>
          <a:prstGeom prst="rect">
            <a:avLst/>
          </a:prstGeom>
          <a:noFill/>
          <a:ln/>
        </p:spPr>
        <p:txBody>
          <a:bodyPr wrap="square" lIns="0" tIns="0" rIns="0" bIns="0" rtlCol="0" anchor="t"/>
          <a:lstStyle/>
          <a:p>
            <a:pPr indent="0" marL="0">
              <a:buNone/>
            </a:pPr>
            <a:r>
              <a:rPr lang="en-US" sz="1150" dirty="0">
                <a:solidFill>
                  <a:schemeClr val="tx1"/>
                </a:solidFill>
              </a:rPr>
              <a:t>Ensure sensors per relay stays below the maximum</a:t>
            </a:r>
            <a:endParaRPr lang="en-US" sz="1150" dirty="0"/>
          </a:p>
        </p:txBody>
      </p:sp>
      <p:sp>
        <p:nvSpPr>
          <p:cNvPr id="18" name="Shape 15"/>
          <p:cNvSpPr/>
          <p:nvPr/>
        </p:nvSpPr>
        <p:spPr>
          <a:xfrm>
            <a:off x="7315200" y="1737360"/>
            <a:ext cx="502920" cy="502920"/>
          </a:xfrm>
          <a:prstGeom prst="ellipse">
            <a:avLst/>
          </a:prstGeom>
          <a:solidFill>
            <a:schemeClr val="accent1"/>
          </a:solidFill>
          <a:ln/>
        </p:spPr>
      </p:sp>
      <p:sp>
        <p:nvSpPr>
          <p:cNvPr id="19" name="Text 16"/>
          <p:cNvSpPr txBox="1"/>
          <p:nvPr/>
        </p:nvSpPr>
        <p:spPr>
          <a:xfrm>
            <a:off x="7315200" y="17373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0" name="Text 17"/>
          <p:cNvSpPr txBox="1"/>
          <p:nvPr/>
        </p:nvSpPr>
        <p:spPr>
          <a:xfrm>
            <a:off x="7955280" y="1737360"/>
            <a:ext cx="1371600" cy="502920"/>
          </a:xfrm>
          <a:prstGeom prst="rect">
            <a:avLst/>
          </a:prstGeom>
          <a:noFill/>
          <a:ln/>
        </p:spPr>
        <p:txBody>
          <a:bodyPr wrap="square" lIns="0" tIns="0" rIns="0" bIns="0" rtlCol="0" anchor="ctr"/>
          <a:lstStyle/>
          <a:p>
            <a:pPr indent="0" marL="0">
              <a:buNone/>
            </a:pPr>
            <a:r>
              <a:rPr lang="en-US" sz="1400" b="1" dirty="0">
                <a:solidFill>
                  <a:schemeClr val="tx2"/>
                </a:solidFill>
              </a:rPr>
              <a:t>Add resilience</a:t>
            </a:r>
            <a:endParaRPr lang="en-US" sz="1400" dirty="0"/>
          </a:p>
        </p:txBody>
      </p:sp>
      <p:sp>
        <p:nvSpPr>
          <p:cNvPr id="21" name="Text 18"/>
          <p:cNvSpPr txBox="1"/>
          <p:nvPr/>
        </p:nvSpPr>
        <p:spPr>
          <a:xfrm>
            <a:off x="7315200" y="2377440"/>
            <a:ext cx="2011680" cy="868680"/>
          </a:xfrm>
          <a:prstGeom prst="rect">
            <a:avLst/>
          </a:prstGeom>
          <a:noFill/>
          <a:ln/>
        </p:spPr>
        <p:txBody>
          <a:bodyPr wrap="square" lIns="0" tIns="0" rIns="0" bIns="0" rtlCol="0" anchor="t"/>
          <a:lstStyle/>
          <a:p>
            <a:pPr indent="0" marL="0">
              <a:buNone/>
            </a:pPr>
            <a:r>
              <a:rPr lang="en-US" sz="1150" dirty="0">
                <a:solidFill>
                  <a:schemeClr val="tx1"/>
                </a:solidFill>
              </a:rPr>
              <a:t>Add redundancy for critical coverage gaps (e.g. 10% spare)</a:t>
            </a:r>
            <a:endParaRPr lang="en-US" sz="1150" dirty="0"/>
          </a:p>
        </p:txBody>
      </p:sp>
      <p:sp>
        <p:nvSpPr>
          <p:cNvPr id="22" name="Shape 19"/>
          <p:cNvSpPr/>
          <p:nvPr/>
        </p:nvSpPr>
        <p:spPr>
          <a:xfrm>
            <a:off x="9555480" y="1737360"/>
            <a:ext cx="502920" cy="502920"/>
          </a:xfrm>
          <a:prstGeom prst="ellipse">
            <a:avLst/>
          </a:prstGeom>
          <a:solidFill>
            <a:schemeClr val="tx2"/>
          </a:solidFill>
          <a:ln/>
        </p:spPr>
      </p:sp>
      <p:sp>
        <p:nvSpPr>
          <p:cNvPr id="23" name="Text 20"/>
          <p:cNvSpPr txBox="1"/>
          <p:nvPr/>
        </p:nvSpPr>
        <p:spPr>
          <a:xfrm>
            <a:off x="9555480" y="173736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4" name="Text 21"/>
          <p:cNvSpPr txBox="1"/>
          <p:nvPr/>
        </p:nvSpPr>
        <p:spPr>
          <a:xfrm>
            <a:off x="10195560" y="1737360"/>
            <a:ext cx="1371600" cy="502920"/>
          </a:xfrm>
          <a:prstGeom prst="rect">
            <a:avLst/>
          </a:prstGeom>
          <a:noFill/>
          <a:ln/>
        </p:spPr>
        <p:txBody>
          <a:bodyPr wrap="square" lIns="0" tIns="0" rIns="0" bIns="0" rtlCol="0" anchor="ctr"/>
          <a:lstStyle/>
          <a:p>
            <a:pPr indent="0" marL="0">
              <a:buNone/>
            </a:pPr>
            <a:r>
              <a:rPr lang="en-US" sz="1400" b="1" dirty="0">
                <a:solidFill>
                  <a:schemeClr val="tx2"/>
                </a:solidFill>
              </a:rPr>
              <a:t>Verify</a:t>
            </a:r>
            <a:endParaRPr lang="en-US" sz="1400" dirty="0"/>
          </a:p>
        </p:txBody>
      </p:sp>
      <p:sp>
        <p:nvSpPr>
          <p:cNvPr id="25" name="Text 22"/>
          <p:cNvSpPr txBox="1"/>
          <p:nvPr/>
        </p:nvSpPr>
        <p:spPr>
          <a:xfrm>
            <a:off x="9555480" y="2377440"/>
            <a:ext cx="2011680" cy="868680"/>
          </a:xfrm>
          <a:prstGeom prst="rect">
            <a:avLst/>
          </a:prstGeom>
          <a:noFill/>
          <a:ln/>
        </p:spPr>
        <p:txBody>
          <a:bodyPr wrap="square" lIns="0" tIns="0" rIns="0" bIns="0" rtlCol="0" anchor="t"/>
          <a:lstStyle/>
          <a:p>
            <a:pPr indent="0" marL="0">
              <a:buNone/>
            </a:pPr>
            <a:r>
              <a:rPr lang="en-US" sz="1150" dirty="0">
                <a:solidFill>
                  <a:schemeClr val="tx1"/>
                </a:solidFill>
              </a:rPr>
              <a:t>Confirm with Wi-Fi/RF survey and pilot ward</a:t>
            </a:r>
            <a:endParaRPr lang="en-US" sz="1150" dirty="0"/>
          </a:p>
        </p:txBody>
      </p:sp>
      <p:sp>
        <p:nvSpPr>
          <p:cNvPr id="26" name="Shape 23"/>
          <p:cNvSpPr/>
          <p:nvPr/>
        </p:nvSpPr>
        <p:spPr>
          <a:xfrm>
            <a:off x="548640" y="3520440"/>
            <a:ext cx="5669280" cy="2468880"/>
          </a:xfrm>
          <a:prstGeom prst="rect">
            <a:avLst/>
          </a:prstGeom>
          <a:solidFill>
            <a:schemeClr val="tx2"/>
          </a:solidFill>
          <a:ln/>
        </p:spPr>
      </p:sp>
      <p:sp>
        <p:nvSpPr>
          <p:cNvPr id="27" name="Text 24"/>
          <p:cNvSpPr txBox="1"/>
          <p:nvPr/>
        </p:nvSpPr>
        <p:spPr>
          <a:xfrm>
            <a:off x="777240" y="3657600"/>
            <a:ext cx="5212080" cy="274320"/>
          </a:xfrm>
          <a:prstGeom prst="rect">
            <a:avLst/>
          </a:prstGeom>
          <a:noFill/>
          <a:ln/>
        </p:spPr>
        <p:txBody>
          <a:bodyPr wrap="square" lIns="0" tIns="0" rIns="0" bIns="0" rtlCol="0" anchor="t"/>
          <a:lstStyle/>
          <a:p>
            <a:pPr indent="0" marL="0">
              <a:buNone/>
            </a:pPr>
            <a:r>
              <a:rPr lang="en-US" sz="1300" b="1" dirty="0">
                <a:solidFill>
                  <a:srgbClr val="CADCFC"/>
                </a:solidFill>
              </a:rPr>
              <a:t>Sizing rule (per ward)</a:t>
            </a:r>
            <a:endParaRPr lang="en-US" sz="1300" dirty="0"/>
          </a:p>
        </p:txBody>
      </p:sp>
      <p:sp>
        <p:nvSpPr>
          <p:cNvPr id="28" name="Text 25"/>
          <p:cNvSpPr txBox="1"/>
          <p:nvPr/>
        </p:nvSpPr>
        <p:spPr>
          <a:xfrm>
            <a:off x="777240" y="4023360"/>
            <a:ext cx="5212080" cy="100584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Relays = MAX( ⌈ Beds ÷ Max sensors per relay ⌉ ,  ⌈ Ward area ÷ Coverage area per relay ⌉ )  +  Redundancy</a:t>
            </a:r>
            <a:endParaRPr lang="en-US" sz="1600" dirty="0"/>
          </a:p>
        </p:txBody>
      </p:sp>
      <p:sp>
        <p:nvSpPr>
          <p:cNvPr id="29" name="Text 26"/>
          <p:cNvSpPr txBox="1"/>
          <p:nvPr/>
        </p:nvSpPr>
        <p:spPr>
          <a:xfrm>
            <a:off x="777240" y="5120640"/>
            <a:ext cx="5212080" cy="365760"/>
          </a:xfrm>
          <a:prstGeom prst="rect">
            <a:avLst/>
          </a:prstGeom>
          <a:noFill/>
          <a:ln/>
        </p:spPr>
        <p:txBody>
          <a:bodyPr wrap="square" lIns="0" tIns="0" rIns="0" bIns="0" rtlCol="0" anchor="t"/>
          <a:lstStyle/>
          <a:p>
            <a:pPr indent="0" marL="0">
              <a:buNone/>
            </a:pPr>
            <a:r>
              <a:rPr lang="en-US" sz="1200" dirty="0">
                <a:solidFill>
                  <a:srgbClr val="CADCFC"/>
                </a:solidFill>
              </a:rPr>
              <a:t>Rounded up per ward; adjusted after the Wi-Fi/RF survey.</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92240" y="3520440"/>
          <a:ext cx="5148072" cy="914400"/>
        </p:xfrm>
        <a:graphic>
          <a:graphicData uri="http://schemas.openxmlformats.org/drawingml/2006/table">
            <a:tbl>
              <a:tblPr/>
              <a:tblGrid>
                <a:gridCol w="3108960"/>
                <a:gridCol w="2039112"/>
              </a:tblGrid>
              <a:tr h="475488">
                <a:tc>
                  <a:txBody>
                    <a:bodyPr/>
                    <a:lstStyle/>
                    <a:p>
                      <a:pPr indent="0" marL="0">
                        <a:buNone/>
                      </a:pPr>
                      <a:r>
                        <a:rPr lang="en-US" sz="1100" b="1" dirty="0">
                          <a:solidFill>
                            <a:srgbClr val="FFFFFF"/>
                          </a:solidFill>
                        </a:rPr>
                        <a:t>Design assumption</a:t>
                      </a:r>
                      <a:endParaRPr lang="en-US" sz="11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100" b="1" dirty="0">
                          <a:solidFill>
                            <a:srgbClr val="FFFFFF"/>
                          </a:solidFill>
                        </a:rPr>
                        <a:t>Value</a:t>
                      </a:r>
                      <a:endParaRPr lang="en-US" sz="11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r>
              <a:tr h="475488">
                <a:tc>
                  <a:txBody>
                    <a:bodyPr/>
                    <a:lstStyle/>
                    <a:p>
                      <a:pPr indent="0" marL="0">
                        <a:buNone/>
                      </a:pPr>
                      <a:r>
                        <a:rPr lang="en-US" sz="1100" b="1" dirty="0">
                          <a:solidFill>
                            <a:srgbClr val="1F2937"/>
                          </a:solidFill>
                        </a:rPr>
                        <a:t>Coverage radius per relay</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i="1" dirty="0">
                          <a:solidFill>
                            <a:srgbClr val="7A4F00"/>
                          </a:solidFill>
                        </a:rPr>
                        <a:t>[INPUT REQUIRED]</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r>
              <a:tr h="475488">
                <a:tc>
                  <a:txBody>
                    <a:bodyPr/>
                    <a:lstStyle/>
                    <a:p>
                      <a:pPr indent="0" marL="0">
                        <a:buNone/>
                      </a:pPr>
                      <a:r>
                        <a:rPr lang="en-US" sz="1100" b="1" dirty="0">
                          <a:solidFill>
                            <a:srgbClr val="1F2937"/>
                          </a:solidFill>
                        </a:rPr>
                        <a:t>Max sensors per relay</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i="1" dirty="0">
                          <a:solidFill>
                            <a:srgbClr val="7A4F00"/>
                          </a:solidFill>
                        </a:rPr>
                        <a:t>[INPUT REQUIRED]</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r>
              <a:tr h="475488">
                <a:tc>
                  <a:txBody>
                    <a:bodyPr/>
                    <a:lstStyle/>
                    <a:p>
                      <a:pPr indent="0" marL="0">
                        <a:buNone/>
                      </a:pPr>
                      <a:r>
                        <a:rPr lang="en-US" sz="1100" b="1" dirty="0">
                          <a:solidFill>
                            <a:srgbClr val="1F2937"/>
                          </a:solidFill>
                        </a:rPr>
                        <a:t>Wall / obstruction derating</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i="1" dirty="0">
                          <a:solidFill>
                            <a:srgbClr val="7A4F00"/>
                          </a:solidFill>
                        </a:rPr>
                        <a:t>[INPUT REQUIRED]</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r>
              <a:tr h="475488">
                <a:tc>
                  <a:txBody>
                    <a:bodyPr/>
                    <a:lstStyle/>
                    <a:p>
                      <a:pPr indent="0" marL="0">
                        <a:buNone/>
                      </a:pPr>
                      <a:r>
                        <a:rPr lang="en-US" sz="1100" b="1" dirty="0">
                          <a:solidFill>
                            <a:srgbClr val="1F2937"/>
                          </a:solidFill>
                        </a:rPr>
                        <a:t>Redundancy policy</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i="1" dirty="0">
                          <a:solidFill>
                            <a:srgbClr val="7A4F00"/>
                          </a:solidFill>
                        </a:rPr>
                        <a:t>[INPUT REQUIRED]</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4 · UNDERSTANDING OF THE PROJECT</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Proposed relay quantity by hospital and ward (mandatory RFP response)</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MONIT calculation from hospital floor plans. Quantities to be completed once floor plans and design assumptions are confirmed.</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1737360"/>
                <a:gridCol w="2834640"/>
                <a:gridCol w="914400"/>
                <a:gridCol w="1097280"/>
                <a:gridCol w="1463040"/>
                <a:gridCol w="1463040"/>
                <a:gridCol w="1581912"/>
              </a:tblGrid>
              <a:tr h="457200">
                <a:tc>
                  <a:txBody>
                    <a:bodyPr/>
                    <a:lstStyle/>
                    <a:p>
                      <a:pPr indent="0" marL="0">
                        <a:buNone/>
                      </a:pPr>
                      <a:r>
                        <a:rPr lang="en-US" sz="1100" b="1" dirty="0">
                          <a:solidFill>
                            <a:srgbClr val="FFFFFF"/>
                          </a:solidFill>
                        </a:rPr>
                        <a:t>Hospital</a:t>
                      </a:r>
                      <a:endParaRPr lang="en-US" sz="11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100" b="1" dirty="0">
                          <a:solidFill>
                            <a:srgbClr val="FFFFFF"/>
                          </a:solidFill>
                        </a:rPr>
                        <a:t>Ward / area</a:t>
                      </a:r>
                      <a:endParaRPr lang="en-US" sz="11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100" b="1" dirty="0">
                          <a:solidFill>
                            <a:srgbClr val="FFFFFF"/>
                          </a:solidFill>
                        </a:rPr>
                        <a:t>Beds</a:t>
                      </a:r>
                      <a:endParaRPr lang="en-US" sz="11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100" b="1" dirty="0">
                          <a:solidFill>
                            <a:srgbClr val="FFFFFF"/>
                          </a:solidFill>
                        </a:rPr>
                        <a:t>Area (m²)</a:t>
                      </a:r>
                      <a:endParaRPr lang="en-US" sz="11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100" b="1" dirty="0">
                          <a:solidFill>
                            <a:srgbClr val="FFFFFF"/>
                          </a:solidFill>
                        </a:rPr>
                        <a:t>Relays (coverage)</a:t>
                      </a:r>
                      <a:endParaRPr lang="en-US" sz="11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100" b="1" dirty="0">
                          <a:solidFill>
                            <a:srgbClr val="FFFFFF"/>
                          </a:solidFill>
                        </a:rPr>
                        <a:t>Relays (capacity)</a:t>
                      </a:r>
                      <a:endParaRPr lang="en-US" sz="11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100" b="1" dirty="0">
                          <a:solidFill>
                            <a:srgbClr val="FFFFFF"/>
                          </a:solidFill>
                        </a:rPr>
                        <a:t>Proposed relays (incl. spare)</a:t>
                      </a:r>
                      <a:endParaRPr lang="en-US" sz="11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r>
              <a:tr h="457200">
                <a:tc>
                  <a:txBody>
                    <a:bodyPr/>
                    <a:lstStyle/>
                    <a:p>
                      <a:pPr indent="0" marL="0">
                        <a:buNone/>
                      </a:pPr>
                      <a:r>
                        <a:rPr lang="en-US" sz="1100" b="1" dirty="0">
                          <a:solidFill>
                            <a:srgbClr val="1F2937"/>
                          </a:solidFill>
                        </a:rPr>
                        <a:t>KTPH</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i="1" dirty="0">
                          <a:solidFill>
                            <a:srgbClr val="7A4F00"/>
                          </a:solidFill>
                        </a:rPr>
                        <a:t>[INPUT REQUIRED] Ward 1</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100" dirty="0">
                          <a:solidFill>
                            <a:srgbClr val="1F2937"/>
                          </a:solidFill>
                        </a:rPr>
                        <a:t>[ ]</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 ]</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 ]</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 ]</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 ]</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1F2937"/>
                          </a:solidFill>
                        </a:rPr>
                        <a:t>KTPH</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i="1" dirty="0">
                          <a:solidFill>
                            <a:srgbClr val="7A4F00"/>
                          </a:solidFill>
                        </a:rPr>
                        <a:t>[INPUT REQUIRED] Ward 2</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100" dirty="0">
                          <a:solidFill>
                            <a:srgbClr val="1F2937"/>
                          </a:solidFill>
                        </a:rPr>
                        <a:t>[ ]</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 ]</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 ]</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 ]</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 ]</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r h="457200">
                <a:tc>
                  <a:txBody>
                    <a:bodyPr/>
                    <a:lstStyle/>
                    <a:p>
                      <a:pPr indent="0" marL="0">
                        <a:buNone/>
                      </a:pPr>
                      <a:r>
                        <a:rPr lang="en-US" sz="1100" b="1" dirty="0">
                          <a:solidFill>
                            <a:srgbClr val="1F2937"/>
                          </a:solidFill>
                        </a:rPr>
                        <a:t>Woodlands Health</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i="1" dirty="0">
                          <a:solidFill>
                            <a:srgbClr val="7A4F00"/>
                          </a:solidFill>
                        </a:rPr>
                        <a:t>[INPUT REQUIRED] Ward 1</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100" dirty="0">
                          <a:solidFill>
                            <a:srgbClr val="1F2937"/>
                          </a:solidFill>
                        </a:rPr>
                        <a:t>[ ]</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 ]</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 ]</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 ]</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 ]</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1F2937"/>
                          </a:solidFill>
                        </a:rPr>
                        <a:t>Woodlands Health</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i="1" dirty="0">
                          <a:solidFill>
                            <a:srgbClr val="7A4F00"/>
                          </a:solidFill>
                        </a:rPr>
                        <a:t>[INPUT REQUIRED] Ward 2</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100" dirty="0">
                          <a:solidFill>
                            <a:srgbClr val="1F2937"/>
                          </a:solidFill>
                        </a:rPr>
                        <a:t>[ ]</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 ]</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 ]</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 ]</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 ]</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r h="457200">
                <a:tc>
                  <a:txBody>
                    <a:bodyPr/>
                    <a:lstStyle/>
                    <a:p>
                      <a:pPr indent="0" marL="0">
                        <a:buNone/>
                      </a:pPr>
                      <a:r>
                        <a:rPr lang="en-US" sz="1100" b="1" dirty="0">
                          <a:solidFill>
                            <a:srgbClr val="1F2937"/>
                          </a:solidFill>
                        </a:rPr>
                        <a:t>TTSH</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i="1" dirty="0">
                          <a:solidFill>
                            <a:srgbClr val="7A4F00"/>
                          </a:solidFill>
                        </a:rPr>
                        <a:t>[INPUT REQUIRED] Ward 1</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100" dirty="0">
                          <a:solidFill>
                            <a:srgbClr val="1F2937"/>
                          </a:solidFill>
                        </a:rPr>
                        <a:t>[ ]</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 ]</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 ]</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 ]</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 ]</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1F2937"/>
                          </a:solidFill>
                        </a:rPr>
                        <a:t>TTSH</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i="1" dirty="0">
                          <a:solidFill>
                            <a:srgbClr val="7A4F00"/>
                          </a:solidFill>
                        </a:rPr>
                        <a:t>[INPUT REQUIRED] Ward 2</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100" dirty="0">
                          <a:solidFill>
                            <a:srgbClr val="1F2937"/>
                          </a:solidFill>
                        </a:rPr>
                        <a:t>[ ]</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 ]</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 ]</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 ]</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 ]</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r h="457200">
                <a:tc>
                  <a:txBody>
                    <a:bodyPr/>
                    <a:lstStyle/>
                    <a:p>
                      <a:pPr indent="0" marL="0">
                        <a:buNone/>
                      </a:pPr>
                      <a:r>
                        <a:rPr lang="en-US" sz="1100" b="1" dirty="0">
                          <a:solidFill>
                            <a:srgbClr val="1F2937"/>
                          </a:solidFill>
                        </a:rPr>
                        <a:t>Total</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 ]</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 ]</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 ]</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 ]</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 ]</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bl>
          </a:graphicData>
        </a:graphic>
      </p:graphicFrame>
      <p:sp>
        <p:nvSpPr>
          <p:cNvPr id="7" name="Input placeholder"/>
          <p:cNvSpPr/>
          <p:nvPr/>
        </p:nvSpPr>
        <p:spPr>
          <a:xfrm>
            <a:off x="548640" y="5532120"/>
            <a:ext cx="11091672" cy="548640"/>
          </a:xfrm>
          <a:prstGeom prst="rect">
            <a:avLst/>
          </a:prstGeom>
          <a:solidFill>
            <a:srgbClr val="FFF4D6"/>
          </a:solidFill>
          <a:ln w="12700">
            <a:solidFill>
              <a:srgbClr val="F2A900"/>
            </a:solidFill>
            <a:prstDash val="dash"/>
          </a:ln>
        </p:spPr>
      </p:sp>
      <p:sp>
        <p:nvSpPr>
          <p:cNvPr id="8" name="Text 4"/>
          <p:cNvSpPr txBox="1"/>
          <p:nvPr/>
        </p:nvSpPr>
        <p:spPr>
          <a:xfrm>
            <a:off x="640080" y="5532120"/>
            <a:ext cx="10908792" cy="548640"/>
          </a:xfrm>
          <a:prstGeom prst="rect">
            <a:avLst/>
          </a:prstGeom>
          <a:noFill/>
          <a:ln/>
        </p:spPr>
        <p:txBody>
          <a:bodyPr wrap="square" lIns="0" tIns="0" rIns="0" bIns="0" rtlCol="0" anchor="ctr"/>
          <a:lstStyle/>
          <a:p>
            <a:pPr indent="0" marL="0">
              <a:buNone/>
            </a:pPr>
            <a:r>
              <a:rPr lang="en-US" sz="1100" i="1" dirty="0">
                <a:solidFill>
                  <a:srgbClr val="7A4F00"/>
                </a:solidFill>
              </a:rPr>
              <a:t>[INPUT REQUIRED] Add one row per ward from the three floor plans; confirm quantity per ward with the sizing rule.</a:t>
            </a:r>
            <a:endParaRPr lang="en-US" sz="11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5 · PROJECT TIMELINE</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Implementation can start on award and reach full go-live in about six months</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MONIT indicative plan; RFP Section 1 clause 10 (10% deposit within 14 days; at least 28 days to mobilise). T0 = Letter of Acceptance. Lead times to be confirmed.</a:t>
            </a:r>
            <a:endParaRPr lang="en-US" sz="900" dirty="0"/>
          </a:p>
        </p:txBody>
      </p:sp>
      <p:sp>
        <p:nvSpPr>
          <p:cNvPr id="6" name="Shape 3"/>
          <p:cNvSpPr/>
          <p:nvPr/>
        </p:nvSpPr>
        <p:spPr>
          <a:xfrm>
            <a:off x="3566160" y="1691640"/>
            <a:ext cx="1242177" cy="320040"/>
          </a:xfrm>
          <a:prstGeom prst="rect">
            <a:avLst/>
          </a:prstGeom>
          <a:solidFill>
            <a:schemeClr val="tx2"/>
          </a:solidFill>
          <a:ln w="6350">
            <a:solidFill>
              <a:srgbClr val="FFFFFF"/>
            </a:solidFill>
            <a:prstDash val="solid"/>
          </a:ln>
        </p:spPr>
      </p:sp>
      <p:sp>
        <p:nvSpPr>
          <p:cNvPr id="7" name="Text 4"/>
          <p:cNvSpPr txBox="1"/>
          <p:nvPr/>
        </p:nvSpPr>
        <p:spPr>
          <a:xfrm>
            <a:off x="3566160" y="1691640"/>
            <a:ext cx="1242177" cy="320040"/>
          </a:xfrm>
          <a:prstGeom prst="rect">
            <a:avLst/>
          </a:prstGeom>
          <a:noFill/>
          <a:ln/>
        </p:spPr>
        <p:txBody>
          <a:bodyPr wrap="square" lIns="0" tIns="0" rIns="0" bIns="0" rtlCol="0" anchor="ctr"/>
          <a:lstStyle/>
          <a:p>
            <a:pPr algn="ctr" indent="0" marL="0">
              <a:buNone/>
            </a:pPr>
            <a:r>
              <a:rPr lang="en-US" sz="1100" b="1" dirty="0">
                <a:solidFill>
                  <a:schemeClr val="bg1"/>
                </a:solidFill>
              </a:rPr>
              <a:t>M1</a:t>
            </a:r>
            <a:endParaRPr lang="en-US" sz="1100" dirty="0"/>
          </a:p>
        </p:txBody>
      </p:sp>
      <p:sp>
        <p:nvSpPr>
          <p:cNvPr id="8" name="Shape 5"/>
          <p:cNvSpPr/>
          <p:nvPr/>
        </p:nvSpPr>
        <p:spPr>
          <a:xfrm>
            <a:off x="4808337" y="1691640"/>
            <a:ext cx="1242177" cy="320040"/>
          </a:xfrm>
          <a:prstGeom prst="rect">
            <a:avLst/>
          </a:prstGeom>
          <a:solidFill>
            <a:schemeClr val="accent2"/>
          </a:solidFill>
          <a:ln w="6350">
            <a:solidFill>
              <a:srgbClr val="FFFFFF"/>
            </a:solidFill>
            <a:prstDash val="solid"/>
          </a:ln>
        </p:spPr>
      </p:sp>
      <p:sp>
        <p:nvSpPr>
          <p:cNvPr id="9" name="Text 6"/>
          <p:cNvSpPr txBox="1"/>
          <p:nvPr/>
        </p:nvSpPr>
        <p:spPr>
          <a:xfrm>
            <a:off x="4808337" y="1691640"/>
            <a:ext cx="1242177" cy="320040"/>
          </a:xfrm>
          <a:prstGeom prst="rect">
            <a:avLst/>
          </a:prstGeom>
          <a:noFill/>
          <a:ln/>
        </p:spPr>
        <p:txBody>
          <a:bodyPr wrap="square" lIns="0" tIns="0" rIns="0" bIns="0" rtlCol="0" anchor="ctr"/>
          <a:lstStyle/>
          <a:p>
            <a:pPr algn="ctr" indent="0" marL="0">
              <a:buNone/>
            </a:pPr>
            <a:r>
              <a:rPr lang="en-US" sz="1100" b="1" dirty="0">
                <a:solidFill>
                  <a:schemeClr val="bg1"/>
                </a:solidFill>
              </a:rPr>
              <a:t>M2</a:t>
            </a:r>
            <a:endParaRPr lang="en-US" sz="1100" dirty="0"/>
          </a:p>
        </p:txBody>
      </p:sp>
      <p:sp>
        <p:nvSpPr>
          <p:cNvPr id="10" name="Shape 7"/>
          <p:cNvSpPr/>
          <p:nvPr/>
        </p:nvSpPr>
        <p:spPr>
          <a:xfrm>
            <a:off x="6050514" y="1691640"/>
            <a:ext cx="1242177" cy="320040"/>
          </a:xfrm>
          <a:prstGeom prst="rect">
            <a:avLst/>
          </a:prstGeom>
          <a:solidFill>
            <a:schemeClr val="tx2"/>
          </a:solidFill>
          <a:ln w="6350">
            <a:solidFill>
              <a:srgbClr val="FFFFFF"/>
            </a:solidFill>
            <a:prstDash val="solid"/>
          </a:ln>
        </p:spPr>
      </p:sp>
      <p:sp>
        <p:nvSpPr>
          <p:cNvPr id="11" name="Text 8"/>
          <p:cNvSpPr txBox="1"/>
          <p:nvPr/>
        </p:nvSpPr>
        <p:spPr>
          <a:xfrm>
            <a:off x="6050514" y="1691640"/>
            <a:ext cx="1242177" cy="320040"/>
          </a:xfrm>
          <a:prstGeom prst="rect">
            <a:avLst/>
          </a:prstGeom>
          <a:noFill/>
          <a:ln/>
        </p:spPr>
        <p:txBody>
          <a:bodyPr wrap="square" lIns="0" tIns="0" rIns="0" bIns="0" rtlCol="0" anchor="ctr"/>
          <a:lstStyle/>
          <a:p>
            <a:pPr algn="ctr" indent="0" marL="0">
              <a:buNone/>
            </a:pPr>
            <a:r>
              <a:rPr lang="en-US" sz="1100" b="1" dirty="0">
                <a:solidFill>
                  <a:schemeClr val="bg1"/>
                </a:solidFill>
              </a:rPr>
              <a:t>M3</a:t>
            </a:r>
            <a:endParaRPr lang="en-US" sz="1100" dirty="0"/>
          </a:p>
        </p:txBody>
      </p:sp>
      <p:sp>
        <p:nvSpPr>
          <p:cNvPr id="12" name="Shape 9"/>
          <p:cNvSpPr/>
          <p:nvPr/>
        </p:nvSpPr>
        <p:spPr>
          <a:xfrm>
            <a:off x="7292692" y="1691640"/>
            <a:ext cx="1242177" cy="320040"/>
          </a:xfrm>
          <a:prstGeom prst="rect">
            <a:avLst/>
          </a:prstGeom>
          <a:solidFill>
            <a:schemeClr val="accent2"/>
          </a:solidFill>
          <a:ln w="6350">
            <a:solidFill>
              <a:srgbClr val="FFFFFF"/>
            </a:solidFill>
            <a:prstDash val="solid"/>
          </a:ln>
        </p:spPr>
      </p:sp>
      <p:sp>
        <p:nvSpPr>
          <p:cNvPr id="13" name="Text 10"/>
          <p:cNvSpPr txBox="1"/>
          <p:nvPr/>
        </p:nvSpPr>
        <p:spPr>
          <a:xfrm>
            <a:off x="7292692" y="1691640"/>
            <a:ext cx="1242177" cy="320040"/>
          </a:xfrm>
          <a:prstGeom prst="rect">
            <a:avLst/>
          </a:prstGeom>
          <a:noFill/>
          <a:ln/>
        </p:spPr>
        <p:txBody>
          <a:bodyPr wrap="square" lIns="0" tIns="0" rIns="0" bIns="0" rtlCol="0" anchor="ctr"/>
          <a:lstStyle/>
          <a:p>
            <a:pPr algn="ctr" indent="0" marL="0">
              <a:buNone/>
            </a:pPr>
            <a:r>
              <a:rPr lang="en-US" sz="1100" b="1" dirty="0">
                <a:solidFill>
                  <a:schemeClr val="bg1"/>
                </a:solidFill>
              </a:rPr>
              <a:t>M4</a:t>
            </a:r>
            <a:endParaRPr lang="en-US" sz="1100" dirty="0"/>
          </a:p>
        </p:txBody>
      </p:sp>
      <p:sp>
        <p:nvSpPr>
          <p:cNvPr id="14" name="Shape 11"/>
          <p:cNvSpPr/>
          <p:nvPr/>
        </p:nvSpPr>
        <p:spPr>
          <a:xfrm>
            <a:off x="8534869" y="1691640"/>
            <a:ext cx="1242177" cy="320040"/>
          </a:xfrm>
          <a:prstGeom prst="rect">
            <a:avLst/>
          </a:prstGeom>
          <a:solidFill>
            <a:schemeClr val="tx2"/>
          </a:solidFill>
          <a:ln w="6350">
            <a:solidFill>
              <a:srgbClr val="FFFFFF"/>
            </a:solidFill>
            <a:prstDash val="solid"/>
          </a:ln>
        </p:spPr>
      </p:sp>
      <p:sp>
        <p:nvSpPr>
          <p:cNvPr id="15" name="Text 12"/>
          <p:cNvSpPr txBox="1"/>
          <p:nvPr/>
        </p:nvSpPr>
        <p:spPr>
          <a:xfrm>
            <a:off x="8534869" y="1691640"/>
            <a:ext cx="1242177" cy="320040"/>
          </a:xfrm>
          <a:prstGeom prst="rect">
            <a:avLst/>
          </a:prstGeom>
          <a:noFill/>
          <a:ln/>
        </p:spPr>
        <p:txBody>
          <a:bodyPr wrap="square" lIns="0" tIns="0" rIns="0" bIns="0" rtlCol="0" anchor="ctr"/>
          <a:lstStyle/>
          <a:p>
            <a:pPr algn="ctr" indent="0" marL="0">
              <a:buNone/>
            </a:pPr>
            <a:r>
              <a:rPr lang="en-US" sz="1100" b="1" dirty="0">
                <a:solidFill>
                  <a:schemeClr val="bg1"/>
                </a:solidFill>
              </a:rPr>
              <a:t>M5</a:t>
            </a:r>
            <a:endParaRPr lang="en-US" sz="1100" dirty="0"/>
          </a:p>
        </p:txBody>
      </p:sp>
      <p:sp>
        <p:nvSpPr>
          <p:cNvPr id="16" name="Shape 13"/>
          <p:cNvSpPr/>
          <p:nvPr/>
        </p:nvSpPr>
        <p:spPr>
          <a:xfrm>
            <a:off x="9777046" y="1691640"/>
            <a:ext cx="1242177" cy="320040"/>
          </a:xfrm>
          <a:prstGeom prst="rect">
            <a:avLst/>
          </a:prstGeom>
          <a:solidFill>
            <a:schemeClr val="accent2"/>
          </a:solidFill>
          <a:ln w="6350">
            <a:solidFill>
              <a:srgbClr val="FFFFFF"/>
            </a:solidFill>
            <a:prstDash val="solid"/>
          </a:ln>
        </p:spPr>
      </p:sp>
      <p:sp>
        <p:nvSpPr>
          <p:cNvPr id="17" name="Text 14"/>
          <p:cNvSpPr txBox="1"/>
          <p:nvPr/>
        </p:nvSpPr>
        <p:spPr>
          <a:xfrm>
            <a:off x="9777046" y="1691640"/>
            <a:ext cx="1242177" cy="320040"/>
          </a:xfrm>
          <a:prstGeom prst="rect">
            <a:avLst/>
          </a:prstGeom>
          <a:noFill/>
          <a:ln/>
        </p:spPr>
        <p:txBody>
          <a:bodyPr wrap="square" lIns="0" tIns="0" rIns="0" bIns="0" rtlCol="0" anchor="ctr"/>
          <a:lstStyle/>
          <a:p>
            <a:pPr algn="ctr" indent="0" marL="0">
              <a:buNone/>
            </a:pPr>
            <a:r>
              <a:rPr lang="en-US" sz="1100" b="1" dirty="0">
                <a:solidFill>
                  <a:schemeClr val="bg1"/>
                </a:solidFill>
              </a:rPr>
              <a:t>M6</a:t>
            </a:r>
            <a:endParaRPr lang="en-US" sz="1100" dirty="0"/>
          </a:p>
        </p:txBody>
      </p:sp>
      <p:sp>
        <p:nvSpPr>
          <p:cNvPr id="18" name="Shape 15"/>
          <p:cNvSpPr/>
          <p:nvPr/>
        </p:nvSpPr>
        <p:spPr>
          <a:xfrm>
            <a:off x="11019223" y="1691640"/>
            <a:ext cx="621089" cy="320040"/>
          </a:xfrm>
          <a:prstGeom prst="rect">
            <a:avLst/>
          </a:prstGeom>
          <a:solidFill>
            <a:schemeClr val="tx2"/>
          </a:solidFill>
          <a:ln w="6350">
            <a:solidFill>
              <a:srgbClr val="FFFFFF"/>
            </a:solidFill>
            <a:prstDash val="solid"/>
          </a:ln>
        </p:spPr>
      </p:sp>
      <p:sp>
        <p:nvSpPr>
          <p:cNvPr id="19" name="Text 16"/>
          <p:cNvSpPr txBox="1"/>
          <p:nvPr/>
        </p:nvSpPr>
        <p:spPr>
          <a:xfrm>
            <a:off x="11019223" y="1691640"/>
            <a:ext cx="621089" cy="320040"/>
          </a:xfrm>
          <a:prstGeom prst="rect">
            <a:avLst/>
          </a:prstGeom>
          <a:noFill/>
          <a:ln/>
        </p:spPr>
        <p:txBody>
          <a:bodyPr wrap="square" lIns="0" tIns="0" rIns="0" bIns="0" rtlCol="0" anchor="ctr"/>
          <a:lstStyle/>
          <a:p>
            <a:pPr algn="ctr" indent="0" marL="0">
              <a:buNone/>
            </a:pPr>
            <a:r>
              <a:rPr lang="en-US" sz="1100" b="1" dirty="0">
                <a:solidFill>
                  <a:schemeClr val="bg1"/>
                </a:solidFill>
              </a:rPr>
              <a:t>M7</a:t>
            </a:r>
            <a:endParaRPr lang="en-US" sz="1100" dirty="0"/>
          </a:p>
        </p:txBody>
      </p:sp>
      <p:sp>
        <p:nvSpPr>
          <p:cNvPr id="20" name="Shape 17"/>
          <p:cNvSpPr/>
          <p:nvPr/>
        </p:nvSpPr>
        <p:spPr>
          <a:xfrm>
            <a:off x="548640" y="2121408"/>
            <a:ext cx="11091672" cy="420624"/>
          </a:xfrm>
          <a:prstGeom prst="rect">
            <a:avLst/>
          </a:prstGeom>
          <a:solidFill>
            <a:schemeClr val="bg2"/>
          </a:solidFill>
          <a:ln/>
        </p:spPr>
      </p:sp>
      <p:sp>
        <p:nvSpPr>
          <p:cNvPr id="21" name="Text 18"/>
          <p:cNvSpPr txBox="1"/>
          <p:nvPr/>
        </p:nvSpPr>
        <p:spPr>
          <a:xfrm>
            <a:off x="640080" y="2148840"/>
            <a:ext cx="2880360" cy="365760"/>
          </a:xfrm>
          <a:prstGeom prst="rect">
            <a:avLst/>
          </a:prstGeom>
          <a:noFill/>
          <a:ln/>
        </p:spPr>
        <p:txBody>
          <a:bodyPr wrap="square" lIns="0" tIns="0" rIns="0" bIns="0" rtlCol="0" anchor="ctr"/>
          <a:lstStyle/>
          <a:p>
            <a:pPr indent="0" marL="0">
              <a:buNone/>
            </a:pPr>
            <a:r>
              <a:rPr lang="en-US" sz="1150" dirty="0">
                <a:solidFill>
                  <a:schemeClr val="tx1"/>
                </a:solidFill>
              </a:rPr>
              <a:t>Contract, deposit &amp; insurance</a:t>
            </a:r>
            <a:endParaRPr lang="en-US" sz="1150" dirty="0"/>
          </a:p>
        </p:txBody>
      </p:sp>
      <p:sp>
        <p:nvSpPr>
          <p:cNvPr id="22" name="Gantt Contract, deposit &amp; insurance"/>
          <p:cNvSpPr/>
          <p:nvPr/>
        </p:nvSpPr>
        <p:spPr>
          <a:xfrm>
            <a:off x="3566160" y="2203704"/>
            <a:ext cx="621089" cy="256032"/>
          </a:xfrm>
          <a:prstGeom prst="rect">
            <a:avLst/>
          </a:prstGeom>
          <a:solidFill>
            <a:schemeClr val="tx2"/>
          </a:solidFill>
          <a:ln/>
        </p:spPr>
      </p:sp>
      <p:sp>
        <p:nvSpPr>
          <p:cNvPr id="23" name="Text 20"/>
          <p:cNvSpPr txBox="1"/>
          <p:nvPr/>
        </p:nvSpPr>
        <p:spPr>
          <a:xfrm>
            <a:off x="640080" y="2569464"/>
            <a:ext cx="2880360" cy="365760"/>
          </a:xfrm>
          <a:prstGeom prst="rect">
            <a:avLst/>
          </a:prstGeom>
          <a:noFill/>
          <a:ln/>
        </p:spPr>
        <p:txBody>
          <a:bodyPr wrap="square" lIns="0" tIns="0" rIns="0" bIns="0" rtlCol="0" anchor="ctr"/>
          <a:lstStyle/>
          <a:p>
            <a:pPr indent="0" marL="0">
              <a:buNone/>
            </a:pPr>
            <a:r>
              <a:rPr lang="en-US" sz="1150" dirty="0">
                <a:solidFill>
                  <a:schemeClr val="tx1"/>
                </a:solidFill>
              </a:rPr>
              <a:t>Mobilisation (≥ 28 days)</a:t>
            </a:r>
            <a:endParaRPr lang="en-US" sz="1150" dirty="0"/>
          </a:p>
        </p:txBody>
      </p:sp>
      <p:sp>
        <p:nvSpPr>
          <p:cNvPr id="24" name="Gantt Mobilisation (≥ 28 days)"/>
          <p:cNvSpPr/>
          <p:nvPr/>
        </p:nvSpPr>
        <p:spPr>
          <a:xfrm>
            <a:off x="3566160" y="2624328"/>
            <a:ext cx="1242177" cy="256032"/>
          </a:xfrm>
          <a:prstGeom prst="rect">
            <a:avLst/>
          </a:prstGeom>
          <a:solidFill>
            <a:schemeClr val="tx2"/>
          </a:solidFill>
          <a:ln/>
        </p:spPr>
      </p:sp>
      <p:sp>
        <p:nvSpPr>
          <p:cNvPr id="25" name="Shape 22"/>
          <p:cNvSpPr/>
          <p:nvPr/>
        </p:nvSpPr>
        <p:spPr>
          <a:xfrm>
            <a:off x="548640" y="2962656"/>
            <a:ext cx="11091672" cy="420624"/>
          </a:xfrm>
          <a:prstGeom prst="rect">
            <a:avLst/>
          </a:prstGeom>
          <a:solidFill>
            <a:schemeClr val="bg2"/>
          </a:solidFill>
          <a:ln/>
        </p:spPr>
      </p:sp>
      <p:sp>
        <p:nvSpPr>
          <p:cNvPr id="26" name="Text 23"/>
          <p:cNvSpPr txBox="1"/>
          <p:nvPr/>
        </p:nvSpPr>
        <p:spPr>
          <a:xfrm>
            <a:off x="640080" y="2990088"/>
            <a:ext cx="2880360" cy="365760"/>
          </a:xfrm>
          <a:prstGeom prst="rect">
            <a:avLst/>
          </a:prstGeom>
          <a:noFill/>
          <a:ln/>
        </p:spPr>
        <p:txBody>
          <a:bodyPr wrap="square" lIns="0" tIns="0" rIns="0" bIns="0" rtlCol="0" anchor="ctr"/>
          <a:lstStyle/>
          <a:p>
            <a:pPr indent="0" marL="0">
              <a:buNone/>
            </a:pPr>
            <a:r>
              <a:rPr lang="en-US" sz="1150" dirty="0">
                <a:solidFill>
                  <a:schemeClr val="tx1"/>
                </a:solidFill>
              </a:rPr>
              <a:t>Wi-Fi / RF site survey, final relay count</a:t>
            </a:r>
            <a:endParaRPr lang="en-US" sz="1150" dirty="0"/>
          </a:p>
        </p:txBody>
      </p:sp>
      <p:sp>
        <p:nvSpPr>
          <p:cNvPr id="27" name="Gantt Wi-Fi / RF site survey, final relay count"/>
          <p:cNvSpPr/>
          <p:nvPr/>
        </p:nvSpPr>
        <p:spPr>
          <a:xfrm>
            <a:off x="4187249" y="3044952"/>
            <a:ext cx="1242177" cy="256032"/>
          </a:xfrm>
          <a:prstGeom prst="rect">
            <a:avLst/>
          </a:prstGeom>
          <a:solidFill>
            <a:schemeClr val="accent1"/>
          </a:solidFill>
          <a:ln/>
        </p:spPr>
      </p:sp>
      <p:sp>
        <p:nvSpPr>
          <p:cNvPr id="28" name="Text 25"/>
          <p:cNvSpPr txBox="1"/>
          <p:nvPr/>
        </p:nvSpPr>
        <p:spPr>
          <a:xfrm>
            <a:off x="640080" y="3410712"/>
            <a:ext cx="2880360" cy="365760"/>
          </a:xfrm>
          <a:prstGeom prst="rect">
            <a:avLst/>
          </a:prstGeom>
          <a:noFill/>
          <a:ln/>
        </p:spPr>
        <p:txBody>
          <a:bodyPr wrap="square" lIns="0" tIns="0" rIns="0" bIns="0" rtlCol="0" anchor="ctr"/>
          <a:lstStyle/>
          <a:p>
            <a:pPr indent="0" marL="0">
              <a:buNone/>
            </a:pPr>
            <a:r>
              <a:rPr lang="en-US" sz="1150" dirty="0">
                <a:solidFill>
                  <a:schemeClr val="tx1"/>
                </a:solidFill>
              </a:rPr>
              <a:t>Procurement &amp; shipment (lead time)</a:t>
            </a:r>
            <a:endParaRPr lang="en-US" sz="1150" dirty="0"/>
          </a:p>
        </p:txBody>
      </p:sp>
      <p:sp>
        <p:nvSpPr>
          <p:cNvPr id="29" name="Gantt Procurement &amp; shipment (lead time)"/>
          <p:cNvSpPr/>
          <p:nvPr/>
        </p:nvSpPr>
        <p:spPr>
          <a:xfrm>
            <a:off x="4497793" y="3465576"/>
            <a:ext cx="2173810" cy="256032"/>
          </a:xfrm>
          <a:prstGeom prst="rect">
            <a:avLst/>
          </a:prstGeom>
          <a:solidFill>
            <a:schemeClr val="accent3"/>
          </a:solidFill>
          <a:ln/>
        </p:spPr>
      </p:sp>
      <p:sp>
        <p:nvSpPr>
          <p:cNvPr id="30" name="Shape 27"/>
          <p:cNvSpPr/>
          <p:nvPr/>
        </p:nvSpPr>
        <p:spPr>
          <a:xfrm>
            <a:off x="548640" y="3803904"/>
            <a:ext cx="11091672" cy="420624"/>
          </a:xfrm>
          <a:prstGeom prst="rect">
            <a:avLst/>
          </a:prstGeom>
          <a:solidFill>
            <a:schemeClr val="bg2"/>
          </a:solidFill>
          <a:ln/>
        </p:spPr>
      </p:sp>
      <p:sp>
        <p:nvSpPr>
          <p:cNvPr id="31" name="Text 28"/>
          <p:cNvSpPr txBox="1"/>
          <p:nvPr/>
        </p:nvSpPr>
        <p:spPr>
          <a:xfrm>
            <a:off x="640080" y="3831336"/>
            <a:ext cx="2880360" cy="365760"/>
          </a:xfrm>
          <a:prstGeom prst="rect">
            <a:avLst/>
          </a:prstGeom>
          <a:noFill/>
          <a:ln/>
        </p:spPr>
        <p:txBody>
          <a:bodyPr wrap="square" lIns="0" tIns="0" rIns="0" bIns="0" rtlCol="0" anchor="ctr"/>
          <a:lstStyle/>
          <a:p>
            <a:pPr indent="0" marL="0">
              <a:buNone/>
            </a:pPr>
            <a:r>
              <a:rPr lang="en-US" sz="1150" dirty="0">
                <a:solidFill>
                  <a:schemeClr val="tx1"/>
                </a:solidFill>
              </a:rPr>
              <a:t>Pilot ward install — KTPH, WH, TTSH</a:t>
            </a:r>
            <a:endParaRPr lang="en-US" sz="1150" dirty="0"/>
          </a:p>
        </p:txBody>
      </p:sp>
      <p:sp>
        <p:nvSpPr>
          <p:cNvPr id="32" name="Gantt Pilot ward install — KTPH, WH, TTSH"/>
          <p:cNvSpPr/>
          <p:nvPr/>
        </p:nvSpPr>
        <p:spPr>
          <a:xfrm>
            <a:off x="6050514" y="3886200"/>
            <a:ext cx="931633" cy="256032"/>
          </a:xfrm>
          <a:prstGeom prst="rect">
            <a:avLst/>
          </a:prstGeom>
          <a:solidFill>
            <a:schemeClr val="accent1"/>
          </a:solidFill>
          <a:ln/>
        </p:spPr>
      </p:sp>
      <p:sp>
        <p:nvSpPr>
          <p:cNvPr id="33" name="Text 30"/>
          <p:cNvSpPr txBox="1"/>
          <p:nvPr/>
        </p:nvSpPr>
        <p:spPr>
          <a:xfrm>
            <a:off x="640080" y="4251960"/>
            <a:ext cx="2880360" cy="365760"/>
          </a:xfrm>
          <a:prstGeom prst="rect">
            <a:avLst/>
          </a:prstGeom>
          <a:noFill/>
          <a:ln/>
        </p:spPr>
        <p:txBody>
          <a:bodyPr wrap="square" lIns="0" tIns="0" rIns="0" bIns="0" rtlCol="0" anchor="ctr"/>
          <a:lstStyle/>
          <a:p>
            <a:pPr indent="0" marL="0">
              <a:buNone/>
            </a:pPr>
            <a:r>
              <a:rPr lang="en-US" sz="1150" dirty="0">
                <a:solidFill>
                  <a:schemeClr val="tx1"/>
                </a:solidFill>
              </a:rPr>
              <a:t>UAT &amp; pilot acceptance</a:t>
            </a:r>
            <a:endParaRPr lang="en-US" sz="1150" dirty="0"/>
          </a:p>
        </p:txBody>
      </p:sp>
      <p:sp>
        <p:nvSpPr>
          <p:cNvPr id="34" name="Gantt UAT &amp; pilot acceptance"/>
          <p:cNvSpPr/>
          <p:nvPr/>
        </p:nvSpPr>
        <p:spPr>
          <a:xfrm>
            <a:off x="6671603" y="4306824"/>
            <a:ext cx="931633" cy="256032"/>
          </a:xfrm>
          <a:prstGeom prst="rect">
            <a:avLst/>
          </a:prstGeom>
          <a:solidFill>
            <a:schemeClr val="accent1"/>
          </a:solidFill>
          <a:ln/>
        </p:spPr>
      </p:sp>
      <p:sp>
        <p:nvSpPr>
          <p:cNvPr id="35" name="Shape 32"/>
          <p:cNvSpPr/>
          <p:nvPr/>
        </p:nvSpPr>
        <p:spPr>
          <a:xfrm>
            <a:off x="548640" y="4645152"/>
            <a:ext cx="11091672" cy="420624"/>
          </a:xfrm>
          <a:prstGeom prst="rect">
            <a:avLst/>
          </a:prstGeom>
          <a:solidFill>
            <a:schemeClr val="bg2"/>
          </a:solidFill>
          <a:ln/>
        </p:spPr>
      </p:sp>
      <p:sp>
        <p:nvSpPr>
          <p:cNvPr id="36" name="Text 33"/>
          <p:cNvSpPr txBox="1"/>
          <p:nvPr/>
        </p:nvSpPr>
        <p:spPr>
          <a:xfrm>
            <a:off x="640080" y="4672584"/>
            <a:ext cx="2880360" cy="365760"/>
          </a:xfrm>
          <a:prstGeom prst="rect">
            <a:avLst/>
          </a:prstGeom>
          <a:noFill/>
          <a:ln/>
        </p:spPr>
        <p:txBody>
          <a:bodyPr wrap="square" lIns="0" tIns="0" rIns="0" bIns="0" rtlCol="0" anchor="ctr"/>
          <a:lstStyle/>
          <a:p>
            <a:pPr indent="0" marL="0">
              <a:buNone/>
            </a:pPr>
            <a:r>
              <a:rPr lang="en-US" sz="1150" dirty="0">
                <a:solidFill>
                  <a:schemeClr val="tx1"/>
                </a:solidFill>
              </a:rPr>
              <a:t>Ward-by-ward rollout</a:t>
            </a:r>
            <a:endParaRPr lang="en-US" sz="1150" dirty="0"/>
          </a:p>
        </p:txBody>
      </p:sp>
      <p:sp>
        <p:nvSpPr>
          <p:cNvPr id="37" name="Gantt Ward-by-ward rollout"/>
          <p:cNvSpPr/>
          <p:nvPr/>
        </p:nvSpPr>
        <p:spPr>
          <a:xfrm>
            <a:off x="7292692" y="4727448"/>
            <a:ext cx="2794899" cy="256032"/>
          </a:xfrm>
          <a:prstGeom prst="rect">
            <a:avLst/>
          </a:prstGeom>
          <a:solidFill>
            <a:schemeClr val="tx2"/>
          </a:solidFill>
          <a:ln/>
        </p:spPr>
      </p:sp>
      <p:sp>
        <p:nvSpPr>
          <p:cNvPr id="38" name="Text 35"/>
          <p:cNvSpPr txBox="1"/>
          <p:nvPr/>
        </p:nvSpPr>
        <p:spPr>
          <a:xfrm>
            <a:off x="640080" y="5093208"/>
            <a:ext cx="2880360" cy="365760"/>
          </a:xfrm>
          <a:prstGeom prst="rect">
            <a:avLst/>
          </a:prstGeom>
          <a:noFill/>
          <a:ln/>
        </p:spPr>
        <p:txBody>
          <a:bodyPr wrap="square" lIns="0" tIns="0" rIns="0" bIns="0" rtlCol="0" anchor="ctr"/>
          <a:lstStyle/>
          <a:p>
            <a:pPr indent="0" marL="0">
              <a:buNone/>
            </a:pPr>
            <a:r>
              <a:rPr lang="en-US" sz="1150" dirty="0">
                <a:solidFill>
                  <a:schemeClr val="tx1"/>
                </a:solidFill>
              </a:rPr>
              <a:t>Training (nurses, IT)</a:t>
            </a:r>
            <a:endParaRPr lang="en-US" sz="1150" dirty="0"/>
          </a:p>
        </p:txBody>
      </p:sp>
      <p:sp>
        <p:nvSpPr>
          <p:cNvPr id="39" name="Gantt Training (nurses, IT)"/>
          <p:cNvSpPr/>
          <p:nvPr/>
        </p:nvSpPr>
        <p:spPr>
          <a:xfrm>
            <a:off x="6361059" y="5148072"/>
            <a:ext cx="4037076" cy="256032"/>
          </a:xfrm>
          <a:prstGeom prst="rect">
            <a:avLst/>
          </a:prstGeom>
          <a:solidFill>
            <a:schemeClr val="accent1"/>
          </a:solidFill>
          <a:ln/>
        </p:spPr>
      </p:sp>
      <p:sp>
        <p:nvSpPr>
          <p:cNvPr id="40" name="Shape 37"/>
          <p:cNvSpPr/>
          <p:nvPr/>
        </p:nvSpPr>
        <p:spPr>
          <a:xfrm>
            <a:off x="548640" y="5486400"/>
            <a:ext cx="11091672" cy="420624"/>
          </a:xfrm>
          <a:prstGeom prst="rect">
            <a:avLst/>
          </a:prstGeom>
          <a:solidFill>
            <a:schemeClr val="bg2"/>
          </a:solidFill>
          <a:ln/>
        </p:spPr>
      </p:sp>
      <p:sp>
        <p:nvSpPr>
          <p:cNvPr id="41" name="Text 38"/>
          <p:cNvSpPr txBox="1"/>
          <p:nvPr/>
        </p:nvSpPr>
        <p:spPr>
          <a:xfrm>
            <a:off x="640080" y="5513832"/>
            <a:ext cx="2880360" cy="365760"/>
          </a:xfrm>
          <a:prstGeom prst="rect">
            <a:avLst/>
          </a:prstGeom>
          <a:noFill/>
          <a:ln/>
        </p:spPr>
        <p:txBody>
          <a:bodyPr wrap="square" lIns="0" tIns="0" rIns="0" bIns="0" rtlCol="0" anchor="ctr"/>
          <a:lstStyle/>
          <a:p>
            <a:pPr indent="0" marL="0">
              <a:buNone/>
            </a:pPr>
            <a:r>
              <a:rPr lang="en-US" sz="1150" dirty="0">
                <a:solidFill>
                  <a:schemeClr val="tx1"/>
                </a:solidFill>
              </a:rPr>
              <a:t>Hypercare &amp; optimisation</a:t>
            </a:r>
            <a:endParaRPr lang="en-US" sz="1150" dirty="0"/>
          </a:p>
        </p:txBody>
      </p:sp>
      <p:sp>
        <p:nvSpPr>
          <p:cNvPr id="42" name="Gantt Hypercare &amp; optimisation"/>
          <p:cNvSpPr/>
          <p:nvPr/>
        </p:nvSpPr>
        <p:spPr>
          <a:xfrm>
            <a:off x="9777046" y="5568696"/>
            <a:ext cx="1863266" cy="256032"/>
          </a:xfrm>
          <a:prstGeom prst="rect">
            <a:avLst/>
          </a:prstGeom>
          <a:solidFill>
            <a:schemeClr val="accent5"/>
          </a:solidFill>
          <a:ln/>
        </p:spPr>
      </p:sp>
      <p:sp>
        <p:nvSpPr>
          <p:cNvPr id="43" name="Text 40"/>
          <p:cNvSpPr txBox="1"/>
          <p:nvPr/>
        </p:nvSpPr>
        <p:spPr>
          <a:xfrm>
            <a:off x="7913780" y="5925312"/>
            <a:ext cx="3726532" cy="256032"/>
          </a:xfrm>
          <a:prstGeom prst="rect">
            <a:avLst/>
          </a:prstGeom>
          <a:noFill/>
          <a:ln/>
        </p:spPr>
        <p:txBody>
          <a:bodyPr wrap="square" lIns="0" tIns="0" rIns="0" bIns="0" rtlCol="0" anchor="t"/>
          <a:lstStyle/>
          <a:p>
            <a:pPr algn="r" indent="0" marL="0">
              <a:buNone/>
            </a:pPr>
            <a:r>
              <a:rPr lang="en-US" sz="1000" dirty="0">
                <a:solidFill>
                  <a:schemeClr val="accent4"/>
                </a:solidFill>
              </a:rPr>
              <a:t>Go-live complete: indicative week 26</a:t>
            </a:r>
            <a:endParaRPr lang="en-US" sz="1000" dirty="0"/>
          </a:p>
        </p:txBody>
      </p:sp>
      <p:sp>
        <p:nvSpPr>
          <p:cNvPr id="44" name="Text 41"/>
          <p:cNvSpPr txBox="1"/>
          <p:nvPr/>
        </p:nvSpPr>
        <p:spPr>
          <a:xfrm>
            <a:off x="548640" y="5925312"/>
            <a:ext cx="4572000" cy="256032"/>
          </a:xfrm>
          <a:prstGeom prst="rect">
            <a:avLst/>
          </a:prstGeom>
          <a:noFill/>
          <a:ln/>
        </p:spPr>
        <p:txBody>
          <a:bodyPr wrap="square" lIns="0" tIns="0" rIns="0" bIns="0" rtlCol="0" anchor="t"/>
          <a:lstStyle/>
          <a:p>
            <a:pPr indent="0" marL="0">
              <a:buNone/>
            </a:pPr>
            <a:r>
              <a:rPr lang="en-US" sz="1000" dirty="0">
                <a:solidFill>
                  <a:schemeClr val="accent3"/>
                </a:solidFill>
              </a:rPr>
              <a:t>■ </a:t>
            </a:r>
            <a:pPr indent="0" marL="0">
              <a:buNone/>
            </a:pPr>
            <a:r>
              <a:rPr lang="en-US" sz="1000" dirty="0">
                <a:solidFill>
                  <a:srgbClr val="7A4F00"/>
                </a:solidFill>
              </a:rPr>
              <a:t>Lead-time item — [INPUT REQUIRED] confirm weeks</a:t>
            </a:r>
            <a:endParaRPr lang="en-US" sz="10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6 · REFERENCES AND TRACK RECORD</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Our track record in comparable healthcare deployments gives ALPS evidence it can rely on</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MONIT customer references. Obtain written consent from each reference before naming them.</a:t>
            </a:r>
            <a:endParaRPr lang="en-US" sz="900" dirty="0"/>
          </a:p>
        </p:txBody>
      </p:sp>
      <p:sp>
        <p:nvSpPr>
          <p:cNvPr id="6" name="Shape 3"/>
          <p:cNvSpPr/>
          <p:nvPr/>
        </p:nvSpPr>
        <p:spPr>
          <a:xfrm>
            <a:off x="548640" y="1691640"/>
            <a:ext cx="3611880" cy="3749040"/>
          </a:xfrm>
          <a:prstGeom prst="rect">
            <a:avLst/>
          </a:prstGeom>
          <a:solidFill>
            <a:schemeClr val="bg2"/>
          </a:solidFill>
          <a:ln/>
        </p:spPr>
      </p:sp>
      <p:sp>
        <p:nvSpPr>
          <p:cNvPr id="7" name="Shape 4"/>
          <p:cNvSpPr/>
          <p:nvPr/>
        </p:nvSpPr>
        <p:spPr>
          <a:xfrm>
            <a:off x="731520" y="1874520"/>
            <a:ext cx="502920" cy="502920"/>
          </a:xfrm>
          <a:prstGeom prst="ellipse">
            <a:avLst/>
          </a:prstGeom>
          <a:solidFill>
            <a:schemeClr val="tx2"/>
          </a:solidFill>
          <a:ln/>
        </p:spPr>
      </p:sp>
      <p:pic>
        <p:nvPicPr>
          <p:cNvPr id="8" name="Image 0" descr="preencoded.png">    </p:cNvPr>
          <p:cNvPicPr>
            <a:picLocks noChangeAspect="1"/>
          </p:cNvPicPr>
          <p:nvPr/>
        </p:nvPicPr>
        <p:blipFill>
          <a:blip r:embed="rId1"/>
          <a:stretch>
            <a:fillRect/>
          </a:stretch>
        </p:blipFill>
        <p:spPr>
          <a:xfrm>
            <a:off x="857250" y="2000250"/>
            <a:ext cx="251460" cy="251460"/>
          </a:xfrm>
          <a:prstGeom prst="rect">
            <a:avLst/>
          </a:prstGeom>
        </p:spPr>
      </p:pic>
      <p:sp>
        <p:nvSpPr>
          <p:cNvPr id="9" name="Text 5"/>
          <p:cNvSpPr txBox="1"/>
          <p:nvPr/>
        </p:nvSpPr>
        <p:spPr>
          <a:xfrm>
            <a:off x="1371600" y="1874520"/>
            <a:ext cx="2651760" cy="502920"/>
          </a:xfrm>
          <a:prstGeom prst="rect">
            <a:avLst/>
          </a:prstGeom>
          <a:noFill/>
          <a:ln/>
        </p:spPr>
        <p:txBody>
          <a:bodyPr wrap="square" lIns="0" tIns="0" rIns="0" bIns="0" rtlCol="0" anchor="ctr"/>
          <a:lstStyle/>
          <a:p>
            <a:pPr indent="0" marL="0">
              <a:buNone/>
            </a:pPr>
            <a:r>
              <a:rPr lang="en-US" sz="1500" b="1" dirty="0">
                <a:solidFill>
                  <a:schemeClr val="tx2"/>
                </a:solidFill>
              </a:rPr>
              <a:t>Reference 1</a:t>
            </a:r>
            <a:endParaRPr lang="en-US" sz="1500" dirty="0"/>
          </a:p>
        </p:txBody>
      </p:sp>
      <p:sp>
        <p:nvSpPr>
          <p:cNvPr id="10" name="Input placeholder"/>
          <p:cNvSpPr/>
          <p:nvPr/>
        </p:nvSpPr>
        <p:spPr>
          <a:xfrm>
            <a:off x="731520" y="2651760"/>
            <a:ext cx="3246120" cy="502920"/>
          </a:xfrm>
          <a:prstGeom prst="rect">
            <a:avLst/>
          </a:prstGeom>
          <a:solidFill>
            <a:srgbClr val="FFF4D6"/>
          </a:solidFill>
          <a:ln w="12700">
            <a:solidFill>
              <a:srgbClr val="F2A900"/>
            </a:solidFill>
            <a:prstDash val="dash"/>
          </a:ln>
        </p:spPr>
      </p:sp>
      <p:sp>
        <p:nvSpPr>
          <p:cNvPr id="11" name="Text 7"/>
          <p:cNvSpPr txBox="1"/>
          <p:nvPr/>
        </p:nvSpPr>
        <p:spPr>
          <a:xfrm>
            <a:off x="822960" y="2651760"/>
            <a:ext cx="3063240" cy="502920"/>
          </a:xfrm>
          <a:prstGeom prst="rect">
            <a:avLst/>
          </a:prstGeom>
          <a:noFill/>
          <a:ln/>
        </p:spPr>
        <p:txBody>
          <a:bodyPr wrap="square" lIns="0" tIns="0" rIns="0" bIns="0" rtlCol="0" anchor="ctr"/>
          <a:lstStyle/>
          <a:p>
            <a:pPr indent="0" marL="0">
              <a:buNone/>
            </a:pPr>
            <a:r>
              <a:rPr lang="en-US" sz="1000" i="1" dirty="0">
                <a:solidFill>
                  <a:srgbClr val="7A4F00"/>
                </a:solidFill>
              </a:rPr>
              <a:t>[INPUT REQUIRED] Customer / site</a:t>
            </a:r>
            <a:endParaRPr lang="en-US" sz="1000" dirty="0"/>
          </a:p>
        </p:txBody>
      </p:sp>
      <p:sp>
        <p:nvSpPr>
          <p:cNvPr id="12" name="Input placeholder"/>
          <p:cNvSpPr/>
          <p:nvPr/>
        </p:nvSpPr>
        <p:spPr>
          <a:xfrm>
            <a:off x="731520" y="3246120"/>
            <a:ext cx="3246120" cy="502920"/>
          </a:xfrm>
          <a:prstGeom prst="rect">
            <a:avLst/>
          </a:prstGeom>
          <a:solidFill>
            <a:srgbClr val="FFF4D6"/>
          </a:solidFill>
          <a:ln w="12700">
            <a:solidFill>
              <a:srgbClr val="F2A900"/>
            </a:solidFill>
            <a:prstDash val="dash"/>
          </a:ln>
        </p:spPr>
      </p:sp>
      <p:sp>
        <p:nvSpPr>
          <p:cNvPr id="13" name="Text 9"/>
          <p:cNvSpPr txBox="1"/>
          <p:nvPr/>
        </p:nvSpPr>
        <p:spPr>
          <a:xfrm>
            <a:off x="822960" y="3246120"/>
            <a:ext cx="3063240" cy="502920"/>
          </a:xfrm>
          <a:prstGeom prst="rect">
            <a:avLst/>
          </a:prstGeom>
          <a:noFill/>
          <a:ln/>
        </p:spPr>
        <p:txBody>
          <a:bodyPr wrap="square" lIns="0" tIns="0" rIns="0" bIns="0" rtlCol="0" anchor="ctr"/>
          <a:lstStyle/>
          <a:p>
            <a:pPr indent="0" marL="0">
              <a:buNone/>
            </a:pPr>
            <a:r>
              <a:rPr lang="en-US" sz="1000" i="1" dirty="0">
                <a:solidFill>
                  <a:srgbClr val="7A4F00"/>
                </a:solidFill>
              </a:rPr>
              <a:t>[INPUT REQUIRED] Scale: beds, wards, devices</a:t>
            </a:r>
            <a:endParaRPr lang="en-US" sz="1000" dirty="0"/>
          </a:p>
        </p:txBody>
      </p:sp>
      <p:sp>
        <p:nvSpPr>
          <p:cNvPr id="14" name="Input placeholder"/>
          <p:cNvSpPr/>
          <p:nvPr/>
        </p:nvSpPr>
        <p:spPr>
          <a:xfrm>
            <a:off x="731520" y="3840480"/>
            <a:ext cx="3246120" cy="502920"/>
          </a:xfrm>
          <a:prstGeom prst="rect">
            <a:avLst/>
          </a:prstGeom>
          <a:solidFill>
            <a:srgbClr val="FFF4D6"/>
          </a:solidFill>
          <a:ln w="12700">
            <a:solidFill>
              <a:srgbClr val="F2A900"/>
            </a:solidFill>
            <a:prstDash val="dash"/>
          </a:ln>
        </p:spPr>
      </p:sp>
      <p:sp>
        <p:nvSpPr>
          <p:cNvPr id="15" name="Text 11"/>
          <p:cNvSpPr txBox="1"/>
          <p:nvPr/>
        </p:nvSpPr>
        <p:spPr>
          <a:xfrm>
            <a:off x="822960" y="3840480"/>
            <a:ext cx="3063240" cy="502920"/>
          </a:xfrm>
          <a:prstGeom prst="rect">
            <a:avLst/>
          </a:prstGeom>
          <a:noFill/>
          <a:ln/>
        </p:spPr>
        <p:txBody>
          <a:bodyPr wrap="square" lIns="0" tIns="0" rIns="0" bIns="0" rtlCol="0" anchor="ctr"/>
          <a:lstStyle/>
          <a:p>
            <a:pPr indent="0" marL="0">
              <a:buNone/>
            </a:pPr>
            <a:r>
              <a:rPr lang="en-US" sz="1000" i="1" dirty="0">
                <a:solidFill>
                  <a:srgbClr val="7A4F00"/>
                </a:solidFill>
              </a:rPr>
              <a:t>[INPUT REQUIRED] Scope &amp; timeline</a:t>
            </a:r>
            <a:endParaRPr lang="en-US" sz="1000" dirty="0"/>
          </a:p>
        </p:txBody>
      </p:sp>
      <p:sp>
        <p:nvSpPr>
          <p:cNvPr id="16" name="Input placeholder"/>
          <p:cNvSpPr/>
          <p:nvPr/>
        </p:nvSpPr>
        <p:spPr>
          <a:xfrm>
            <a:off x="731520" y="4434840"/>
            <a:ext cx="3246120" cy="822960"/>
          </a:xfrm>
          <a:prstGeom prst="rect">
            <a:avLst/>
          </a:prstGeom>
          <a:solidFill>
            <a:srgbClr val="FFF4D6"/>
          </a:solidFill>
          <a:ln w="12700">
            <a:solidFill>
              <a:srgbClr val="F2A900"/>
            </a:solidFill>
            <a:prstDash val="dash"/>
          </a:ln>
        </p:spPr>
      </p:sp>
      <p:sp>
        <p:nvSpPr>
          <p:cNvPr id="17" name="Text 13"/>
          <p:cNvSpPr txBox="1"/>
          <p:nvPr/>
        </p:nvSpPr>
        <p:spPr>
          <a:xfrm>
            <a:off x="822960" y="4434840"/>
            <a:ext cx="3063240" cy="822960"/>
          </a:xfrm>
          <a:prstGeom prst="rect">
            <a:avLst/>
          </a:prstGeom>
          <a:noFill/>
          <a:ln/>
        </p:spPr>
        <p:txBody>
          <a:bodyPr wrap="square" lIns="0" tIns="0" rIns="0" bIns="0" rtlCol="0" anchor="ctr"/>
          <a:lstStyle/>
          <a:p>
            <a:pPr indent="0" marL="0">
              <a:buNone/>
            </a:pPr>
            <a:r>
              <a:rPr lang="en-US" sz="1000" i="1" dirty="0">
                <a:solidFill>
                  <a:srgbClr val="7A4F00"/>
                </a:solidFill>
              </a:rPr>
              <a:t>[INPUT REQUIRED] Outcome metrics + reference contact</a:t>
            </a:r>
            <a:endParaRPr lang="en-US" sz="1000" dirty="0"/>
          </a:p>
        </p:txBody>
      </p:sp>
      <p:sp>
        <p:nvSpPr>
          <p:cNvPr id="18" name="Shape 14"/>
          <p:cNvSpPr/>
          <p:nvPr/>
        </p:nvSpPr>
        <p:spPr>
          <a:xfrm>
            <a:off x="4297680" y="1691640"/>
            <a:ext cx="3611880" cy="3749040"/>
          </a:xfrm>
          <a:prstGeom prst="rect">
            <a:avLst/>
          </a:prstGeom>
          <a:solidFill>
            <a:schemeClr val="bg2"/>
          </a:solidFill>
          <a:ln/>
        </p:spPr>
      </p:sp>
      <p:sp>
        <p:nvSpPr>
          <p:cNvPr id="19" name="Shape 15"/>
          <p:cNvSpPr/>
          <p:nvPr/>
        </p:nvSpPr>
        <p:spPr>
          <a:xfrm>
            <a:off x="4480560" y="1874520"/>
            <a:ext cx="502920" cy="502920"/>
          </a:xfrm>
          <a:prstGeom prst="ellipse">
            <a:avLst/>
          </a:prstGeom>
          <a:solidFill>
            <a:schemeClr val="accent1"/>
          </a:solidFill>
          <a:ln/>
        </p:spPr>
      </p:sp>
      <p:pic>
        <p:nvPicPr>
          <p:cNvPr id="20" name="Image 1" descr="preencoded.png">    </p:cNvPr>
          <p:cNvPicPr>
            <a:picLocks noChangeAspect="1"/>
          </p:cNvPicPr>
          <p:nvPr/>
        </p:nvPicPr>
        <p:blipFill>
          <a:blip r:embed="rId2"/>
          <a:stretch>
            <a:fillRect/>
          </a:stretch>
        </p:blipFill>
        <p:spPr>
          <a:xfrm>
            <a:off x="4606290" y="2000250"/>
            <a:ext cx="251460" cy="251460"/>
          </a:xfrm>
          <a:prstGeom prst="rect">
            <a:avLst/>
          </a:prstGeom>
        </p:spPr>
      </p:pic>
      <p:sp>
        <p:nvSpPr>
          <p:cNvPr id="21" name="Text 16"/>
          <p:cNvSpPr txBox="1"/>
          <p:nvPr/>
        </p:nvSpPr>
        <p:spPr>
          <a:xfrm>
            <a:off x="5120640" y="1874520"/>
            <a:ext cx="2651760" cy="502920"/>
          </a:xfrm>
          <a:prstGeom prst="rect">
            <a:avLst/>
          </a:prstGeom>
          <a:noFill/>
          <a:ln/>
        </p:spPr>
        <p:txBody>
          <a:bodyPr wrap="square" lIns="0" tIns="0" rIns="0" bIns="0" rtlCol="0" anchor="ctr"/>
          <a:lstStyle/>
          <a:p>
            <a:pPr indent="0" marL="0">
              <a:buNone/>
            </a:pPr>
            <a:r>
              <a:rPr lang="en-US" sz="1500" b="1" dirty="0">
                <a:solidFill>
                  <a:schemeClr val="tx2"/>
                </a:solidFill>
              </a:rPr>
              <a:t>Reference 2</a:t>
            </a:r>
            <a:endParaRPr lang="en-US" sz="1500" dirty="0"/>
          </a:p>
        </p:txBody>
      </p:sp>
      <p:sp>
        <p:nvSpPr>
          <p:cNvPr id="22" name="Input placeholder"/>
          <p:cNvSpPr/>
          <p:nvPr/>
        </p:nvSpPr>
        <p:spPr>
          <a:xfrm>
            <a:off x="4480560" y="2651760"/>
            <a:ext cx="3246120" cy="502920"/>
          </a:xfrm>
          <a:prstGeom prst="rect">
            <a:avLst/>
          </a:prstGeom>
          <a:solidFill>
            <a:srgbClr val="FFF4D6"/>
          </a:solidFill>
          <a:ln w="12700">
            <a:solidFill>
              <a:srgbClr val="F2A900"/>
            </a:solidFill>
            <a:prstDash val="dash"/>
          </a:ln>
        </p:spPr>
      </p:sp>
      <p:sp>
        <p:nvSpPr>
          <p:cNvPr id="23" name="Text 18"/>
          <p:cNvSpPr txBox="1"/>
          <p:nvPr/>
        </p:nvSpPr>
        <p:spPr>
          <a:xfrm>
            <a:off x="4572000" y="2651760"/>
            <a:ext cx="3063240" cy="502920"/>
          </a:xfrm>
          <a:prstGeom prst="rect">
            <a:avLst/>
          </a:prstGeom>
          <a:noFill/>
          <a:ln/>
        </p:spPr>
        <p:txBody>
          <a:bodyPr wrap="square" lIns="0" tIns="0" rIns="0" bIns="0" rtlCol="0" anchor="ctr"/>
          <a:lstStyle/>
          <a:p>
            <a:pPr indent="0" marL="0">
              <a:buNone/>
            </a:pPr>
            <a:r>
              <a:rPr lang="en-US" sz="1000" i="1" dirty="0">
                <a:solidFill>
                  <a:srgbClr val="7A4F00"/>
                </a:solidFill>
              </a:rPr>
              <a:t>[INPUT REQUIRED] Customer / site</a:t>
            </a:r>
            <a:endParaRPr lang="en-US" sz="1000" dirty="0"/>
          </a:p>
        </p:txBody>
      </p:sp>
      <p:sp>
        <p:nvSpPr>
          <p:cNvPr id="24" name="Input placeholder"/>
          <p:cNvSpPr/>
          <p:nvPr/>
        </p:nvSpPr>
        <p:spPr>
          <a:xfrm>
            <a:off x="4480560" y="3246120"/>
            <a:ext cx="3246120" cy="502920"/>
          </a:xfrm>
          <a:prstGeom prst="rect">
            <a:avLst/>
          </a:prstGeom>
          <a:solidFill>
            <a:srgbClr val="FFF4D6"/>
          </a:solidFill>
          <a:ln w="12700">
            <a:solidFill>
              <a:srgbClr val="F2A900"/>
            </a:solidFill>
            <a:prstDash val="dash"/>
          </a:ln>
        </p:spPr>
      </p:sp>
      <p:sp>
        <p:nvSpPr>
          <p:cNvPr id="25" name="Text 20"/>
          <p:cNvSpPr txBox="1"/>
          <p:nvPr/>
        </p:nvSpPr>
        <p:spPr>
          <a:xfrm>
            <a:off x="4572000" y="3246120"/>
            <a:ext cx="3063240" cy="502920"/>
          </a:xfrm>
          <a:prstGeom prst="rect">
            <a:avLst/>
          </a:prstGeom>
          <a:noFill/>
          <a:ln/>
        </p:spPr>
        <p:txBody>
          <a:bodyPr wrap="square" lIns="0" tIns="0" rIns="0" bIns="0" rtlCol="0" anchor="ctr"/>
          <a:lstStyle/>
          <a:p>
            <a:pPr indent="0" marL="0">
              <a:buNone/>
            </a:pPr>
            <a:r>
              <a:rPr lang="en-US" sz="1000" i="1" dirty="0">
                <a:solidFill>
                  <a:srgbClr val="7A4F00"/>
                </a:solidFill>
              </a:rPr>
              <a:t>[INPUT REQUIRED] Scale: beds, wards, devices</a:t>
            </a:r>
            <a:endParaRPr lang="en-US" sz="1000" dirty="0"/>
          </a:p>
        </p:txBody>
      </p:sp>
      <p:sp>
        <p:nvSpPr>
          <p:cNvPr id="26" name="Input placeholder"/>
          <p:cNvSpPr/>
          <p:nvPr/>
        </p:nvSpPr>
        <p:spPr>
          <a:xfrm>
            <a:off x="4480560" y="3840480"/>
            <a:ext cx="3246120" cy="502920"/>
          </a:xfrm>
          <a:prstGeom prst="rect">
            <a:avLst/>
          </a:prstGeom>
          <a:solidFill>
            <a:srgbClr val="FFF4D6"/>
          </a:solidFill>
          <a:ln w="12700">
            <a:solidFill>
              <a:srgbClr val="F2A900"/>
            </a:solidFill>
            <a:prstDash val="dash"/>
          </a:ln>
        </p:spPr>
      </p:sp>
      <p:sp>
        <p:nvSpPr>
          <p:cNvPr id="27" name="Text 22"/>
          <p:cNvSpPr txBox="1"/>
          <p:nvPr/>
        </p:nvSpPr>
        <p:spPr>
          <a:xfrm>
            <a:off x="4572000" y="3840480"/>
            <a:ext cx="3063240" cy="502920"/>
          </a:xfrm>
          <a:prstGeom prst="rect">
            <a:avLst/>
          </a:prstGeom>
          <a:noFill/>
          <a:ln/>
        </p:spPr>
        <p:txBody>
          <a:bodyPr wrap="square" lIns="0" tIns="0" rIns="0" bIns="0" rtlCol="0" anchor="ctr"/>
          <a:lstStyle/>
          <a:p>
            <a:pPr indent="0" marL="0">
              <a:buNone/>
            </a:pPr>
            <a:r>
              <a:rPr lang="en-US" sz="1000" i="1" dirty="0">
                <a:solidFill>
                  <a:srgbClr val="7A4F00"/>
                </a:solidFill>
              </a:rPr>
              <a:t>[INPUT REQUIRED] Scope &amp; timeline</a:t>
            </a:r>
            <a:endParaRPr lang="en-US" sz="1000" dirty="0"/>
          </a:p>
        </p:txBody>
      </p:sp>
      <p:sp>
        <p:nvSpPr>
          <p:cNvPr id="28" name="Input placeholder"/>
          <p:cNvSpPr/>
          <p:nvPr/>
        </p:nvSpPr>
        <p:spPr>
          <a:xfrm>
            <a:off x="4480560" y="4434840"/>
            <a:ext cx="3246120" cy="822960"/>
          </a:xfrm>
          <a:prstGeom prst="rect">
            <a:avLst/>
          </a:prstGeom>
          <a:solidFill>
            <a:srgbClr val="FFF4D6"/>
          </a:solidFill>
          <a:ln w="12700">
            <a:solidFill>
              <a:srgbClr val="F2A900"/>
            </a:solidFill>
            <a:prstDash val="dash"/>
          </a:ln>
        </p:spPr>
      </p:sp>
      <p:sp>
        <p:nvSpPr>
          <p:cNvPr id="29" name="Text 24"/>
          <p:cNvSpPr txBox="1"/>
          <p:nvPr/>
        </p:nvSpPr>
        <p:spPr>
          <a:xfrm>
            <a:off x="4572000" y="4434840"/>
            <a:ext cx="3063240" cy="822960"/>
          </a:xfrm>
          <a:prstGeom prst="rect">
            <a:avLst/>
          </a:prstGeom>
          <a:noFill/>
          <a:ln/>
        </p:spPr>
        <p:txBody>
          <a:bodyPr wrap="square" lIns="0" tIns="0" rIns="0" bIns="0" rtlCol="0" anchor="ctr"/>
          <a:lstStyle/>
          <a:p>
            <a:pPr indent="0" marL="0">
              <a:buNone/>
            </a:pPr>
            <a:r>
              <a:rPr lang="en-US" sz="1000" i="1" dirty="0">
                <a:solidFill>
                  <a:srgbClr val="7A4F00"/>
                </a:solidFill>
              </a:rPr>
              <a:t>[INPUT REQUIRED] Outcome metrics + reference contact</a:t>
            </a:r>
            <a:endParaRPr lang="en-US" sz="1000" dirty="0"/>
          </a:p>
        </p:txBody>
      </p:sp>
      <p:sp>
        <p:nvSpPr>
          <p:cNvPr id="30" name="Shape 25"/>
          <p:cNvSpPr/>
          <p:nvPr/>
        </p:nvSpPr>
        <p:spPr>
          <a:xfrm>
            <a:off x="8046720" y="1691640"/>
            <a:ext cx="3611880" cy="3749040"/>
          </a:xfrm>
          <a:prstGeom prst="rect">
            <a:avLst/>
          </a:prstGeom>
          <a:solidFill>
            <a:schemeClr val="bg2"/>
          </a:solidFill>
          <a:ln/>
        </p:spPr>
      </p:sp>
      <p:sp>
        <p:nvSpPr>
          <p:cNvPr id="31" name="Shape 26"/>
          <p:cNvSpPr/>
          <p:nvPr/>
        </p:nvSpPr>
        <p:spPr>
          <a:xfrm>
            <a:off x="8229600" y="1874520"/>
            <a:ext cx="502920" cy="502920"/>
          </a:xfrm>
          <a:prstGeom prst="ellipse">
            <a:avLst/>
          </a:prstGeom>
          <a:solidFill>
            <a:schemeClr val="tx2"/>
          </a:solidFill>
          <a:ln/>
        </p:spPr>
      </p:sp>
      <p:pic>
        <p:nvPicPr>
          <p:cNvPr id="32" name="Image 2" descr="preencoded.png">    </p:cNvPr>
          <p:cNvPicPr>
            <a:picLocks noChangeAspect="1"/>
          </p:cNvPicPr>
          <p:nvPr/>
        </p:nvPicPr>
        <p:blipFill>
          <a:blip r:embed="rId3"/>
          <a:stretch>
            <a:fillRect/>
          </a:stretch>
        </p:blipFill>
        <p:spPr>
          <a:xfrm>
            <a:off x="8355330" y="2000250"/>
            <a:ext cx="251460" cy="251460"/>
          </a:xfrm>
          <a:prstGeom prst="rect">
            <a:avLst/>
          </a:prstGeom>
        </p:spPr>
      </p:pic>
      <p:sp>
        <p:nvSpPr>
          <p:cNvPr id="33" name="Text 27"/>
          <p:cNvSpPr txBox="1"/>
          <p:nvPr/>
        </p:nvSpPr>
        <p:spPr>
          <a:xfrm>
            <a:off x="8869680" y="1874520"/>
            <a:ext cx="2651760" cy="502920"/>
          </a:xfrm>
          <a:prstGeom prst="rect">
            <a:avLst/>
          </a:prstGeom>
          <a:noFill/>
          <a:ln/>
        </p:spPr>
        <p:txBody>
          <a:bodyPr wrap="square" lIns="0" tIns="0" rIns="0" bIns="0" rtlCol="0" anchor="ctr"/>
          <a:lstStyle/>
          <a:p>
            <a:pPr indent="0" marL="0">
              <a:buNone/>
            </a:pPr>
            <a:r>
              <a:rPr lang="en-US" sz="1500" b="1" dirty="0">
                <a:solidFill>
                  <a:schemeClr val="tx2"/>
                </a:solidFill>
              </a:rPr>
              <a:t>Reference 3</a:t>
            </a:r>
            <a:endParaRPr lang="en-US" sz="1500" dirty="0"/>
          </a:p>
        </p:txBody>
      </p:sp>
      <p:sp>
        <p:nvSpPr>
          <p:cNvPr id="34" name="Input placeholder"/>
          <p:cNvSpPr/>
          <p:nvPr/>
        </p:nvSpPr>
        <p:spPr>
          <a:xfrm>
            <a:off x="8229600" y="2651760"/>
            <a:ext cx="3246120" cy="502920"/>
          </a:xfrm>
          <a:prstGeom prst="rect">
            <a:avLst/>
          </a:prstGeom>
          <a:solidFill>
            <a:srgbClr val="FFF4D6"/>
          </a:solidFill>
          <a:ln w="12700">
            <a:solidFill>
              <a:srgbClr val="F2A900"/>
            </a:solidFill>
            <a:prstDash val="dash"/>
          </a:ln>
        </p:spPr>
      </p:sp>
      <p:sp>
        <p:nvSpPr>
          <p:cNvPr id="35" name="Text 29"/>
          <p:cNvSpPr txBox="1"/>
          <p:nvPr/>
        </p:nvSpPr>
        <p:spPr>
          <a:xfrm>
            <a:off x="8321040" y="2651760"/>
            <a:ext cx="3063240" cy="502920"/>
          </a:xfrm>
          <a:prstGeom prst="rect">
            <a:avLst/>
          </a:prstGeom>
          <a:noFill/>
          <a:ln/>
        </p:spPr>
        <p:txBody>
          <a:bodyPr wrap="square" lIns="0" tIns="0" rIns="0" bIns="0" rtlCol="0" anchor="ctr"/>
          <a:lstStyle/>
          <a:p>
            <a:pPr indent="0" marL="0">
              <a:buNone/>
            </a:pPr>
            <a:r>
              <a:rPr lang="en-US" sz="1000" i="1" dirty="0">
                <a:solidFill>
                  <a:srgbClr val="7A4F00"/>
                </a:solidFill>
              </a:rPr>
              <a:t>[INPUT REQUIRED] Customer / site</a:t>
            </a:r>
            <a:endParaRPr lang="en-US" sz="1000" dirty="0"/>
          </a:p>
        </p:txBody>
      </p:sp>
      <p:sp>
        <p:nvSpPr>
          <p:cNvPr id="36" name="Input placeholder"/>
          <p:cNvSpPr/>
          <p:nvPr/>
        </p:nvSpPr>
        <p:spPr>
          <a:xfrm>
            <a:off x="8229600" y="3246120"/>
            <a:ext cx="3246120" cy="502920"/>
          </a:xfrm>
          <a:prstGeom prst="rect">
            <a:avLst/>
          </a:prstGeom>
          <a:solidFill>
            <a:srgbClr val="FFF4D6"/>
          </a:solidFill>
          <a:ln w="12700">
            <a:solidFill>
              <a:srgbClr val="F2A900"/>
            </a:solidFill>
            <a:prstDash val="dash"/>
          </a:ln>
        </p:spPr>
      </p:sp>
      <p:sp>
        <p:nvSpPr>
          <p:cNvPr id="37" name="Text 31"/>
          <p:cNvSpPr txBox="1"/>
          <p:nvPr/>
        </p:nvSpPr>
        <p:spPr>
          <a:xfrm>
            <a:off x="8321040" y="3246120"/>
            <a:ext cx="3063240" cy="502920"/>
          </a:xfrm>
          <a:prstGeom prst="rect">
            <a:avLst/>
          </a:prstGeom>
          <a:noFill/>
          <a:ln/>
        </p:spPr>
        <p:txBody>
          <a:bodyPr wrap="square" lIns="0" tIns="0" rIns="0" bIns="0" rtlCol="0" anchor="ctr"/>
          <a:lstStyle/>
          <a:p>
            <a:pPr indent="0" marL="0">
              <a:buNone/>
            </a:pPr>
            <a:r>
              <a:rPr lang="en-US" sz="1000" i="1" dirty="0">
                <a:solidFill>
                  <a:srgbClr val="7A4F00"/>
                </a:solidFill>
              </a:rPr>
              <a:t>[INPUT REQUIRED] Scale: beds, wards, devices</a:t>
            </a:r>
            <a:endParaRPr lang="en-US" sz="1000" dirty="0"/>
          </a:p>
        </p:txBody>
      </p:sp>
      <p:sp>
        <p:nvSpPr>
          <p:cNvPr id="38" name="Input placeholder"/>
          <p:cNvSpPr/>
          <p:nvPr/>
        </p:nvSpPr>
        <p:spPr>
          <a:xfrm>
            <a:off x="8229600" y="3840480"/>
            <a:ext cx="3246120" cy="502920"/>
          </a:xfrm>
          <a:prstGeom prst="rect">
            <a:avLst/>
          </a:prstGeom>
          <a:solidFill>
            <a:srgbClr val="FFF4D6"/>
          </a:solidFill>
          <a:ln w="12700">
            <a:solidFill>
              <a:srgbClr val="F2A900"/>
            </a:solidFill>
            <a:prstDash val="dash"/>
          </a:ln>
        </p:spPr>
      </p:sp>
      <p:sp>
        <p:nvSpPr>
          <p:cNvPr id="39" name="Text 33"/>
          <p:cNvSpPr txBox="1"/>
          <p:nvPr/>
        </p:nvSpPr>
        <p:spPr>
          <a:xfrm>
            <a:off x="8321040" y="3840480"/>
            <a:ext cx="3063240" cy="502920"/>
          </a:xfrm>
          <a:prstGeom prst="rect">
            <a:avLst/>
          </a:prstGeom>
          <a:noFill/>
          <a:ln/>
        </p:spPr>
        <p:txBody>
          <a:bodyPr wrap="square" lIns="0" tIns="0" rIns="0" bIns="0" rtlCol="0" anchor="ctr"/>
          <a:lstStyle/>
          <a:p>
            <a:pPr indent="0" marL="0">
              <a:buNone/>
            </a:pPr>
            <a:r>
              <a:rPr lang="en-US" sz="1000" i="1" dirty="0">
                <a:solidFill>
                  <a:srgbClr val="7A4F00"/>
                </a:solidFill>
              </a:rPr>
              <a:t>[INPUT REQUIRED] Scope &amp; timeline</a:t>
            </a:r>
            <a:endParaRPr lang="en-US" sz="1000" dirty="0"/>
          </a:p>
        </p:txBody>
      </p:sp>
      <p:sp>
        <p:nvSpPr>
          <p:cNvPr id="40" name="Input placeholder"/>
          <p:cNvSpPr/>
          <p:nvPr/>
        </p:nvSpPr>
        <p:spPr>
          <a:xfrm>
            <a:off x="8229600" y="4434840"/>
            <a:ext cx="3246120" cy="822960"/>
          </a:xfrm>
          <a:prstGeom prst="rect">
            <a:avLst/>
          </a:prstGeom>
          <a:solidFill>
            <a:srgbClr val="FFF4D6"/>
          </a:solidFill>
          <a:ln w="12700">
            <a:solidFill>
              <a:srgbClr val="F2A900"/>
            </a:solidFill>
            <a:prstDash val="dash"/>
          </a:ln>
        </p:spPr>
      </p:sp>
      <p:sp>
        <p:nvSpPr>
          <p:cNvPr id="41" name="Text 35"/>
          <p:cNvSpPr txBox="1"/>
          <p:nvPr/>
        </p:nvSpPr>
        <p:spPr>
          <a:xfrm>
            <a:off x="8321040" y="4434840"/>
            <a:ext cx="3063240" cy="822960"/>
          </a:xfrm>
          <a:prstGeom prst="rect">
            <a:avLst/>
          </a:prstGeom>
          <a:noFill/>
          <a:ln/>
        </p:spPr>
        <p:txBody>
          <a:bodyPr wrap="square" lIns="0" tIns="0" rIns="0" bIns="0" rtlCol="0" anchor="ctr"/>
          <a:lstStyle/>
          <a:p>
            <a:pPr indent="0" marL="0">
              <a:buNone/>
            </a:pPr>
            <a:r>
              <a:rPr lang="en-US" sz="1000" i="1" dirty="0">
                <a:solidFill>
                  <a:srgbClr val="7A4F00"/>
                </a:solidFill>
              </a:rPr>
              <a:t>[INPUT REQUIRED] Outcome metrics + reference contact</a:t>
            </a:r>
            <a:endParaRPr lang="en-US" sz="1000" dirty="0"/>
          </a:p>
        </p:txBody>
      </p:sp>
      <p:sp>
        <p:nvSpPr>
          <p:cNvPr id="42" name="Text 36"/>
          <p:cNvSpPr txBox="1"/>
          <p:nvPr/>
        </p:nvSpPr>
        <p:spPr>
          <a:xfrm>
            <a:off x="548640" y="5623560"/>
            <a:ext cx="11091672" cy="365760"/>
          </a:xfrm>
          <a:prstGeom prst="rect">
            <a:avLst/>
          </a:prstGeom>
          <a:noFill/>
          <a:ln/>
        </p:spPr>
        <p:txBody>
          <a:bodyPr wrap="square" lIns="0" tIns="0" rIns="0" bIns="0" rtlCol="0" anchor="t"/>
          <a:lstStyle/>
          <a:p>
            <a:pPr indent="0" marL="0">
              <a:buNone/>
            </a:pPr>
            <a:r>
              <a:rPr lang="en-US" sz="1200" dirty="0">
                <a:solidFill>
                  <a:schemeClr val="accent4"/>
                </a:solidFill>
              </a:rPr>
              <a:t>Recommended: include at least one reference of a hospital Wi-Fi deployment to evidence the network integration.</a:t>
            </a:r>
            <a:endParaRPr lang="en-US" sz="12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7 · SUSTAINABILITY INITIATIVES</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We can evidence sustainability practices across energy, tracking, policy and product choices</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MONIT. Reflects ALPS's ISO14000-certified environment (Section 1, clause 19). Provide evidence for each item.</a:t>
            </a:r>
            <a:endParaRPr lang="en-US" sz="900" dirty="0"/>
          </a:p>
        </p:txBody>
      </p:sp>
      <p:sp>
        <p:nvSpPr>
          <p:cNvPr id="6" name="Shape 3"/>
          <p:cNvSpPr/>
          <p:nvPr/>
        </p:nvSpPr>
        <p:spPr>
          <a:xfrm>
            <a:off x="548640" y="1691640"/>
            <a:ext cx="5468112" cy="2011680"/>
          </a:xfrm>
          <a:prstGeom prst="rect">
            <a:avLst/>
          </a:prstGeom>
          <a:solidFill>
            <a:schemeClr val="bg2"/>
          </a:solidFill>
          <a:ln/>
        </p:spPr>
      </p:sp>
      <p:sp>
        <p:nvSpPr>
          <p:cNvPr id="7" name="Shape 4"/>
          <p:cNvSpPr/>
          <p:nvPr/>
        </p:nvSpPr>
        <p:spPr>
          <a:xfrm>
            <a:off x="731520" y="1874520"/>
            <a:ext cx="502920" cy="502920"/>
          </a:xfrm>
          <a:prstGeom prst="ellipse">
            <a:avLst/>
          </a:prstGeom>
          <a:solidFill>
            <a:schemeClr val="accent5"/>
          </a:solidFill>
          <a:ln/>
        </p:spPr>
      </p:sp>
      <p:pic>
        <p:nvPicPr>
          <p:cNvPr id="8" name="Image 0" descr="preencoded.png">    </p:cNvPr>
          <p:cNvPicPr>
            <a:picLocks noChangeAspect="1"/>
          </p:cNvPicPr>
          <p:nvPr/>
        </p:nvPicPr>
        <p:blipFill>
          <a:blip r:embed="rId1"/>
          <a:stretch>
            <a:fillRect/>
          </a:stretch>
        </p:blipFill>
        <p:spPr>
          <a:xfrm>
            <a:off x="857250" y="2000250"/>
            <a:ext cx="251460" cy="251460"/>
          </a:xfrm>
          <a:prstGeom prst="rect">
            <a:avLst/>
          </a:prstGeom>
        </p:spPr>
      </p:pic>
      <p:sp>
        <p:nvSpPr>
          <p:cNvPr id="9" name="Text 5"/>
          <p:cNvSpPr txBox="1"/>
          <p:nvPr/>
        </p:nvSpPr>
        <p:spPr>
          <a:xfrm>
            <a:off x="1417320" y="1874520"/>
            <a:ext cx="4389120" cy="502920"/>
          </a:xfrm>
          <a:prstGeom prst="rect">
            <a:avLst/>
          </a:prstGeom>
          <a:noFill/>
          <a:ln/>
        </p:spPr>
        <p:txBody>
          <a:bodyPr wrap="square" lIns="0" tIns="0" rIns="0" bIns="0" rtlCol="0" anchor="ctr"/>
          <a:lstStyle/>
          <a:p>
            <a:pPr indent="0" marL="0">
              <a:buNone/>
            </a:pPr>
            <a:r>
              <a:rPr lang="en-US" sz="1500" b="1" dirty="0">
                <a:solidFill>
                  <a:schemeClr val="tx2"/>
                </a:solidFill>
              </a:rPr>
              <a:t>Renewable energy</a:t>
            </a:r>
            <a:endParaRPr lang="en-US" sz="1500" dirty="0"/>
          </a:p>
        </p:txBody>
      </p:sp>
      <p:sp>
        <p:nvSpPr>
          <p:cNvPr id="10" name="Text 6"/>
          <p:cNvSpPr txBox="1"/>
          <p:nvPr/>
        </p:nvSpPr>
        <p:spPr>
          <a:xfrm>
            <a:off x="731520" y="2514600"/>
            <a:ext cx="5120640" cy="365760"/>
          </a:xfrm>
          <a:prstGeom prst="rect">
            <a:avLst/>
          </a:prstGeom>
          <a:noFill/>
          <a:ln/>
        </p:spPr>
        <p:txBody>
          <a:bodyPr wrap="square" lIns="0" tIns="0" rIns="0" bIns="0" rtlCol="0" anchor="t"/>
          <a:lstStyle/>
          <a:p>
            <a:pPr indent="0" marL="0">
              <a:buNone/>
            </a:pPr>
            <a:r>
              <a:rPr lang="en-US" sz="1200" dirty="0">
                <a:solidFill>
                  <a:schemeClr val="tx1"/>
                </a:solidFill>
              </a:rPr>
              <a:t>Use of solar or other renewable energy in operations</a:t>
            </a:r>
            <a:endParaRPr lang="en-US" sz="1200" dirty="0"/>
          </a:p>
        </p:txBody>
      </p:sp>
      <p:sp>
        <p:nvSpPr>
          <p:cNvPr id="11" name="Input placeholder"/>
          <p:cNvSpPr/>
          <p:nvPr/>
        </p:nvSpPr>
        <p:spPr>
          <a:xfrm>
            <a:off x="731520" y="2926080"/>
            <a:ext cx="5102352" cy="594360"/>
          </a:xfrm>
          <a:prstGeom prst="rect">
            <a:avLst/>
          </a:prstGeom>
          <a:solidFill>
            <a:srgbClr val="FFF4D6"/>
          </a:solidFill>
          <a:ln w="12700">
            <a:solidFill>
              <a:srgbClr val="F2A900"/>
            </a:solidFill>
            <a:prstDash val="dash"/>
          </a:ln>
        </p:spPr>
      </p:sp>
      <p:sp>
        <p:nvSpPr>
          <p:cNvPr id="12" name="Text 8"/>
          <p:cNvSpPr txBox="1"/>
          <p:nvPr/>
        </p:nvSpPr>
        <p:spPr>
          <a:xfrm>
            <a:off x="822960" y="2926080"/>
            <a:ext cx="4919472" cy="594360"/>
          </a:xfrm>
          <a:prstGeom prst="rect">
            <a:avLst/>
          </a:prstGeom>
          <a:noFill/>
          <a:ln/>
        </p:spPr>
        <p:txBody>
          <a:bodyPr wrap="square" lIns="0" tIns="0" rIns="0" bIns="0" rtlCol="0" anchor="ctr"/>
          <a:lstStyle/>
          <a:p>
            <a:pPr indent="0" marL="0">
              <a:buNone/>
            </a:pPr>
            <a:r>
              <a:rPr lang="en-US" sz="1000" i="1" dirty="0">
                <a:solidFill>
                  <a:srgbClr val="7A4F00"/>
                </a:solidFill>
              </a:rPr>
              <a:t>[INPUT REQUIRED] Evidence: certificate, kWh data, policy document, product list</a:t>
            </a:r>
            <a:endParaRPr lang="en-US" sz="1000" dirty="0"/>
          </a:p>
        </p:txBody>
      </p:sp>
      <p:sp>
        <p:nvSpPr>
          <p:cNvPr id="13" name="Shape 9"/>
          <p:cNvSpPr/>
          <p:nvPr/>
        </p:nvSpPr>
        <p:spPr>
          <a:xfrm>
            <a:off x="6172200" y="1691640"/>
            <a:ext cx="5468112" cy="2011680"/>
          </a:xfrm>
          <a:prstGeom prst="rect">
            <a:avLst/>
          </a:prstGeom>
          <a:solidFill>
            <a:schemeClr val="bg2"/>
          </a:solidFill>
          <a:ln/>
        </p:spPr>
      </p:sp>
      <p:sp>
        <p:nvSpPr>
          <p:cNvPr id="14" name="Shape 10"/>
          <p:cNvSpPr/>
          <p:nvPr/>
        </p:nvSpPr>
        <p:spPr>
          <a:xfrm>
            <a:off x="6355080" y="1874520"/>
            <a:ext cx="502920" cy="502920"/>
          </a:xfrm>
          <a:prstGeom prst="ellipse">
            <a:avLst/>
          </a:prstGeom>
          <a:solidFill>
            <a:schemeClr val="accent5"/>
          </a:solidFill>
          <a:ln/>
        </p:spPr>
      </p:sp>
      <p:pic>
        <p:nvPicPr>
          <p:cNvPr id="15" name="Image 1" descr="preencoded.png">    </p:cNvPr>
          <p:cNvPicPr>
            <a:picLocks noChangeAspect="1"/>
          </p:cNvPicPr>
          <p:nvPr/>
        </p:nvPicPr>
        <p:blipFill>
          <a:blip r:embed="rId2"/>
          <a:stretch>
            <a:fillRect/>
          </a:stretch>
        </p:blipFill>
        <p:spPr>
          <a:xfrm>
            <a:off x="6480810" y="2000250"/>
            <a:ext cx="251460" cy="251460"/>
          </a:xfrm>
          <a:prstGeom prst="rect">
            <a:avLst/>
          </a:prstGeom>
        </p:spPr>
      </p:pic>
      <p:sp>
        <p:nvSpPr>
          <p:cNvPr id="16" name="Text 11"/>
          <p:cNvSpPr txBox="1"/>
          <p:nvPr/>
        </p:nvSpPr>
        <p:spPr>
          <a:xfrm>
            <a:off x="7040880" y="1874520"/>
            <a:ext cx="4389120" cy="502920"/>
          </a:xfrm>
          <a:prstGeom prst="rect">
            <a:avLst/>
          </a:prstGeom>
          <a:noFill/>
          <a:ln/>
        </p:spPr>
        <p:txBody>
          <a:bodyPr wrap="square" lIns="0" tIns="0" rIns="0" bIns="0" rtlCol="0" anchor="ctr"/>
          <a:lstStyle/>
          <a:p>
            <a:pPr indent="0" marL="0">
              <a:buNone/>
            </a:pPr>
            <a:r>
              <a:rPr lang="en-US" sz="1500" b="1" dirty="0">
                <a:solidFill>
                  <a:schemeClr val="tx2"/>
                </a:solidFill>
              </a:rPr>
              <a:t>Energy tracking</a:t>
            </a:r>
            <a:endParaRPr lang="en-US" sz="1500" dirty="0"/>
          </a:p>
        </p:txBody>
      </p:sp>
      <p:sp>
        <p:nvSpPr>
          <p:cNvPr id="17" name="Text 12"/>
          <p:cNvSpPr txBox="1"/>
          <p:nvPr/>
        </p:nvSpPr>
        <p:spPr>
          <a:xfrm>
            <a:off x="6355080" y="2514600"/>
            <a:ext cx="5120640" cy="365760"/>
          </a:xfrm>
          <a:prstGeom prst="rect">
            <a:avLst/>
          </a:prstGeom>
          <a:noFill/>
          <a:ln/>
        </p:spPr>
        <p:txBody>
          <a:bodyPr wrap="square" lIns="0" tIns="0" rIns="0" bIns="0" rtlCol="0" anchor="t"/>
          <a:lstStyle/>
          <a:p>
            <a:pPr indent="0" marL="0">
              <a:buNone/>
            </a:pPr>
            <a:r>
              <a:rPr lang="en-US" sz="1200" dirty="0">
                <a:solidFill>
                  <a:schemeClr val="tx1"/>
                </a:solidFill>
              </a:rPr>
              <a:t>Tracking of energy use in offices and factories</a:t>
            </a:r>
            <a:endParaRPr lang="en-US" sz="1200" dirty="0"/>
          </a:p>
        </p:txBody>
      </p:sp>
      <p:sp>
        <p:nvSpPr>
          <p:cNvPr id="18" name="Input placeholder"/>
          <p:cNvSpPr/>
          <p:nvPr/>
        </p:nvSpPr>
        <p:spPr>
          <a:xfrm>
            <a:off x="6355080" y="2926080"/>
            <a:ext cx="5102352" cy="594360"/>
          </a:xfrm>
          <a:prstGeom prst="rect">
            <a:avLst/>
          </a:prstGeom>
          <a:solidFill>
            <a:srgbClr val="FFF4D6"/>
          </a:solidFill>
          <a:ln w="12700">
            <a:solidFill>
              <a:srgbClr val="F2A900"/>
            </a:solidFill>
            <a:prstDash val="dash"/>
          </a:ln>
        </p:spPr>
      </p:sp>
      <p:sp>
        <p:nvSpPr>
          <p:cNvPr id="19" name="Text 14"/>
          <p:cNvSpPr txBox="1"/>
          <p:nvPr/>
        </p:nvSpPr>
        <p:spPr>
          <a:xfrm>
            <a:off x="6446520" y="2926080"/>
            <a:ext cx="4919472" cy="594360"/>
          </a:xfrm>
          <a:prstGeom prst="rect">
            <a:avLst/>
          </a:prstGeom>
          <a:noFill/>
          <a:ln/>
        </p:spPr>
        <p:txBody>
          <a:bodyPr wrap="square" lIns="0" tIns="0" rIns="0" bIns="0" rtlCol="0" anchor="ctr"/>
          <a:lstStyle/>
          <a:p>
            <a:pPr indent="0" marL="0">
              <a:buNone/>
            </a:pPr>
            <a:r>
              <a:rPr lang="en-US" sz="1000" i="1" dirty="0">
                <a:solidFill>
                  <a:srgbClr val="7A4F00"/>
                </a:solidFill>
              </a:rPr>
              <a:t>[INPUT REQUIRED] Evidence: certificate, kWh data, policy document, product list</a:t>
            </a:r>
            <a:endParaRPr lang="en-US" sz="1000" dirty="0"/>
          </a:p>
        </p:txBody>
      </p:sp>
      <p:sp>
        <p:nvSpPr>
          <p:cNvPr id="20" name="Shape 15"/>
          <p:cNvSpPr/>
          <p:nvPr/>
        </p:nvSpPr>
        <p:spPr>
          <a:xfrm>
            <a:off x="548640" y="3886200"/>
            <a:ext cx="5468112" cy="2011680"/>
          </a:xfrm>
          <a:prstGeom prst="rect">
            <a:avLst/>
          </a:prstGeom>
          <a:solidFill>
            <a:schemeClr val="bg2"/>
          </a:solidFill>
          <a:ln/>
        </p:spPr>
      </p:sp>
      <p:sp>
        <p:nvSpPr>
          <p:cNvPr id="21" name="Shape 16"/>
          <p:cNvSpPr/>
          <p:nvPr/>
        </p:nvSpPr>
        <p:spPr>
          <a:xfrm>
            <a:off x="731520" y="4069080"/>
            <a:ext cx="502920" cy="502920"/>
          </a:xfrm>
          <a:prstGeom prst="ellipse">
            <a:avLst/>
          </a:prstGeom>
          <a:solidFill>
            <a:schemeClr val="accent5"/>
          </a:solidFill>
          <a:ln/>
        </p:spPr>
      </p:sp>
      <p:pic>
        <p:nvPicPr>
          <p:cNvPr id="22" name="Image 2" descr="preencoded.png">    </p:cNvPr>
          <p:cNvPicPr>
            <a:picLocks noChangeAspect="1"/>
          </p:cNvPicPr>
          <p:nvPr/>
        </p:nvPicPr>
        <p:blipFill>
          <a:blip r:embed="rId3"/>
          <a:stretch>
            <a:fillRect/>
          </a:stretch>
        </p:blipFill>
        <p:spPr>
          <a:xfrm>
            <a:off x="857250" y="4194810"/>
            <a:ext cx="251460" cy="251460"/>
          </a:xfrm>
          <a:prstGeom prst="rect">
            <a:avLst/>
          </a:prstGeom>
        </p:spPr>
      </p:pic>
      <p:sp>
        <p:nvSpPr>
          <p:cNvPr id="23" name="Text 17"/>
          <p:cNvSpPr txBox="1"/>
          <p:nvPr/>
        </p:nvSpPr>
        <p:spPr>
          <a:xfrm>
            <a:off x="1417320" y="4069080"/>
            <a:ext cx="4389120" cy="502920"/>
          </a:xfrm>
          <a:prstGeom prst="rect">
            <a:avLst/>
          </a:prstGeom>
          <a:noFill/>
          <a:ln/>
        </p:spPr>
        <p:txBody>
          <a:bodyPr wrap="square" lIns="0" tIns="0" rIns="0" bIns="0" rtlCol="0" anchor="ctr"/>
          <a:lstStyle/>
          <a:p>
            <a:pPr indent="0" marL="0">
              <a:buNone/>
            </a:pPr>
            <a:r>
              <a:rPr lang="en-US" sz="1500" b="1" dirty="0">
                <a:solidFill>
                  <a:schemeClr val="tx2"/>
                </a:solidFill>
              </a:rPr>
              <a:t>Environmental policy</a:t>
            </a:r>
            <a:endParaRPr lang="en-US" sz="1500" dirty="0"/>
          </a:p>
        </p:txBody>
      </p:sp>
      <p:sp>
        <p:nvSpPr>
          <p:cNvPr id="24" name="Text 18"/>
          <p:cNvSpPr txBox="1"/>
          <p:nvPr/>
        </p:nvSpPr>
        <p:spPr>
          <a:xfrm>
            <a:off x="731520" y="4709160"/>
            <a:ext cx="5120640" cy="365760"/>
          </a:xfrm>
          <a:prstGeom prst="rect">
            <a:avLst/>
          </a:prstGeom>
          <a:noFill/>
          <a:ln/>
        </p:spPr>
        <p:txBody>
          <a:bodyPr wrap="square" lIns="0" tIns="0" rIns="0" bIns="0" rtlCol="0" anchor="t"/>
          <a:lstStyle/>
          <a:p>
            <a:pPr indent="0" marL="0">
              <a:buNone/>
            </a:pPr>
            <a:r>
              <a:rPr lang="en-US" sz="1200" dirty="0">
                <a:solidFill>
                  <a:schemeClr val="tx1"/>
                </a:solidFill>
              </a:rPr>
              <a:t>Policies, practices and initiatives (waste, recycling, packaging)</a:t>
            </a:r>
            <a:endParaRPr lang="en-US" sz="1200" dirty="0"/>
          </a:p>
        </p:txBody>
      </p:sp>
      <p:sp>
        <p:nvSpPr>
          <p:cNvPr id="25" name="Input placeholder"/>
          <p:cNvSpPr/>
          <p:nvPr/>
        </p:nvSpPr>
        <p:spPr>
          <a:xfrm>
            <a:off x="731520" y="5120640"/>
            <a:ext cx="5102352" cy="594360"/>
          </a:xfrm>
          <a:prstGeom prst="rect">
            <a:avLst/>
          </a:prstGeom>
          <a:solidFill>
            <a:srgbClr val="FFF4D6"/>
          </a:solidFill>
          <a:ln w="12700">
            <a:solidFill>
              <a:srgbClr val="F2A900"/>
            </a:solidFill>
            <a:prstDash val="dash"/>
          </a:ln>
        </p:spPr>
      </p:sp>
      <p:sp>
        <p:nvSpPr>
          <p:cNvPr id="26" name="Text 20"/>
          <p:cNvSpPr txBox="1"/>
          <p:nvPr/>
        </p:nvSpPr>
        <p:spPr>
          <a:xfrm>
            <a:off x="822960" y="5120640"/>
            <a:ext cx="4919472" cy="594360"/>
          </a:xfrm>
          <a:prstGeom prst="rect">
            <a:avLst/>
          </a:prstGeom>
          <a:noFill/>
          <a:ln/>
        </p:spPr>
        <p:txBody>
          <a:bodyPr wrap="square" lIns="0" tIns="0" rIns="0" bIns="0" rtlCol="0" anchor="ctr"/>
          <a:lstStyle/>
          <a:p>
            <a:pPr indent="0" marL="0">
              <a:buNone/>
            </a:pPr>
            <a:r>
              <a:rPr lang="en-US" sz="1000" i="1" dirty="0">
                <a:solidFill>
                  <a:srgbClr val="7A4F00"/>
                </a:solidFill>
              </a:rPr>
              <a:t>[INPUT REQUIRED] Evidence: certificate, kWh data, policy document, product list</a:t>
            </a:r>
            <a:endParaRPr lang="en-US" sz="1000" dirty="0"/>
          </a:p>
        </p:txBody>
      </p:sp>
      <p:sp>
        <p:nvSpPr>
          <p:cNvPr id="27" name="Shape 21"/>
          <p:cNvSpPr/>
          <p:nvPr/>
        </p:nvSpPr>
        <p:spPr>
          <a:xfrm>
            <a:off x="6172200" y="3886200"/>
            <a:ext cx="5468112" cy="2011680"/>
          </a:xfrm>
          <a:prstGeom prst="rect">
            <a:avLst/>
          </a:prstGeom>
          <a:solidFill>
            <a:schemeClr val="bg2"/>
          </a:solidFill>
          <a:ln/>
        </p:spPr>
      </p:sp>
      <p:sp>
        <p:nvSpPr>
          <p:cNvPr id="28" name="Shape 22"/>
          <p:cNvSpPr/>
          <p:nvPr/>
        </p:nvSpPr>
        <p:spPr>
          <a:xfrm>
            <a:off x="6355080" y="4069080"/>
            <a:ext cx="502920" cy="502920"/>
          </a:xfrm>
          <a:prstGeom prst="ellipse">
            <a:avLst/>
          </a:prstGeom>
          <a:solidFill>
            <a:schemeClr val="accent5"/>
          </a:solidFill>
          <a:ln/>
        </p:spPr>
      </p:sp>
      <p:pic>
        <p:nvPicPr>
          <p:cNvPr id="29" name="Image 3" descr="preencoded.png">    </p:cNvPr>
          <p:cNvPicPr>
            <a:picLocks noChangeAspect="1"/>
          </p:cNvPicPr>
          <p:nvPr/>
        </p:nvPicPr>
        <p:blipFill>
          <a:blip r:embed="rId4"/>
          <a:stretch>
            <a:fillRect/>
          </a:stretch>
        </p:blipFill>
        <p:spPr>
          <a:xfrm>
            <a:off x="6480810" y="4194810"/>
            <a:ext cx="251460" cy="251460"/>
          </a:xfrm>
          <a:prstGeom prst="rect">
            <a:avLst/>
          </a:prstGeom>
        </p:spPr>
      </p:pic>
      <p:sp>
        <p:nvSpPr>
          <p:cNvPr id="30" name="Text 23"/>
          <p:cNvSpPr txBox="1"/>
          <p:nvPr/>
        </p:nvSpPr>
        <p:spPr>
          <a:xfrm>
            <a:off x="7040880" y="4069080"/>
            <a:ext cx="4389120" cy="502920"/>
          </a:xfrm>
          <a:prstGeom prst="rect">
            <a:avLst/>
          </a:prstGeom>
          <a:noFill/>
          <a:ln/>
        </p:spPr>
        <p:txBody>
          <a:bodyPr wrap="square" lIns="0" tIns="0" rIns="0" bIns="0" rtlCol="0" anchor="ctr"/>
          <a:lstStyle/>
          <a:p>
            <a:pPr indent="0" marL="0">
              <a:buNone/>
            </a:pPr>
            <a:r>
              <a:rPr lang="en-US" sz="1500" b="1" dirty="0">
                <a:solidFill>
                  <a:schemeClr val="tx2"/>
                </a:solidFill>
              </a:rPr>
              <a:t>Green products</a:t>
            </a:r>
            <a:endParaRPr lang="en-US" sz="1500" dirty="0"/>
          </a:p>
        </p:txBody>
      </p:sp>
      <p:sp>
        <p:nvSpPr>
          <p:cNvPr id="31" name="Text 24"/>
          <p:cNvSpPr txBox="1"/>
          <p:nvPr/>
        </p:nvSpPr>
        <p:spPr>
          <a:xfrm>
            <a:off x="6355080" y="4709160"/>
            <a:ext cx="5120640" cy="365760"/>
          </a:xfrm>
          <a:prstGeom prst="rect">
            <a:avLst/>
          </a:prstGeom>
          <a:noFill/>
          <a:ln/>
        </p:spPr>
        <p:txBody>
          <a:bodyPr wrap="square" lIns="0" tIns="0" rIns="0" bIns="0" rtlCol="0" anchor="t"/>
          <a:lstStyle/>
          <a:p>
            <a:pPr indent="0" marL="0">
              <a:buNone/>
            </a:pPr>
            <a:r>
              <a:rPr lang="en-US" sz="1200" dirty="0">
                <a:solidFill>
                  <a:schemeClr val="tx1"/>
                </a:solidFill>
              </a:rPr>
              <a:t>Green Label products and energy-efficient equipment in offices / sites</a:t>
            </a:r>
            <a:endParaRPr lang="en-US" sz="1200" dirty="0"/>
          </a:p>
        </p:txBody>
      </p:sp>
      <p:sp>
        <p:nvSpPr>
          <p:cNvPr id="32" name="Input placeholder"/>
          <p:cNvSpPr/>
          <p:nvPr/>
        </p:nvSpPr>
        <p:spPr>
          <a:xfrm>
            <a:off x="6355080" y="5120640"/>
            <a:ext cx="5102352" cy="594360"/>
          </a:xfrm>
          <a:prstGeom prst="rect">
            <a:avLst/>
          </a:prstGeom>
          <a:solidFill>
            <a:srgbClr val="FFF4D6"/>
          </a:solidFill>
          <a:ln w="12700">
            <a:solidFill>
              <a:srgbClr val="F2A900"/>
            </a:solidFill>
            <a:prstDash val="dash"/>
          </a:ln>
        </p:spPr>
      </p:sp>
      <p:sp>
        <p:nvSpPr>
          <p:cNvPr id="33" name="Text 26"/>
          <p:cNvSpPr txBox="1"/>
          <p:nvPr/>
        </p:nvSpPr>
        <p:spPr>
          <a:xfrm>
            <a:off x="6446520" y="5120640"/>
            <a:ext cx="4919472" cy="594360"/>
          </a:xfrm>
          <a:prstGeom prst="rect">
            <a:avLst/>
          </a:prstGeom>
          <a:noFill/>
          <a:ln/>
        </p:spPr>
        <p:txBody>
          <a:bodyPr wrap="square" lIns="0" tIns="0" rIns="0" bIns="0" rtlCol="0" anchor="ctr"/>
          <a:lstStyle/>
          <a:p>
            <a:pPr indent="0" marL="0">
              <a:buNone/>
            </a:pPr>
            <a:r>
              <a:rPr lang="en-US" sz="1000" i="1" dirty="0">
                <a:solidFill>
                  <a:srgbClr val="7A4F00"/>
                </a:solidFill>
              </a:rPr>
              <a:t>[INPUT REQUIRED] Evidence: certificate, kWh data, policy document, product list</a:t>
            </a:r>
            <a:endParaRPr lang="en-US" sz="10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8 · NETWORK CONNECTIVITY AND RELAY DEVICES</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The relay joins the hospital Wi-Fi as a standard client device — no new network infrastructure is needed</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MONIT. Protocols and security settings to be confirmed with the hospital IT teams and product engineering.</a:t>
            </a:r>
            <a:endParaRPr lang="en-US" sz="900" dirty="0"/>
          </a:p>
        </p:txBody>
      </p:sp>
      <p:sp>
        <p:nvSpPr>
          <p:cNvPr id="6" name="Shape 3"/>
          <p:cNvSpPr/>
          <p:nvPr/>
        </p:nvSpPr>
        <p:spPr>
          <a:xfrm>
            <a:off x="548640" y="1737360"/>
            <a:ext cx="2011680" cy="1737360"/>
          </a:xfrm>
          <a:prstGeom prst="rect">
            <a:avLst/>
          </a:prstGeom>
          <a:solidFill>
            <a:schemeClr val="bg2"/>
          </a:solidFill>
          <a:ln w="6350">
            <a:solidFill>
              <a:srgbClr val="F1F4F8"/>
            </a:solidFill>
            <a:prstDash val="solid"/>
          </a:ln>
        </p:spPr>
      </p:sp>
      <p:sp>
        <p:nvSpPr>
          <p:cNvPr id="7" name="Shape 4"/>
          <p:cNvSpPr/>
          <p:nvPr/>
        </p:nvSpPr>
        <p:spPr>
          <a:xfrm>
            <a:off x="1280160" y="1874520"/>
            <a:ext cx="548640" cy="548640"/>
          </a:xfrm>
          <a:prstGeom prst="ellipse">
            <a:avLst/>
          </a:prstGeom>
          <a:solidFill>
            <a:schemeClr val="tx2"/>
          </a:solidFill>
          <a:ln/>
        </p:spPr>
      </p:sp>
      <p:pic>
        <p:nvPicPr>
          <p:cNvPr id="8" name="Image 0" descr="preencoded.png">    </p:cNvPr>
          <p:cNvPicPr>
            <a:picLocks noChangeAspect="1"/>
          </p:cNvPicPr>
          <p:nvPr/>
        </p:nvPicPr>
        <p:blipFill>
          <a:blip r:embed="rId1"/>
          <a:stretch>
            <a:fillRect/>
          </a:stretch>
        </p:blipFill>
        <p:spPr>
          <a:xfrm>
            <a:off x="1417320" y="2011680"/>
            <a:ext cx="274320" cy="274320"/>
          </a:xfrm>
          <a:prstGeom prst="rect">
            <a:avLst/>
          </a:prstGeom>
        </p:spPr>
      </p:pic>
      <p:sp>
        <p:nvSpPr>
          <p:cNvPr id="9" name="Text 5"/>
          <p:cNvSpPr txBox="1"/>
          <p:nvPr/>
        </p:nvSpPr>
        <p:spPr>
          <a:xfrm>
            <a:off x="640080" y="2560320"/>
            <a:ext cx="1828800" cy="320040"/>
          </a:xfrm>
          <a:prstGeom prst="rect">
            <a:avLst/>
          </a:prstGeom>
          <a:noFill/>
          <a:ln/>
        </p:spPr>
        <p:txBody>
          <a:bodyPr wrap="square" lIns="0" tIns="0" rIns="0" bIns="0" rtlCol="0" anchor="t"/>
          <a:lstStyle/>
          <a:p>
            <a:pPr algn="ctr" indent="0" marL="0">
              <a:buNone/>
            </a:pPr>
            <a:r>
              <a:rPr lang="en-US" sz="1300" b="1" dirty="0">
                <a:solidFill>
                  <a:schemeClr val="tx2"/>
                </a:solidFill>
              </a:rPr>
              <a:t>Sensors</a:t>
            </a:r>
            <a:endParaRPr lang="en-US" sz="1300" dirty="0"/>
          </a:p>
        </p:txBody>
      </p:sp>
      <p:sp>
        <p:nvSpPr>
          <p:cNvPr id="10" name="Text 6"/>
          <p:cNvSpPr txBox="1"/>
          <p:nvPr/>
        </p:nvSpPr>
        <p:spPr>
          <a:xfrm>
            <a:off x="640080" y="2926080"/>
            <a:ext cx="1828800" cy="457200"/>
          </a:xfrm>
          <a:prstGeom prst="rect">
            <a:avLst/>
          </a:prstGeom>
          <a:noFill/>
          <a:ln/>
        </p:spPr>
        <p:txBody>
          <a:bodyPr wrap="square" lIns="0" tIns="0" rIns="0" bIns="0" rtlCol="0" anchor="t"/>
          <a:lstStyle/>
          <a:p>
            <a:pPr algn="ctr" indent="0" marL="0">
              <a:buNone/>
            </a:pPr>
            <a:r>
              <a:rPr lang="en-US" sz="1100" dirty="0">
                <a:solidFill>
                  <a:schemeClr val="accent4"/>
                </a:solidFill>
              </a:rPr>
              <a:t>In ward beds</a:t>
            </a:r>
            <a:endParaRPr lang="en-US" sz="1100" dirty="0"/>
          </a:p>
        </p:txBody>
      </p:sp>
      <p:sp>
        <p:nvSpPr>
          <p:cNvPr id="11" name="Shape 7"/>
          <p:cNvSpPr/>
          <p:nvPr/>
        </p:nvSpPr>
        <p:spPr>
          <a:xfrm>
            <a:off x="2560320" y="2606040"/>
            <a:ext cx="228600" cy="0"/>
          </a:xfrm>
          <a:prstGeom prst="line">
            <a:avLst/>
          </a:prstGeom>
          <a:noFill/>
          <a:ln w="25400">
            <a:solidFill>
              <a:srgbClr val="00A3AD"/>
            </a:solidFill>
            <a:prstDash val="solid"/>
            <a:tailEnd type="triangle"/>
          </a:ln>
        </p:spPr>
      </p:sp>
      <p:sp>
        <p:nvSpPr>
          <p:cNvPr id="12" name="Shape 8"/>
          <p:cNvSpPr/>
          <p:nvPr/>
        </p:nvSpPr>
        <p:spPr>
          <a:xfrm>
            <a:off x="2788920" y="1737360"/>
            <a:ext cx="2011680" cy="1737360"/>
          </a:xfrm>
          <a:prstGeom prst="rect">
            <a:avLst/>
          </a:prstGeom>
          <a:solidFill>
            <a:schemeClr val="bg2"/>
          </a:solidFill>
          <a:ln w="6350">
            <a:solidFill>
              <a:srgbClr val="F1F4F8"/>
            </a:solidFill>
            <a:prstDash val="solid"/>
          </a:ln>
        </p:spPr>
      </p:sp>
      <p:sp>
        <p:nvSpPr>
          <p:cNvPr id="13" name="Shape 9"/>
          <p:cNvSpPr/>
          <p:nvPr/>
        </p:nvSpPr>
        <p:spPr>
          <a:xfrm>
            <a:off x="3520440" y="1874520"/>
            <a:ext cx="548640" cy="548640"/>
          </a:xfrm>
          <a:prstGeom prst="ellipse">
            <a:avLst/>
          </a:prstGeom>
          <a:solidFill>
            <a:schemeClr val="accent1"/>
          </a:solidFill>
          <a:ln/>
        </p:spPr>
      </p:sp>
      <p:pic>
        <p:nvPicPr>
          <p:cNvPr id="14" name="Image 1" descr="preencoded.png">    </p:cNvPr>
          <p:cNvPicPr>
            <a:picLocks noChangeAspect="1"/>
          </p:cNvPicPr>
          <p:nvPr/>
        </p:nvPicPr>
        <p:blipFill>
          <a:blip r:embed="rId2"/>
          <a:stretch>
            <a:fillRect/>
          </a:stretch>
        </p:blipFill>
        <p:spPr>
          <a:xfrm>
            <a:off x="3657600" y="2011680"/>
            <a:ext cx="274320" cy="274320"/>
          </a:xfrm>
          <a:prstGeom prst="rect">
            <a:avLst/>
          </a:prstGeom>
        </p:spPr>
      </p:pic>
      <p:sp>
        <p:nvSpPr>
          <p:cNvPr id="15" name="Text 10"/>
          <p:cNvSpPr txBox="1"/>
          <p:nvPr/>
        </p:nvSpPr>
        <p:spPr>
          <a:xfrm>
            <a:off x="2880360" y="2560320"/>
            <a:ext cx="1828800" cy="320040"/>
          </a:xfrm>
          <a:prstGeom prst="rect">
            <a:avLst/>
          </a:prstGeom>
          <a:noFill/>
          <a:ln/>
        </p:spPr>
        <p:txBody>
          <a:bodyPr wrap="square" lIns="0" tIns="0" rIns="0" bIns="0" rtlCol="0" anchor="t"/>
          <a:lstStyle/>
          <a:p>
            <a:pPr algn="ctr" indent="0" marL="0">
              <a:buNone/>
            </a:pPr>
            <a:r>
              <a:rPr lang="en-US" sz="1300" b="1" dirty="0">
                <a:solidFill>
                  <a:schemeClr val="tx2"/>
                </a:solidFill>
              </a:rPr>
              <a:t>Relay device</a:t>
            </a:r>
            <a:endParaRPr lang="en-US" sz="1300" dirty="0"/>
          </a:p>
        </p:txBody>
      </p:sp>
      <p:sp>
        <p:nvSpPr>
          <p:cNvPr id="16" name="Text 11"/>
          <p:cNvSpPr txBox="1"/>
          <p:nvPr/>
        </p:nvSpPr>
        <p:spPr>
          <a:xfrm>
            <a:off x="2880360" y="2926080"/>
            <a:ext cx="1828800" cy="457200"/>
          </a:xfrm>
          <a:prstGeom prst="rect">
            <a:avLst/>
          </a:prstGeom>
          <a:noFill/>
          <a:ln/>
        </p:spPr>
        <p:txBody>
          <a:bodyPr wrap="square" lIns="0" tIns="0" rIns="0" bIns="0" rtlCol="0" anchor="t"/>
          <a:lstStyle/>
          <a:p>
            <a:pPr algn="ctr" indent="0" marL="0">
              <a:buNone/>
            </a:pPr>
            <a:r>
              <a:rPr lang="en-US" sz="1100" dirty="0">
                <a:solidFill>
                  <a:schemeClr val="accent4"/>
                </a:solidFill>
              </a:rPr>
              <a:t>Joins hospital Wi-Fi</a:t>
            </a:r>
            <a:endParaRPr lang="en-US" sz="1100" dirty="0"/>
          </a:p>
        </p:txBody>
      </p:sp>
      <p:sp>
        <p:nvSpPr>
          <p:cNvPr id="17" name="Shape 12"/>
          <p:cNvSpPr/>
          <p:nvPr/>
        </p:nvSpPr>
        <p:spPr>
          <a:xfrm>
            <a:off x="4800600" y="2606040"/>
            <a:ext cx="228600" cy="0"/>
          </a:xfrm>
          <a:prstGeom prst="line">
            <a:avLst/>
          </a:prstGeom>
          <a:noFill/>
          <a:ln w="25400">
            <a:solidFill>
              <a:srgbClr val="00A3AD"/>
            </a:solidFill>
            <a:prstDash val="solid"/>
            <a:tailEnd type="triangle"/>
          </a:ln>
        </p:spPr>
      </p:sp>
      <p:sp>
        <p:nvSpPr>
          <p:cNvPr id="18" name="Shape 13"/>
          <p:cNvSpPr/>
          <p:nvPr/>
        </p:nvSpPr>
        <p:spPr>
          <a:xfrm>
            <a:off x="5029200" y="1737360"/>
            <a:ext cx="2011680" cy="1737360"/>
          </a:xfrm>
          <a:prstGeom prst="rect">
            <a:avLst/>
          </a:prstGeom>
          <a:solidFill>
            <a:schemeClr val="bg1"/>
          </a:solidFill>
          <a:ln w="19050">
            <a:solidFill>
              <a:srgbClr val="00A3AD"/>
            </a:solidFill>
            <a:prstDash val="dash"/>
          </a:ln>
        </p:spPr>
      </p:sp>
      <p:sp>
        <p:nvSpPr>
          <p:cNvPr id="19" name="Shape 14"/>
          <p:cNvSpPr/>
          <p:nvPr/>
        </p:nvSpPr>
        <p:spPr>
          <a:xfrm>
            <a:off x="5760720" y="1874520"/>
            <a:ext cx="548640" cy="548640"/>
          </a:xfrm>
          <a:prstGeom prst="ellipse">
            <a:avLst/>
          </a:prstGeom>
          <a:solidFill>
            <a:schemeClr val="tx2"/>
          </a:solidFill>
          <a:ln/>
        </p:spPr>
      </p:sp>
      <p:pic>
        <p:nvPicPr>
          <p:cNvPr id="20" name="Image 2" descr="preencoded.png">    </p:cNvPr>
          <p:cNvPicPr>
            <a:picLocks noChangeAspect="1"/>
          </p:cNvPicPr>
          <p:nvPr/>
        </p:nvPicPr>
        <p:blipFill>
          <a:blip r:embed="rId3"/>
          <a:stretch>
            <a:fillRect/>
          </a:stretch>
        </p:blipFill>
        <p:spPr>
          <a:xfrm>
            <a:off x="5897880" y="2011680"/>
            <a:ext cx="274320" cy="274320"/>
          </a:xfrm>
          <a:prstGeom prst="rect">
            <a:avLst/>
          </a:prstGeom>
        </p:spPr>
      </p:pic>
      <p:sp>
        <p:nvSpPr>
          <p:cNvPr id="21" name="Text 15"/>
          <p:cNvSpPr txBox="1"/>
          <p:nvPr/>
        </p:nvSpPr>
        <p:spPr>
          <a:xfrm>
            <a:off x="5120640" y="2560320"/>
            <a:ext cx="1828800" cy="320040"/>
          </a:xfrm>
          <a:prstGeom prst="rect">
            <a:avLst/>
          </a:prstGeom>
          <a:noFill/>
          <a:ln/>
        </p:spPr>
        <p:txBody>
          <a:bodyPr wrap="square" lIns="0" tIns="0" rIns="0" bIns="0" rtlCol="0" anchor="t"/>
          <a:lstStyle/>
          <a:p>
            <a:pPr algn="ctr" indent="0" marL="0">
              <a:buNone/>
            </a:pPr>
            <a:r>
              <a:rPr lang="en-US" sz="1300" b="1" dirty="0">
                <a:solidFill>
                  <a:schemeClr val="tx2"/>
                </a:solidFill>
              </a:rPr>
              <a:t>Hospital Wi-Fi / AP</a:t>
            </a:r>
            <a:endParaRPr lang="en-US" sz="1300" dirty="0"/>
          </a:p>
        </p:txBody>
      </p:sp>
      <p:sp>
        <p:nvSpPr>
          <p:cNvPr id="22" name="Text 16"/>
          <p:cNvSpPr txBox="1"/>
          <p:nvPr/>
        </p:nvSpPr>
        <p:spPr>
          <a:xfrm>
            <a:off x="5120640" y="2926080"/>
            <a:ext cx="1828800" cy="457200"/>
          </a:xfrm>
          <a:prstGeom prst="rect">
            <a:avLst/>
          </a:prstGeom>
          <a:noFill/>
          <a:ln/>
        </p:spPr>
        <p:txBody>
          <a:bodyPr wrap="square" lIns="0" tIns="0" rIns="0" bIns="0" rtlCol="0" anchor="t"/>
          <a:lstStyle/>
          <a:p>
            <a:pPr algn="ctr" indent="0" marL="0">
              <a:buNone/>
            </a:pPr>
            <a:r>
              <a:rPr lang="en-US" sz="1100" dirty="0">
                <a:solidFill>
                  <a:schemeClr val="accent4"/>
                </a:solidFill>
              </a:rPr>
              <a:t>Owned &amp; managed by hospital</a:t>
            </a:r>
            <a:endParaRPr lang="en-US" sz="1100" dirty="0"/>
          </a:p>
        </p:txBody>
      </p:sp>
      <p:sp>
        <p:nvSpPr>
          <p:cNvPr id="23" name="Shape 17"/>
          <p:cNvSpPr/>
          <p:nvPr/>
        </p:nvSpPr>
        <p:spPr>
          <a:xfrm>
            <a:off x="7040880" y="2606040"/>
            <a:ext cx="228600" cy="0"/>
          </a:xfrm>
          <a:prstGeom prst="line">
            <a:avLst/>
          </a:prstGeom>
          <a:noFill/>
          <a:ln w="25400">
            <a:solidFill>
              <a:srgbClr val="00A3AD"/>
            </a:solidFill>
            <a:prstDash val="solid"/>
            <a:tailEnd type="triangle"/>
          </a:ln>
        </p:spPr>
      </p:sp>
      <p:sp>
        <p:nvSpPr>
          <p:cNvPr id="24" name="Shape 18"/>
          <p:cNvSpPr/>
          <p:nvPr/>
        </p:nvSpPr>
        <p:spPr>
          <a:xfrm>
            <a:off x="7269480" y="1737360"/>
            <a:ext cx="2011680" cy="1737360"/>
          </a:xfrm>
          <a:prstGeom prst="rect">
            <a:avLst/>
          </a:prstGeom>
          <a:solidFill>
            <a:schemeClr val="bg2"/>
          </a:solidFill>
          <a:ln w="6350">
            <a:solidFill>
              <a:srgbClr val="F1F4F8"/>
            </a:solidFill>
            <a:prstDash val="solid"/>
          </a:ln>
        </p:spPr>
      </p:sp>
      <p:sp>
        <p:nvSpPr>
          <p:cNvPr id="25" name="Shape 19"/>
          <p:cNvSpPr/>
          <p:nvPr/>
        </p:nvSpPr>
        <p:spPr>
          <a:xfrm>
            <a:off x="8001000" y="1874520"/>
            <a:ext cx="548640" cy="548640"/>
          </a:xfrm>
          <a:prstGeom prst="ellipse">
            <a:avLst/>
          </a:prstGeom>
          <a:solidFill>
            <a:schemeClr val="accent1"/>
          </a:solidFill>
          <a:ln/>
        </p:spPr>
      </p:sp>
      <p:pic>
        <p:nvPicPr>
          <p:cNvPr id="26" name="Image 3" descr="preencoded.png">    </p:cNvPr>
          <p:cNvPicPr>
            <a:picLocks noChangeAspect="1"/>
          </p:cNvPicPr>
          <p:nvPr/>
        </p:nvPicPr>
        <p:blipFill>
          <a:blip r:embed="rId4"/>
          <a:stretch>
            <a:fillRect/>
          </a:stretch>
        </p:blipFill>
        <p:spPr>
          <a:xfrm>
            <a:off x="8138160" y="2011680"/>
            <a:ext cx="274320" cy="274320"/>
          </a:xfrm>
          <a:prstGeom prst="rect">
            <a:avLst/>
          </a:prstGeom>
        </p:spPr>
      </p:pic>
      <p:sp>
        <p:nvSpPr>
          <p:cNvPr id="27" name="Text 20"/>
          <p:cNvSpPr txBox="1"/>
          <p:nvPr/>
        </p:nvSpPr>
        <p:spPr>
          <a:xfrm>
            <a:off x="7360920" y="2560320"/>
            <a:ext cx="1828800" cy="320040"/>
          </a:xfrm>
          <a:prstGeom prst="rect">
            <a:avLst/>
          </a:prstGeom>
          <a:noFill/>
          <a:ln/>
        </p:spPr>
        <p:txBody>
          <a:bodyPr wrap="square" lIns="0" tIns="0" rIns="0" bIns="0" rtlCol="0" anchor="t"/>
          <a:lstStyle/>
          <a:p>
            <a:pPr algn="ctr" indent="0" marL="0">
              <a:buNone/>
            </a:pPr>
            <a:r>
              <a:rPr lang="en-US" sz="1300" b="1" dirty="0">
                <a:solidFill>
                  <a:schemeClr val="tx2"/>
                </a:solidFill>
              </a:rPr>
              <a:t>MONIT platform</a:t>
            </a:r>
            <a:endParaRPr lang="en-US" sz="1300" dirty="0"/>
          </a:p>
        </p:txBody>
      </p:sp>
      <p:sp>
        <p:nvSpPr>
          <p:cNvPr id="28" name="Text 21"/>
          <p:cNvSpPr txBox="1"/>
          <p:nvPr/>
        </p:nvSpPr>
        <p:spPr>
          <a:xfrm>
            <a:off x="7360920" y="2926080"/>
            <a:ext cx="1828800" cy="457200"/>
          </a:xfrm>
          <a:prstGeom prst="rect">
            <a:avLst/>
          </a:prstGeom>
          <a:noFill/>
          <a:ln/>
        </p:spPr>
        <p:txBody>
          <a:bodyPr wrap="square" lIns="0" tIns="0" rIns="0" bIns="0" rtlCol="0" anchor="t"/>
          <a:lstStyle/>
          <a:p>
            <a:pPr algn="ctr" indent="0" marL="0">
              <a:buNone/>
            </a:pPr>
            <a:r>
              <a:rPr lang="en-US" sz="1100" dirty="0">
                <a:solidFill>
                  <a:schemeClr val="accent4"/>
                </a:solidFill>
              </a:rPr>
              <a:t>Secure cloud / server</a:t>
            </a:r>
            <a:endParaRPr lang="en-US" sz="1100" dirty="0"/>
          </a:p>
        </p:txBody>
      </p:sp>
      <p:sp>
        <p:nvSpPr>
          <p:cNvPr id="29" name="Shape 22"/>
          <p:cNvSpPr/>
          <p:nvPr/>
        </p:nvSpPr>
        <p:spPr>
          <a:xfrm>
            <a:off x="9281160" y="2606040"/>
            <a:ext cx="228600" cy="0"/>
          </a:xfrm>
          <a:prstGeom prst="line">
            <a:avLst/>
          </a:prstGeom>
          <a:noFill/>
          <a:ln w="25400">
            <a:solidFill>
              <a:srgbClr val="00A3AD"/>
            </a:solidFill>
            <a:prstDash val="solid"/>
            <a:tailEnd type="triangle"/>
          </a:ln>
        </p:spPr>
      </p:sp>
      <p:sp>
        <p:nvSpPr>
          <p:cNvPr id="30" name="Shape 23"/>
          <p:cNvSpPr/>
          <p:nvPr/>
        </p:nvSpPr>
        <p:spPr>
          <a:xfrm>
            <a:off x="9509760" y="1737360"/>
            <a:ext cx="2011680" cy="1737360"/>
          </a:xfrm>
          <a:prstGeom prst="rect">
            <a:avLst/>
          </a:prstGeom>
          <a:solidFill>
            <a:schemeClr val="bg2"/>
          </a:solidFill>
          <a:ln w="6350">
            <a:solidFill>
              <a:srgbClr val="F1F4F8"/>
            </a:solidFill>
            <a:prstDash val="solid"/>
          </a:ln>
        </p:spPr>
      </p:sp>
      <p:sp>
        <p:nvSpPr>
          <p:cNvPr id="31" name="Shape 24"/>
          <p:cNvSpPr/>
          <p:nvPr/>
        </p:nvSpPr>
        <p:spPr>
          <a:xfrm>
            <a:off x="10241280" y="1874520"/>
            <a:ext cx="548640" cy="548640"/>
          </a:xfrm>
          <a:prstGeom prst="ellipse">
            <a:avLst/>
          </a:prstGeom>
          <a:solidFill>
            <a:schemeClr val="tx2"/>
          </a:solidFill>
          <a:ln/>
        </p:spPr>
      </p:sp>
      <p:pic>
        <p:nvPicPr>
          <p:cNvPr id="32" name="Image 4" descr="preencoded.png">    </p:cNvPr>
          <p:cNvPicPr>
            <a:picLocks noChangeAspect="1"/>
          </p:cNvPicPr>
          <p:nvPr/>
        </p:nvPicPr>
        <p:blipFill>
          <a:blip r:embed="rId5"/>
          <a:stretch>
            <a:fillRect/>
          </a:stretch>
        </p:blipFill>
        <p:spPr>
          <a:xfrm>
            <a:off x="10378440" y="2011680"/>
            <a:ext cx="274320" cy="274320"/>
          </a:xfrm>
          <a:prstGeom prst="rect">
            <a:avLst/>
          </a:prstGeom>
        </p:spPr>
      </p:pic>
      <p:sp>
        <p:nvSpPr>
          <p:cNvPr id="33" name="Text 25"/>
          <p:cNvSpPr txBox="1"/>
          <p:nvPr/>
        </p:nvSpPr>
        <p:spPr>
          <a:xfrm>
            <a:off x="9601200" y="2560320"/>
            <a:ext cx="1828800" cy="320040"/>
          </a:xfrm>
          <a:prstGeom prst="rect">
            <a:avLst/>
          </a:prstGeom>
          <a:noFill/>
          <a:ln/>
        </p:spPr>
        <p:txBody>
          <a:bodyPr wrap="square" lIns="0" tIns="0" rIns="0" bIns="0" rtlCol="0" anchor="t"/>
          <a:lstStyle/>
          <a:p>
            <a:pPr algn="ctr" indent="0" marL="0">
              <a:buNone/>
            </a:pPr>
            <a:r>
              <a:rPr lang="en-US" sz="1300" b="1" dirty="0">
                <a:solidFill>
                  <a:schemeClr val="tx2"/>
                </a:solidFill>
              </a:rPr>
              <a:t>Dashboard</a:t>
            </a:r>
            <a:endParaRPr lang="en-US" sz="1300" dirty="0"/>
          </a:p>
        </p:txBody>
      </p:sp>
      <p:sp>
        <p:nvSpPr>
          <p:cNvPr id="34" name="Text 26"/>
          <p:cNvSpPr txBox="1"/>
          <p:nvPr/>
        </p:nvSpPr>
        <p:spPr>
          <a:xfrm>
            <a:off x="9601200" y="2926080"/>
            <a:ext cx="1828800" cy="457200"/>
          </a:xfrm>
          <a:prstGeom prst="rect">
            <a:avLst/>
          </a:prstGeom>
          <a:noFill/>
          <a:ln/>
        </p:spPr>
        <p:txBody>
          <a:bodyPr wrap="square" lIns="0" tIns="0" rIns="0" bIns="0" rtlCol="0" anchor="t"/>
          <a:lstStyle/>
          <a:p>
            <a:pPr algn="ctr" indent="0" marL="0">
              <a:buNone/>
            </a:pPr>
            <a:r>
              <a:rPr lang="en-US" sz="1100" dirty="0">
                <a:solidFill>
                  <a:schemeClr val="accent4"/>
                </a:solidFill>
              </a:rPr>
              <a:t>Nurse station / mobile</a:t>
            </a:r>
            <a:endParaRPr lang="en-US" sz="1100" dirty="0"/>
          </a:p>
        </p:txBody>
      </p:sp>
      <p:sp>
        <p:nvSpPr>
          <p:cNvPr id="35" name="Shape 27"/>
          <p:cNvSpPr/>
          <p:nvPr/>
        </p:nvSpPr>
        <p:spPr>
          <a:xfrm>
            <a:off x="548640" y="3840480"/>
            <a:ext cx="3611880" cy="1920240"/>
          </a:xfrm>
          <a:prstGeom prst="rect">
            <a:avLst/>
          </a:prstGeom>
          <a:solidFill>
            <a:schemeClr val="bg2"/>
          </a:solidFill>
          <a:ln/>
        </p:spPr>
      </p:sp>
      <p:sp>
        <p:nvSpPr>
          <p:cNvPr id="36" name="Text 28"/>
          <p:cNvSpPr txBox="1"/>
          <p:nvPr/>
        </p:nvSpPr>
        <p:spPr>
          <a:xfrm>
            <a:off x="731520" y="3977640"/>
            <a:ext cx="3246120" cy="320040"/>
          </a:xfrm>
          <a:prstGeom prst="rect">
            <a:avLst/>
          </a:prstGeom>
          <a:noFill/>
          <a:ln/>
        </p:spPr>
        <p:txBody>
          <a:bodyPr wrap="square" lIns="0" tIns="0" rIns="0" bIns="0" rtlCol="0" anchor="t"/>
          <a:lstStyle/>
          <a:p>
            <a:pPr indent="0" marL="0">
              <a:buNone/>
            </a:pPr>
            <a:r>
              <a:rPr lang="en-US" sz="1400" b="1" dirty="0">
                <a:solidFill>
                  <a:schemeClr val="tx2"/>
                </a:solidFill>
              </a:rPr>
              <a:t>Wi-Fi client</a:t>
            </a:r>
            <a:endParaRPr lang="en-US" sz="1400" dirty="0"/>
          </a:p>
        </p:txBody>
      </p:sp>
      <p:sp>
        <p:nvSpPr>
          <p:cNvPr id="37" name="Text 29"/>
          <p:cNvSpPr txBox="1"/>
          <p:nvPr/>
        </p:nvSpPr>
        <p:spPr>
          <a:xfrm>
            <a:off x="731520" y="4389120"/>
            <a:ext cx="3246120" cy="1280160"/>
          </a:xfrm>
          <a:prstGeom prst="rect">
            <a:avLst/>
          </a:prstGeom>
          <a:noFill/>
          <a:ln/>
        </p:spPr>
        <p:txBody>
          <a:bodyPr wrap="square" lIns="0" tIns="0" rIns="0" bIns="0" rtlCol="0" anchor="t"/>
          <a:lstStyle/>
          <a:p>
            <a:pPr indent="0" marL="0">
              <a:buNone/>
            </a:pPr>
            <a:r>
              <a:rPr lang="en-US" sz="1200" dirty="0">
                <a:solidFill>
                  <a:schemeClr val="tx1"/>
                </a:solidFill>
              </a:rPr>
              <a:t>Standard 802.11 client; works with existing SSID &amp; security policy [confirm bands / WPA mode]</a:t>
            </a:r>
            <a:endParaRPr lang="en-US" sz="1200" dirty="0"/>
          </a:p>
        </p:txBody>
      </p:sp>
      <p:sp>
        <p:nvSpPr>
          <p:cNvPr id="38" name="Shape 30"/>
          <p:cNvSpPr/>
          <p:nvPr/>
        </p:nvSpPr>
        <p:spPr>
          <a:xfrm>
            <a:off x="4297680" y="3840480"/>
            <a:ext cx="3611880" cy="1920240"/>
          </a:xfrm>
          <a:prstGeom prst="rect">
            <a:avLst/>
          </a:prstGeom>
          <a:solidFill>
            <a:schemeClr val="bg2"/>
          </a:solidFill>
          <a:ln/>
        </p:spPr>
      </p:sp>
      <p:sp>
        <p:nvSpPr>
          <p:cNvPr id="39" name="Text 31"/>
          <p:cNvSpPr txBox="1"/>
          <p:nvPr/>
        </p:nvSpPr>
        <p:spPr>
          <a:xfrm>
            <a:off x="4480560" y="3977640"/>
            <a:ext cx="3246120" cy="320040"/>
          </a:xfrm>
          <a:prstGeom prst="rect">
            <a:avLst/>
          </a:prstGeom>
          <a:noFill/>
          <a:ln/>
        </p:spPr>
        <p:txBody>
          <a:bodyPr wrap="square" lIns="0" tIns="0" rIns="0" bIns="0" rtlCol="0" anchor="t"/>
          <a:lstStyle/>
          <a:p>
            <a:pPr indent="0" marL="0">
              <a:buNone/>
            </a:pPr>
            <a:r>
              <a:rPr lang="en-US" sz="1400" b="1" dirty="0">
                <a:solidFill>
                  <a:schemeClr val="tx2"/>
                </a:solidFill>
              </a:rPr>
              <a:t>Outbound-only</a:t>
            </a:r>
            <a:endParaRPr lang="en-US" sz="1400" dirty="0"/>
          </a:p>
        </p:txBody>
      </p:sp>
      <p:sp>
        <p:nvSpPr>
          <p:cNvPr id="40" name="Text 32"/>
          <p:cNvSpPr txBox="1"/>
          <p:nvPr/>
        </p:nvSpPr>
        <p:spPr>
          <a:xfrm>
            <a:off x="4480560" y="4389120"/>
            <a:ext cx="3246120" cy="1280160"/>
          </a:xfrm>
          <a:prstGeom prst="rect">
            <a:avLst/>
          </a:prstGeom>
          <a:noFill/>
          <a:ln/>
        </p:spPr>
        <p:txBody>
          <a:bodyPr wrap="square" lIns="0" tIns="0" rIns="0" bIns="0" rtlCol="0" anchor="t"/>
          <a:lstStyle/>
          <a:p>
            <a:pPr indent="0" marL="0">
              <a:buNone/>
            </a:pPr>
            <a:r>
              <a:rPr lang="en-US" sz="1200" dirty="0">
                <a:solidFill>
                  <a:schemeClr val="tx1"/>
                </a:solidFill>
              </a:rPr>
              <a:t>Initiates secure connections out; no inbound ports opened on hospital network [confirm]</a:t>
            </a:r>
            <a:endParaRPr lang="en-US" sz="1200" dirty="0"/>
          </a:p>
        </p:txBody>
      </p:sp>
      <p:sp>
        <p:nvSpPr>
          <p:cNvPr id="41" name="Shape 33"/>
          <p:cNvSpPr/>
          <p:nvPr/>
        </p:nvSpPr>
        <p:spPr>
          <a:xfrm>
            <a:off x="8046720" y="3840480"/>
            <a:ext cx="3611880" cy="1920240"/>
          </a:xfrm>
          <a:prstGeom prst="rect">
            <a:avLst/>
          </a:prstGeom>
          <a:solidFill>
            <a:schemeClr val="bg2"/>
          </a:solidFill>
          <a:ln/>
        </p:spPr>
      </p:sp>
      <p:sp>
        <p:nvSpPr>
          <p:cNvPr id="42" name="Text 34"/>
          <p:cNvSpPr txBox="1"/>
          <p:nvPr/>
        </p:nvSpPr>
        <p:spPr>
          <a:xfrm>
            <a:off x="8229600" y="3977640"/>
            <a:ext cx="3246120" cy="320040"/>
          </a:xfrm>
          <a:prstGeom prst="rect">
            <a:avLst/>
          </a:prstGeom>
          <a:noFill/>
          <a:ln/>
        </p:spPr>
        <p:txBody>
          <a:bodyPr wrap="square" lIns="0" tIns="0" rIns="0" bIns="0" rtlCol="0" anchor="t"/>
          <a:lstStyle/>
          <a:p>
            <a:pPr indent="0" marL="0">
              <a:buNone/>
            </a:pPr>
            <a:r>
              <a:rPr lang="en-US" sz="1400" b="1" dirty="0">
                <a:solidFill>
                  <a:schemeClr val="tx2"/>
                </a:solidFill>
              </a:rPr>
              <a:t>IMDA compliant</a:t>
            </a:r>
            <a:endParaRPr lang="en-US" sz="1400" dirty="0"/>
          </a:p>
        </p:txBody>
      </p:sp>
      <p:sp>
        <p:nvSpPr>
          <p:cNvPr id="43" name="Text 35"/>
          <p:cNvSpPr txBox="1"/>
          <p:nvPr/>
        </p:nvSpPr>
        <p:spPr>
          <a:xfrm>
            <a:off x="8229600" y="4389120"/>
            <a:ext cx="3246120" cy="1280160"/>
          </a:xfrm>
          <a:prstGeom prst="rect">
            <a:avLst/>
          </a:prstGeom>
          <a:noFill/>
          <a:ln/>
        </p:spPr>
        <p:txBody>
          <a:bodyPr wrap="square" lIns="0" tIns="0" rIns="0" bIns="0" rtlCol="0" anchor="t"/>
          <a:lstStyle/>
          <a:p>
            <a:pPr indent="0" marL="0">
              <a:buNone/>
            </a:pPr>
            <a:r>
              <a:rPr lang="en-US" sz="1200" dirty="0">
                <a:solidFill>
                  <a:schemeClr val="tx1"/>
                </a:solidFill>
              </a:rPr>
              <a:t>Relay registered / labelled for use in Singapore [INPUT REQUIRED: reg. no.]</a:t>
            </a:r>
            <a:endParaRPr lang="en-US" sz="12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8 · NETWORK CONNECTIVITY AND RELAY DEVICES</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Setup takes minutes per relay: mount, power, connect once, verify in the dashboard</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MONIT proposed setup flow — confirm with product engineering which provisioning method(s) the relay supports.</a:t>
            </a:r>
            <a:endParaRPr lang="en-US" sz="900" dirty="0"/>
          </a:p>
        </p:txBody>
      </p:sp>
      <p:sp>
        <p:nvSpPr>
          <p:cNvPr id="6" name="Shape 3"/>
          <p:cNvSpPr/>
          <p:nvPr/>
        </p:nvSpPr>
        <p:spPr>
          <a:xfrm>
            <a:off x="548640" y="1737360"/>
            <a:ext cx="2011680" cy="2743200"/>
          </a:xfrm>
          <a:prstGeom prst="rect">
            <a:avLst/>
          </a:prstGeom>
          <a:solidFill>
            <a:schemeClr val="bg2"/>
          </a:solidFill>
          <a:ln/>
        </p:spPr>
      </p:sp>
      <p:sp>
        <p:nvSpPr>
          <p:cNvPr id="7" name="Shape 4"/>
          <p:cNvSpPr/>
          <p:nvPr/>
        </p:nvSpPr>
        <p:spPr>
          <a:xfrm>
            <a:off x="1280160" y="1874520"/>
            <a:ext cx="548640" cy="548640"/>
          </a:xfrm>
          <a:prstGeom prst="ellipse">
            <a:avLst/>
          </a:prstGeom>
          <a:solidFill>
            <a:schemeClr val="tx2"/>
          </a:solidFill>
          <a:ln/>
        </p:spPr>
      </p:sp>
      <p:pic>
        <p:nvPicPr>
          <p:cNvPr id="8" name="Image 0" descr="preencoded.png">    </p:cNvPr>
          <p:cNvPicPr>
            <a:picLocks noChangeAspect="1"/>
          </p:cNvPicPr>
          <p:nvPr/>
        </p:nvPicPr>
        <p:blipFill>
          <a:blip r:embed="rId1"/>
          <a:stretch>
            <a:fillRect/>
          </a:stretch>
        </p:blipFill>
        <p:spPr>
          <a:xfrm>
            <a:off x="1417320" y="2011680"/>
            <a:ext cx="274320" cy="274320"/>
          </a:xfrm>
          <a:prstGeom prst="rect">
            <a:avLst/>
          </a:prstGeom>
        </p:spPr>
      </p:pic>
      <p:sp>
        <p:nvSpPr>
          <p:cNvPr id="9" name="Text 5"/>
          <p:cNvSpPr txBox="1"/>
          <p:nvPr/>
        </p:nvSpPr>
        <p:spPr>
          <a:xfrm>
            <a:off x="640080" y="2560320"/>
            <a:ext cx="1828800" cy="320040"/>
          </a:xfrm>
          <a:prstGeom prst="rect">
            <a:avLst/>
          </a:prstGeom>
          <a:noFill/>
          <a:ln/>
        </p:spPr>
        <p:txBody>
          <a:bodyPr wrap="square" lIns="0" tIns="0" rIns="0" bIns="0" rtlCol="0" anchor="t"/>
          <a:lstStyle/>
          <a:p>
            <a:pPr algn="ctr" indent="0" marL="0">
              <a:buNone/>
            </a:pPr>
            <a:r>
              <a:rPr lang="en-US" sz="1400" b="1" dirty="0">
                <a:solidFill>
                  <a:schemeClr val="tx2"/>
                </a:solidFill>
              </a:rPr>
              <a:t>1  Mount</a:t>
            </a:r>
            <a:endParaRPr lang="en-US" sz="1400" dirty="0"/>
          </a:p>
        </p:txBody>
      </p:sp>
      <p:sp>
        <p:nvSpPr>
          <p:cNvPr id="10" name="Text 6"/>
          <p:cNvSpPr txBox="1"/>
          <p:nvPr/>
        </p:nvSpPr>
        <p:spPr>
          <a:xfrm>
            <a:off x="685800" y="2971800"/>
            <a:ext cx="1737360" cy="1371600"/>
          </a:xfrm>
          <a:prstGeom prst="rect">
            <a:avLst/>
          </a:prstGeom>
          <a:noFill/>
          <a:ln/>
        </p:spPr>
        <p:txBody>
          <a:bodyPr wrap="square" lIns="0" tIns="0" rIns="0" bIns="0" rtlCol="0" anchor="t"/>
          <a:lstStyle/>
          <a:p>
            <a:pPr algn="ctr" indent="0" marL="0">
              <a:buNone/>
            </a:pPr>
            <a:r>
              <a:rPr lang="en-US" sz="1150" dirty="0">
                <a:solidFill>
                  <a:schemeClr val="tx1"/>
                </a:solidFill>
              </a:rPr>
              <a:t>Relay mounted at the planned ward position</a:t>
            </a:r>
            <a:endParaRPr lang="en-US" sz="1150" dirty="0"/>
          </a:p>
        </p:txBody>
      </p:sp>
      <p:sp>
        <p:nvSpPr>
          <p:cNvPr id="11" name="Shape 7"/>
          <p:cNvSpPr/>
          <p:nvPr/>
        </p:nvSpPr>
        <p:spPr>
          <a:xfrm>
            <a:off x="2788920" y="1737360"/>
            <a:ext cx="2011680" cy="2743200"/>
          </a:xfrm>
          <a:prstGeom prst="rect">
            <a:avLst/>
          </a:prstGeom>
          <a:solidFill>
            <a:schemeClr val="bg2"/>
          </a:solidFill>
          <a:ln/>
        </p:spPr>
      </p:sp>
      <p:sp>
        <p:nvSpPr>
          <p:cNvPr id="12" name="Shape 8"/>
          <p:cNvSpPr/>
          <p:nvPr/>
        </p:nvSpPr>
        <p:spPr>
          <a:xfrm>
            <a:off x="3520440" y="1874520"/>
            <a:ext cx="548640" cy="548640"/>
          </a:xfrm>
          <a:prstGeom prst="ellipse">
            <a:avLst/>
          </a:prstGeom>
          <a:solidFill>
            <a:schemeClr val="tx2"/>
          </a:solidFill>
          <a:ln/>
        </p:spPr>
      </p:sp>
      <p:pic>
        <p:nvPicPr>
          <p:cNvPr id="13" name="Image 1" descr="preencoded.png">    </p:cNvPr>
          <p:cNvPicPr>
            <a:picLocks noChangeAspect="1"/>
          </p:cNvPicPr>
          <p:nvPr/>
        </p:nvPicPr>
        <p:blipFill>
          <a:blip r:embed="rId2"/>
          <a:stretch>
            <a:fillRect/>
          </a:stretch>
        </p:blipFill>
        <p:spPr>
          <a:xfrm>
            <a:off x="3657600" y="2011680"/>
            <a:ext cx="274320" cy="274320"/>
          </a:xfrm>
          <a:prstGeom prst="rect">
            <a:avLst/>
          </a:prstGeom>
        </p:spPr>
      </p:pic>
      <p:sp>
        <p:nvSpPr>
          <p:cNvPr id="14" name="Text 9"/>
          <p:cNvSpPr txBox="1"/>
          <p:nvPr/>
        </p:nvSpPr>
        <p:spPr>
          <a:xfrm>
            <a:off x="2880360" y="2560320"/>
            <a:ext cx="1828800" cy="320040"/>
          </a:xfrm>
          <a:prstGeom prst="rect">
            <a:avLst/>
          </a:prstGeom>
          <a:noFill/>
          <a:ln/>
        </p:spPr>
        <p:txBody>
          <a:bodyPr wrap="square" lIns="0" tIns="0" rIns="0" bIns="0" rtlCol="0" anchor="t"/>
          <a:lstStyle/>
          <a:p>
            <a:pPr algn="ctr" indent="0" marL="0">
              <a:buNone/>
            </a:pPr>
            <a:r>
              <a:rPr lang="en-US" sz="1400" b="1" dirty="0">
                <a:solidFill>
                  <a:schemeClr val="tx2"/>
                </a:solidFill>
              </a:rPr>
              <a:t>2  Power on</a:t>
            </a:r>
            <a:endParaRPr lang="en-US" sz="1400" dirty="0"/>
          </a:p>
        </p:txBody>
      </p:sp>
      <p:sp>
        <p:nvSpPr>
          <p:cNvPr id="15" name="Text 10"/>
          <p:cNvSpPr txBox="1"/>
          <p:nvPr/>
        </p:nvSpPr>
        <p:spPr>
          <a:xfrm>
            <a:off x="2926080" y="2971800"/>
            <a:ext cx="1737360" cy="1371600"/>
          </a:xfrm>
          <a:prstGeom prst="rect">
            <a:avLst/>
          </a:prstGeom>
          <a:noFill/>
          <a:ln/>
        </p:spPr>
        <p:txBody>
          <a:bodyPr wrap="square" lIns="0" tIns="0" rIns="0" bIns="0" rtlCol="0" anchor="t"/>
          <a:lstStyle/>
          <a:p>
            <a:pPr algn="ctr" indent="0" marL="0">
              <a:buNone/>
            </a:pPr>
            <a:r>
              <a:rPr lang="en-US" sz="1150" dirty="0">
                <a:solidFill>
                  <a:schemeClr val="tx1"/>
                </a:solidFill>
              </a:rPr>
              <a:t>Plug-in / PoE; relay starts in setup mode</a:t>
            </a:r>
            <a:endParaRPr lang="en-US" sz="1150" dirty="0"/>
          </a:p>
        </p:txBody>
      </p:sp>
      <p:sp>
        <p:nvSpPr>
          <p:cNvPr id="16" name="Shape 11"/>
          <p:cNvSpPr/>
          <p:nvPr/>
        </p:nvSpPr>
        <p:spPr>
          <a:xfrm>
            <a:off x="5029200" y="1737360"/>
            <a:ext cx="2011680" cy="2743200"/>
          </a:xfrm>
          <a:prstGeom prst="rect">
            <a:avLst/>
          </a:prstGeom>
          <a:solidFill>
            <a:schemeClr val="bg2"/>
          </a:solidFill>
          <a:ln/>
        </p:spPr>
      </p:sp>
      <p:sp>
        <p:nvSpPr>
          <p:cNvPr id="17" name="Shape 12"/>
          <p:cNvSpPr/>
          <p:nvPr/>
        </p:nvSpPr>
        <p:spPr>
          <a:xfrm>
            <a:off x="5760720" y="1874520"/>
            <a:ext cx="548640" cy="548640"/>
          </a:xfrm>
          <a:prstGeom prst="ellipse">
            <a:avLst/>
          </a:prstGeom>
          <a:solidFill>
            <a:schemeClr val="accent1"/>
          </a:solidFill>
          <a:ln/>
        </p:spPr>
      </p:sp>
      <p:pic>
        <p:nvPicPr>
          <p:cNvPr id="18" name="Image 2" descr="preencoded.png">    </p:cNvPr>
          <p:cNvPicPr>
            <a:picLocks noChangeAspect="1"/>
          </p:cNvPicPr>
          <p:nvPr/>
        </p:nvPicPr>
        <p:blipFill>
          <a:blip r:embed="rId3"/>
          <a:stretch>
            <a:fillRect/>
          </a:stretch>
        </p:blipFill>
        <p:spPr>
          <a:xfrm>
            <a:off x="5897880" y="2011680"/>
            <a:ext cx="274320" cy="274320"/>
          </a:xfrm>
          <a:prstGeom prst="rect">
            <a:avLst/>
          </a:prstGeom>
        </p:spPr>
      </p:pic>
      <p:sp>
        <p:nvSpPr>
          <p:cNvPr id="19" name="Text 13"/>
          <p:cNvSpPr txBox="1"/>
          <p:nvPr/>
        </p:nvSpPr>
        <p:spPr>
          <a:xfrm>
            <a:off x="5120640" y="2560320"/>
            <a:ext cx="1828800" cy="320040"/>
          </a:xfrm>
          <a:prstGeom prst="rect">
            <a:avLst/>
          </a:prstGeom>
          <a:noFill/>
          <a:ln/>
        </p:spPr>
        <p:txBody>
          <a:bodyPr wrap="square" lIns="0" tIns="0" rIns="0" bIns="0" rtlCol="0" anchor="t"/>
          <a:lstStyle/>
          <a:p>
            <a:pPr algn="ctr" indent="0" marL="0">
              <a:buNone/>
            </a:pPr>
            <a:r>
              <a:rPr lang="en-US" sz="1400" b="1" dirty="0">
                <a:solidFill>
                  <a:schemeClr val="tx2"/>
                </a:solidFill>
              </a:rPr>
              <a:t>3  Connect once</a:t>
            </a:r>
            <a:endParaRPr lang="en-US" sz="1400" dirty="0"/>
          </a:p>
        </p:txBody>
      </p:sp>
      <p:sp>
        <p:nvSpPr>
          <p:cNvPr id="20" name="Text 14"/>
          <p:cNvSpPr txBox="1"/>
          <p:nvPr/>
        </p:nvSpPr>
        <p:spPr>
          <a:xfrm>
            <a:off x="5166360" y="2971800"/>
            <a:ext cx="1737360" cy="1371600"/>
          </a:xfrm>
          <a:prstGeom prst="rect">
            <a:avLst/>
          </a:prstGeom>
          <a:noFill/>
          <a:ln/>
        </p:spPr>
        <p:txBody>
          <a:bodyPr wrap="square" lIns="0" tIns="0" rIns="0" bIns="0" rtlCol="0" anchor="t"/>
          <a:lstStyle/>
          <a:p>
            <a:pPr algn="ctr" indent="0" marL="0">
              <a:buNone/>
            </a:pPr>
            <a:r>
              <a:rPr lang="en-US" sz="1150" dirty="0">
                <a:solidFill>
                  <a:schemeClr val="tx1"/>
                </a:solidFill>
              </a:rPr>
              <a:t>Hospital IT enters SSID &amp; credentials during setup — MONIT never holds the password</a:t>
            </a:r>
            <a:endParaRPr lang="en-US" sz="1150" dirty="0"/>
          </a:p>
        </p:txBody>
      </p:sp>
      <p:sp>
        <p:nvSpPr>
          <p:cNvPr id="21" name="Shape 15"/>
          <p:cNvSpPr/>
          <p:nvPr/>
        </p:nvSpPr>
        <p:spPr>
          <a:xfrm>
            <a:off x="7269480" y="1737360"/>
            <a:ext cx="2011680" cy="2743200"/>
          </a:xfrm>
          <a:prstGeom prst="rect">
            <a:avLst/>
          </a:prstGeom>
          <a:solidFill>
            <a:schemeClr val="bg2"/>
          </a:solidFill>
          <a:ln/>
        </p:spPr>
      </p:sp>
      <p:sp>
        <p:nvSpPr>
          <p:cNvPr id="22" name="Shape 16"/>
          <p:cNvSpPr/>
          <p:nvPr/>
        </p:nvSpPr>
        <p:spPr>
          <a:xfrm>
            <a:off x="8001000" y="1874520"/>
            <a:ext cx="548640" cy="548640"/>
          </a:xfrm>
          <a:prstGeom prst="ellipse">
            <a:avLst/>
          </a:prstGeom>
          <a:solidFill>
            <a:schemeClr val="tx2"/>
          </a:solidFill>
          <a:ln/>
        </p:spPr>
      </p:sp>
      <p:pic>
        <p:nvPicPr>
          <p:cNvPr id="23" name="Image 3" descr="preencoded.png">    </p:cNvPr>
          <p:cNvPicPr>
            <a:picLocks noChangeAspect="1"/>
          </p:cNvPicPr>
          <p:nvPr/>
        </p:nvPicPr>
        <p:blipFill>
          <a:blip r:embed="rId4"/>
          <a:stretch>
            <a:fillRect/>
          </a:stretch>
        </p:blipFill>
        <p:spPr>
          <a:xfrm>
            <a:off x="8138160" y="2011680"/>
            <a:ext cx="274320" cy="274320"/>
          </a:xfrm>
          <a:prstGeom prst="rect">
            <a:avLst/>
          </a:prstGeom>
        </p:spPr>
      </p:pic>
      <p:sp>
        <p:nvSpPr>
          <p:cNvPr id="24" name="Text 17"/>
          <p:cNvSpPr txBox="1"/>
          <p:nvPr/>
        </p:nvSpPr>
        <p:spPr>
          <a:xfrm>
            <a:off x="7360920" y="2560320"/>
            <a:ext cx="1828800" cy="320040"/>
          </a:xfrm>
          <a:prstGeom prst="rect">
            <a:avLst/>
          </a:prstGeom>
          <a:noFill/>
          <a:ln/>
        </p:spPr>
        <p:txBody>
          <a:bodyPr wrap="square" lIns="0" tIns="0" rIns="0" bIns="0" rtlCol="0" anchor="t"/>
          <a:lstStyle/>
          <a:p>
            <a:pPr algn="ctr" indent="0" marL="0">
              <a:buNone/>
            </a:pPr>
            <a:r>
              <a:rPr lang="en-US" sz="1400" b="1" dirty="0">
                <a:solidFill>
                  <a:schemeClr val="tx2"/>
                </a:solidFill>
              </a:rPr>
              <a:t>4  Register</a:t>
            </a:r>
            <a:endParaRPr lang="en-US" sz="1400" dirty="0"/>
          </a:p>
        </p:txBody>
      </p:sp>
      <p:sp>
        <p:nvSpPr>
          <p:cNvPr id="25" name="Text 18"/>
          <p:cNvSpPr txBox="1"/>
          <p:nvPr/>
        </p:nvSpPr>
        <p:spPr>
          <a:xfrm>
            <a:off x="7406640" y="2971800"/>
            <a:ext cx="1737360" cy="1371600"/>
          </a:xfrm>
          <a:prstGeom prst="rect">
            <a:avLst/>
          </a:prstGeom>
          <a:noFill/>
          <a:ln/>
        </p:spPr>
        <p:txBody>
          <a:bodyPr wrap="square" lIns="0" tIns="0" rIns="0" bIns="0" rtlCol="0" anchor="t"/>
          <a:lstStyle/>
          <a:p>
            <a:pPr algn="ctr" indent="0" marL="0">
              <a:buNone/>
            </a:pPr>
            <a:r>
              <a:rPr lang="en-US" sz="1150" dirty="0">
                <a:solidFill>
                  <a:schemeClr val="tx1"/>
                </a:solidFill>
              </a:rPr>
              <a:t>Relay registers with the platform and pairs with ward sensors</a:t>
            </a:r>
            <a:endParaRPr lang="en-US" sz="1150" dirty="0"/>
          </a:p>
        </p:txBody>
      </p:sp>
      <p:sp>
        <p:nvSpPr>
          <p:cNvPr id="26" name="Shape 19"/>
          <p:cNvSpPr/>
          <p:nvPr/>
        </p:nvSpPr>
        <p:spPr>
          <a:xfrm>
            <a:off x="9509760" y="1737360"/>
            <a:ext cx="2011680" cy="2743200"/>
          </a:xfrm>
          <a:prstGeom prst="rect">
            <a:avLst/>
          </a:prstGeom>
          <a:solidFill>
            <a:schemeClr val="bg2"/>
          </a:solidFill>
          <a:ln/>
        </p:spPr>
      </p:sp>
      <p:sp>
        <p:nvSpPr>
          <p:cNvPr id="27" name="Shape 20"/>
          <p:cNvSpPr/>
          <p:nvPr/>
        </p:nvSpPr>
        <p:spPr>
          <a:xfrm>
            <a:off x="10241280" y="1874520"/>
            <a:ext cx="548640" cy="548640"/>
          </a:xfrm>
          <a:prstGeom prst="ellipse">
            <a:avLst/>
          </a:prstGeom>
          <a:solidFill>
            <a:schemeClr val="tx2"/>
          </a:solidFill>
          <a:ln/>
        </p:spPr>
      </p:sp>
      <p:pic>
        <p:nvPicPr>
          <p:cNvPr id="28" name="Image 4" descr="preencoded.png">    </p:cNvPr>
          <p:cNvPicPr>
            <a:picLocks noChangeAspect="1"/>
          </p:cNvPicPr>
          <p:nvPr/>
        </p:nvPicPr>
        <p:blipFill>
          <a:blip r:embed="rId5"/>
          <a:stretch>
            <a:fillRect/>
          </a:stretch>
        </p:blipFill>
        <p:spPr>
          <a:xfrm>
            <a:off x="10378440" y="2011680"/>
            <a:ext cx="274320" cy="274320"/>
          </a:xfrm>
          <a:prstGeom prst="rect">
            <a:avLst/>
          </a:prstGeom>
        </p:spPr>
      </p:pic>
      <p:sp>
        <p:nvSpPr>
          <p:cNvPr id="29" name="Text 21"/>
          <p:cNvSpPr txBox="1"/>
          <p:nvPr/>
        </p:nvSpPr>
        <p:spPr>
          <a:xfrm>
            <a:off x="9601200" y="2560320"/>
            <a:ext cx="1828800" cy="320040"/>
          </a:xfrm>
          <a:prstGeom prst="rect">
            <a:avLst/>
          </a:prstGeom>
          <a:noFill/>
          <a:ln/>
        </p:spPr>
        <p:txBody>
          <a:bodyPr wrap="square" lIns="0" tIns="0" rIns="0" bIns="0" rtlCol="0" anchor="t"/>
          <a:lstStyle/>
          <a:p>
            <a:pPr algn="ctr" indent="0" marL="0">
              <a:buNone/>
            </a:pPr>
            <a:r>
              <a:rPr lang="en-US" sz="1400" b="1" dirty="0">
                <a:solidFill>
                  <a:schemeClr val="tx2"/>
                </a:solidFill>
              </a:rPr>
              <a:t>5  Verify</a:t>
            </a:r>
            <a:endParaRPr lang="en-US" sz="1400" dirty="0"/>
          </a:p>
        </p:txBody>
      </p:sp>
      <p:sp>
        <p:nvSpPr>
          <p:cNvPr id="30" name="Text 22"/>
          <p:cNvSpPr txBox="1"/>
          <p:nvPr/>
        </p:nvSpPr>
        <p:spPr>
          <a:xfrm>
            <a:off x="9646920" y="2971800"/>
            <a:ext cx="1737360" cy="1371600"/>
          </a:xfrm>
          <a:prstGeom prst="rect">
            <a:avLst/>
          </a:prstGeom>
          <a:noFill/>
          <a:ln/>
        </p:spPr>
        <p:txBody>
          <a:bodyPr wrap="square" lIns="0" tIns="0" rIns="0" bIns="0" rtlCol="0" anchor="t"/>
          <a:lstStyle/>
          <a:p>
            <a:pPr algn="ctr" indent="0" marL="0">
              <a:buNone/>
            </a:pPr>
            <a:r>
              <a:rPr lang="en-US" sz="1150" dirty="0">
                <a:solidFill>
                  <a:schemeClr val="tx1"/>
                </a:solidFill>
              </a:rPr>
              <a:t>Signal &amp; connectivity check shown in dashboard</a:t>
            </a:r>
            <a:endParaRPr lang="en-US" sz="1150" dirty="0"/>
          </a:p>
        </p:txBody>
      </p:sp>
      <p:sp>
        <p:nvSpPr>
          <p:cNvPr id="31" name="Shape 23"/>
          <p:cNvSpPr/>
          <p:nvPr/>
        </p:nvSpPr>
        <p:spPr>
          <a:xfrm>
            <a:off x="548640" y="4709160"/>
            <a:ext cx="11091672" cy="1280160"/>
          </a:xfrm>
          <a:prstGeom prst="rect">
            <a:avLst/>
          </a:prstGeom>
          <a:solidFill>
            <a:schemeClr val="tx2"/>
          </a:solidFill>
          <a:ln/>
        </p:spPr>
      </p:sp>
      <p:sp>
        <p:nvSpPr>
          <p:cNvPr id="32" name="Text 24"/>
          <p:cNvSpPr txBox="1"/>
          <p:nvPr/>
        </p:nvSpPr>
        <p:spPr>
          <a:xfrm>
            <a:off x="777240" y="4800600"/>
            <a:ext cx="3657600" cy="274320"/>
          </a:xfrm>
          <a:prstGeom prst="rect">
            <a:avLst/>
          </a:prstGeom>
          <a:noFill/>
          <a:ln/>
        </p:spPr>
        <p:txBody>
          <a:bodyPr wrap="square" lIns="0" tIns="0" rIns="0" bIns="0" rtlCol="0" anchor="t"/>
          <a:lstStyle/>
          <a:p>
            <a:pPr indent="0" marL="0">
              <a:buNone/>
            </a:pPr>
            <a:r>
              <a:rPr lang="en-US" sz="1300" b="1" dirty="0">
                <a:solidFill>
                  <a:srgbClr val="CADCFC"/>
                </a:solidFill>
              </a:rPr>
              <a:t>Who does what</a:t>
            </a:r>
            <a:endParaRPr lang="en-US" sz="1300" dirty="0"/>
          </a:p>
        </p:txBody>
      </p:sp>
      <p:sp>
        <p:nvSpPr>
          <p:cNvPr id="33" name="Text 25"/>
          <p:cNvSpPr txBox="1"/>
          <p:nvPr/>
        </p:nvSpPr>
        <p:spPr>
          <a:xfrm>
            <a:off x="777240" y="5120640"/>
            <a:ext cx="10607040" cy="777240"/>
          </a:xfrm>
          <a:prstGeom prst="rect">
            <a:avLst/>
          </a:prstGeom>
          <a:noFill/>
          <a:ln/>
        </p:spPr>
        <p:txBody>
          <a:bodyPr wrap="square" lIns="0" tIns="0" rIns="0" bIns="0" rtlCol="0" anchor="t"/>
          <a:lstStyle/>
          <a:p>
            <a:pPr indent="0" marL="0">
              <a:buNone/>
            </a:pPr>
            <a:r>
              <a:rPr lang="en-US" sz="1300" b="1" dirty="0">
                <a:solidFill>
                  <a:schemeClr val="bg1"/>
                </a:solidFill>
              </a:rPr>
              <a:t>Hospital IT: </a:t>
            </a:r>
            <a:pPr indent="0" marL="0">
              <a:buNone/>
            </a:pPr>
            <a:r>
              <a:rPr lang="en-US" sz="1300" dirty="0">
                <a:solidFill>
                  <a:schemeClr val="bg1"/>
                </a:solidFill>
              </a:rPr>
              <a:t>provides SSID/credentials and any whitelisting (MAC addresses supplied by MONIT).   </a:t>
            </a:r>
            <a:pPr indent="0" marL="0">
              <a:buNone/>
            </a:pPr>
            <a:r>
              <a:rPr lang="en-US" sz="1300" b="1" dirty="0">
                <a:solidFill>
                  <a:schemeClr val="bg1"/>
                </a:solidFill>
              </a:rPr>
              <a:t>MONIT: </a:t>
            </a:r>
            <a:pPr indent="0" marL="0">
              <a:buNone/>
            </a:pPr>
            <a:r>
              <a:rPr lang="en-US" sz="1300" dirty="0">
                <a:solidFill>
                  <a:schemeClr val="bg1"/>
                </a:solidFill>
              </a:rPr>
              <a:t>configures relays, provides configuration guide, supports on site during rollout.</a:t>
            </a:r>
            <a:endParaRPr lang="en-US" sz="13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8 · NETWORK CONNECTIVITY AND RELAY DEVICES</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Wi-Fi credentials persist in protected memory — no re-keying after power outages or firmware upgrades</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MONIT design intent. IMPORTANT — verify each statement against the actual firmware before submission.</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583680" cy="914400"/>
        </p:xfrm>
        <a:graphic>
          <a:graphicData uri="http://schemas.openxmlformats.org/drawingml/2006/table">
            <a:tbl>
              <a:tblPr/>
              <a:tblGrid>
                <a:gridCol w="2011680"/>
                <a:gridCol w="3200400"/>
                <a:gridCol w="1371600"/>
              </a:tblGrid>
              <a:tr h="713232">
                <a:tc>
                  <a:txBody>
                    <a:bodyPr/>
                    <a:lstStyle/>
                    <a:p>
                      <a:pPr indent="0" marL="0">
                        <a:buNone/>
                      </a:pPr>
                      <a:r>
                        <a:rPr lang="en-US" sz="1100" b="1" dirty="0">
                          <a:solidFill>
                            <a:srgbClr val="FFFFFF"/>
                          </a:solidFill>
                        </a:rPr>
                        <a:t>Event</a:t>
                      </a:r>
                      <a:endParaRPr lang="en-US" sz="11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100" b="1" dirty="0">
                          <a:solidFill>
                            <a:srgbClr val="FFFFFF"/>
                          </a:solidFill>
                        </a:rPr>
                        <a:t>What happens on the relay</a:t>
                      </a:r>
                      <a:endParaRPr lang="en-US" sz="11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100" b="1" dirty="0">
                          <a:solidFill>
                            <a:srgbClr val="FFFFFF"/>
                          </a:solidFill>
                        </a:rPr>
                        <a:t>Wi-Fi password re-entry?</a:t>
                      </a:r>
                      <a:endParaRPr lang="en-US" sz="11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r>
              <a:tr h="713232">
                <a:tc>
                  <a:txBody>
                    <a:bodyPr/>
                    <a:lstStyle/>
                    <a:p>
                      <a:pPr indent="0" marL="0">
                        <a:buNone/>
                      </a:pPr>
                      <a:r>
                        <a:rPr lang="en-US" sz="1100" b="1" dirty="0">
                          <a:solidFill>
                            <a:srgbClr val="1F2937"/>
                          </a:solidFill>
                        </a:rPr>
                        <a:t>Power outage / restart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Credentials reloaded from non-volatile memory; relay auto-reconnects with retry</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No</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713232">
                <a:tc>
                  <a:txBody>
                    <a:bodyPr/>
                    <a:lstStyle/>
                    <a:p>
                      <a:pPr indent="0" marL="0">
                        <a:buNone/>
                      </a:pPr>
                      <a:r>
                        <a:rPr lang="en-US" sz="1100" b="1" dirty="0">
                          <a:solidFill>
                            <a:srgbClr val="1F2937"/>
                          </a:solidFill>
                        </a:rPr>
                        <a:t>Firmware upgrade (OTA)</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Configuration partition is kept separate and migrated; rollback if the update fails</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No</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r h="713232">
                <a:tc>
                  <a:txBody>
                    <a:bodyPr/>
                    <a:lstStyle/>
                    <a:p>
                      <a:pPr indent="0" marL="0">
                        <a:buNone/>
                      </a:pPr>
                      <a:r>
                        <a:rPr lang="en-US" sz="1100" b="1" dirty="0">
                          <a:solidFill>
                            <a:srgbClr val="1F2937"/>
                          </a:solidFill>
                        </a:rPr>
                        <a:t>Hospital changes Wi-Fi password</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New credentials pushed by hospital IT (locally or centrally)</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Yes — once, by hospital IT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713232">
                <a:tc>
                  <a:txBody>
                    <a:bodyPr/>
                    <a:lstStyle/>
                    <a:p>
                      <a:pPr indent="0" marL="0">
                        <a:buNone/>
                      </a:pPr>
                      <a:r>
                        <a:rPr lang="en-US" sz="1100" b="1" dirty="0">
                          <a:solidFill>
                            <a:srgbClr val="1F2937"/>
                          </a:solidFill>
                        </a:rPr>
                        <a:t>Factory reset / replacement unit</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Relay returns to setup mode</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100" dirty="0">
                          <a:solidFill>
                            <a:srgbClr val="1F2937"/>
                          </a:solidFill>
                        </a:rPr>
                        <a:t>Yes — one-time setup</a:t>
                      </a:r>
                      <a:endParaRPr lang="en-US" sz="11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bl>
          </a:graphicData>
        </a:graphic>
      </p:graphicFrame>
      <p:sp>
        <p:nvSpPr>
          <p:cNvPr id="7" name="Text 3"/>
          <p:cNvSpPr txBox="1"/>
          <p:nvPr/>
        </p:nvSpPr>
        <p:spPr>
          <a:xfrm>
            <a:off x="7498080" y="1691640"/>
            <a:ext cx="4114800" cy="320040"/>
          </a:xfrm>
          <a:prstGeom prst="rect">
            <a:avLst/>
          </a:prstGeom>
          <a:noFill/>
          <a:ln/>
        </p:spPr>
        <p:txBody>
          <a:bodyPr wrap="square" lIns="0" tIns="0" rIns="0" bIns="0" rtlCol="0" anchor="t"/>
          <a:lstStyle/>
          <a:p>
            <a:pPr indent="0" marL="0">
              <a:buNone/>
            </a:pPr>
            <a:r>
              <a:rPr lang="en-US" sz="1500" b="1" dirty="0">
                <a:solidFill>
                  <a:schemeClr val="tx2"/>
                </a:solidFill>
              </a:rPr>
              <a:t>How the solution achieves this</a:t>
            </a:r>
            <a:endParaRPr lang="en-US" sz="1500" dirty="0"/>
          </a:p>
        </p:txBody>
      </p:sp>
      <p:sp>
        <p:nvSpPr>
          <p:cNvPr id="8" name="Shape 4"/>
          <p:cNvSpPr/>
          <p:nvPr/>
        </p:nvSpPr>
        <p:spPr>
          <a:xfrm>
            <a:off x="7498080" y="2148840"/>
            <a:ext cx="502920" cy="502920"/>
          </a:xfrm>
          <a:prstGeom prst="ellipse">
            <a:avLst/>
          </a:prstGeom>
          <a:solidFill>
            <a:schemeClr val="tx2"/>
          </a:solidFill>
          <a:ln/>
        </p:spPr>
      </p:sp>
      <p:pic>
        <p:nvPicPr>
          <p:cNvPr id="9" name="Image 0" descr="preencoded.png">    </p:cNvPr>
          <p:cNvPicPr>
            <a:picLocks noChangeAspect="1"/>
          </p:cNvPicPr>
          <p:nvPr/>
        </p:nvPicPr>
        <p:blipFill>
          <a:blip r:embed="rId1"/>
          <a:stretch>
            <a:fillRect/>
          </a:stretch>
        </p:blipFill>
        <p:spPr>
          <a:xfrm>
            <a:off x="7623810" y="2274570"/>
            <a:ext cx="251460" cy="251460"/>
          </a:xfrm>
          <a:prstGeom prst="rect">
            <a:avLst/>
          </a:prstGeom>
        </p:spPr>
      </p:pic>
      <p:sp>
        <p:nvSpPr>
          <p:cNvPr id="10" name="Text 5"/>
          <p:cNvSpPr txBox="1"/>
          <p:nvPr/>
        </p:nvSpPr>
        <p:spPr>
          <a:xfrm>
            <a:off x="8183880" y="2148840"/>
            <a:ext cx="3474720" cy="502920"/>
          </a:xfrm>
          <a:prstGeom prst="rect">
            <a:avLst/>
          </a:prstGeom>
          <a:noFill/>
          <a:ln/>
        </p:spPr>
        <p:txBody>
          <a:bodyPr wrap="square" lIns="0" tIns="0" rIns="0" bIns="0" rtlCol="0" anchor="ctr"/>
          <a:lstStyle/>
          <a:p>
            <a:pPr indent="0" marL="0">
              <a:buNone/>
            </a:pPr>
            <a:r>
              <a:rPr lang="en-US" sz="1250" dirty="0">
                <a:solidFill>
                  <a:schemeClr val="tx1"/>
                </a:solidFill>
              </a:rPr>
              <a:t>Persistent, encrypted storage of credentials</a:t>
            </a:r>
            <a:endParaRPr lang="en-US" sz="1250" dirty="0"/>
          </a:p>
        </p:txBody>
      </p:sp>
      <p:sp>
        <p:nvSpPr>
          <p:cNvPr id="11" name="Shape 6"/>
          <p:cNvSpPr/>
          <p:nvPr/>
        </p:nvSpPr>
        <p:spPr>
          <a:xfrm>
            <a:off x="7498080" y="3017520"/>
            <a:ext cx="502920" cy="502920"/>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7623810" y="3143250"/>
            <a:ext cx="251460" cy="251460"/>
          </a:xfrm>
          <a:prstGeom prst="rect">
            <a:avLst/>
          </a:prstGeom>
        </p:spPr>
      </p:pic>
      <p:sp>
        <p:nvSpPr>
          <p:cNvPr id="13" name="Text 7"/>
          <p:cNvSpPr txBox="1"/>
          <p:nvPr/>
        </p:nvSpPr>
        <p:spPr>
          <a:xfrm>
            <a:off x="8183880" y="3017520"/>
            <a:ext cx="3474720" cy="502920"/>
          </a:xfrm>
          <a:prstGeom prst="rect">
            <a:avLst/>
          </a:prstGeom>
          <a:noFill/>
          <a:ln/>
        </p:spPr>
        <p:txBody>
          <a:bodyPr wrap="square" lIns="0" tIns="0" rIns="0" bIns="0" rtlCol="0" anchor="ctr"/>
          <a:lstStyle/>
          <a:p>
            <a:pPr indent="0" marL="0">
              <a:buNone/>
            </a:pPr>
            <a:r>
              <a:rPr lang="en-US" sz="1250" dirty="0">
                <a:solidFill>
                  <a:schemeClr val="tx1"/>
                </a:solidFill>
              </a:rPr>
              <a:t>A/B firmware slots; settings kept across upgrades</a:t>
            </a:r>
            <a:endParaRPr lang="en-US" sz="1250" dirty="0"/>
          </a:p>
        </p:txBody>
      </p:sp>
      <p:sp>
        <p:nvSpPr>
          <p:cNvPr id="14" name="Shape 8"/>
          <p:cNvSpPr/>
          <p:nvPr/>
        </p:nvSpPr>
        <p:spPr>
          <a:xfrm>
            <a:off x="7498080" y="3886200"/>
            <a:ext cx="502920" cy="502920"/>
          </a:xfrm>
          <a:prstGeom prst="ellipse">
            <a:avLst/>
          </a:prstGeom>
          <a:solidFill>
            <a:schemeClr val="tx2"/>
          </a:solidFill>
          <a:ln/>
        </p:spPr>
      </p:sp>
      <p:pic>
        <p:nvPicPr>
          <p:cNvPr id="15" name="Image 2" descr="preencoded.png">    </p:cNvPr>
          <p:cNvPicPr>
            <a:picLocks noChangeAspect="1"/>
          </p:cNvPicPr>
          <p:nvPr/>
        </p:nvPicPr>
        <p:blipFill>
          <a:blip r:embed="rId3"/>
          <a:stretch>
            <a:fillRect/>
          </a:stretch>
        </p:blipFill>
        <p:spPr>
          <a:xfrm>
            <a:off x="7623810" y="4011930"/>
            <a:ext cx="251460" cy="251460"/>
          </a:xfrm>
          <a:prstGeom prst="rect">
            <a:avLst/>
          </a:prstGeom>
        </p:spPr>
      </p:pic>
      <p:sp>
        <p:nvSpPr>
          <p:cNvPr id="16" name="Text 9"/>
          <p:cNvSpPr txBox="1"/>
          <p:nvPr/>
        </p:nvSpPr>
        <p:spPr>
          <a:xfrm>
            <a:off x="8183880" y="3886200"/>
            <a:ext cx="3474720" cy="502920"/>
          </a:xfrm>
          <a:prstGeom prst="rect">
            <a:avLst/>
          </a:prstGeom>
          <a:noFill/>
          <a:ln/>
        </p:spPr>
        <p:txBody>
          <a:bodyPr wrap="square" lIns="0" tIns="0" rIns="0" bIns="0" rtlCol="0" anchor="ctr"/>
          <a:lstStyle/>
          <a:p>
            <a:pPr indent="0" marL="0">
              <a:buNone/>
            </a:pPr>
            <a:r>
              <a:rPr lang="en-US" sz="1250" dirty="0">
                <a:solidFill>
                  <a:schemeClr val="tx1"/>
                </a:solidFill>
              </a:rPr>
              <a:t>Automatic reconnection after any outage</a:t>
            </a:r>
            <a:endParaRPr lang="en-US" sz="1250" dirty="0"/>
          </a:p>
        </p:txBody>
      </p:sp>
      <p:sp>
        <p:nvSpPr>
          <p:cNvPr id="17" name="Shape 10"/>
          <p:cNvSpPr/>
          <p:nvPr/>
        </p:nvSpPr>
        <p:spPr>
          <a:xfrm>
            <a:off x="7498080" y="4754880"/>
            <a:ext cx="502920" cy="502920"/>
          </a:xfrm>
          <a:prstGeom prst="ellipse">
            <a:avLst/>
          </a:prstGeom>
          <a:solidFill>
            <a:schemeClr val="accent1"/>
          </a:solidFill>
          <a:ln/>
        </p:spPr>
      </p:sp>
      <p:pic>
        <p:nvPicPr>
          <p:cNvPr id="18" name="Image 3" descr="preencoded.png">    </p:cNvPr>
          <p:cNvPicPr>
            <a:picLocks noChangeAspect="1"/>
          </p:cNvPicPr>
          <p:nvPr/>
        </p:nvPicPr>
        <p:blipFill>
          <a:blip r:embed="rId4"/>
          <a:stretch>
            <a:fillRect/>
          </a:stretch>
        </p:blipFill>
        <p:spPr>
          <a:xfrm>
            <a:off x="7623810" y="4880610"/>
            <a:ext cx="251460" cy="251460"/>
          </a:xfrm>
          <a:prstGeom prst="rect">
            <a:avLst/>
          </a:prstGeom>
        </p:spPr>
      </p:pic>
      <p:sp>
        <p:nvSpPr>
          <p:cNvPr id="19" name="Text 11"/>
          <p:cNvSpPr txBox="1"/>
          <p:nvPr/>
        </p:nvSpPr>
        <p:spPr>
          <a:xfrm>
            <a:off x="8183880" y="4754880"/>
            <a:ext cx="3474720" cy="502920"/>
          </a:xfrm>
          <a:prstGeom prst="rect">
            <a:avLst/>
          </a:prstGeom>
          <a:noFill/>
          <a:ln/>
        </p:spPr>
        <p:txBody>
          <a:bodyPr wrap="square" lIns="0" tIns="0" rIns="0" bIns="0" rtlCol="0" anchor="ctr"/>
          <a:lstStyle/>
          <a:p>
            <a:pPr indent="0" marL="0">
              <a:buNone/>
            </a:pPr>
            <a:r>
              <a:rPr lang="en-US" sz="1250" dirty="0">
                <a:solidFill>
                  <a:schemeClr val="tx1"/>
                </a:solidFill>
              </a:rPr>
              <a:t>Optional remote credential update by hospital IT</a:t>
            </a:r>
            <a:endParaRPr lang="en-US" sz="1250" dirty="0"/>
          </a:p>
        </p:txBody>
      </p:sp>
      <p:sp>
        <p:nvSpPr>
          <p:cNvPr id="20" name="Input placeholder"/>
          <p:cNvSpPr/>
          <p:nvPr/>
        </p:nvSpPr>
        <p:spPr>
          <a:xfrm>
            <a:off x="548640" y="5486400"/>
            <a:ext cx="11091672" cy="548640"/>
          </a:xfrm>
          <a:prstGeom prst="rect">
            <a:avLst/>
          </a:prstGeom>
          <a:solidFill>
            <a:srgbClr val="FFF4D6"/>
          </a:solidFill>
          <a:ln w="12700">
            <a:solidFill>
              <a:srgbClr val="F2A900"/>
            </a:solidFill>
            <a:prstDash val="dash"/>
          </a:ln>
        </p:spPr>
      </p:sp>
      <p:sp>
        <p:nvSpPr>
          <p:cNvPr id="21" name="Text 13"/>
          <p:cNvSpPr txBox="1"/>
          <p:nvPr/>
        </p:nvSpPr>
        <p:spPr>
          <a:xfrm>
            <a:off x="640080" y="5486400"/>
            <a:ext cx="10908792" cy="548640"/>
          </a:xfrm>
          <a:prstGeom prst="rect">
            <a:avLst/>
          </a:prstGeom>
          <a:noFill/>
          <a:ln/>
        </p:spPr>
        <p:txBody>
          <a:bodyPr wrap="square" lIns="0" tIns="0" rIns="0" bIns="0" rtlCol="0" anchor="ctr"/>
          <a:lstStyle/>
          <a:p>
            <a:pPr indent="0" marL="0">
              <a:buNone/>
            </a:pPr>
            <a:r>
              <a:rPr lang="en-US" sz="1100" i="1" dirty="0">
                <a:solidFill>
                  <a:srgbClr val="7A4F00"/>
                </a:solidFill>
              </a:rPr>
              <a:t>[INPUT REQUIRED] Engineering to confirm storage method, OTA behaviour and remote-update capability against the actual firmware.</a:t>
            </a:r>
            <a:endParaRPr lang="en-US" sz="11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8 · NETWORK CONNECTIVITY AND RELAY DEVICES</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The design keeps hospital networks and patient data protected and the service observable</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MONIT; RFP Consent Form Annex A (IT Security Compliance List, Third-Party PDPA checklist, SaaS security requirements).</a:t>
            </a:r>
            <a:endParaRPr lang="en-US" sz="900" dirty="0"/>
          </a:p>
        </p:txBody>
      </p:sp>
      <p:sp>
        <p:nvSpPr>
          <p:cNvPr id="6" name="Card Network security"/>
          <p:cNvSpPr/>
          <p:nvPr/>
        </p:nvSpPr>
        <p:spPr>
          <a:xfrm>
            <a:off x="548640" y="1691640"/>
            <a:ext cx="3566160" cy="3108960"/>
          </a:xfrm>
          <a:prstGeom prst="rect">
            <a:avLst/>
          </a:prstGeom>
          <a:solidFill>
            <a:schemeClr val="bg2"/>
          </a:solidFill>
          <a:ln/>
        </p:spPr>
      </p:sp>
      <p:sp>
        <p:nvSpPr>
          <p:cNvPr id="7" name="Shape 4"/>
          <p:cNvSpPr/>
          <p:nvPr/>
        </p:nvSpPr>
        <p:spPr>
          <a:xfrm>
            <a:off x="731520" y="1874520"/>
            <a:ext cx="475488" cy="475488"/>
          </a:xfrm>
          <a:prstGeom prst="ellipse">
            <a:avLst/>
          </a:prstGeom>
          <a:solidFill>
            <a:schemeClr val="tx2"/>
          </a:solidFill>
          <a:ln/>
        </p:spPr>
      </p:sp>
      <p:pic>
        <p:nvPicPr>
          <p:cNvPr id="8" name="Image 0" descr="preencoded.png">    </p:cNvPr>
          <p:cNvPicPr>
            <a:picLocks noChangeAspect="1"/>
          </p:cNvPicPr>
          <p:nvPr/>
        </p:nvPicPr>
        <p:blipFill>
          <a:blip r:embed="rId1"/>
          <a:stretch>
            <a:fillRect/>
          </a:stretch>
        </p:blipFill>
        <p:spPr>
          <a:xfrm>
            <a:off x="850392" y="1993392"/>
            <a:ext cx="237744" cy="237744"/>
          </a:xfrm>
          <a:prstGeom prst="rect">
            <a:avLst/>
          </a:prstGeom>
        </p:spPr>
      </p:pic>
      <p:sp>
        <p:nvSpPr>
          <p:cNvPr id="9" name="Text 5"/>
          <p:cNvSpPr txBox="1"/>
          <p:nvPr/>
        </p:nvSpPr>
        <p:spPr>
          <a:xfrm>
            <a:off x="1325880" y="1874520"/>
            <a:ext cx="2606040" cy="475488"/>
          </a:xfrm>
          <a:prstGeom prst="rect">
            <a:avLst/>
          </a:prstGeom>
          <a:noFill/>
          <a:ln/>
        </p:spPr>
        <p:txBody>
          <a:bodyPr wrap="square" lIns="0" tIns="0" rIns="0" bIns="0" rtlCol="0" anchor="ctr"/>
          <a:lstStyle/>
          <a:p>
            <a:pPr indent="0" marL="0">
              <a:buNone/>
            </a:pPr>
            <a:r>
              <a:rPr lang="en-US" sz="1400" b="1" dirty="0">
                <a:solidFill>
                  <a:schemeClr val="tx2"/>
                </a:solidFill>
              </a:rPr>
              <a:t>Network security</a:t>
            </a:r>
            <a:endParaRPr lang="en-US" sz="1400" dirty="0"/>
          </a:p>
        </p:txBody>
      </p:sp>
      <p:sp>
        <p:nvSpPr>
          <p:cNvPr id="10" name="Text 6"/>
          <p:cNvSpPr txBox="1"/>
          <p:nvPr/>
        </p:nvSpPr>
        <p:spPr>
          <a:xfrm>
            <a:off x="731520" y="2514600"/>
            <a:ext cx="3200400" cy="214884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tx1"/>
                </a:solidFill>
              </a:rPr>
              <a:t>Encrypted Wi-Fi (WPA2/3) per hospital policy</a:t>
            </a:r>
            <a:endParaRPr lang="en-US" sz="1200" dirty="0"/>
          </a:p>
          <a:p>
            <a:pPr marL="152400" indent="-152400">
              <a:spcAft>
                <a:spcPts val="400"/>
              </a:spcAft>
              <a:buSzPct val="100000"/>
              <a:buChar char="•"/>
            </a:pPr>
            <a:r>
              <a:rPr lang="en-US" sz="1200" dirty="0">
                <a:solidFill>
                  <a:schemeClr val="tx1"/>
                </a:solidFill>
              </a:rPr>
              <a:t>TLS-encrypted traffic to platform</a:t>
            </a:r>
            <a:endParaRPr lang="en-US" sz="1200" dirty="0"/>
          </a:p>
          <a:p>
            <a:pPr marL="152400" indent="-152400">
              <a:spcAft>
                <a:spcPts val="400"/>
              </a:spcAft>
              <a:buSzPct val="100000"/>
              <a:buChar char="•"/>
            </a:pPr>
            <a:r>
              <a:rPr lang="en-US" sz="1200" dirty="0">
                <a:solidFill>
                  <a:schemeClr val="tx1"/>
                </a:solidFill>
              </a:rPr>
              <a:t>Outbound-only connections</a:t>
            </a:r>
            <a:endParaRPr lang="en-US" sz="1200" dirty="0"/>
          </a:p>
          <a:p>
            <a:pPr marL="152400" indent="-152400">
              <a:spcAft>
                <a:spcPts val="400"/>
              </a:spcAft>
              <a:buSzPct val="100000"/>
              <a:buChar char="•"/>
            </a:pPr>
            <a:r>
              <a:rPr lang="en-US" sz="1200" dirty="0">
                <a:solidFill>
                  <a:schemeClr val="tx1"/>
                </a:solidFill>
              </a:rPr>
              <a:t>Device identity &amp; whitelisting by MAC</a:t>
            </a:r>
            <a:endParaRPr lang="en-US" sz="1200" dirty="0"/>
          </a:p>
        </p:txBody>
      </p:sp>
      <p:sp>
        <p:nvSpPr>
          <p:cNvPr id="11" name="Card Data protection"/>
          <p:cNvSpPr/>
          <p:nvPr/>
        </p:nvSpPr>
        <p:spPr>
          <a:xfrm>
            <a:off x="4315968" y="1691640"/>
            <a:ext cx="3566160" cy="3108960"/>
          </a:xfrm>
          <a:prstGeom prst="rect">
            <a:avLst/>
          </a:prstGeom>
          <a:solidFill>
            <a:schemeClr val="bg2"/>
          </a:solidFill>
          <a:ln/>
        </p:spPr>
      </p:sp>
      <p:sp>
        <p:nvSpPr>
          <p:cNvPr id="12" name="Shape 8"/>
          <p:cNvSpPr/>
          <p:nvPr/>
        </p:nvSpPr>
        <p:spPr>
          <a:xfrm>
            <a:off x="4498848" y="1874520"/>
            <a:ext cx="475488" cy="475488"/>
          </a:xfrm>
          <a:prstGeom prst="ellipse">
            <a:avLst/>
          </a:prstGeom>
          <a:solidFill>
            <a:schemeClr val="tx2"/>
          </a:solidFill>
          <a:ln/>
        </p:spPr>
      </p:sp>
      <p:pic>
        <p:nvPicPr>
          <p:cNvPr id="13" name="Image 1" descr="preencoded.png">    </p:cNvPr>
          <p:cNvPicPr>
            <a:picLocks noChangeAspect="1"/>
          </p:cNvPicPr>
          <p:nvPr/>
        </p:nvPicPr>
        <p:blipFill>
          <a:blip r:embed="rId2"/>
          <a:stretch>
            <a:fillRect/>
          </a:stretch>
        </p:blipFill>
        <p:spPr>
          <a:xfrm>
            <a:off x="4617720" y="1993392"/>
            <a:ext cx="237744" cy="237744"/>
          </a:xfrm>
          <a:prstGeom prst="rect">
            <a:avLst/>
          </a:prstGeom>
        </p:spPr>
      </p:pic>
      <p:sp>
        <p:nvSpPr>
          <p:cNvPr id="14" name="Text 9"/>
          <p:cNvSpPr txBox="1"/>
          <p:nvPr/>
        </p:nvSpPr>
        <p:spPr>
          <a:xfrm>
            <a:off x="5093208" y="1874520"/>
            <a:ext cx="2606040" cy="475488"/>
          </a:xfrm>
          <a:prstGeom prst="rect">
            <a:avLst/>
          </a:prstGeom>
          <a:noFill/>
          <a:ln/>
        </p:spPr>
        <p:txBody>
          <a:bodyPr wrap="square" lIns="0" tIns="0" rIns="0" bIns="0" rtlCol="0" anchor="ctr"/>
          <a:lstStyle/>
          <a:p>
            <a:pPr indent="0" marL="0">
              <a:buNone/>
            </a:pPr>
            <a:r>
              <a:rPr lang="en-US" sz="1400" b="1" dirty="0">
                <a:solidFill>
                  <a:schemeClr val="tx2"/>
                </a:solidFill>
              </a:rPr>
              <a:t>Data protection</a:t>
            </a:r>
            <a:endParaRPr lang="en-US" sz="1400" dirty="0"/>
          </a:p>
        </p:txBody>
      </p:sp>
      <p:sp>
        <p:nvSpPr>
          <p:cNvPr id="15" name="Text 10"/>
          <p:cNvSpPr txBox="1"/>
          <p:nvPr/>
        </p:nvSpPr>
        <p:spPr>
          <a:xfrm>
            <a:off x="4498848" y="2514600"/>
            <a:ext cx="3200400" cy="214884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tx1"/>
                </a:solidFill>
              </a:rPr>
              <a:t>PDPA-aligned handling of personal data</a:t>
            </a:r>
            <a:endParaRPr lang="en-US" sz="1200" dirty="0"/>
          </a:p>
          <a:p>
            <a:pPr marL="152400" indent="-152400">
              <a:spcAft>
                <a:spcPts val="400"/>
              </a:spcAft>
              <a:buSzPct val="100000"/>
              <a:buChar char="•"/>
            </a:pPr>
            <a:r>
              <a:rPr lang="en-US" sz="1200" dirty="0">
                <a:solidFill>
                  <a:schemeClr val="tx1"/>
                </a:solidFill>
              </a:rPr>
              <a:t>Data minimisation and role-based access</a:t>
            </a:r>
            <a:endParaRPr lang="en-US" sz="1200" dirty="0"/>
          </a:p>
          <a:p>
            <a:pPr marL="152400" indent="-152400">
              <a:spcAft>
                <a:spcPts val="400"/>
              </a:spcAft>
              <a:buSzPct val="100000"/>
              <a:buChar char="•"/>
            </a:pPr>
            <a:r>
              <a:rPr lang="en-US" sz="1200" dirty="0">
                <a:solidFill>
                  <a:schemeClr val="tx1"/>
                </a:solidFill>
              </a:rPr>
              <a:t>Hosting location: [INPUT REQUIRED]</a:t>
            </a:r>
            <a:endParaRPr lang="en-US" sz="1200" dirty="0"/>
          </a:p>
          <a:p>
            <a:pPr marL="152400" indent="-152400">
              <a:spcAft>
                <a:spcPts val="400"/>
              </a:spcAft>
              <a:buSzPct val="100000"/>
              <a:buChar char="•"/>
            </a:pPr>
            <a:r>
              <a:rPr lang="en-US" sz="1200" dirty="0">
                <a:solidFill>
                  <a:schemeClr val="tx1"/>
                </a:solidFill>
              </a:rPr>
              <a:t>Compliance with Annex A security lists</a:t>
            </a:r>
            <a:endParaRPr lang="en-US" sz="1200" dirty="0"/>
          </a:p>
        </p:txBody>
      </p:sp>
      <p:sp>
        <p:nvSpPr>
          <p:cNvPr id="16" name="Card Operational monitoring"/>
          <p:cNvSpPr/>
          <p:nvPr/>
        </p:nvSpPr>
        <p:spPr>
          <a:xfrm>
            <a:off x="8074152" y="1691640"/>
            <a:ext cx="3566160" cy="3108960"/>
          </a:xfrm>
          <a:prstGeom prst="rect">
            <a:avLst/>
          </a:prstGeom>
          <a:solidFill>
            <a:schemeClr val="bg2"/>
          </a:solidFill>
          <a:ln/>
        </p:spPr>
      </p:sp>
      <p:sp>
        <p:nvSpPr>
          <p:cNvPr id="17" name="Shape 12"/>
          <p:cNvSpPr/>
          <p:nvPr/>
        </p:nvSpPr>
        <p:spPr>
          <a:xfrm>
            <a:off x="8257032" y="1874520"/>
            <a:ext cx="475488" cy="475488"/>
          </a:xfrm>
          <a:prstGeom prst="ellipse">
            <a:avLst/>
          </a:prstGeom>
          <a:solidFill>
            <a:schemeClr val="tx2"/>
          </a:solidFill>
          <a:ln/>
        </p:spPr>
      </p:sp>
      <p:pic>
        <p:nvPicPr>
          <p:cNvPr id="18" name="Image 2" descr="preencoded.png">    </p:cNvPr>
          <p:cNvPicPr>
            <a:picLocks noChangeAspect="1"/>
          </p:cNvPicPr>
          <p:nvPr/>
        </p:nvPicPr>
        <p:blipFill>
          <a:blip r:embed="rId3"/>
          <a:stretch>
            <a:fillRect/>
          </a:stretch>
        </p:blipFill>
        <p:spPr>
          <a:xfrm>
            <a:off x="8375904" y="1993392"/>
            <a:ext cx="237744" cy="237744"/>
          </a:xfrm>
          <a:prstGeom prst="rect">
            <a:avLst/>
          </a:prstGeom>
        </p:spPr>
      </p:pic>
      <p:sp>
        <p:nvSpPr>
          <p:cNvPr id="19" name="Text 13"/>
          <p:cNvSpPr txBox="1"/>
          <p:nvPr/>
        </p:nvSpPr>
        <p:spPr>
          <a:xfrm>
            <a:off x="8851392" y="1874520"/>
            <a:ext cx="2606040" cy="475488"/>
          </a:xfrm>
          <a:prstGeom prst="rect">
            <a:avLst/>
          </a:prstGeom>
          <a:noFill/>
          <a:ln/>
        </p:spPr>
        <p:txBody>
          <a:bodyPr wrap="square" lIns="0" tIns="0" rIns="0" bIns="0" rtlCol="0" anchor="ctr"/>
          <a:lstStyle/>
          <a:p>
            <a:pPr indent="0" marL="0">
              <a:buNone/>
            </a:pPr>
            <a:r>
              <a:rPr lang="en-US" sz="1400" b="1" dirty="0">
                <a:solidFill>
                  <a:schemeClr val="tx2"/>
                </a:solidFill>
              </a:rPr>
              <a:t>Operational monitoring</a:t>
            </a:r>
            <a:endParaRPr lang="en-US" sz="1400" dirty="0"/>
          </a:p>
        </p:txBody>
      </p:sp>
      <p:sp>
        <p:nvSpPr>
          <p:cNvPr id="20" name="Text 14"/>
          <p:cNvSpPr txBox="1"/>
          <p:nvPr/>
        </p:nvSpPr>
        <p:spPr>
          <a:xfrm>
            <a:off x="8257032" y="2514600"/>
            <a:ext cx="3200400" cy="2148840"/>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tx1"/>
                </a:solidFill>
              </a:rPr>
              <a:t>Relay online / offline status in dashboard</a:t>
            </a:r>
            <a:endParaRPr lang="en-US" sz="1200" dirty="0"/>
          </a:p>
          <a:p>
            <a:pPr marL="152400" indent="-152400">
              <a:spcAft>
                <a:spcPts val="400"/>
              </a:spcAft>
              <a:buSzPct val="100000"/>
              <a:buChar char="•"/>
            </a:pPr>
            <a:r>
              <a:rPr lang="en-US" sz="1200" dirty="0">
                <a:solidFill>
                  <a:schemeClr val="tx1"/>
                </a:solidFill>
              </a:rPr>
              <a:t>Alerts to support team on disconnects</a:t>
            </a:r>
            <a:endParaRPr lang="en-US" sz="1200" dirty="0"/>
          </a:p>
          <a:p>
            <a:pPr marL="152400" indent="-152400">
              <a:spcAft>
                <a:spcPts val="400"/>
              </a:spcAft>
              <a:buSzPct val="100000"/>
              <a:buChar char="•"/>
            </a:pPr>
            <a:r>
              <a:rPr lang="en-US" sz="1200" dirty="0">
                <a:solidFill>
                  <a:schemeClr val="tx1"/>
                </a:solidFill>
              </a:rPr>
              <a:t>Remote diagnostics and firmware management</a:t>
            </a:r>
            <a:endParaRPr lang="en-US" sz="1200" dirty="0"/>
          </a:p>
          <a:p>
            <a:pPr marL="152400" indent="-152400">
              <a:spcAft>
                <a:spcPts val="400"/>
              </a:spcAft>
              <a:buSzPct val="100000"/>
              <a:buChar char="•"/>
            </a:pPr>
            <a:r>
              <a:rPr lang="en-US" sz="1200" dirty="0">
                <a:solidFill>
                  <a:schemeClr val="tx1"/>
                </a:solidFill>
              </a:rPr>
              <a:t>Change-controlled upgrades scheduled with hospital</a:t>
            </a:r>
            <a:endParaRPr lang="en-US" sz="1200" dirty="0"/>
          </a:p>
        </p:txBody>
      </p:sp>
      <p:sp>
        <p:nvSpPr>
          <p:cNvPr id="21" name="Input placeholder"/>
          <p:cNvSpPr/>
          <p:nvPr/>
        </p:nvSpPr>
        <p:spPr>
          <a:xfrm>
            <a:off x="548640" y="5074920"/>
            <a:ext cx="11091672" cy="777240"/>
          </a:xfrm>
          <a:prstGeom prst="rect">
            <a:avLst/>
          </a:prstGeom>
          <a:solidFill>
            <a:srgbClr val="FFF4D6"/>
          </a:solidFill>
          <a:ln w="12700">
            <a:solidFill>
              <a:srgbClr val="F2A900"/>
            </a:solidFill>
            <a:prstDash val="dash"/>
          </a:ln>
        </p:spPr>
      </p:sp>
      <p:sp>
        <p:nvSpPr>
          <p:cNvPr id="22" name="Text 16"/>
          <p:cNvSpPr txBox="1"/>
          <p:nvPr/>
        </p:nvSpPr>
        <p:spPr>
          <a:xfrm>
            <a:off x="640080" y="5074920"/>
            <a:ext cx="10908792" cy="777240"/>
          </a:xfrm>
          <a:prstGeom prst="rect">
            <a:avLst/>
          </a:prstGeom>
          <a:noFill/>
          <a:ln/>
        </p:spPr>
        <p:txBody>
          <a:bodyPr wrap="square" lIns="0" tIns="0" rIns="0" bIns="0" rtlCol="0" anchor="ctr"/>
          <a:lstStyle/>
          <a:p>
            <a:pPr indent="0" marL="0">
              <a:buNone/>
            </a:pPr>
            <a:r>
              <a:rPr lang="en-US" sz="1100" i="1" dirty="0">
                <a:solidFill>
                  <a:srgbClr val="7A4F00"/>
                </a:solidFill>
              </a:rPr>
              <a:t>[INPUT REQUIRED] Status of IT Security Compliance List, Third-Party PDPA checklist and SaaS security requirements (Annex A) — attach completed forms.</a:t>
            </a:r>
            <a:endParaRPr lang="en-US" sz="11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DISCUSSION</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Six points to confirm with ALPS and the three hospitals will fix the final design and price</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MONIT analysis of RFP documents.</a:t>
            </a:r>
            <a:endParaRPr lang="en-US" sz="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548640"/>
                <a:gridCol w="6583680"/>
                <a:gridCol w="3959352"/>
              </a:tblGrid>
              <a:tr h="566928">
                <a:tc>
                  <a:txBody>
                    <a:bodyPr/>
                    <a:lstStyle/>
                    <a:p>
                      <a:pPr indent="0" marL="0">
                        <a:buNone/>
                      </a:pPr>
                      <a:r>
                        <a:rPr lang="en-US" sz="1200" b="1" dirty="0">
                          <a:solidFill>
                            <a:srgbClr val="FFFFFF"/>
                          </a:solidFill>
                        </a:rPr>
                        <a:t>#</a:t>
                      </a:r>
                      <a:endParaRPr lang="en-US" sz="12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200" b="1" dirty="0">
                          <a:solidFill>
                            <a:srgbClr val="FFFFFF"/>
                          </a:solidFill>
                        </a:rPr>
                        <a:t>Question for ALPS / hospitals</a:t>
                      </a:r>
                      <a:endParaRPr lang="en-US" sz="12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200" b="1" dirty="0">
                          <a:solidFill>
                            <a:srgbClr val="FFFFFF"/>
                          </a:solidFill>
                        </a:rPr>
                        <a:t>Why it matters</a:t>
                      </a:r>
                      <a:endParaRPr lang="en-US" sz="12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r>
              <a:tr h="566928">
                <a:tc>
                  <a:txBody>
                    <a:bodyPr/>
                    <a:lstStyle/>
                    <a:p>
                      <a:pPr indent="0" marL="0">
                        <a:buNone/>
                      </a:pPr>
                      <a:r>
                        <a:rPr lang="en-US" sz="1200" b="1" dirty="0">
                          <a:solidFill>
                            <a:srgbClr val="1F2937"/>
                          </a:solidFill>
                        </a:rPr>
                        <a:t>1</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Which wards and how many beds are in scope at each hospital?</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Drives relay count, quantity and price</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F2937"/>
                          </a:solidFill>
                        </a:rPr>
                        <a:t>2</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200" dirty="0">
                          <a:solidFill>
                            <a:srgbClr val="1F2937"/>
                          </a:solidFill>
                        </a:rPr>
                        <a:t>Wi-Fi: SSID/band, authentication type, VLAN, MAC whitelisting process, IT contact?</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200" dirty="0">
                          <a:solidFill>
                            <a:srgbClr val="1F2937"/>
                          </a:solidFill>
                        </a:rPr>
                        <a:t>Determines relay configuration and approval time</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r h="566928">
                <a:tc>
                  <a:txBody>
                    <a:bodyPr/>
                    <a:lstStyle/>
                    <a:p>
                      <a:pPr indent="0" marL="0">
                        <a:buNone/>
                      </a:pPr>
                      <a:r>
                        <a:rPr lang="en-US" sz="1200" b="1" dirty="0">
                          <a:solidFill>
                            <a:srgbClr val="1F2937"/>
                          </a:solidFill>
                        </a:rPr>
                        <a:t>3</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Are relay mounting locations / power (PoE or sockets) available in wards?</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Installation scope and lead time</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F2937"/>
                          </a:solidFill>
                        </a:rPr>
                        <a:t>4</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200" dirty="0">
                          <a:solidFill>
                            <a:srgbClr val="1F2937"/>
                          </a:solidFill>
                        </a:rPr>
                        <a:t>Preferred integration with nurse call / EMR, if any?</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200" dirty="0">
                          <a:solidFill>
                            <a:srgbClr val="1F2937"/>
                          </a:solidFill>
                        </a:rPr>
                        <a:t>Software scope and security review</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r h="566928">
                <a:tc>
                  <a:txBody>
                    <a:bodyPr/>
                    <a:lstStyle/>
                    <a:p>
                      <a:pPr indent="0" marL="0">
                        <a:buNone/>
                      </a:pPr>
                      <a:r>
                        <a:rPr lang="en-US" sz="1200" b="1" dirty="0">
                          <a:solidFill>
                            <a:srgbClr val="1F2937"/>
                          </a:solidFill>
                        </a:rPr>
                        <a:t>5</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Installation windows and infection-control requirements per ward?</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Rollout schedule</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1F2937"/>
                          </a:solidFill>
                        </a:rPr>
                        <a:t>6</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200" dirty="0">
                          <a:solidFill>
                            <a:srgbClr val="1F2937"/>
                          </a:solidFill>
                        </a:rPr>
                        <a:t>Required SLA, support hours and reporting for Section 2 Master Agreement?</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200" dirty="0">
                          <a:solidFill>
                            <a:srgbClr val="1F2937"/>
                          </a:solidFill>
                        </a:rPr>
                        <a:t>Service model and pricing</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r>
            </a:tbl>
          </a:graphicData>
        </a:graphic>
      </p:graphicFrame>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292608"/>
            <a:ext cx="7315200" cy="237744"/>
          </a:xfrm>
          <a:prstGeom prst="rect">
            <a:avLst/>
          </a:prstGeom>
          <a:noFill/>
          <a:ln/>
        </p:spPr>
        <p:txBody>
          <a:bodyPr wrap="square" lIns="0" tIns="0" rIns="0" bIns="0" rtlCol="0" anchor="t"/>
          <a:lstStyle/>
          <a:p>
            <a:pPr indent="0" marL="0">
              <a:buNone/>
            </a:pPr>
            <a:r>
              <a:rPr lang="en-US" sz="1000" b="1" spc="200" kern="0" dirty="0">
                <a:solidFill>
                  <a:schemeClr val="accent1"/>
                </a:solidFill>
              </a:rPr>
              <a:t>DISCUSSION</a:t>
            </a:r>
            <a:endParaRPr lang="en-US" sz="1000" dirty="0"/>
          </a:p>
        </p:txBody>
      </p:sp>
      <p:sp>
        <p:nvSpPr>
          <p:cNvPr id="3" name="Text 0"/>
          <p:cNvSpPr/>
          <p:nvPr>
            <p:ph idx="100" type="title" hasCustomPrompt="1"/>
          </p:nvPr>
        </p:nvSpPr>
        <p:spPr>
          <a:xfrm>
            <a:off x="548640" y="640080"/>
            <a:ext cx="11091672" cy="868680"/>
          </a:xfrm>
          <a:prstGeom prst="rect">
            <a:avLst/>
          </a:prstGeom>
          <a:noFill/>
          <a:ln/>
        </p:spPr>
        <p:txBody>
          <a:bodyPr wrap="square" lIns="0" tIns="0" rIns="0" bIns="0" rtlCol="0" anchor="t"/>
          <a:lstStyle/>
          <a:p>
            <a:pPr algn="l" indent="0" marL="0">
              <a:buNone/>
            </a:pPr>
            <a:r>
              <a:rPr lang="en-US" sz="2200" b="1" dirty="0">
                <a:solidFill>
                  <a:schemeClr val="tx2"/>
                </a:solidFill>
              </a:rPr>
              <a:t>Next steps: agree open points, complete the relay table and finalise the proposal package</a:t>
            </a:r>
            <a:endParaRPr lang="en-US" sz="2200" dirty="0"/>
          </a:p>
        </p:txBody>
      </p:sp>
      <p:sp>
        <p:nvSpPr>
          <p:cNvPr id="4" name="Text 2"/>
          <p:cNvSpPr txBox="1"/>
          <p:nvPr/>
        </p:nvSpPr>
        <p:spPr>
          <a:xfrm>
            <a:off x="548640" y="6199632"/>
            <a:ext cx="10515600" cy="201168"/>
          </a:xfrm>
          <a:prstGeom prst="rect">
            <a:avLst/>
          </a:prstGeom>
          <a:noFill/>
          <a:ln/>
        </p:spPr>
        <p:txBody>
          <a:bodyPr wrap="square" lIns="0" tIns="0" rIns="0" bIns="0" rtlCol="0" anchor="t"/>
          <a:lstStyle/>
          <a:p>
            <a:pPr indent="0" marL="0">
              <a:buNone/>
            </a:pPr>
            <a:r>
              <a:rPr lang="en-US" sz="900" dirty="0">
                <a:solidFill>
                  <a:schemeClr val="accent4"/>
                </a:solidFill>
              </a:rPr>
              <a:t>Source: MONIT. Owners and dates to be agreed in the meeting.</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7315200" cy="914400"/>
        </p:xfrm>
        <a:graphic>
          <a:graphicData uri="http://schemas.openxmlformats.org/drawingml/2006/table">
            <a:tbl>
              <a:tblPr/>
              <a:tblGrid>
                <a:gridCol w="4754880"/>
                <a:gridCol w="1280160"/>
                <a:gridCol w="1280160"/>
              </a:tblGrid>
              <a:tr h="594360">
                <a:tc>
                  <a:txBody>
                    <a:bodyPr/>
                    <a:lstStyle/>
                    <a:p>
                      <a:pPr indent="0" marL="0">
                        <a:buNone/>
                      </a:pPr>
                      <a:r>
                        <a:rPr lang="en-US" sz="1200" b="1" dirty="0">
                          <a:solidFill>
                            <a:srgbClr val="FFFFFF"/>
                          </a:solidFill>
                        </a:rPr>
                        <a:t>Action</a:t>
                      </a:r>
                      <a:endParaRPr lang="en-US" sz="12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200" b="1" dirty="0">
                          <a:solidFill>
                            <a:srgbClr val="FFFFFF"/>
                          </a:solidFill>
                        </a:rPr>
                        <a:t>Owner</a:t>
                      </a:r>
                      <a:endParaRPr lang="en-US" sz="12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c>
                  <a:txBody>
                    <a:bodyPr/>
                    <a:lstStyle/>
                    <a:p>
                      <a:pPr indent="0" marL="0">
                        <a:buNone/>
                      </a:pPr>
                      <a:r>
                        <a:rPr lang="en-US" sz="1200" b="1" dirty="0">
                          <a:solidFill>
                            <a:srgbClr val="FFFFFF"/>
                          </a:solidFill>
                        </a:rPr>
                        <a:t>Date</a:t>
                      </a:r>
                      <a:endParaRPr lang="en-US" sz="1200" dirty="0"/>
                    </a:p>
                  </a:txBody>
                  <a:tcPr marL="73152" marR="73152" marT="45720" marB="45720" anchor="ctr">
                    <a:lnL w="0" cap="flat" cmpd="sng" algn="ctr">
                      <a:noFill/>
                    </a:lnL>
                    <a:lnR w="0" cap="flat" cmpd="sng" algn="ctr">
                      <a:noFill/>
                    </a:lnR>
                    <a:lnT w="0" cap="flat" cmpd="sng" algn="ctr">
                      <a:noFill/>
                    </a:lnT>
                    <a:lnB w="0" cap="flat" cmpd="sng" algn="ctr">
                      <a:noFill/>
                    </a:lnB>
                    <a:solidFill>
                      <a:srgbClr val="0B2A4A"/>
                    </a:solidFill>
                  </a:tcPr>
                </a:tc>
              </a:tr>
              <a:tr h="594360">
                <a:tc>
                  <a:txBody>
                    <a:bodyPr/>
                    <a:lstStyle/>
                    <a:p>
                      <a:pPr indent="0" marL="0">
                        <a:buNone/>
                      </a:pPr>
                      <a:r>
                        <a:rPr lang="en-US" sz="1200" b="1" dirty="0">
                          <a:solidFill>
                            <a:srgbClr val="1F2937"/>
                          </a:solidFill>
                        </a:rPr>
                        <a:t>Confirm scope (wards / beds) and Wi-Fi requirements with hospital IT</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i="1" dirty="0">
                          <a:solidFill>
                            <a:srgbClr val="7A4F00"/>
                          </a:solidFill>
                        </a:rPr>
                        <a:t>[INPUT]</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c>
                  <a:txBody>
                    <a:bodyPr/>
                    <a:lstStyle/>
                    <a:p>
                      <a:pPr indent="0" marL="0">
                        <a:buNone/>
                      </a:pPr>
                      <a:r>
                        <a:rPr lang="en-US" sz="1200" i="1" dirty="0">
                          <a:solidFill>
                            <a:srgbClr val="7A4F00"/>
                          </a:solidFill>
                        </a:rPr>
                        <a:t>[INPUT]</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r>
              <a:tr h="594360">
                <a:tc>
                  <a:txBody>
                    <a:bodyPr/>
                    <a:lstStyle/>
                    <a:p>
                      <a:pPr indent="0" marL="0">
                        <a:buNone/>
                      </a:pPr>
                      <a:r>
                        <a:rPr lang="en-US" sz="1200" b="1" dirty="0">
                          <a:solidFill>
                            <a:srgbClr val="1F2937"/>
                          </a:solidFill>
                        </a:rPr>
                        <a:t>Complete relay sizing table from floor plans</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200" dirty="0">
                          <a:solidFill>
                            <a:srgbClr val="1F2937"/>
                          </a:solidFill>
                        </a:rPr>
                        <a:t>MONIT</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200" i="1" dirty="0">
                          <a:solidFill>
                            <a:srgbClr val="7A4F00"/>
                          </a:solidFill>
                        </a:rPr>
                        <a:t>[INPUT]</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r>
              <a:tr h="594360">
                <a:tc>
                  <a:txBody>
                    <a:bodyPr/>
                    <a:lstStyle/>
                    <a:p>
                      <a:pPr indent="0" marL="0">
                        <a:buNone/>
                      </a:pPr>
                      <a:r>
                        <a:rPr lang="en-US" sz="1200" b="1" dirty="0">
                          <a:solidFill>
                            <a:srgbClr val="1F2937"/>
                          </a:solidFill>
                        </a:rPr>
                        <a:t>Compile certificates, clinical evidence, references, sustainability evidence</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MONIT</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i="1" dirty="0">
                          <a:solidFill>
                            <a:srgbClr val="7A4F00"/>
                          </a:solidFill>
                        </a:rPr>
                        <a:t>[INPUT]</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r>
              <a:tr h="594360">
                <a:tc>
                  <a:txBody>
                    <a:bodyPr/>
                    <a:lstStyle/>
                    <a:p>
                      <a:pPr indent="0" marL="0">
                        <a:buNone/>
                      </a:pPr>
                      <a:r>
                        <a:rPr lang="en-US" sz="1200" b="1" dirty="0">
                          <a:solidFill>
                            <a:srgbClr val="1F2937"/>
                          </a:solidFill>
                        </a:rPr>
                        <a:t>Prepare Section 2/3 compliance, Annex A checklist and price proposal</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200" dirty="0">
                          <a:solidFill>
                            <a:srgbClr val="1F2937"/>
                          </a:solidFill>
                        </a:rPr>
                        <a:t>MONIT</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1F4F8"/>
                    </a:solidFill>
                  </a:tcPr>
                </a:tc>
                <a:tc>
                  <a:txBody>
                    <a:bodyPr/>
                    <a:lstStyle/>
                    <a:p>
                      <a:pPr indent="0" marL="0">
                        <a:buNone/>
                      </a:pPr>
                      <a:r>
                        <a:rPr lang="en-US" sz="1200" i="1" dirty="0">
                          <a:solidFill>
                            <a:srgbClr val="7A4F00"/>
                          </a:solidFill>
                        </a:rPr>
                        <a:t>[INPUT]</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r>
              <a:tr h="594360">
                <a:tc>
                  <a:txBody>
                    <a:bodyPr/>
                    <a:lstStyle/>
                    <a:p>
                      <a:pPr indent="0" marL="0">
                        <a:buNone/>
                      </a:pPr>
                      <a:r>
                        <a:rPr lang="en-US" sz="1200" b="1" dirty="0">
                          <a:solidFill>
                            <a:srgbClr val="1F2937"/>
                          </a:solidFill>
                        </a:rPr>
                        <a:t>Schedule vendor presentation / demo and sample relay</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rPr>
                        <a:t>ALPS / MONIT</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200" i="1" dirty="0">
                          <a:solidFill>
                            <a:srgbClr val="7A4F00"/>
                          </a:solidFill>
                        </a:rPr>
                        <a:t>[INPUT]</a:t>
                      </a:r>
                      <a:endParaRPr lang="en-US" sz="1200" dirty="0"/>
                    </a:p>
                  </a:txBody>
                  <a:tcPr marL="73152" marR="73152" marT="45720" marB="45720" anchor="ctr">
                    <a:lnL w="0" cap="flat" cmpd="sng" algn="ctr">
                      <a:noFill/>
                    </a:lnL>
                    <a:lnR w="0" cap="flat" cmpd="sng" algn="ctr">
                      <a:noFill/>
                    </a:lnR>
                    <a:lnT w="0" cap="flat" cmpd="sng" algn="ctr">
                      <a:noFill/>
                    </a:lnT>
                    <a:lnB w="9525" cap="flat" cmpd="sng" algn="ctr">
                      <a:solidFill>
                        <a:srgbClr val="D5DCE6"/>
                      </a:solidFill>
                      <a:prstDash val="solid"/>
                      <a:round/>
                      <a:headEnd type="none" w="med" len="med"/>
                      <a:tailEnd type="none" w="med" len="med"/>
                    </a:lnB>
                    <a:solidFill>
                      <a:srgbClr val="FFF4D6"/>
                    </a:solidFill>
                  </a:tcPr>
                </a:tc>
              </a:tr>
            </a:tbl>
          </a:graphicData>
        </a:graphic>
      </p:graphicFrame>
      <p:sp>
        <p:nvSpPr>
          <p:cNvPr id="7" name="Shape 3"/>
          <p:cNvSpPr/>
          <p:nvPr/>
        </p:nvSpPr>
        <p:spPr>
          <a:xfrm>
            <a:off x="8138160" y="1691640"/>
            <a:ext cx="3502152" cy="3977640"/>
          </a:xfrm>
          <a:prstGeom prst="rect">
            <a:avLst/>
          </a:prstGeom>
          <a:solidFill>
            <a:schemeClr val="tx2"/>
          </a:solidFill>
          <a:ln/>
        </p:spPr>
      </p:sp>
      <p:sp>
        <p:nvSpPr>
          <p:cNvPr id="8" name="Text 4"/>
          <p:cNvSpPr txBox="1"/>
          <p:nvPr/>
        </p:nvSpPr>
        <p:spPr>
          <a:xfrm>
            <a:off x="8366760" y="1874520"/>
            <a:ext cx="3108960" cy="365760"/>
          </a:xfrm>
          <a:prstGeom prst="rect">
            <a:avLst/>
          </a:prstGeom>
          <a:noFill/>
          <a:ln/>
        </p:spPr>
        <p:txBody>
          <a:bodyPr wrap="square" lIns="0" tIns="0" rIns="0" bIns="0" rtlCol="0" anchor="t"/>
          <a:lstStyle/>
          <a:p>
            <a:pPr indent="0" marL="0">
              <a:buNone/>
            </a:pPr>
            <a:r>
              <a:rPr lang="en-US" sz="1500" b="1" dirty="0">
                <a:solidFill>
                  <a:schemeClr val="bg1"/>
                </a:solidFill>
              </a:rPr>
              <a:t>Decisions needed today</a:t>
            </a:r>
            <a:endParaRPr lang="en-US" sz="1500" dirty="0"/>
          </a:p>
        </p:txBody>
      </p:sp>
      <p:sp>
        <p:nvSpPr>
          <p:cNvPr id="9" name="Text 5"/>
          <p:cNvSpPr txBox="1"/>
          <p:nvPr/>
        </p:nvSpPr>
        <p:spPr>
          <a:xfrm>
            <a:off x="8366760" y="2377440"/>
            <a:ext cx="3108960" cy="3108960"/>
          </a:xfrm>
          <a:prstGeom prst="rect">
            <a:avLst/>
          </a:prstGeom>
          <a:noFill/>
          <a:ln/>
        </p:spPr>
        <p:txBody>
          <a:bodyPr wrap="square" lIns="0" tIns="0" rIns="0" bIns="0" rtlCol="0" anchor="t"/>
          <a:lstStyle/>
          <a:p>
            <a:pPr marL="152400" indent="-152400">
              <a:spcAft>
                <a:spcPts val="500"/>
              </a:spcAft>
              <a:buSzPct val="100000"/>
              <a:buChar char="•"/>
            </a:pPr>
            <a:r>
              <a:rPr lang="en-US" sz="1300" dirty="0">
                <a:solidFill>
                  <a:schemeClr val="bg1"/>
                </a:solidFill>
              </a:rPr>
              <a:t>Confirm in-scope wards and beds</a:t>
            </a:r>
            <a:endParaRPr lang="en-US" sz="1300" dirty="0"/>
          </a:p>
          <a:p>
            <a:pPr marL="152400" indent="-152400">
              <a:spcAft>
                <a:spcPts val="500"/>
              </a:spcAft>
              <a:buSzPct val="100000"/>
              <a:buChar char="•"/>
            </a:pPr>
            <a:r>
              <a:rPr lang="en-US" sz="1300" dirty="0">
                <a:solidFill>
                  <a:schemeClr val="bg1"/>
                </a:solidFill>
              </a:rPr>
              <a:t>Agree provisioning method for Wi-Fi</a:t>
            </a:r>
            <a:endParaRPr lang="en-US" sz="1300" dirty="0"/>
          </a:p>
          <a:p>
            <a:pPr marL="152400" indent="-152400">
              <a:spcAft>
                <a:spcPts val="500"/>
              </a:spcAft>
              <a:buSzPct val="100000"/>
              <a:buChar char="•"/>
            </a:pPr>
            <a:r>
              <a:rPr lang="en-US" sz="1300" dirty="0">
                <a:solidFill>
                  <a:schemeClr val="bg1"/>
                </a:solidFill>
              </a:rPr>
              <a:t>Agree pilot ward per hospital</a:t>
            </a:r>
            <a:endParaRPr lang="en-US" sz="1300" dirty="0"/>
          </a:p>
          <a:p>
            <a:pPr marL="152400" indent="-152400">
              <a:spcAft>
                <a:spcPts val="500"/>
              </a:spcAft>
              <a:buSzPct val="100000"/>
              <a:buChar char="•"/>
            </a:pPr>
            <a:r>
              <a:rPr lang="en-US" sz="1300" dirty="0">
                <a:solidFill>
                  <a:schemeClr val="bg1"/>
                </a:solidFill>
              </a:rPr>
              <a:t>Confirm presentation / demo date</a:t>
            </a:r>
            <a:endParaRPr lang="en-US" sz="1300" dirty="0"/>
          </a:p>
        </p:txBody>
      </p:sp>
      <p:sp>
        <p:nvSpPr>
          <p:cNvPr id="25" name="Slide Number Placeholder 0"/>
          <p:cNvSpPr>
            <a:spLocks noGrp="1"/>
          </p:cNvSpPr>
          <p:nvPr>
            <p:ph type="sldNum" sz="quarter" idx="4294967295"/>
          </p:nvPr>
        </p:nvSpPr>
        <p:spPr>
          <a:xfrm>
            <a:off x="10972800" y="6446520"/>
            <a:ext cx="667512"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MONIT RFP">
  <a:themeElements>
    <a:clrScheme name="MONIT RFP">
      <a:dk1>
        <a:srgbClr val="1F2937"/>
      </a:dk1>
      <a:lt1>
        <a:srgbClr val="FFFFFF"/>
      </a:lt1>
      <a:dk2>
        <a:srgbClr val="0B2A4A"/>
      </a:dk2>
      <a:lt2>
        <a:srgbClr val="F1F4F8"/>
      </a:lt2>
      <a:accent1>
        <a:srgbClr val="00A3AD"/>
      </a:accent1>
      <a:accent2>
        <a:srgbClr val="0B2A4A"/>
      </a:accent2>
      <a:accent3>
        <a:srgbClr val="F2A900"/>
      </a:accent3>
      <a:accent4>
        <a:srgbClr val="6B7A8F"/>
      </a:accent4>
      <a:accent5>
        <a:srgbClr val="2E7D6B"/>
      </a:accent5>
      <a:accent6>
        <a:srgbClr val="C0392B"/>
      </a:accent6>
      <a:hlink>
        <a:srgbClr val="00A3AD"/>
      </a:hlink>
      <a:folHlink>
        <a:srgbClr val="6B7A8F"/>
      </a:folHlink>
    </a:clrScheme>
    <a:fontScheme name="MONIT RFP">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KTPH-RFP-26-165-MJ — AI-Enabled Smart Diaper Care System: Discussion Document</dc:title>
  <dc:subject>PptxGenJS Presentation</dc:subject>
  <dc:creator>MONIT</dc:creator>
  <cp:lastModifiedBy>MONIT</cp:lastModifiedBy>
  <cp:revision>1</cp:revision>
  <dcterms:created xsi:type="dcterms:W3CDTF">2026-10-02T05:38:01Z</dcterms:created>
  <dcterms:modified xsi:type="dcterms:W3CDTF">2026-10-02T05:38:01Z</dcterms:modified>
</cp:coreProperties>
</file>