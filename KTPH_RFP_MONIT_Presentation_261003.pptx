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51cda0c-815f-29a7-1398-ad93872e435d}">
          <p14:sldIdLst>
            <p14:sldId id="256"/>
          </p14:sldIdLst>
        </p14:section>
        <p14:section name="Executive summary" id="{2449d3c9-a7d9-8ed6-19ca-6732d017d413}">
          <p14:sldIdLst>
            <p14:sldId id="257"/>
            <p14:sldId id="258"/>
            <p14:sldId id="259"/>
          </p14:sldIdLst>
        </p14:section>
        <p14:section name="1 · Company introduction" id="{54f67d27-3517-0da3-9183-58d7f231ec5b}">
          <p14:sldIdLst>
            <p14:sldId id="260"/>
          </p14:sldIdLst>
        </p14:section>
        <p14:section name="2 · Industry certifications and standards" id="{ba42a811-adb4-8630-c286-184ab449759c}">
          <p14:sldIdLst>
            <p14:sldId id="261"/>
          </p14:sldIdLst>
        </p14:section>
        <p14:section name="3 · Smart diaper system" id="{c342cad0-7db5-2442-4ea4-6df681c3160c}">
          <p14:sldIdLst>
            <p14:sldId id="262"/>
            <p14:sldId id="263"/>
            <p14:sldId id="264"/>
            <p14:sldId id="265"/>
            <p14:sldId id="266"/>
            <p14:sldId id="267"/>
          </p14:sldIdLst>
        </p14:section>
        <p14:section name="4 · Understanding of the project" id="{3ec1eb03-e631-fe9b-ba1d-c6d3cbede409}">
          <p14:sldIdLst>
            <p14:sldId id="268"/>
            <p14:sldId id="269"/>
            <p14:sldId id="270"/>
            <p14:sldId id="271"/>
            <p14:sldId id="272"/>
            <p14:sldId id="273"/>
            <p14:sldId id="274"/>
          </p14:sldIdLst>
        </p14:section>
        <p14:section name="5 · Project timeline" id="{f1b82a5a-d9b2-9a0f-f7f7-9752d8bab54b}">
          <p14:sldIdLst>
            <p14:sldId id="275"/>
          </p14:sldIdLst>
        </p14:section>
        <p14:section name="6 · References and track record" id="{00c98699-c3e7-8c2c-ed49-87d330facd7e}">
          <p14:sldIdLst>
            <p14:sldId id="276"/>
          </p14:sldIdLst>
        </p14:section>
        <p14:section name="7 · Sustainability initiatives" id="{96ec60af-83e0-d718-6c2a-9b39e8675021}">
          <p14:sldIdLst>
            <p14:sldId id="277"/>
          </p14:sldIdLst>
        </p14:section>
        <p14:section name="8 · Network connectivity and relay devices" id="{205cda06-cfe6-4c32-be21-21b78a3102c6}">
          <p14:sldIdLst>
            <p14:sldId id="278"/>
            <p14:sldId id="279"/>
            <p14:sldId id="280"/>
            <p14:sldId id="281"/>
          </p14:sldIdLst>
        </p14:section>
        <p14:section name="Discussion" id="{c7e7605f-268e-9a93-1f0d-9fc4703edf7e}">
          <p14:sldIdLst>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Replace 'MONIT' wordmark with the official logo before the meeting. All amber [INPUT REQUIRED] boxes in this deck mark information that was NOT in the RFP files and must be supplied by MONIT.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deck: help the KTPH purchasing team understand the MONIT solution and judge its suitability. Tone: factual, committed, verifiable. Amber boxes = facts MONIT must still supply; teal PROPOSED boxes = answers written in the form procurement prefers where the files had no evidence. Remove both marker styles when finalising.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taken directly from the RFP consent form and Section 1. Several dates (site briefings, clarifications, closing) may already have passed - confirm the current stage with ALPS.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Procurement evaluation aid: requirement -&gt; response -&gt; where to verify. Keep this table in sync with the final deck. Where the evidence is still being collected the 'Evidence' cell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(user's Obsidian vault, synced to Google Drive): 모닛.md company hub; MONIT_IR_KO_260409; 회사 증명서류 모음 (SME certificate valid to 31 Mar 2027, Venture certificate valid to 23 Aug 2027); KTPH Smart Diaper Sensor - Trial in B76 (9 Jul - 24 Aug 2025, 15 patients). Deliberately left out: cumulative revenue and capital figures (IR data - include only if management approves disclosure), internal revenue commentary, pending commercial negotiations, personal phone numbers, and the IR statement of an 'enterprise contract with NHG hospitals' because the RFP is still open. Still to add: Singapore entity / UEN and headcount.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Schedule 2 Clause 5 lists CE marking, IMDA registration (Singapore) and KC (Korea); copies of valid certificates are to be provided on written request. ISO/IEC 27001, 27017 and 27018 are planned (not yet certified) - state certification body, audit stage and target date; do not describe them as held until issued. Provide numbers and expiry dates. ALPS is ISO14000 and OSHA certified and expects vendors to follow its environmental and safety requirements. Confirm HSA classification/registration of the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Specifications are from Schedule 3 of the Master Agreement. Note: the relay dimensions in Schedule 3 read '9.5 x 4.5 x 5.5-11.3 mm', which is probably cm - confirm before quoting. Sensor-to-relay link is BLE; relay-to-cloud is Wi-Fi 2.4 GHz.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 published or internal clinical evidence: study design, site, number of patients/events, sensitivity, specificity, latency, false-alarm rate. Never present numbers that are not traceable to a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wireframe with real screenshots. Confirm: user roles, audit log, EMR/nurse-call integration options, data hosting location (Singapore), PDPA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ALIGNMENT FLAGS (internal): (1) Compliance-to-MA v2 remark on Clause 12 says MONIT accepts 3 h response / 24 h repair / next-business-day loaner, whereas Schedule 2 [DRAFT] says 8 business hours / 3 business days / 3 business days - decide which MONIT will stand behind before submission. (2) Warranty in Schedule 3 is sensor 6 m, relay 12 m, platform 12 m, vs MA default 24 months. (3) Spare-parts commitment is 7 years from delivery (MA 16.2.3) vs 10 years after end-of-life in Section 3.1 - raised with MMD. The 24-hour hotline number is in the Transaction Schedule (not shown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RESPONSE (not evidenced in attachments): severity tiers written the way hospital procurement usually asks for them. P3 matches the Schedule 2 draft (8 business hours / 3 business days); P1 and P2 are tighter targets that need MONIT management approval. The rate card is from the Transaction Schedule: weekday 08:30-18:00 S$220 first hour / S$150 after; Saturday 08:30-12:30 S$280 / S$190; after hours S$330 / S$220; Sundays and public holidays S$440 / S$300; up to 12 chargeable breakdown attendances per site per year are covered by the response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other relevant information: staff time saved, reduced skin complications, consumables optimisation, patient comfort, awards, regulatory approvals, roadmap, interoperability.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MONIT's reading of the RFP. Validate with ALPS in the meeting - particularly the number of wards/beds in scope, which is not stated in the files received.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The contract milestones (training plan within 14 days, training within 14 days of delivery, pre-shipment testing, installation and commissioning by MONIT, acceptance tests, Final Acceptance per institution, invoice within 7 days) come from the Master Agreement. Note: security deposit and insurance timing is 14 days in RFP clause 10 and 30 days in Schedule 2 - plan to the shorter RFP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Acceptance chain from the Master Agreement: acceptance tests and certificates, then Final Acceptance Notice per PO. Security deposit (S$18,000 = 10% of S$180,000, banker's bond) reduces pro rata on Final Acceptance per institution - this is a [DRAFT] in Schedule 2; confirm before quoting. Changes requested after PO acceptance are pre-approved in writing and reimbursed at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Requirements are read from NHG's table (image supplied by the user). WH sensor count is not stated in the table: 35 is derived as 135 (contract draft total) - 60 (KTPH) - 40 (TTSH). The MONIT proposals in the teal boxes are not from the attachments; engineering must confirm mounting and power options. Michelle (NHG) will share the ward layouts.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comes from NHG's table. Responses are PROPOSED (not evidenced in the attachments). Barcode-scanner support is an explicit ask from KTPH and WH - confirm the dashboard accepts scanner input (Zebra DS22 is a USB/Bluetooth scanner). Where corridor power points are absent (WH A41, TTSH 13B) gateways must sit where sockets exist, which can push counts toward the conservative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MANDATORY RFP ITEM. Why not sensors per relay: KTPH has about 133 beds but 60 sensors, so sensors are pooled and moved - coverage of the bed areas, not sensor count, sets the gateway number. Base rule: 1 gateway per 4 cubicles (from the WH W62 note: one BLE covers 4 cubicles) and 1 per 2 adjacent single rooms (assumption: closed or double doors attenuate BLE). Lean = 1 per 4 cubicles and 1 per 4 single rooms (31); Base (40, +4 spare = 44); Conservative = 1 per 2 cubicles and 1 per 2 single rooms (50). The contract draft lists 53 gateways, close to Conservative plus spares - reconcile with the Section 3 price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MANDATORY: gateways per ward from NHG's table. Base counts: KTPH 3 + 4 + 3 = 10; WH 4 + 2 + 3 = 9; TTSH 3 + 3 + 8 + 7 = 21; total 40 + 4 spares = 44. Assumed inputs: TTSH 5A and 7C have 5 cubicles each (counts not given); WH W62 has 4 cubicles (from the trial note); KTPH Tower B has 3 single rooms (the table text reads 'v3'). Contract draft Schedule 3 lists 53 relays - reconcile with the price schedule. Michelle (NHG) will revise the tender document to allow editing of the BLE quantities.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T0 = Letter of Award (Effective Date). Milestones from the contract: training plan within 14 days, training within 14 days of delivery, 28-day mobilisation, deposit and insurance (14 days RFP vs 30 days Schedule 2). Production, shipping and customs lead times are NOT in the attachments - the 8-week figure is a placeholder proposal to be confirmed by MONIT operations. Schedule 2 draft LD is 0.5% per day (max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references are in the attachments. Provide at least three comparable deployments. The teal box describes the reference mix and checks hospital procurement usually applies; replace with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sustainability facts are in the attachments. Each quadrant has a PROPOSED line describing the evidence procurement usually expects, and an amber box for MONIT's actual position. Do not state any claim until evidenced. Product-level facts (reusable 23 g sensor, single-use barrier film, CR2032 cell, 5 V USB relay) are from Schedule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Relay: 42 g, 5 V USB-A always-on, BLE 5 + Wi-Fi 2.4 GHz (5 GHz not supported). The 2.4 GHz-only radio is a real dependency - confirm with each hospital IT team that a 2.4 GHz SSID exists with coverage at relay locations. Bring a physical relay to the meeting if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Provisioning method is NOT described in the attachments; the teal box is a proposed answer. Engineering must confirm the actual method (local app, web page, or pre-staged settings) and who performs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ANSWER TO ALPS'S QUESTION. The attachments do not describe how the relay stores Wi-Fi credentials or handles OTA. The table is the standard design pattern: non-volatile storage, configuration kept separate from firmware, rollback on failed update, automatic reconnect. Because the relay is powered by always-on 5 V USB, a power cut simply restarts it. Engineering must confirm every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Schedule 7 forbids transferring the Company's personal data outside Singapore without prior written consent. MONIT is Korea-based, so the hosting location of the cloud server must be stated and consistent with Schedule 7 and the PDPA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1: Michelle (NHG) will share the ward layouts and revise the tender sheet to make BLE quantities editable. Items 5-7 reflect inconsistencies between the RFP, Section 3.1 and the Master Agreement draft (spare parts 7 vs 10 years; deposit 14 vs 30 days; draft service-level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for the procurement audience: make verification easy. Fill owners and dates during the meeting. Reminder of submission requirements: compliance tables stamped and signed, Annex A checklist, certificates, price proposal in Ariba, security deposit and insurance after award.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2A4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11091672" cy="868680"/>
          </a:xfrm>
          <a:prstGeom prst="rect">
            <a:avLst/>
          </a:prstGeom>
          <a:noFill/>
          <a:ln/>
        </p:spPr>
        <p:txBody>
          <a:bodyPr wrap="square" rtlCol="0"/>
          <a:lstStyle>
            <a:lvl1pPr algn="l" indent="0" marL="0">
              <a:buNone/>
              <a:defRPr lang="en-US" sz="2200" b="1" dirty="0">
                <a:solidFill>
                  <a:schemeClr val="tx2"/>
                </a:solidFill>
              </a:defRPr>
            </a:lvl1pPr>
          </a:lstStyle>
          <a:p>
            <a:pPr algn="l" indent="0" marL="0">
              <a:buNone/>
            </a:pPr>
            <a:endParaRPr lang="en-US" sz="2200" dirty="0"/>
          </a:p>
        </p:txBody>
      </p:sp>
      <p:sp>
        <p:nvSpPr>
          <p:cNvPr id="3" name="Text 0"/>
          <p:cNvSpPr/>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chemeClr val="accent4"/>
                </a:solidFill>
              </a:rPr>
              <a:t>MONIT  |  KTPH-RFP-26-165-MJ  |  Discussion document — Confidential</a:t>
            </a:r>
            <a:endParaRPr lang="en-US" sz="9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3.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3.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3.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3.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3.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731520"/>
            <a:ext cx="3657600" cy="365760"/>
          </a:xfrm>
          <a:prstGeom prst="rect">
            <a:avLst/>
          </a:prstGeom>
          <a:noFill/>
          <a:ln/>
        </p:spPr>
        <p:txBody>
          <a:bodyPr wrap="square" lIns="0" tIns="0" rIns="0" bIns="0" rtlCol="0" anchor="t"/>
          <a:lstStyle/>
          <a:p>
            <a:pPr indent="0" marL="0">
              <a:buNone/>
            </a:pPr>
            <a:r>
              <a:rPr lang="en-US" sz="1600" b="1" spc="600" kern="0" dirty="0">
                <a:solidFill>
                  <a:schemeClr val="accent1"/>
                </a:solidFill>
              </a:rPr>
              <a:t>MONIT</a:t>
            </a:r>
            <a:endParaRPr lang="en-US" sz="1600" dirty="0"/>
          </a:p>
        </p:txBody>
      </p:sp>
      <p:sp>
        <p:nvSpPr>
          <p:cNvPr id="3" name="Text 1"/>
          <p:cNvSpPr txBox="1"/>
          <p:nvPr/>
        </p:nvSpPr>
        <p:spPr>
          <a:xfrm>
            <a:off x="822960" y="1828800"/>
            <a:ext cx="8686800" cy="146304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AI-Enabled Smart Diaper Care System</a:t>
            </a:r>
            <a:endParaRPr lang="en-US" sz="4000" dirty="0"/>
          </a:p>
        </p:txBody>
      </p:sp>
      <p:sp>
        <p:nvSpPr>
          <p:cNvPr id="4" name="Text 2"/>
          <p:cNvSpPr txBox="1"/>
          <p:nvPr/>
        </p:nvSpPr>
        <p:spPr>
          <a:xfrm>
            <a:off x="822960" y="3474720"/>
            <a:ext cx="7863840" cy="822960"/>
          </a:xfrm>
          <a:prstGeom prst="rect">
            <a:avLst/>
          </a:prstGeom>
          <a:noFill/>
          <a:ln/>
        </p:spPr>
        <p:txBody>
          <a:bodyPr wrap="square" lIns="0" tIns="0" rIns="0" bIns="0" rtlCol="0" anchor="t"/>
          <a:lstStyle/>
          <a:p>
            <a:pPr indent="0" marL="0">
              <a:buNone/>
            </a:pPr>
            <a:r>
              <a:rPr lang="en-US" sz="1800" dirty="0">
                <a:solidFill>
                  <a:srgbClr val="CADCFC"/>
                </a:solidFill>
              </a:rPr>
              <a:t>Response to RFP KTPH-RFP-26-165-MJ — discussion document for ALPS Pte. Ltd. and the KTPH / Woodlands Health / TTSH project teams</a:t>
            </a:r>
            <a:endParaRPr lang="en-US" sz="1800" dirty="0"/>
          </a:p>
        </p:txBody>
      </p:sp>
      <p:sp>
        <p:nvSpPr>
          <p:cNvPr id="5" name="Text 3"/>
          <p:cNvSpPr txBox="1"/>
          <p:nvPr/>
        </p:nvSpPr>
        <p:spPr>
          <a:xfrm>
            <a:off x="822960" y="5029200"/>
            <a:ext cx="7315200" cy="274320"/>
          </a:xfrm>
          <a:prstGeom prst="rect">
            <a:avLst/>
          </a:prstGeom>
          <a:noFill/>
          <a:ln/>
        </p:spPr>
        <p:txBody>
          <a:bodyPr wrap="square" lIns="0" tIns="0" rIns="0" bIns="0" rtlCol="0" anchor="t"/>
          <a:lstStyle/>
          <a:p>
            <a:pPr indent="0" marL="0">
              <a:buNone/>
            </a:pPr>
            <a:r>
              <a:rPr lang="en-US" sz="1200" dirty="0">
                <a:solidFill>
                  <a:srgbClr val="CADCFC"/>
                </a:solidFill>
              </a:rPr>
              <a:t>Supply and Delivery of AI-Enabled Smart Diaper Care System</a:t>
            </a:r>
            <a:endParaRPr lang="en-US" sz="1200" dirty="0"/>
          </a:p>
        </p:txBody>
      </p:sp>
      <p:sp>
        <p:nvSpPr>
          <p:cNvPr id="6" name="Text 4"/>
          <p:cNvSpPr txBox="1"/>
          <p:nvPr/>
        </p:nvSpPr>
        <p:spPr>
          <a:xfrm>
            <a:off x="822960" y="5349240"/>
            <a:ext cx="7315200" cy="274320"/>
          </a:xfrm>
          <a:prstGeom prst="rect">
            <a:avLst/>
          </a:prstGeom>
          <a:noFill/>
          <a:ln/>
        </p:spPr>
        <p:txBody>
          <a:bodyPr wrap="square" lIns="0" tIns="0" rIns="0" bIns="0" rtlCol="0" anchor="t"/>
          <a:lstStyle/>
          <a:p>
            <a:pPr indent="0" marL="0">
              <a:buNone/>
            </a:pPr>
            <a:r>
              <a:rPr lang="en-US" sz="1200" dirty="0">
                <a:solidFill>
                  <a:srgbClr val="CADCFC"/>
                </a:solidFill>
              </a:rPr>
              <a:t>Draft for discussion  |  Confidential</a:t>
            </a:r>
            <a:endParaRPr lang="en-US" sz="1200" dirty="0"/>
          </a:p>
        </p:txBody>
      </p:sp>
      <p:sp>
        <p:nvSpPr>
          <p:cNvPr id="7" name="Shape 5"/>
          <p:cNvSpPr/>
          <p:nvPr/>
        </p:nvSpPr>
        <p:spPr>
          <a:xfrm>
            <a:off x="9326880" y="1188720"/>
            <a:ext cx="2651760" cy="2651760"/>
          </a:xfrm>
          <a:prstGeom prst="ellipse">
            <a:avLst/>
          </a:prstGeom>
          <a:solidFill>
            <a:schemeClr val="accent1">
              <a:alpha val="75000"/>
            </a:schemeClr>
          </a:solidFill>
          <a:ln/>
        </p:spPr>
      </p:sp>
      <p:sp>
        <p:nvSpPr>
          <p:cNvPr id="8" name="Shape 6"/>
          <p:cNvSpPr/>
          <p:nvPr/>
        </p:nvSpPr>
        <p:spPr>
          <a:xfrm>
            <a:off x="10241280" y="3108960"/>
            <a:ext cx="1554480" cy="1554480"/>
          </a:xfrm>
          <a:prstGeom prst="ellipse">
            <a:avLst/>
          </a:prstGeom>
          <a:solidFill>
            <a:schemeClr val="bg1">
              <a:alpha val="15000"/>
            </a:schemeClr>
          </a:solidFill>
          <a:ln/>
        </p:spPr>
      </p:sp>
      <p:pic>
        <p:nvPicPr>
          <p:cNvPr id="9" name="Image 0" descr="preencoded.png">    </p:cNvPr>
          <p:cNvPicPr>
            <a:picLocks noChangeAspect="1"/>
          </p:cNvPicPr>
          <p:nvPr/>
        </p:nvPicPr>
        <p:blipFill>
          <a:blip r:embed="rId1"/>
          <a:stretch>
            <a:fillRect/>
          </a:stretch>
        </p:blipFill>
        <p:spPr>
          <a:xfrm>
            <a:off x="10012680" y="18745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EXECUTIVE SUMMARY</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MONIT gives KTPH, Woodlands Health and TTSH one proven, fully supported smart diaper system, delivered under clear commitments</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ALPS RFP KTPH-RFP-26-165-MJ; MONIT Master Agreement submission (Schedules 2 and 3).</a:t>
            </a:r>
            <a:endParaRPr lang="en-US" sz="900" dirty="0"/>
          </a:p>
        </p:txBody>
      </p:sp>
      <p:sp>
        <p:nvSpPr>
          <p:cNvPr id="6" name="Shape 3"/>
          <p:cNvSpPr/>
          <p:nvPr/>
        </p:nvSpPr>
        <p:spPr>
          <a:xfrm>
            <a:off x="548640" y="1691640"/>
            <a:ext cx="548640" cy="548640"/>
          </a:xfrm>
          <a:prstGeom prst="ellipse">
            <a:avLst/>
          </a:prstGeom>
          <a:solidFill>
            <a:schemeClr val="tx2"/>
          </a:solidFill>
          <a:ln/>
        </p:spPr>
      </p:sp>
      <p:sp>
        <p:nvSpPr>
          <p:cNvPr id="7" name="Text 4"/>
          <p:cNvSpPr txBox="1"/>
          <p:nvPr/>
        </p:nvSpPr>
        <p:spPr>
          <a:xfrm>
            <a:off x="548640" y="16916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8" name="Text 5"/>
          <p:cNvSpPr txBox="1"/>
          <p:nvPr/>
        </p:nvSpPr>
        <p:spPr>
          <a:xfrm>
            <a:off x="1371600" y="1691640"/>
            <a:ext cx="3108960" cy="548640"/>
          </a:xfrm>
          <a:prstGeom prst="rect">
            <a:avLst/>
          </a:prstGeom>
          <a:noFill/>
          <a:ln/>
        </p:spPr>
        <p:txBody>
          <a:bodyPr wrap="square" lIns="0" tIns="0" rIns="0" bIns="0" rtlCol="0" anchor="ctr"/>
          <a:lstStyle/>
          <a:p>
            <a:pPr indent="0" marL="0">
              <a:buNone/>
            </a:pPr>
            <a:r>
              <a:rPr lang="en-US" sz="1500" b="1" dirty="0">
                <a:solidFill>
                  <a:schemeClr val="tx2"/>
                </a:solidFill>
              </a:rPr>
              <a:t>A complete system, one accountable vendor</a:t>
            </a:r>
            <a:endParaRPr lang="en-US" sz="1500" dirty="0"/>
          </a:p>
        </p:txBody>
      </p:sp>
      <p:sp>
        <p:nvSpPr>
          <p:cNvPr id="9" name="Text 6"/>
          <p:cNvSpPr txBox="1"/>
          <p:nvPr/>
        </p:nvSpPr>
        <p:spPr>
          <a:xfrm>
            <a:off x="4572000" y="1691640"/>
            <a:ext cx="7040880" cy="548640"/>
          </a:xfrm>
          <a:prstGeom prst="rect">
            <a:avLst/>
          </a:prstGeom>
          <a:noFill/>
          <a:ln/>
        </p:spPr>
        <p:txBody>
          <a:bodyPr wrap="square" lIns="0" tIns="0" rIns="0" bIns="0" rtlCol="0" anchor="ctr"/>
          <a:lstStyle/>
          <a:p>
            <a:pPr indent="0" marL="0">
              <a:buNone/>
            </a:pPr>
            <a:r>
              <a:rPr lang="en-US" sz="1300" dirty="0">
                <a:solidFill>
                  <a:schemeClr val="tx1"/>
                </a:solidFill>
              </a:rPr>
              <a:t>Sensor, relay, cloud server, web dashboard and iOS/Android app — supplied, installed and commissioned by MONIT.</a:t>
            </a:r>
            <a:endParaRPr lang="en-US" sz="1300" dirty="0"/>
          </a:p>
        </p:txBody>
      </p:sp>
      <p:sp>
        <p:nvSpPr>
          <p:cNvPr id="10" name="Shape 7"/>
          <p:cNvSpPr/>
          <p:nvPr/>
        </p:nvSpPr>
        <p:spPr>
          <a:xfrm>
            <a:off x="548640" y="2441448"/>
            <a:ext cx="11091672" cy="0"/>
          </a:xfrm>
          <a:prstGeom prst="line">
            <a:avLst/>
          </a:prstGeom>
          <a:noFill/>
          <a:ln w="9525">
            <a:solidFill>
              <a:srgbClr val="D5DCE6"/>
            </a:solidFill>
            <a:prstDash val="solid"/>
          </a:ln>
        </p:spPr>
      </p:sp>
      <p:sp>
        <p:nvSpPr>
          <p:cNvPr id="11" name="Shape 8"/>
          <p:cNvSpPr/>
          <p:nvPr/>
        </p:nvSpPr>
        <p:spPr>
          <a:xfrm>
            <a:off x="548640" y="2578608"/>
            <a:ext cx="548640" cy="548640"/>
          </a:xfrm>
          <a:prstGeom prst="ellipse">
            <a:avLst/>
          </a:prstGeom>
          <a:solidFill>
            <a:schemeClr val="tx2"/>
          </a:solidFill>
          <a:ln/>
        </p:spPr>
      </p:sp>
      <p:sp>
        <p:nvSpPr>
          <p:cNvPr id="12" name="Text 9"/>
          <p:cNvSpPr txBox="1"/>
          <p:nvPr/>
        </p:nvSpPr>
        <p:spPr>
          <a:xfrm>
            <a:off x="548640" y="257860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2</a:t>
            </a:r>
            <a:endParaRPr lang="en-US" sz="1800" dirty="0"/>
          </a:p>
        </p:txBody>
      </p:sp>
      <p:sp>
        <p:nvSpPr>
          <p:cNvPr id="13" name="Text 10"/>
          <p:cNvSpPr txBox="1"/>
          <p:nvPr/>
        </p:nvSpPr>
        <p:spPr>
          <a:xfrm>
            <a:off x="1371600" y="2578608"/>
            <a:ext cx="3108960" cy="548640"/>
          </a:xfrm>
          <a:prstGeom prst="rect">
            <a:avLst/>
          </a:prstGeom>
          <a:noFill/>
          <a:ln/>
        </p:spPr>
        <p:txBody>
          <a:bodyPr wrap="square" lIns="0" tIns="0" rIns="0" bIns="0" rtlCol="0" anchor="ctr"/>
          <a:lstStyle/>
          <a:p>
            <a:pPr indent="0" marL="0">
              <a:buNone/>
            </a:pPr>
            <a:r>
              <a:rPr lang="en-US" sz="1500" b="1" dirty="0">
                <a:solidFill>
                  <a:schemeClr val="tx2"/>
                </a:solidFill>
              </a:rPr>
              <a:t>Built for the hospital network</a:t>
            </a:r>
            <a:endParaRPr lang="en-US" sz="1500" dirty="0"/>
          </a:p>
        </p:txBody>
      </p:sp>
      <p:sp>
        <p:nvSpPr>
          <p:cNvPr id="14" name="Text 11"/>
          <p:cNvSpPr txBox="1"/>
          <p:nvPr/>
        </p:nvSpPr>
        <p:spPr>
          <a:xfrm>
            <a:off x="4572000" y="2578608"/>
            <a:ext cx="7040880" cy="548640"/>
          </a:xfrm>
          <a:prstGeom prst="rect">
            <a:avLst/>
          </a:prstGeom>
          <a:noFill/>
          <a:ln/>
        </p:spPr>
        <p:txBody>
          <a:bodyPr wrap="square" lIns="0" tIns="0" rIns="0" bIns="0" rtlCol="0" anchor="ctr"/>
          <a:lstStyle/>
          <a:p>
            <a:pPr indent="0" marL="0">
              <a:buNone/>
            </a:pPr>
            <a:r>
              <a:rPr lang="en-US" sz="1300" dirty="0">
                <a:solidFill>
                  <a:schemeClr val="tx1"/>
                </a:solidFill>
              </a:rPr>
              <a:t>Relay joins existing Wi-Fi; the password is entered once by hospital IT and is never held by MONIT.</a:t>
            </a:r>
            <a:endParaRPr lang="en-US" sz="1300" dirty="0"/>
          </a:p>
        </p:txBody>
      </p:sp>
      <p:sp>
        <p:nvSpPr>
          <p:cNvPr id="15" name="Shape 12"/>
          <p:cNvSpPr/>
          <p:nvPr/>
        </p:nvSpPr>
        <p:spPr>
          <a:xfrm>
            <a:off x="548640" y="3328416"/>
            <a:ext cx="11091672" cy="0"/>
          </a:xfrm>
          <a:prstGeom prst="line">
            <a:avLst/>
          </a:prstGeom>
          <a:noFill/>
          <a:ln w="9525">
            <a:solidFill>
              <a:srgbClr val="D5DCE6"/>
            </a:solidFill>
            <a:prstDash val="solid"/>
          </a:ln>
        </p:spPr>
      </p:sp>
      <p:sp>
        <p:nvSpPr>
          <p:cNvPr id="16" name="Shape 13"/>
          <p:cNvSpPr/>
          <p:nvPr/>
        </p:nvSpPr>
        <p:spPr>
          <a:xfrm>
            <a:off x="548640" y="3465576"/>
            <a:ext cx="548640" cy="548640"/>
          </a:xfrm>
          <a:prstGeom prst="ellipse">
            <a:avLst/>
          </a:prstGeom>
          <a:solidFill>
            <a:schemeClr val="tx2"/>
          </a:solidFill>
          <a:ln/>
        </p:spPr>
      </p:sp>
      <p:sp>
        <p:nvSpPr>
          <p:cNvPr id="17" name="Text 14"/>
          <p:cNvSpPr txBox="1"/>
          <p:nvPr/>
        </p:nvSpPr>
        <p:spPr>
          <a:xfrm>
            <a:off x="548640" y="346557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18" name="Text 15"/>
          <p:cNvSpPr txBox="1"/>
          <p:nvPr/>
        </p:nvSpPr>
        <p:spPr>
          <a:xfrm>
            <a:off x="1371600" y="3465576"/>
            <a:ext cx="3108960" cy="548640"/>
          </a:xfrm>
          <a:prstGeom prst="rect">
            <a:avLst/>
          </a:prstGeom>
          <a:noFill/>
          <a:ln/>
        </p:spPr>
        <p:txBody>
          <a:bodyPr wrap="square" lIns="0" tIns="0" rIns="0" bIns="0" rtlCol="0" anchor="ctr"/>
          <a:lstStyle/>
          <a:p>
            <a:pPr indent="0" marL="0">
              <a:buNone/>
            </a:pPr>
            <a:r>
              <a:rPr lang="en-US" sz="1500" b="1" dirty="0">
                <a:solidFill>
                  <a:schemeClr val="tx2"/>
                </a:solidFill>
              </a:rPr>
              <a:t>Sized from your floor plans</a:t>
            </a:r>
            <a:endParaRPr lang="en-US" sz="1500" dirty="0"/>
          </a:p>
        </p:txBody>
      </p:sp>
      <p:sp>
        <p:nvSpPr>
          <p:cNvPr id="19" name="Text 16"/>
          <p:cNvSpPr txBox="1"/>
          <p:nvPr/>
        </p:nvSpPr>
        <p:spPr>
          <a:xfrm>
            <a:off x="4572000" y="3465576"/>
            <a:ext cx="7040880" cy="548640"/>
          </a:xfrm>
          <a:prstGeom prst="rect">
            <a:avLst/>
          </a:prstGeom>
          <a:noFill/>
          <a:ln/>
        </p:spPr>
        <p:txBody>
          <a:bodyPr wrap="square" lIns="0" tIns="0" rIns="0" bIns="0" rtlCol="0" anchor="ctr"/>
          <a:lstStyle/>
          <a:p>
            <a:pPr indent="0" marL="0">
              <a:buNone/>
            </a:pPr>
            <a:r>
              <a:rPr lang="en-US" sz="1300" dirty="0">
                <a:solidFill>
                  <a:schemeClr val="tx1"/>
                </a:solidFill>
              </a:rPr>
              <a:t>Relay quantity set ward by ward from the three hospital layouts and verified by a Wi-Fi/RF survey before ordering.</a:t>
            </a:r>
            <a:endParaRPr lang="en-US" sz="1300" dirty="0"/>
          </a:p>
        </p:txBody>
      </p:sp>
      <p:sp>
        <p:nvSpPr>
          <p:cNvPr id="20" name="Shape 17"/>
          <p:cNvSpPr/>
          <p:nvPr/>
        </p:nvSpPr>
        <p:spPr>
          <a:xfrm>
            <a:off x="548640" y="4215384"/>
            <a:ext cx="11091672" cy="0"/>
          </a:xfrm>
          <a:prstGeom prst="line">
            <a:avLst/>
          </a:prstGeom>
          <a:noFill/>
          <a:ln w="9525">
            <a:solidFill>
              <a:srgbClr val="D5DCE6"/>
            </a:solidFill>
            <a:prstDash val="solid"/>
          </a:ln>
        </p:spPr>
      </p:sp>
      <p:sp>
        <p:nvSpPr>
          <p:cNvPr id="21" name="Shape 18"/>
          <p:cNvSpPr/>
          <p:nvPr/>
        </p:nvSpPr>
        <p:spPr>
          <a:xfrm>
            <a:off x="548640" y="4352544"/>
            <a:ext cx="548640" cy="548640"/>
          </a:xfrm>
          <a:prstGeom prst="ellipse">
            <a:avLst/>
          </a:prstGeom>
          <a:solidFill>
            <a:schemeClr val="tx2"/>
          </a:solidFill>
          <a:ln/>
        </p:spPr>
      </p:sp>
      <p:sp>
        <p:nvSpPr>
          <p:cNvPr id="22" name="Text 19"/>
          <p:cNvSpPr txBox="1"/>
          <p:nvPr/>
        </p:nvSpPr>
        <p:spPr>
          <a:xfrm>
            <a:off x="548640" y="4352544"/>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4</a:t>
            </a:r>
            <a:endParaRPr lang="en-US" sz="1800" dirty="0"/>
          </a:p>
        </p:txBody>
      </p:sp>
      <p:sp>
        <p:nvSpPr>
          <p:cNvPr id="23" name="Text 20"/>
          <p:cNvSpPr txBox="1"/>
          <p:nvPr/>
        </p:nvSpPr>
        <p:spPr>
          <a:xfrm>
            <a:off x="1371600" y="4352544"/>
            <a:ext cx="3108960" cy="548640"/>
          </a:xfrm>
          <a:prstGeom prst="rect">
            <a:avLst/>
          </a:prstGeom>
          <a:noFill/>
          <a:ln/>
        </p:spPr>
        <p:txBody>
          <a:bodyPr wrap="square" lIns="0" tIns="0" rIns="0" bIns="0" rtlCol="0" anchor="ctr"/>
          <a:lstStyle/>
          <a:p>
            <a:pPr indent="0" marL="0">
              <a:buNone/>
            </a:pPr>
            <a:r>
              <a:rPr lang="en-US" sz="1500" b="1" dirty="0">
                <a:solidFill>
                  <a:schemeClr val="tx2"/>
                </a:solidFill>
              </a:rPr>
              <a:t>Compliant and certified</a:t>
            </a:r>
            <a:endParaRPr lang="en-US" sz="1500" dirty="0"/>
          </a:p>
        </p:txBody>
      </p:sp>
      <p:sp>
        <p:nvSpPr>
          <p:cNvPr id="24" name="Text 21"/>
          <p:cNvSpPr txBox="1"/>
          <p:nvPr/>
        </p:nvSpPr>
        <p:spPr>
          <a:xfrm>
            <a:off x="4572000" y="4352544"/>
            <a:ext cx="7040880" cy="548640"/>
          </a:xfrm>
          <a:prstGeom prst="rect">
            <a:avLst/>
          </a:prstGeom>
          <a:noFill/>
          <a:ln/>
        </p:spPr>
        <p:txBody>
          <a:bodyPr wrap="square" lIns="0" tIns="0" rIns="0" bIns="0" rtlCol="0" anchor="ctr"/>
          <a:lstStyle/>
          <a:p>
            <a:pPr indent="0" marL="0">
              <a:buNone/>
            </a:pPr>
            <a:r>
              <a:rPr lang="en-US" sz="1300" dirty="0">
                <a:solidFill>
                  <a:schemeClr val="tx1"/>
                </a:solidFill>
              </a:rPr>
              <a:t>CE, IMDA and KC listed in the contract; ISO 27001/27017/27018 certification underway; PDPA terms accepted.</a:t>
            </a:r>
            <a:endParaRPr lang="en-US" sz="1300" dirty="0"/>
          </a:p>
        </p:txBody>
      </p:sp>
      <p:sp>
        <p:nvSpPr>
          <p:cNvPr id="25" name="Shape 22"/>
          <p:cNvSpPr/>
          <p:nvPr/>
        </p:nvSpPr>
        <p:spPr>
          <a:xfrm>
            <a:off x="548640" y="5102352"/>
            <a:ext cx="11091672" cy="0"/>
          </a:xfrm>
          <a:prstGeom prst="line">
            <a:avLst/>
          </a:prstGeom>
          <a:noFill/>
          <a:ln w="9525">
            <a:solidFill>
              <a:srgbClr val="D5DCE6"/>
            </a:solidFill>
            <a:prstDash val="solid"/>
          </a:ln>
        </p:spPr>
      </p:sp>
      <p:sp>
        <p:nvSpPr>
          <p:cNvPr id="26" name="Shape 23"/>
          <p:cNvSpPr/>
          <p:nvPr/>
        </p:nvSpPr>
        <p:spPr>
          <a:xfrm>
            <a:off x="548640" y="5239512"/>
            <a:ext cx="548640" cy="548640"/>
          </a:xfrm>
          <a:prstGeom prst="ellipse">
            <a:avLst/>
          </a:prstGeom>
          <a:solidFill>
            <a:schemeClr val="tx2"/>
          </a:solidFill>
          <a:ln/>
        </p:spPr>
      </p:sp>
      <p:sp>
        <p:nvSpPr>
          <p:cNvPr id="27" name="Text 24"/>
          <p:cNvSpPr txBox="1"/>
          <p:nvPr/>
        </p:nvSpPr>
        <p:spPr>
          <a:xfrm>
            <a:off x="548640" y="523951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5</a:t>
            </a:r>
            <a:endParaRPr lang="en-US" sz="1800" dirty="0"/>
          </a:p>
        </p:txBody>
      </p:sp>
      <p:sp>
        <p:nvSpPr>
          <p:cNvPr id="28" name="Text 25"/>
          <p:cNvSpPr txBox="1"/>
          <p:nvPr/>
        </p:nvSpPr>
        <p:spPr>
          <a:xfrm>
            <a:off x="1371600" y="5239512"/>
            <a:ext cx="3108960" cy="548640"/>
          </a:xfrm>
          <a:prstGeom prst="rect">
            <a:avLst/>
          </a:prstGeom>
          <a:noFill/>
          <a:ln/>
        </p:spPr>
        <p:txBody>
          <a:bodyPr wrap="square" lIns="0" tIns="0" rIns="0" bIns="0" rtlCol="0" anchor="ctr"/>
          <a:lstStyle/>
          <a:p>
            <a:pPr indent="0" marL="0">
              <a:buNone/>
            </a:pPr>
            <a:r>
              <a:rPr lang="en-US" sz="1500" b="1" dirty="0">
                <a:solidFill>
                  <a:schemeClr val="tx2"/>
                </a:solidFill>
              </a:rPr>
              <a:t>Supported after go-live</a:t>
            </a:r>
            <a:endParaRPr lang="en-US" sz="1500" dirty="0"/>
          </a:p>
        </p:txBody>
      </p:sp>
      <p:sp>
        <p:nvSpPr>
          <p:cNvPr id="29" name="Text 26"/>
          <p:cNvSpPr txBox="1"/>
          <p:nvPr/>
        </p:nvSpPr>
        <p:spPr>
          <a:xfrm>
            <a:off x="4572000" y="5239512"/>
            <a:ext cx="7040880" cy="548640"/>
          </a:xfrm>
          <a:prstGeom prst="rect">
            <a:avLst/>
          </a:prstGeom>
          <a:noFill/>
          <a:ln/>
        </p:spPr>
        <p:txBody>
          <a:bodyPr wrap="square" lIns="0" tIns="0" rIns="0" bIns="0" rtlCol="0" anchor="ctr"/>
          <a:lstStyle/>
          <a:p>
            <a:pPr indent="0" marL="0">
              <a:buNone/>
            </a:pPr>
            <a:r>
              <a:rPr lang="en-US" sz="1300" dirty="0">
                <a:solidFill>
                  <a:schemeClr val="tx1"/>
                </a:solidFill>
              </a:rPr>
              <a:t>Named engineers, 24-hour hotline, 99% platform uptime commitment, 7-year spare-parts commitment.</a:t>
            </a:r>
            <a:endParaRPr lang="en-US" sz="13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EXECUTIVE SUMMARY</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One system, three public hospitals: firm pricing, mandatory relay sizing and a vendor presentation</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RFP Consent Form; Section 1 – Conditions of RFP (clauses 5, 8, 10, 13, 20). Dates as stated in the RFP documents.</a:t>
            </a:r>
            <a:endParaRPr lang="en-US" sz="900" dirty="0"/>
          </a:p>
        </p:txBody>
      </p:sp>
      <p:sp>
        <p:nvSpPr>
          <p:cNvPr id="6" name="Text 3"/>
          <p:cNvSpPr txBox="1"/>
          <p:nvPr/>
        </p:nvSpPr>
        <p:spPr>
          <a:xfrm>
            <a:off x="548640" y="1645920"/>
            <a:ext cx="5029200" cy="320040"/>
          </a:xfrm>
          <a:prstGeom prst="rect">
            <a:avLst/>
          </a:prstGeom>
          <a:noFill/>
          <a:ln/>
        </p:spPr>
        <p:txBody>
          <a:bodyPr wrap="square" lIns="0" tIns="0" rIns="0" bIns="0" rtlCol="0" anchor="t"/>
          <a:lstStyle/>
          <a:p>
            <a:pPr indent="0" marL="0">
              <a:buNone/>
            </a:pPr>
            <a:r>
              <a:rPr lang="en-US" sz="1500" b="1" dirty="0">
                <a:solidFill>
                  <a:schemeClr val="tx2"/>
                </a:solidFill>
              </a:rPr>
              <a:t>Key RFP milestones</a:t>
            </a:r>
            <a:endParaRPr lang="en-US" sz="1500" dirty="0"/>
          </a:p>
        </p:txBody>
      </p:sp>
      <p:sp>
        <p:nvSpPr>
          <p:cNvPr id="7" name="Shape 4"/>
          <p:cNvSpPr/>
          <p:nvPr/>
        </p:nvSpPr>
        <p:spPr>
          <a:xfrm>
            <a:off x="594360" y="2176272"/>
            <a:ext cx="182880" cy="182880"/>
          </a:xfrm>
          <a:prstGeom prst="ellipse">
            <a:avLst/>
          </a:prstGeom>
          <a:solidFill>
            <a:schemeClr val="accent1"/>
          </a:solidFill>
          <a:ln/>
        </p:spPr>
      </p:sp>
      <p:sp>
        <p:nvSpPr>
          <p:cNvPr id="8" name="Text 5"/>
          <p:cNvSpPr txBox="1"/>
          <p:nvPr/>
        </p:nvSpPr>
        <p:spPr>
          <a:xfrm>
            <a:off x="960120" y="2103120"/>
            <a:ext cx="1554480" cy="365760"/>
          </a:xfrm>
          <a:prstGeom prst="rect">
            <a:avLst/>
          </a:prstGeom>
          <a:noFill/>
          <a:ln/>
        </p:spPr>
        <p:txBody>
          <a:bodyPr wrap="square" lIns="0" tIns="0" rIns="0" bIns="0" rtlCol="0" anchor="ctr"/>
          <a:lstStyle/>
          <a:p>
            <a:pPr indent="0" marL="0">
              <a:buNone/>
            </a:pPr>
            <a:r>
              <a:rPr lang="en-US" sz="1300" b="1" dirty="0">
                <a:solidFill>
                  <a:schemeClr val="tx2"/>
                </a:solidFill>
              </a:rPr>
              <a:t>25 Aug 2026</a:t>
            </a:r>
            <a:endParaRPr lang="en-US" sz="1300" dirty="0"/>
          </a:p>
        </p:txBody>
      </p:sp>
      <p:sp>
        <p:nvSpPr>
          <p:cNvPr id="9" name="Text 6"/>
          <p:cNvSpPr txBox="1"/>
          <p:nvPr/>
        </p:nvSpPr>
        <p:spPr>
          <a:xfrm>
            <a:off x="2560320" y="2103120"/>
            <a:ext cx="3108960" cy="365760"/>
          </a:xfrm>
          <a:prstGeom prst="rect">
            <a:avLst/>
          </a:prstGeom>
          <a:noFill/>
          <a:ln/>
        </p:spPr>
        <p:txBody>
          <a:bodyPr wrap="square" lIns="0" tIns="0" rIns="0" bIns="0" rtlCol="0" anchor="ctr"/>
          <a:lstStyle/>
          <a:p>
            <a:pPr indent="0" marL="0">
              <a:buNone/>
            </a:pPr>
            <a:r>
              <a:rPr lang="en-US" sz="1200" dirty="0">
                <a:solidFill>
                  <a:schemeClr val="tx1"/>
                </a:solidFill>
              </a:rPr>
              <a:t>RFP documents available on Ariba</a:t>
            </a:r>
            <a:endParaRPr lang="en-US" sz="1200" dirty="0"/>
          </a:p>
        </p:txBody>
      </p:sp>
      <p:sp>
        <p:nvSpPr>
          <p:cNvPr id="10" name="Shape 7"/>
          <p:cNvSpPr/>
          <p:nvPr/>
        </p:nvSpPr>
        <p:spPr>
          <a:xfrm>
            <a:off x="594360" y="2724912"/>
            <a:ext cx="182880" cy="182880"/>
          </a:xfrm>
          <a:prstGeom prst="ellipse">
            <a:avLst/>
          </a:prstGeom>
          <a:solidFill>
            <a:schemeClr val="accent1"/>
          </a:solidFill>
          <a:ln/>
        </p:spPr>
      </p:sp>
      <p:sp>
        <p:nvSpPr>
          <p:cNvPr id="11" name="Text 8"/>
          <p:cNvSpPr txBox="1"/>
          <p:nvPr/>
        </p:nvSpPr>
        <p:spPr>
          <a:xfrm>
            <a:off x="960120" y="2651760"/>
            <a:ext cx="1554480" cy="365760"/>
          </a:xfrm>
          <a:prstGeom prst="rect">
            <a:avLst/>
          </a:prstGeom>
          <a:noFill/>
          <a:ln/>
        </p:spPr>
        <p:txBody>
          <a:bodyPr wrap="square" lIns="0" tIns="0" rIns="0" bIns="0" rtlCol="0" anchor="ctr"/>
          <a:lstStyle/>
          <a:p>
            <a:pPr indent="0" marL="0">
              <a:buNone/>
            </a:pPr>
            <a:r>
              <a:rPr lang="en-US" sz="1300" b="1" dirty="0">
                <a:solidFill>
                  <a:schemeClr val="tx2"/>
                </a:solidFill>
              </a:rPr>
              <a:t>31 Aug – 2 Sep</a:t>
            </a:r>
            <a:endParaRPr lang="en-US" sz="1300" dirty="0"/>
          </a:p>
        </p:txBody>
      </p:sp>
      <p:sp>
        <p:nvSpPr>
          <p:cNvPr id="12" name="Text 9"/>
          <p:cNvSpPr txBox="1"/>
          <p:nvPr/>
        </p:nvSpPr>
        <p:spPr>
          <a:xfrm>
            <a:off x="2560320" y="2651760"/>
            <a:ext cx="3108960" cy="365760"/>
          </a:xfrm>
          <a:prstGeom prst="rect">
            <a:avLst/>
          </a:prstGeom>
          <a:noFill/>
          <a:ln/>
        </p:spPr>
        <p:txBody>
          <a:bodyPr wrap="square" lIns="0" tIns="0" rIns="0" bIns="0" rtlCol="0" anchor="ctr"/>
          <a:lstStyle/>
          <a:p>
            <a:pPr indent="0" marL="0">
              <a:buNone/>
            </a:pPr>
            <a:r>
              <a:rPr lang="en-US" sz="1200" dirty="0">
                <a:solidFill>
                  <a:schemeClr val="tx1"/>
                </a:solidFill>
              </a:rPr>
              <a:t>Compulsory site briefings: KTPH → Woodlands Health → TTSH</a:t>
            </a:r>
            <a:endParaRPr lang="en-US" sz="1200" dirty="0"/>
          </a:p>
        </p:txBody>
      </p:sp>
      <p:sp>
        <p:nvSpPr>
          <p:cNvPr id="13" name="Shape 10"/>
          <p:cNvSpPr/>
          <p:nvPr/>
        </p:nvSpPr>
        <p:spPr>
          <a:xfrm>
            <a:off x="594360" y="3273552"/>
            <a:ext cx="182880" cy="182880"/>
          </a:xfrm>
          <a:prstGeom prst="ellipse">
            <a:avLst/>
          </a:prstGeom>
          <a:solidFill>
            <a:schemeClr val="accent1"/>
          </a:solidFill>
          <a:ln/>
        </p:spPr>
      </p:sp>
      <p:sp>
        <p:nvSpPr>
          <p:cNvPr id="14" name="Text 11"/>
          <p:cNvSpPr txBox="1"/>
          <p:nvPr/>
        </p:nvSpPr>
        <p:spPr>
          <a:xfrm>
            <a:off x="960120" y="3200400"/>
            <a:ext cx="1554480" cy="365760"/>
          </a:xfrm>
          <a:prstGeom prst="rect">
            <a:avLst/>
          </a:prstGeom>
          <a:noFill/>
          <a:ln/>
        </p:spPr>
        <p:txBody>
          <a:bodyPr wrap="square" lIns="0" tIns="0" rIns="0" bIns="0" rtlCol="0" anchor="ctr"/>
          <a:lstStyle/>
          <a:p>
            <a:pPr indent="0" marL="0">
              <a:buNone/>
            </a:pPr>
            <a:r>
              <a:rPr lang="en-US" sz="1300" b="1" dirty="0">
                <a:solidFill>
                  <a:schemeClr val="tx2"/>
                </a:solidFill>
              </a:rPr>
              <a:t>11 Sep, 12:00</a:t>
            </a:r>
            <a:endParaRPr lang="en-US" sz="1300" dirty="0"/>
          </a:p>
        </p:txBody>
      </p:sp>
      <p:sp>
        <p:nvSpPr>
          <p:cNvPr id="15" name="Text 12"/>
          <p:cNvSpPr txBox="1"/>
          <p:nvPr/>
        </p:nvSpPr>
        <p:spPr>
          <a:xfrm>
            <a:off x="2560320" y="3200400"/>
            <a:ext cx="3108960" cy="365760"/>
          </a:xfrm>
          <a:prstGeom prst="rect">
            <a:avLst/>
          </a:prstGeom>
          <a:noFill/>
          <a:ln/>
        </p:spPr>
        <p:txBody>
          <a:bodyPr wrap="square" lIns="0" tIns="0" rIns="0" bIns="0" rtlCol="0" anchor="ctr"/>
          <a:lstStyle/>
          <a:p>
            <a:pPr indent="0" marL="0">
              <a:buNone/>
            </a:pPr>
            <a:r>
              <a:rPr lang="en-US" sz="1200" dirty="0">
                <a:solidFill>
                  <a:schemeClr val="tx1"/>
                </a:solidFill>
              </a:rPr>
              <a:t>Written clarifications deadline (email to MMD)</a:t>
            </a:r>
            <a:endParaRPr lang="en-US" sz="1200" dirty="0"/>
          </a:p>
        </p:txBody>
      </p:sp>
      <p:sp>
        <p:nvSpPr>
          <p:cNvPr id="16" name="Shape 13"/>
          <p:cNvSpPr/>
          <p:nvPr/>
        </p:nvSpPr>
        <p:spPr>
          <a:xfrm>
            <a:off x="594360" y="3822192"/>
            <a:ext cx="182880" cy="182880"/>
          </a:xfrm>
          <a:prstGeom prst="ellipse">
            <a:avLst/>
          </a:prstGeom>
          <a:solidFill>
            <a:schemeClr val="accent1"/>
          </a:solidFill>
          <a:ln/>
        </p:spPr>
      </p:sp>
      <p:sp>
        <p:nvSpPr>
          <p:cNvPr id="17" name="Text 14"/>
          <p:cNvSpPr txBox="1"/>
          <p:nvPr/>
        </p:nvSpPr>
        <p:spPr>
          <a:xfrm>
            <a:off x="960120" y="3749040"/>
            <a:ext cx="1554480" cy="365760"/>
          </a:xfrm>
          <a:prstGeom prst="rect">
            <a:avLst/>
          </a:prstGeom>
          <a:noFill/>
          <a:ln/>
        </p:spPr>
        <p:txBody>
          <a:bodyPr wrap="square" lIns="0" tIns="0" rIns="0" bIns="0" rtlCol="0" anchor="ctr"/>
          <a:lstStyle/>
          <a:p>
            <a:pPr indent="0" marL="0">
              <a:buNone/>
            </a:pPr>
            <a:r>
              <a:rPr lang="en-US" sz="1300" b="1" dirty="0">
                <a:solidFill>
                  <a:schemeClr val="tx2"/>
                </a:solidFill>
              </a:rPr>
              <a:t>18 Sep, 15:00</a:t>
            </a:r>
            <a:endParaRPr lang="en-US" sz="1300" dirty="0"/>
          </a:p>
        </p:txBody>
      </p:sp>
      <p:sp>
        <p:nvSpPr>
          <p:cNvPr id="18" name="Text 15"/>
          <p:cNvSpPr txBox="1"/>
          <p:nvPr/>
        </p:nvSpPr>
        <p:spPr>
          <a:xfrm>
            <a:off x="2560320" y="3749040"/>
            <a:ext cx="3108960" cy="365760"/>
          </a:xfrm>
          <a:prstGeom prst="rect">
            <a:avLst/>
          </a:prstGeom>
          <a:noFill/>
          <a:ln/>
        </p:spPr>
        <p:txBody>
          <a:bodyPr wrap="square" lIns="0" tIns="0" rIns="0" bIns="0" rtlCol="0" anchor="ctr"/>
          <a:lstStyle/>
          <a:p>
            <a:pPr indent="0" marL="0">
              <a:buNone/>
            </a:pPr>
            <a:r>
              <a:rPr lang="en-US" sz="1200" dirty="0">
                <a:solidFill>
                  <a:schemeClr val="tx1"/>
                </a:solidFill>
              </a:rPr>
              <a:t>RFP closes on Ariba — late submissions blocked</a:t>
            </a:r>
            <a:endParaRPr lang="en-US" sz="1200" dirty="0"/>
          </a:p>
        </p:txBody>
      </p:sp>
      <p:sp>
        <p:nvSpPr>
          <p:cNvPr id="19" name="Shape 16"/>
          <p:cNvSpPr/>
          <p:nvPr/>
        </p:nvSpPr>
        <p:spPr>
          <a:xfrm>
            <a:off x="594360" y="4370832"/>
            <a:ext cx="182880" cy="182880"/>
          </a:xfrm>
          <a:prstGeom prst="ellipse">
            <a:avLst/>
          </a:prstGeom>
          <a:solidFill>
            <a:schemeClr val="accent1"/>
          </a:solidFill>
          <a:ln/>
        </p:spPr>
      </p:sp>
      <p:sp>
        <p:nvSpPr>
          <p:cNvPr id="20" name="Text 17"/>
          <p:cNvSpPr txBox="1"/>
          <p:nvPr/>
        </p:nvSpPr>
        <p:spPr>
          <a:xfrm>
            <a:off x="960120" y="4297680"/>
            <a:ext cx="1554480" cy="365760"/>
          </a:xfrm>
          <a:prstGeom prst="rect">
            <a:avLst/>
          </a:prstGeom>
          <a:noFill/>
          <a:ln/>
        </p:spPr>
        <p:txBody>
          <a:bodyPr wrap="square" lIns="0" tIns="0" rIns="0" bIns="0" rtlCol="0" anchor="ctr"/>
          <a:lstStyle/>
          <a:p>
            <a:pPr indent="0" marL="0">
              <a:buNone/>
            </a:pPr>
            <a:r>
              <a:rPr lang="en-US" sz="1300" b="1" dirty="0">
                <a:solidFill>
                  <a:schemeClr val="tx2"/>
                </a:solidFill>
              </a:rPr>
              <a:t>On request</a:t>
            </a:r>
            <a:endParaRPr lang="en-US" sz="1300" dirty="0"/>
          </a:p>
        </p:txBody>
      </p:sp>
      <p:sp>
        <p:nvSpPr>
          <p:cNvPr id="21" name="Text 18"/>
          <p:cNvSpPr txBox="1"/>
          <p:nvPr/>
        </p:nvSpPr>
        <p:spPr>
          <a:xfrm>
            <a:off x="2560320" y="4297680"/>
            <a:ext cx="3108960" cy="365760"/>
          </a:xfrm>
          <a:prstGeom prst="rect">
            <a:avLst/>
          </a:prstGeom>
          <a:noFill/>
          <a:ln/>
        </p:spPr>
        <p:txBody>
          <a:bodyPr wrap="square" lIns="0" tIns="0" rIns="0" bIns="0" rtlCol="0" anchor="ctr"/>
          <a:lstStyle/>
          <a:p>
            <a:pPr indent="0" marL="0">
              <a:buNone/>
            </a:pPr>
            <a:r>
              <a:rPr lang="en-US" sz="1200" dirty="0">
                <a:solidFill>
                  <a:schemeClr val="tx1"/>
                </a:solidFill>
              </a:rPr>
              <a:t>Vendor presentation and/or samples (clause 20)</a:t>
            </a:r>
            <a:endParaRPr lang="en-US" sz="1200" dirty="0"/>
          </a:p>
        </p:txBody>
      </p:sp>
      <p:sp>
        <p:nvSpPr>
          <p:cNvPr id="22" name="Shape 19"/>
          <p:cNvSpPr/>
          <p:nvPr/>
        </p:nvSpPr>
        <p:spPr>
          <a:xfrm>
            <a:off x="6035040" y="1691640"/>
            <a:ext cx="2697480" cy="1325880"/>
          </a:xfrm>
          <a:prstGeom prst="rect">
            <a:avLst/>
          </a:prstGeom>
          <a:solidFill>
            <a:schemeClr val="bg2"/>
          </a:solidFill>
          <a:ln/>
        </p:spPr>
      </p:sp>
      <p:sp>
        <p:nvSpPr>
          <p:cNvPr id="23" name="Text 20"/>
          <p:cNvSpPr txBox="1"/>
          <p:nvPr/>
        </p:nvSpPr>
        <p:spPr>
          <a:xfrm>
            <a:off x="6217920" y="1801368"/>
            <a:ext cx="228600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180</a:t>
            </a:r>
            <a:endParaRPr lang="en-US" sz="4000" dirty="0"/>
          </a:p>
        </p:txBody>
      </p:sp>
      <p:sp>
        <p:nvSpPr>
          <p:cNvPr id="24" name="Text 21"/>
          <p:cNvSpPr txBox="1"/>
          <p:nvPr/>
        </p:nvSpPr>
        <p:spPr>
          <a:xfrm>
            <a:off x="6217920" y="2496312"/>
            <a:ext cx="2331720" cy="457200"/>
          </a:xfrm>
          <a:prstGeom prst="rect">
            <a:avLst/>
          </a:prstGeom>
          <a:noFill/>
          <a:ln/>
        </p:spPr>
        <p:txBody>
          <a:bodyPr wrap="square" lIns="0" tIns="0" rIns="0" bIns="0" rtlCol="0" anchor="t"/>
          <a:lstStyle/>
          <a:p>
            <a:pPr indent="0" marL="0">
              <a:buNone/>
            </a:pPr>
            <a:r>
              <a:rPr lang="en-US" sz="1100" dirty="0">
                <a:solidFill>
                  <a:schemeClr val="accent4"/>
                </a:solidFill>
              </a:rPr>
              <a:t>days price validity from closing date</a:t>
            </a:r>
            <a:endParaRPr lang="en-US" sz="1100" dirty="0"/>
          </a:p>
        </p:txBody>
      </p:sp>
      <p:sp>
        <p:nvSpPr>
          <p:cNvPr id="25" name="Shape 22"/>
          <p:cNvSpPr/>
          <p:nvPr/>
        </p:nvSpPr>
        <p:spPr>
          <a:xfrm>
            <a:off x="8869680" y="1691640"/>
            <a:ext cx="2697480" cy="1325880"/>
          </a:xfrm>
          <a:prstGeom prst="rect">
            <a:avLst/>
          </a:prstGeom>
          <a:solidFill>
            <a:schemeClr val="bg2"/>
          </a:solidFill>
          <a:ln/>
        </p:spPr>
      </p:sp>
      <p:sp>
        <p:nvSpPr>
          <p:cNvPr id="26" name="Text 23"/>
          <p:cNvSpPr txBox="1"/>
          <p:nvPr/>
        </p:nvSpPr>
        <p:spPr>
          <a:xfrm>
            <a:off x="9052560" y="1801368"/>
            <a:ext cx="228600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10%</a:t>
            </a:r>
            <a:endParaRPr lang="en-US" sz="4000" dirty="0"/>
          </a:p>
        </p:txBody>
      </p:sp>
      <p:sp>
        <p:nvSpPr>
          <p:cNvPr id="27" name="Text 24"/>
          <p:cNvSpPr txBox="1"/>
          <p:nvPr/>
        </p:nvSpPr>
        <p:spPr>
          <a:xfrm>
            <a:off x="9052560" y="2496312"/>
            <a:ext cx="2331720" cy="457200"/>
          </a:xfrm>
          <a:prstGeom prst="rect">
            <a:avLst/>
          </a:prstGeom>
          <a:noFill/>
          <a:ln/>
        </p:spPr>
        <p:txBody>
          <a:bodyPr wrap="square" lIns="0" tIns="0" rIns="0" bIns="0" rtlCol="0" anchor="t"/>
          <a:lstStyle/>
          <a:p>
            <a:pPr indent="0" marL="0">
              <a:buNone/>
            </a:pPr>
            <a:r>
              <a:rPr lang="en-US" sz="1100" dirty="0">
                <a:solidFill>
                  <a:schemeClr val="accent4"/>
                </a:solidFill>
              </a:rPr>
              <a:t>security deposit within 14 days of acceptance</a:t>
            </a:r>
            <a:endParaRPr lang="en-US" sz="1100" dirty="0"/>
          </a:p>
        </p:txBody>
      </p:sp>
      <p:sp>
        <p:nvSpPr>
          <p:cNvPr id="28" name="Shape 25"/>
          <p:cNvSpPr/>
          <p:nvPr/>
        </p:nvSpPr>
        <p:spPr>
          <a:xfrm>
            <a:off x="6035040" y="3154680"/>
            <a:ext cx="2697480" cy="1325880"/>
          </a:xfrm>
          <a:prstGeom prst="rect">
            <a:avLst/>
          </a:prstGeom>
          <a:solidFill>
            <a:schemeClr val="bg2"/>
          </a:solidFill>
          <a:ln/>
        </p:spPr>
      </p:sp>
      <p:sp>
        <p:nvSpPr>
          <p:cNvPr id="29" name="Text 26"/>
          <p:cNvSpPr txBox="1"/>
          <p:nvPr/>
        </p:nvSpPr>
        <p:spPr>
          <a:xfrm>
            <a:off x="6217920" y="3264408"/>
            <a:ext cx="228600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28</a:t>
            </a:r>
            <a:endParaRPr lang="en-US" sz="4000" dirty="0"/>
          </a:p>
        </p:txBody>
      </p:sp>
      <p:sp>
        <p:nvSpPr>
          <p:cNvPr id="30" name="Text 27"/>
          <p:cNvSpPr txBox="1"/>
          <p:nvPr/>
        </p:nvSpPr>
        <p:spPr>
          <a:xfrm>
            <a:off x="6217920" y="3959352"/>
            <a:ext cx="2331720" cy="457200"/>
          </a:xfrm>
          <a:prstGeom prst="rect">
            <a:avLst/>
          </a:prstGeom>
          <a:noFill/>
          <a:ln/>
        </p:spPr>
        <p:txBody>
          <a:bodyPr wrap="square" lIns="0" tIns="0" rIns="0" bIns="0" rtlCol="0" anchor="t"/>
          <a:lstStyle/>
          <a:p>
            <a:pPr indent="0" marL="0">
              <a:buNone/>
            </a:pPr>
            <a:r>
              <a:rPr lang="en-US" sz="1100" dirty="0">
                <a:solidFill>
                  <a:schemeClr val="accent4"/>
                </a:solidFill>
              </a:rPr>
              <a:t>days minimum to mobilise resources</a:t>
            </a:r>
            <a:endParaRPr lang="en-US" sz="1100" dirty="0"/>
          </a:p>
        </p:txBody>
      </p:sp>
      <p:sp>
        <p:nvSpPr>
          <p:cNvPr id="31" name="Shape 28"/>
          <p:cNvSpPr/>
          <p:nvPr/>
        </p:nvSpPr>
        <p:spPr>
          <a:xfrm>
            <a:off x="8869680" y="3154680"/>
            <a:ext cx="2697480" cy="1325880"/>
          </a:xfrm>
          <a:prstGeom prst="rect">
            <a:avLst/>
          </a:prstGeom>
          <a:solidFill>
            <a:schemeClr val="bg2"/>
          </a:solidFill>
          <a:ln/>
        </p:spPr>
      </p:sp>
      <p:sp>
        <p:nvSpPr>
          <p:cNvPr id="32" name="Text 29"/>
          <p:cNvSpPr txBox="1"/>
          <p:nvPr/>
        </p:nvSpPr>
        <p:spPr>
          <a:xfrm>
            <a:off x="9052560" y="3264408"/>
            <a:ext cx="228600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60</a:t>
            </a:r>
            <a:endParaRPr lang="en-US" sz="4000" dirty="0"/>
          </a:p>
        </p:txBody>
      </p:sp>
      <p:sp>
        <p:nvSpPr>
          <p:cNvPr id="33" name="Text 30"/>
          <p:cNvSpPr txBox="1"/>
          <p:nvPr/>
        </p:nvSpPr>
        <p:spPr>
          <a:xfrm>
            <a:off x="9052560" y="3959352"/>
            <a:ext cx="2331720" cy="457200"/>
          </a:xfrm>
          <a:prstGeom prst="rect">
            <a:avLst/>
          </a:prstGeom>
          <a:noFill/>
          <a:ln/>
        </p:spPr>
        <p:txBody>
          <a:bodyPr wrap="square" lIns="0" tIns="0" rIns="0" bIns="0" rtlCol="0" anchor="t"/>
          <a:lstStyle/>
          <a:p>
            <a:pPr indent="0" marL="0">
              <a:buNone/>
            </a:pPr>
            <a:r>
              <a:rPr lang="en-US" sz="1100" dirty="0">
                <a:solidFill>
                  <a:schemeClr val="accent4"/>
                </a:solidFill>
              </a:rPr>
              <a:t>days payment term</a:t>
            </a:r>
            <a:endParaRPr lang="en-US" sz="1100" dirty="0"/>
          </a:p>
        </p:txBody>
      </p:sp>
      <p:sp>
        <p:nvSpPr>
          <p:cNvPr id="34" name="Text 31"/>
          <p:cNvSpPr txBox="1"/>
          <p:nvPr/>
        </p:nvSpPr>
        <p:spPr>
          <a:xfrm>
            <a:off x="6035040" y="4663440"/>
            <a:ext cx="5486400" cy="274320"/>
          </a:xfrm>
          <a:prstGeom prst="rect">
            <a:avLst/>
          </a:prstGeom>
          <a:noFill/>
          <a:ln/>
        </p:spPr>
        <p:txBody>
          <a:bodyPr wrap="square" lIns="0" tIns="0" rIns="0" bIns="0" rtlCol="0" anchor="t"/>
          <a:lstStyle/>
          <a:p>
            <a:pPr indent="0" marL="0">
              <a:buNone/>
            </a:pPr>
            <a:r>
              <a:rPr lang="en-US" sz="1400" b="1" dirty="0">
                <a:solidFill>
                  <a:schemeClr val="tx2"/>
                </a:solidFill>
              </a:rPr>
              <a:t>Three sites in scope</a:t>
            </a:r>
            <a:endParaRPr lang="en-US" sz="1400" dirty="0"/>
          </a:p>
        </p:txBody>
      </p:sp>
      <p:sp>
        <p:nvSpPr>
          <p:cNvPr id="35" name="Shape 32"/>
          <p:cNvSpPr/>
          <p:nvPr/>
        </p:nvSpPr>
        <p:spPr>
          <a:xfrm>
            <a:off x="6035040" y="5029200"/>
            <a:ext cx="1783080" cy="731520"/>
          </a:xfrm>
          <a:prstGeom prst="roundRect">
            <a:avLst>
              <a:gd name="adj" fmla="val 10000"/>
            </a:avLst>
          </a:prstGeom>
          <a:solidFill>
            <a:schemeClr val="tx2"/>
          </a:solidFill>
          <a:ln/>
        </p:spPr>
      </p:sp>
      <p:sp>
        <p:nvSpPr>
          <p:cNvPr id="36" name="Text 33"/>
          <p:cNvSpPr txBox="1"/>
          <p:nvPr/>
        </p:nvSpPr>
        <p:spPr>
          <a:xfrm>
            <a:off x="6126480" y="5029200"/>
            <a:ext cx="1600200" cy="731520"/>
          </a:xfrm>
          <a:prstGeom prst="rect">
            <a:avLst/>
          </a:prstGeom>
          <a:noFill/>
          <a:ln/>
        </p:spPr>
        <p:txBody>
          <a:bodyPr wrap="square" lIns="0" tIns="0" rIns="0" bIns="0" rtlCol="0" anchor="ctr"/>
          <a:lstStyle/>
          <a:p>
            <a:pPr algn="ctr" indent="0" marL="0">
              <a:buNone/>
            </a:pPr>
            <a:r>
              <a:rPr lang="en-US" sz="1200" b="1" dirty="0">
                <a:solidFill>
                  <a:schemeClr val="bg1"/>
                </a:solidFill>
              </a:rPr>
              <a:t>Khoo Teck Puat Hospital</a:t>
            </a:r>
            <a:endParaRPr lang="en-US" sz="1200" dirty="0"/>
          </a:p>
        </p:txBody>
      </p:sp>
      <p:sp>
        <p:nvSpPr>
          <p:cNvPr id="37" name="Shape 34"/>
          <p:cNvSpPr/>
          <p:nvPr/>
        </p:nvSpPr>
        <p:spPr>
          <a:xfrm>
            <a:off x="7927848" y="5029200"/>
            <a:ext cx="1783080" cy="731520"/>
          </a:xfrm>
          <a:prstGeom prst="roundRect">
            <a:avLst>
              <a:gd name="adj" fmla="val 10000"/>
            </a:avLst>
          </a:prstGeom>
          <a:solidFill>
            <a:schemeClr val="tx2"/>
          </a:solidFill>
          <a:ln/>
        </p:spPr>
      </p:sp>
      <p:sp>
        <p:nvSpPr>
          <p:cNvPr id="38" name="Text 35"/>
          <p:cNvSpPr txBox="1"/>
          <p:nvPr/>
        </p:nvSpPr>
        <p:spPr>
          <a:xfrm>
            <a:off x="8019288" y="5029200"/>
            <a:ext cx="1600200" cy="731520"/>
          </a:xfrm>
          <a:prstGeom prst="rect">
            <a:avLst/>
          </a:prstGeom>
          <a:noFill/>
          <a:ln/>
        </p:spPr>
        <p:txBody>
          <a:bodyPr wrap="square" lIns="0" tIns="0" rIns="0" bIns="0" rtlCol="0" anchor="ctr"/>
          <a:lstStyle/>
          <a:p>
            <a:pPr algn="ctr" indent="0" marL="0">
              <a:buNone/>
            </a:pPr>
            <a:r>
              <a:rPr lang="en-US" sz="1200" b="1" dirty="0">
                <a:solidFill>
                  <a:schemeClr val="bg1"/>
                </a:solidFill>
              </a:rPr>
              <a:t>Woodlands Health</a:t>
            </a:r>
            <a:endParaRPr lang="en-US" sz="1200" dirty="0"/>
          </a:p>
        </p:txBody>
      </p:sp>
      <p:sp>
        <p:nvSpPr>
          <p:cNvPr id="39" name="Shape 36"/>
          <p:cNvSpPr/>
          <p:nvPr/>
        </p:nvSpPr>
        <p:spPr>
          <a:xfrm>
            <a:off x="9820656" y="5029200"/>
            <a:ext cx="1783080" cy="731520"/>
          </a:xfrm>
          <a:prstGeom prst="roundRect">
            <a:avLst>
              <a:gd name="adj" fmla="val 10000"/>
            </a:avLst>
          </a:prstGeom>
          <a:solidFill>
            <a:schemeClr val="tx2"/>
          </a:solidFill>
          <a:ln/>
        </p:spPr>
      </p:sp>
      <p:sp>
        <p:nvSpPr>
          <p:cNvPr id="40" name="Text 37"/>
          <p:cNvSpPr txBox="1"/>
          <p:nvPr/>
        </p:nvSpPr>
        <p:spPr>
          <a:xfrm>
            <a:off x="9912096" y="5029200"/>
            <a:ext cx="1600200" cy="731520"/>
          </a:xfrm>
          <a:prstGeom prst="rect">
            <a:avLst/>
          </a:prstGeom>
          <a:noFill/>
          <a:ln/>
        </p:spPr>
        <p:txBody>
          <a:bodyPr wrap="square" lIns="0" tIns="0" rIns="0" bIns="0" rtlCol="0" anchor="ctr"/>
          <a:lstStyle/>
          <a:p>
            <a:pPr algn="ctr" indent="0" marL="0">
              <a:buNone/>
            </a:pPr>
            <a:r>
              <a:rPr lang="en-US" sz="1200" b="1" dirty="0">
                <a:solidFill>
                  <a:schemeClr val="bg1"/>
                </a:solidFill>
              </a:rPr>
              <a:t>Tan Tock Seng Hospital</a:t>
            </a:r>
            <a:endParaRPr lang="en-US" sz="1200" dirty="0"/>
          </a:p>
        </p:txBody>
      </p:sp>
      <p:sp>
        <p:nvSpPr>
          <p:cNvPr id="41" name="Text 38"/>
          <p:cNvSpPr txBox="1"/>
          <p:nvPr/>
        </p:nvSpPr>
        <p:spPr>
          <a:xfrm>
            <a:off x="548640" y="4983480"/>
            <a:ext cx="5120640" cy="274320"/>
          </a:xfrm>
          <a:prstGeom prst="rect">
            <a:avLst/>
          </a:prstGeom>
          <a:noFill/>
          <a:ln/>
        </p:spPr>
        <p:txBody>
          <a:bodyPr wrap="square" lIns="0" tIns="0" rIns="0" bIns="0" rtlCol="0" anchor="t"/>
          <a:lstStyle/>
          <a:p>
            <a:pPr indent="0" marL="0">
              <a:buNone/>
            </a:pPr>
            <a:r>
              <a:rPr lang="en-US" sz="1200" dirty="0">
                <a:solidFill>
                  <a:schemeClr val="accent4"/>
                </a:solidFill>
              </a:rPr>
              <a:t>SGD, ex-GST  •  HSA-registered devices  •  Fully integrated system</a:t>
            </a:r>
            <a:endParaRPr lang="en-US" sz="1200" dirty="0"/>
          </a:p>
        </p:txBody>
      </p:sp>
      <p:sp>
        <p:nvSpPr>
          <p:cNvPr id="42" name="Text 39"/>
          <p:cNvSpPr txBox="1"/>
          <p:nvPr/>
        </p:nvSpPr>
        <p:spPr>
          <a:xfrm>
            <a:off x="548640" y="5349240"/>
            <a:ext cx="5120640" cy="228600"/>
          </a:xfrm>
          <a:prstGeom prst="rect">
            <a:avLst/>
          </a:prstGeom>
          <a:noFill/>
          <a:ln/>
        </p:spPr>
        <p:txBody>
          <a:bodyPr wrap="square" lIns="0" tIns="0" rIns="0" bIns="0" rtlCol="0" anchor="t"/>
          <a:lstStyle/>
          <a:p>
            <a:pPr indent="0" marL="0">
              <a:buNone/>
            </a:pPr>
            <a:r>
              <a:rPr lang="en-US" sz="1000" b="1" dirty="0">
                <a:solidFill>
                  <a:schemeClr val="accent4"/>
                </a:solidFill>
              </a:rPr>
              <a:t>Reading guide (remove before issue)</a:t>
            </a:r>
            <a:endParaRPr lang="en-US" sz="1000" dirty="0"/>
          </a:p>
        </p:txBody>
      </p:sp>
      <p:sp>
        <p:nvSpPr>
          <p:cNvPr id="43" name="Shape 40"/>
          <p:cNvSpPr/>
          <p:nvPr/>
        </p:nvSpPr>
        <p:spPr>
          <a:xfrm>
            <a:off x="548640" y="5623560"/>
            <a:ext cx="274320" cy="201168"/>
          </a:xfrm>
          <a:prstGeom prst="rect">
            <a:avLst/>
          </a:prstGeom>
          <a:solidFill>
            <a:srgbClr val="FFF4D6"/>
          </a:solidFill>
          <a:ln w="12700">
            <a:solidFill>
              <a:srgbClr val="F2A900"/>
            </a:solidFill>
            <a:prstDash val="dash"/>
          </a:ln>
        </p:spPr>
      </p:sp>
      <p:sp>
        <p:nvSpPr>
          <p:cNvPr id="44" name="Text 41"/>
          <p:cNvSpPr txBox="1"/>
          <p:nvPr/>
        </p:nvSpPr>
        <p:spPr>
          <a:xfrm>
            <a:off x="896112" y="5623560"/>
            <a:ext cx="1828800" cy="201168"/>
          </a:xfrm>
          <a:prstGeom prst="rect">
            <a:avLst/>
          </a:prstGeom>
          <a:noFill/>
          <a:ln/>
        </p:spPr>
        <p:txBody>
          <a:bodyPr wrap="square" lIns="0" tIns="0" rIns="0" bIns="0" rtlCol="0" anchor="ctr"/>
          <a:lstStyle/>
          <a:p>
            <a:pPr indent="0" marL="0">
              <a:buNone/>
            </a:pPr>
            <a:r>
              <a:rPr lang="en-US" sz="1000" dirty="0">
                <a:solidFill>
                  <a:schemeClr val="tx1"/>
                </a:solidFill>
              </a:rPr>
              <a:t>MONIT to supply a fact</a:t>
            </a:r>
            <a:endParaRPr lang="en-US" sz="1000" dirty="0"/>
          </a:p>
        </p:txBody>
      </p:sp>
      <p:sp>
        <p:nvSpPr>
          <p:cNvPr id="45" name="Shape 42"/>
          <p:cNvSpPr/>
          <p:nvPr/>
        </p:nvSpPr>
        <p:spPr>
          <a:xfrm>
            <a:off x="2834640" y="5623560"/>
            <a:ext cx="274320" cy="201168"/>
          </a:xfrm>
          <a:prstGeom prst="rect">
            <a:avLst/>
          </a:prstGeom>
          <a:solidFill>
            <a:srgbClr val="E6F6F7"/>
          </a:solidFill>
          <a:ln w="12700">
            <a:solidFill>
              <a:srgbClr val="00A3AD"/>
            </a:solidFill>
            <a:prstDash val="dash"/>
          </a:ln>
        </p:spPr>
      </p:sp>
      <p:sp>
        <p:nvSpPr>
          <p:cNvPr id="46" name="Text 43"/>
          <p:cNvSpPr txBox="1"/>
          <p:nvPr/>
        </p:nvSpPr>
        <p:spPr>
          <a:xfrm>
            <a:off x="3182112" y="5623560"/>
            <a:ext cx="2560320" cy="201168"/>
          </a:xfrm>
          <a:prstGeom prst="rect">
            <a:avLst/>
          </a:prstGeom>
          <a:noFill/>
          <a:ln/>
        </p:spPr>
        <p:txBody>
          <a:bodyPr wrap="square" lIns="0" tIns="0" rIns="0" bIns="0" rtlCol="0" anchor="ctr"/>
          <a:lstStyle/>
          <a:p>
            <a:pPr indent="0" marL="0">
              <a:buNone/>
            </a:pPr>
            <a:r>
              <a:rPr lang="en-US" sz="1000" dirty="0">
                <a:solidFill>
                  <a:schemeClr val="tx1"/>
                </a:solidFill>
              </a:rPr>
              <a:t>Proposed response, to be confirmed</a:t>
            </a:r>
            <a:endParaRPr lang="en-US" sz="10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EXECUTIVE SUMMARY</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Every RFP requirement has a specific MONIT response, so each can be checked against evidence</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RFP Consent Form and Section 1; MONIT Master Agreement submission. Slide numbers refer to this document.</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926080"/>
                <a:gridCol w="5120640"/>
                <a:gridCol w="2194560"/>
                <a:gridCol w="850392"/>
              </a:tblGrid>
              <a:tr h="475488">
                <a:tc>
                  <a:txBody>
                    <a:bodyPr/>
                    <a:lstStyle/>
                    <a:p>
                      <a:pPr indent="0" marL="0">
                        <a:buNone/>
                      </a:pPr>
                      <a:r>
                        <a:rPr lang="en-US" sz="1100" b="1" dirty="0">
                          <a:solidFill>
                            <a:srgbClr val="FFFFFF"/>
                          </a:solidFill>
                        </a:rPr>
                        <a:t>RFP requirement</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MONIT response</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Evidence</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Slide</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r>
              <a:tr h="475488">
                <a:tc>
                  <a:txBody>
                    <a:bodyPr/>
                    <a:lstStyle/>
                    <a:p>
                      <a:pPr indent="0" marL="0">
                        <a:buNone/>
                      </a:pPr>
                      <a:r>
                        <a:rPr lang="en-US" sz="1100" b="1" dirty="0">
                          <a:solidFill>
                            <a:srgbClr val="1F2937"/>
                          </a:solidFill>
                        </a:rPr>
                        <a:t>Certifications and standards</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CE, IMDA, KC; ISO 27001/27017/27018 underway; BizSAFE, ISO 9001/13485/14001</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Certificates on request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6</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1F2937"/>
                          </a:solidFill>
                        </a:rPr>
                        <a:t>Clinically validated detection</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Validation studies and measured detection performance</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Study reports</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8</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475488">
                <a:tc>
                  <a:txBody>
                    <a:bodyPr/>
                    <a:lstStyle/>
                    <a:p>
                      <a:pPr indent="0" marL="0">
                        <a:buNone/>
                      </a:pPr>
                      <a:r>
                        <a:rPr lang="en-US" sz="1100" b="1" dirty="0">
                          <a:solidFill>
                            <a:srgbClr val="1F2937"/>
                          </a:solidFill>
                        </a:rPr>
                        <a:t>Software and dashboard</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Ward dashboard, alerts, reports; iOS/Android app; PDPA-aligned</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Live demo</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9</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1F2937"/>
                          </a:solidFill>
                        </a:rPr>
                        <a:t>Maintenance and support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12-month maintenance, 24-hr hotline, 99% uptime, 7-year spares</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Master Agreement Sch. 2/3</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10–11</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475488">
                <a:tc>
                  <a:txBody>
                    <a:bodyPr/>
                    <a:lstStyle/>
                    <a:p>
                      <a:pPr indent="0" marL="0">
                        <a:buNone/>
                      </a:pPr>
                      <a:r>
                        <a:rPr lang="en-US" sz="1100" b="1" dirty="0">
                          <a:solidFill>
                            <a:srgbClr val="1F2937"/>
                          </a:solidFill>
                        </a:rPr>
                        <a:t>Approach and deployment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Floor-plan-based plan, acceptance steps, relay count per ward</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Ward table, survey</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14–19</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1F2937"/>
                          </a:solidFill>
                        </a:rPr>
                        <a:t>Timeline and lead times</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Milestones from Letter of Award to Final Acceptance</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Gantt chart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20</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475488">
                <a:tc>
                  <a:txBody>
                    <a:bodyPr/>
                    <a:lstStyle/>
                    <a:p>
                      <a:pPr indent="0" marL="0">
                        <a:buNone/>
                      </a:pPr>
                      <a:r>
                        <a:rPr lang="en-US" sz="1100" b="1" dirty="0">
                          <a:solidFill>
                            <a:srgbClr val="1F2937"/>
                          </a:solidFill>
                        </a:rPr>
                        <a:t>References and sustainability</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Comparable deployments; four sustainability criteria answered</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Referee contacts</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21–22</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1F2937"/>
                          </a:solidFill>
                        </a:rPr>
                        <a:t>Wi-Fi connectivity and password</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Relay setup once; settings survive outages and upgrades</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Live relay demo</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23–25</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bl>
          </a:graphicData>
        </a:graphic>
      </p:graphicFrame>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1 · COMPANY INTRODUCTION</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MONIT, a Samsung spin-off, brings proven AIoT incontinence care from Korea and Japan to Singapore's hospitals</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investor presentation (Apr 2026); company registration documents; KTPH Phase 1 trial report (Dec 2025).</a:t>
            </a:r>
            <a:endParaRPr lang="en-US" sz="900" dirty="0"/>
          </a:p>
        </p:txBody>
      </p:sp>
      <p:sp>
        <p:nvSpPr>
          <p:cNvPr id="6" name="Card Company"/>
          <p:cNvSpPr/>
          <p:nvPr/>
        </p:nvSpPr>
        <p:spPr>
          <a:xfrm>
            <a:off x="548640" y="1691640"/>
            <a:ext cx="5486400" cy="1371600"/>
          </a:xfrm>
          <a:prstGeom prst="rect">
            <a:avLst/>
          </a:prstGeom>
          <a:solidFill>
            <a:schemeClr val="bg2"/>
          </a:solidFill>
          <a:ln/>
        </p:spPr>
      </p:sp>
      <p:sp>
        <p:nvSpPr>
          <p:cNvPr id="7" name="Text 4"/>
          <p:cNvSpPr txBox="1"/>
          <p:nvPr/>
        </p:nvSpPr>
        <p:spPr>
          <a:xfrm>
            <a:off x="731520" y="1783080"/>
            <a:ext cx="5120640" cy="274320"/>
          </a:xfrm>
          <a:prstGeom prst="rect">
            <a:avLst/>
          </a:prstGeom>
          <a:noFill/>
          <a:ln/>
        </p:spPr>
        <p:txBody>
          <a:bodyPr wrap="square" lIns="0" tIns="0" rIns="0" bIns="0" rtlCol="0" anchor="t"/>
          <a:lstStyle/>
          <a:p>
            <a:pPr indent="0" marL="0">
              <a:buNone/>
            </a:pPr>
            <a:r>
              <a:rPr lang="en-US" sz="1300" b="1" dirty="0">
                <a:solidFill>
                  <a:schemeClr val="tx2"/>
                </a:solidFill>
              </a:rPr>
              <a:t>Company</a:t>
            </a:r>
            <a:endParaRPr lang="en-US" sz="1300" dirty="0"/>
          </a:p>
        </p:txBody>
      </p:sp>
      <p:sp>
        <p:nvSpPr>
          <p:cNvPr id="8" name="Text 5"/>
          <p:cNvSpPr txBox="1"/>
          <p:nvPr/>
        </p:nvSpPr>
        <p:spPr>
          <a:xfrm>
            <a:off x="731520" y="2103120"/>
            <a:ext cx="5166360" cy="914400"/>
          </a:xfrm>
          <a:prstGeom prst="rect">
            <a:avLst/>
          </a:prstGeom>
          <a:noFill/>
          <a:ln/>
        </p:spPr>
        <p:txBody>
          <a:bodyPr wrap="square" lIns="0" tIns="0" rIns="0" bIns="0" rtlCol="0" anchor="t"/>
          <a:lstStyle/>
          <a:p>
            <a:pPr marL="152400" indent="-152400">
              <a:spcAft>
                <a:spcPts val="500"/>
              </a:spcAft>
              <a:buSzPct val="100000"/>
              <a:buChar char="•"/>
            </a:pPr>
            <a:r>
              <a:rPr lang="en-US" sz="1000" dirty="0">
                <a:solidFill>
                  <a:schemeClr val="tx1"/>
                </a:solidFill>
              </a:rPr>
              <a:t>Digital-health company spun out of Samsung Electronics; founded April 2017 in Seoul</a:t>
            </a:r>
            <a:endParaRPr lang="en-US" sz="1000" dirty="0"/>
          </a:p>
          <a:p>
            <a:pPr marL="152400" indent="-152400">
              <a:spcAft>
                <a:spcPts val="500"/>
              </a:spcAft>
              <a:buSzPct val="100000"/>
              <a:buChar char="•"/>
            </a:pPr>
            <a:r>
              <a:rPr lang="en-US" sz="1000" dirty="0">
                <a:solidFill>
                  <a:schemeClr val="tx1"/>
                </a:solidFill>
              </a:rPr>
              <a:t>Backed by SVIC (Samsung Venture Investment), IBK Capital and L&amp;S Ventures</a:t>
            </a:r>
            <a:endParaRPr lang="en-US" sz="1000" dirty="0"/>
          </a:p>
          <a:p>
            <a:pPr marL="152400" indent="-152400">
              <a:spcAft>
                <a:spcPts val="500"/>
              </a:spcAft>
              <a:buSzPct val="100000"/>
              <a:buChar char="•"/>
            </a:pPr>
            <a:r>
              <a:rPr lang="en-US" sz="1000" dirty="0">
                <a:solidFill>
                  <a:schemeClr val="tx1"/>
                </a:solidFill>
              </a:rPr>
              <a:t>Korean SME and Venture-certified (valid to 2027); CEO Tony (Dohyeong) Park</a:t>
            </a:r>
            <a:endParaRPr lang="en-US" sz="1000" dirty="0"/>
          </a:p>
        </p:txBody>
      </p:sp>
      <p:sp>
        <p:nvSpPr>
          <p:cNvPr id="9" name="Card Core technology"/>
          <p:cNvSpPr/>
          <p:nvPr/>
        </p:nvSpPr>
        <p:spPr>
          <a:xfrm>
            <a:off x="548640" y="3154680"/>
            <a:ext cx="5486400" cy="1371600"/>
          </a:xfrm>
          <a:prstGeom prst="rect">
            <a:avLst/>
          </a:prstGeom>
          <a:solidFill>
            <a:schemeClr val="bg2"/>
          </a:solidFill>
          <a:ln/>
        </p:spPr>
      </p:sp>
      <p:sp>
        <p:nvSpPr>
          <p:cNvPr id="10" name="Text 7"/>
          <p:cNvSpPr txBox="1"/>
          <p:nvPr/>
        </p:nvSpPr>
        <p:spPr>
          <a:xfrm>
            <a:off x="731520" y="3246120"/>
            <a:ext cx="5120640" cy="274320"/>
          </a:xfrm>
          <a:prstGeom prst="rect">
            <a:avLst/>
          </a:prstGeom>
          <a:noFill/>
          <a:ln/>
        </p:spPr>
        <p:txBody>
          <a:bodyPr wrap="square" lIns="0" tIns="0" rIns="0" bIns="0" rtlCol="0" anchor="t"/>
          <a:lstStyle/>
          <a:p>
            <a:pPr indent="0" marL="0">
              <a:buNone/>
            </a:pPr>
            <a:r>
              <a:rPr lang="en-US" sz="1300" b="1" dirty="0">
                <a:solidFill>
                  <a:schemeClr val="tx2"/>
                </a:solidFill>
              </a:rPr>
              <a:t>Core technology</a:t>
            </a:r>
            <a:endParaRPr lang="en-US" sz="1300" dirty="0"/>
          </a:p>
        </p:txBody>
      </p:sp>
      <p:sp>
        <p:nvSpPr>
          <p:cNvPr id="11" name="Text 8"/>
          <p:cNvSpPr txBox="1"/>
          <p:nvPr/>
        </p:nvSpPr>
        <p:spPr>
          <a:xfrm>
            <a:off x="731520" y="3566160"/>
            <a:ext cx="5166360" cy="914400"/>
          </a:xfrm>
          <a:prstGeom prst="rect">
            <a:avLst/>
          </a:prstGeom>
          <a:noFill/>
          <a:ln/>
        </p:spPr>
        <p:txBody>
          <a:bodyPr wrap="square" lIns="0" tIns="0" rIns="0" bIns="0" rtlCol="0" anchor="t"/>
          <a:lstStyle/>
          <a:p>
            <a:pPr marL="152400" indent="-152400">
              <a:spcAft>
                <a:spcPts val="500"/>
              </a:spcAft>
              <a:buSzPct val="100000"/>
              <a:buChar char="•"/>
            </a:pPr>
            <a:r>
              <a:rPr lang="en-US" sz="1000" dirty="0">
                <a:solidFill>
                  <a:schemeClr val="tx1"/>
                </a:solidFill>
              </a:rPr>
              <a:t>AIoT multi-sensor with AI pattern learning detects urination and defecation</a:t>
            </a:r>
            <a:endParaRPr lang="en-US" sz="1000" dirty="0"/>
          </a:p>
          <a:p>
            <a:pPr marL="152400" indent="-152400">
              <a:spcAft>
                <a:spcPts val="500"/>
              </a:spcAft>
              <a:buSzPct val="100000"/>
              <a:buChar char="•"/>
            </a:pPr>
            <a:r>
              <a:rPr lang="en-US" sz="1000" dirty="0">
                <a:solidFill>
                  <a:schemeClr val="tx1"/>
                </a:solidFill>
              </a:rPr>
              <a:t>Works with any diaper brand; BLE gateway connects to the hospital Wi-Fi</a:t>
            </a:r>
            <a:endParaRPr lang="en-US" sz="1000" dirty="0"/>
          </a:p>
          <a:p>
            <a:pPr marL="152400" indent="-152400">
              <a:spcAft>
                <a:spcPts val="500"/>
              </a:spcAft>
              <a:buSzPct val="100000"/>
              <a:buChar char="•"/>
            </a:pPr>
            <a:r>
              <a:rPr lang="en-US" sz="1000" dirty="0">
                <a:solidFill>
                  <a:schemeClr val="tx1"/>
                </a:solidFill>
              </a:rPr>
              <a:t>Korean patent registered; sensor holds KC, CE and Singapore certifications</a:t>
            </a:r>
            <a:endParaRPr lang="en-US" sz="1000" dirty="0"/>
          </a:p>
        </p:txBody>
      </p:sp>
      <p:sp>
        <p:nvSpPr>
          <p:cNvPr id="12" name="Card Healthcare footprint"/>
          <p:cNvSpPr/>
          <p:nvPr/>
        </p:nvSpPr>
        <p:spPr>
          <a:xfrm>
            <a:off x="548640" y="4617720"/>
            <a:ext cx="5486400" cy="1371600"/>
          </a:xfrm>
          <a:prstGeom prst="rect">
            <a:avLst/>
          </a:prstGeom>
          <a:solidFill>
            <a:schemeClr val="bg2"/>
          </a:solidFill>
          <a:ln/>
        </p:spPr>
      </p:sp>
      <p:sp>
        <p:nvSpPr>
          <p:cNvPr id="13" name="Text 10"/>
          <p:cNvSpPr txBox="1"/>
          <p:nvPr/>
        </p:nvSpPr>
        <p:spPr>
          <a:xfrm>
            <a:off x="731520" y="4709160"/>
            <a:ext cx="5120640" cy="274320"/>
          </a:xfrm>
          <a:prstGeom prst="rect">
            <a:avLst/>
          </a:prstGeom>
          <a:noFill/>
          <a:ln/>
        </p:spPr>
        <p:txBody>
          <a:bodyPr wrap="square" lIns="0" tIns="0" rIns="0" bIns="0" rtlCol="0" anchor="t"/>
          <a:lstStyle/>
          <a:p>
            <a:pPr indent="0" marL="0">
              <a:buNone/>
            </a:pPr>
            <a:r>
              <a:rPr lang="en-US" sz="1300" b="1" dirty="0">
                <a:solidFill>
                  <a:schemeClr val="tx2"/>
                </a:solidFill>
              </a:rPr>
              <a:t>Healthcare footprint</a:t>
            </a:r>
            <a:endParaRPr lang="en-US" sz="1300" dirty="0"/>
          </a:p>
        </p:txBody>
      </p:sp>
      <p:sp>
        <p:nvSpPr>
          <p:cNvPr id="14" name="Text 11"/>
          <p:cNvSpPr txBox="1"/>
          <p:nvPr/>
        </p:nvSpPr>
        <p:spPr>
          <a:xfrm>
            <a:off x="731520" y="5029200"/>
            <a:ext cx="5166360" cy="914400"/>
          </a:xfrm>
          <a:prstGeom prst="rect">
            <a:avLst/>
          </a:prstGeom>
          <a:noFill/>
          <a:ln/>
        </p:spPr>
        <p:txBody>
          <a:bodyPr wrap="square" lIns="0" tIns="0" rIns="0" bIns="0" rtlCol="0" anchor="t"/>
          <a:lstStyle/>
          <a:p>
            <a:pPr marL="152400" indent="-152400">
              <a:spcAft>
                <a:spcPts val="500"/>
              </a:spcAft>
              <a:buSzPct val="100000"/>
              <a:buChar char="•"/>
            </a:pPr>
            <a:r>
              <a:rPr lang="en-US" sz="1000" dirty="0">
                <a:solidFill>
                  <a:schemeClr val="tx1"/>
                </a:solidFill>
              </a:rPr>
              <a:t>Korea: NHIS-listed welfare product, sold through about 2,000 stores</a:t>
            </a:r>
            <a:endParaRPr lang="en-US" sz="1000" dirty="0"/>
          </a:p>
          <a:p>
            <a:pPr marL="152400" indent="-152400">
              <a:spcAft>
                <a:spcPts val="500"/>
              </a:spcAft>
              <a:buSzPct val="100000"/>
              <a:buChar char="•"/>
            </a:pPr>
            <a:r>
              <a:rPr lang="en-US" sz="1000" dirty="0">
                <a:solidFill>
                  <a:schemeClr val="tx1"/>
                </a:solidFill>
              </a:rPr>
              <a:t>Japan: 14 Osaka care facilities contracted (about 1 million diapers, 2,000 sensing systems)</a:t>
            </a:r>
            <a:endParaRPr lang="en-US" sz="1000" dirty="0"/>
          </a:p>
          <a:p>
            <a:pPr marL="152400" indent="-152400">
              <a:spcAft>
                <a:spcPts val="500"/>
              </a:spcAft>
              <a:buSzPct val="100000"/>
              <a:buChar char="•"/>
            </a:pPr>
            <a:r>
              <a:rPr lang="en-US" sz="1000" dirty="0">
                <a:solidFill>
                  <a:schemeClr val="tx1"/>
                </a:solidFill>
              </a:rPr>
              <a:t>Singapore: KTPH Phase 1 trial (2025), SingHealth Polyclinics and Vanguard Healthcare PoCs, IMH wound-care R&amp;D</a:t>
            </a:r>
            <a:endParaRPr lang="en-US" sz="1000" dirty="0"/>
          </a:p>
        </p:txBody>
      </p:sp>
      <p:sp>
        <p:nvSpPr>
          <p:cNvPr id="15" name="Shape 12"/>
          <p:cNvSpPr/>
          <p:nvPr/>
        </p:nvSpPr>
        <p:spPr>
          <a:xfrm>
            <a:off x="6355080" y="1691640"/>
            <a:ext cx="2560320" cy="1371600"/>
          </a:xfrm>
          <a:prstGeom prst="rect">
            <a:avLst/>
          </a:prstGeom>
          <a:solidFill>
            <a:schemeClr val="bg2"/>
          </a:solidFill>
          <a:ln/>
        </p:spPr>
      </p:sp>
      <p:sp>
        <p:nvSpPr>
          <p:cNvPr id="16" name="Text 13"/>
          <p:cNvSpPr txBox="1"/>
          <p:nvPr/>
        </p:nvSpPr>
        <p:spPr>
          <a:xfrm>
            <a:off x="6537960" y="1801368"/>
            <a:ext cx="2194560" cy="685800"/>
          </a:xfrm>
          <a:prstGeom prst="rect">
            <a:avLst/>
          </a:prstGeom>
          <a:noFill/>
          <a:ln/>
        </p:spPr>
        <p:txBody>
          <a:bodyPr wrap="square" lIns="0" tIns="0" rIns="0" bIns="0" rtlCol="0" anchor="t"/>
          <a:lstStyle/>
          <a:p>
            <a:pPr indent="0" marL="0">
              <a:buNone/>
            </a:pPr>
            <a:r>
              <a:rPr lang="en-US" sz="3800" b="1" dirty="0">
                <a:solidFill>
                  <a:schemeClr val="accent1"/>
                </a:solidFill>
                <a:latin typeface="Cambria" pitchFamily="34" charset="0"/>
                <a:ea typeface="Cambria" pitchFamily="34" charset="-122"/>
                <a:cs typeface="Cambria" pitchFamily="34" charset="-120"/>
              </a:rPr>
              <a:t>2017</a:t>
            </a:r>
            <a:endParaRPr lang="en-US" sz="3800" dirty="0"/>
          </a:p>
        </p:txBody>
      </p:sp>
      <p:sp>
        <p:nvSpPr>
          <p:cNvPr id="17" name="Text 14"/>
          <p:cNvSpPr txBox="1"/>
          <p:nvPr/>
        </p:nvSpPr>
        <p:spPr>
          <a:xfrm>
            <a:off x="6537960" y="2496312"/>
            <a:ext cx="2240280" cy="502920"/>
          </a:xfrm>
          <a:prstGeom prst="rect">
            <a:avLst/>
          </a:prstGeom>
          <a:noFill/>
          <a:ln/>
        </p:spPr>
        <p:txBody>
          <a:bodyPr wrap="square" lIns="0" tIns="0" rIns="0" bIns="0" rtlCol="0" anchor="t"/>
          <a:lstStyle/>
          <a:p>
            <a:pPr indent="0" marL="0">
              <a:buNone/>
            </a:pPr>
            <a:r>
              <a:rPr lang="en-US" sz="1100" dirty="0">
                <a:solidFill>
                  <a:schemeClr val="accent4"/>
                </a:solidFill>
              </a:rPr>
              <a:t>Founded in Seoul as a Samsung Electronics spin-off</a:t>
            </a:r>
            <a:endParaRPr lang="en-US" sz="1100" dirty="0"/>
          </a:p>
        </p:txBody>
      </p:sp>
      <p:sp>
        <p:nvSpPr>
          <p:cNvPr id="18" name="Shape 15"/>
          <p:cNvSpPr/>
          <p:nvPr/>
        </p:nvSpPr>
        <p:spPr>
          <a:xfrm>
            <a:off x="9052560" y="1691640"/>
            <a:ext cx="2560320" cy="1371600"/>
          </a:xfrm>
          <a:prstGeom prst="rect">
            <a:avLst/>
          </a:prstGeom>
          <a:solidFill>
            <a:schemeClr val="bg2"/>
          </a:solidFill>
          <a:ln/>
        </p:spPr>
      </p:sp>
      <p:sp>
        <p:nvSpPr>
          <p:cNvPr id="19" name="Text 16"/>
          <p:cNvSpPr txBox="1"/>
          <p:nvPr/>
        </p:nvSpPr>
        <p:spPr>
          <a:xfrm>
            <a:off x="9235440" y="1801368"/>
            <a:ext cx="2194560" cy="685800"/>
          </a:xfrm>
          <a:prstGeom prst="rect">
            <a:avLst/>
          </a:prstGeom>
          <a:noFill/>
          <a:ln/>
        </p:spPr>
        <p:txBody>
          <a:bodyPr wrap="square" lIns="0" tIns="0" rIns="0" bIns="0" rtlCol="0" anchor="t"/>
          <a:lstStyle/>
          <a:p>
            <a:pPr indent="0" marL="0">
              <a:buNone/>
            </a:pPr>
            <a:r>
              <a:rPr lang="en-US" sz="3800" b="1" dirty="0">
                <a:solidFill>
                  <a:schemeClr val="accent1"/>
                </a:solidFill>
                <a:latin typeface="Cambria" pitchFamily="34" charset="0"/>
                <a:ea typeface="Cambria" pitchFamily="34" charset="-122"/>
                <a:cs typeface="Cambria" pitchFamily="34" charset="-120"/>
              </a:rPr>
              <a:t>14</a:t>
            </a:r>
            <a:endParaRPr lang="en-US" sz="3800" dirty="0"/>
          </a:p>
        </p:txBody>
      </p:sp>
      <p:sp>
        <p:nvSpPr>
          <p:cNvPr id="20" name="Text 17"/>
          <p:cNvSpPr txBox="1"/>
          <p:nvPr/>
        </p:nvSpPr>
        <p:spPr>
          <a:xfrm>
            <a:off x="9235440" y="2496312"/>
            <a:ext cx="2240280" cy="502920"/>
          </a:xfrm>
          <a:prstGeom prst="rect">
            <a:avLst/>
          </a:prstGeom>
          <a:noFill/>
          <a:ln/>
        </p:spPr>
        <p:txBody>
          <a:bodyPr wrap="square" lIns="0" tIns="0" rIns="0" bIns="0" rtlCol="0" anchor="t"/>
          <a:lstStyle/>
          <a:p>
            <a:pPr indent="0" marL="0">
              <a:buNone/>
            </a:pPr>
            <a:r>
              <a:rPr lang="en-US" sz="1100" dirty="0">
                <a:solidFill>
                  <a:schemeClr val="accent4"/>
                </a:solidFill>
              </a:rPr>
              <a:t>Osaka care facilities contracted in Japan</a:t>
            </a:r>
            <a:endParaRPr lang="en-US" sz="1100" dirty="0"/>
          </a:p>
        </p:txBody>
      </p:sp>
      <p:sp>
        <p:nvSpPr>
          <p:cNvPr id="21" name="Shape 18"/>
          <p:cNvSpPr/>
          <p:nvPr/>
        </p:nvSpPr>
        <p:spPr>
          <a:xfrm>
            <a:off x="6355080" y="3154680"/>
            <a:ext cx="2560320" cy="1371600"/>
          </a:xfrm>
          <a:prstGeom prst="rect">
            <a:avLst/>
          </a:prstGeom>
          <a:solidFill>
            <a:schemeClr val="bg2"/>
          </a:solidFill>
          <a:ln/>
        </p:spPr>
      </p:sp>
      <p:sp>
        <p:nvSpPr>
          <p:cNvPr id="22" name="Text 19"/>
          <p:cNvSpPr txBox="1"/>
          <p:nvPr/>
        </p:nvSpPr>
        <p:spPr>
          <a:xfrm>
            <a:off x="6537960" y="3264408"/>
            <a:ext cx="2194560" cy="685800"/>
          </a:xfrm>
          <a:prstGeom prst="rect">
            <a:avLst/>
          </a:prstGeom>
          <a:noFill/>
          <a:ln/>
        </p:spPr>
        <p:txBody>
          <a:bodyPr wrap="square" lIns="0" tIns="0" rIns="0" bIns="0" rtlCol="0" anchor="t"/>
          <a:lstStyle/>
          <a:p>
            <a:pPr indent="0" marL="0">
              <a:buNone/>
            </a:pPr>
            <a:r>
              <a:rPr lang="en-US" sz="3800" b="1" dirty="0">
                <a:solidFill>
                  <a:schemeClr val="accent1"/>
                </a:solidFill>
                <a:latin typeface="Cambria" pitchFamily="34" charset="0"/>
                <a:ea typeface="Cambria" pitchFamily="34" charset="-122"/>
                <a:cs typeface="Cambria" pitchFamily="34" charset="-120"/>
              </a:rPr>
              <a:t>~2,000</a:t>
            </a:r>
            <a:endParaRPr lang="en-US" sz="3800" dirty="0"/>
          </a:p>
        </p:txBody>
      </p:sp>
      <p:sp>
        <p:nvSpPr>
          <p:cNvPr id="23" name="Text 20"/>
          <p:cNvSpPr txBox="1"/>
          <p:nvPr/>
        </p:nvSpPr>
        <p:spPr>
          <a:xfrm>
            <a:off x="6537960" y="3959352"/>
            <a:ext cx="2240280" cy="502920"/>
          </a:xfrm>
          <a:prstGeom prst="rect">
            <a:avLst/>
          </a:prstGeom>
          <a:noFill/>
          <a:ln/>
        </p:spPr>
        <p:txBody>
          <a:bodyPr wrap="square" lIns="0" tIns="0" rIns="0" bIns="0" rtlCol="0" anchor="t"/>
          <a:lstStyle/>
          <a:p>
            <a:pPr indent="0" marL="0">
              <a:buNone/>
            </a:pPr>
            <a:r>
              <a:rPr lang="en-US" sz="1100" dirty="0">
                <a:solidFill>
                  <a:schemeClr val="accent4"/>
                </a:solidFill>
              </a:rPr>
              <a:t>Retail stores distributing in Korea</a:t>
            </a:r>
            <a:endParaRPr lang="en-US" sz="1100" dirty="0"/>
          </a:p>
        </p:txBody>
      </p:sp>
      <p:sp>
        <p:nvSpPr>
          <p:cNvPr id="24" name="Shape 21"/>
          <p:cNvSpPr/>
          <p:nvPr/>
        </p:nvSpPr>
        <p:spPr>
          <a:xfrm>
            <a:off x="9052560" y="3154680"/>
            <a:ext cx="2560320" cy="1371600"/>
          </a:xfrm>
          <a:prstGeom prst="rect">
            <a:avLst/>
          </a:prstGeom>
          <a:solidFill>
            <a:schemeClr val="bg2"/>
          </a:solidFill>
          <a:ln/>
        </p:spPr>
      </p:sp>
      <p:sp>
        <p:nvSpPr>
          <p:cNvPr id="25" name="Text 22"/>
          <p:cNvSpPr txBox="1"/>
          <p:nvPr/>
        </p:nvSpPr>
        <p:spPr>
          <a:xfrm>
            <a:off x="9235440" y="3264408"/>
            <a:ext cx="2194560" cy="685800"/>
          </a:xfrm>
          <a:prstGeom prst="rect">
            <a:avLst/>
          </a:prstGeom>
          <a:noFill/>
          <a:ln/>
        </p:spPr>
        <p:txBody>
          <a:bodyPr wrap="square" lIns="0" tIns="0" rIns="0" bIns="0" rtlCol="0" anchor="t"/>
          <a:lstStyle/>
          <a:p>
            <a:pPr indent="0" marL="0">
              <a:buNone/>
            </a:pPr>
            <a:r>
              <a:rPr lang="en-US" sz="3800" b="1" dirty="0">
                <a:solidFill>
                  <a:schemeClr val="accent1"/>
                </a:solidFill>
                <a:latin typeface="Cambria" pitchFamily="34" charset="0"/>
                <a:ea typeface="Cambria" pitchFamily="34" charset="-122"/>
                <a:cs typeface="Cambria" pitchFamily="34" charset="-120"/>
              </a:rPr>
              <a:t>15</a:t>
            </a:r>
            <a:endParaRPr lang="en-US" sz="3800" dirty="0"/>
          </a:p>
        </p:txBody>
      </p:sp>
      <p:sp>
        <p:nvSpPr>
          <p:cNvPr id="26" name="Text 23"/>
          <p:cNvSpPr txBox="1"/>
          <p:nvPr/>
        </p:nvSpPr>
        <p:spPr>
          <a:xfrm>
            <a:off x="9235440" y="3959352"/>
            <a:ext cx="2240280" cy="502920"/>
          </a:xfrm>
          <a:prstGeom prst="rect">
            <a:avLst/>
          </a:prstGeom>
          <a:noFill/>
          <a:ln/>
        </p:spPr>
        <p:txBody>
          <a:bodyPr wrap="square" lIns="0" tIns="0" rIns="0" bIns="0" rtlCol="0" anchor="t"/>
          <a:lstStyle/>
          <a:p>
            <a:pPr indent="0" marL="0">
              <a:buNone/>
            </a:pPr>
            <a:r>
              <a:rPr lang="en-US" sz="1100" dirty="0">
                <a:solidFill>
                  <a:schemeClr val="accent4"/>
                </a:solidFill>
              </a:rPr>
              <a:t>Patients in the KTPH Phase 1 trial (7 weeks, Ward B76)</a:t>
            </a:r>
            <a:endParaRPr lang="en-US" sz="1100" dirty="0"/>
          </a:p>
        </p:txBody>
      </p:sp>
      <p:sp>
        <p:nvSpPr>
          <p:cNvPr id="27" name="Shape 24"/>
          <p:cNvSpPr/>
          <p:nvPr/>
        </p:nvSpPr>
        <p:spPr>
          <a:xfrm>
            <a:off x="6355080" y="4617720"/>
            <a:ext cx="5285232" cy="868680"/>
          </a:xfrm>
          <a:prstGeom prst="rect">
            <a:avLst/>
          </a:prstGeom>
          <a:solidFill>
            <a:schemeClr val="tx2"/>
          </a:solidFill>
          <a:ln/>
        </p:spPr>
      </p:sp>
      <p:sp>
        <p:nvSpPr>
          <p:cNvPr id="28" name="Text 25"/>
          <p:cNvSpPr txBox="1"/>
          <p:nvPr/>
        </p:nvSpPr>
        <p:spPr>
          <a:xfrm>
            <a:off x="6537960" y="4617720"/>
            <a:ext cx="4937760" cy="868680"/>
          </a:xfrm>
          <a:prstGeom prst="rect">
            <a:avLst/>
          </a:prstGeom>
          <a:noFill/>
          <a:ln/>
        </p:spPr>
        <p:txBody>
          <a:bodyPr wrap="square" lIns="0" tIns="0" rIns="0" bIns="0" rtlCol="0" anchor="ctr"/>
          <a:lstStyle/>
          <a:p>
            <a:pPr indent="0" marL="0">
              <a:buNone/>
            </a:pPr>
            <a:r>
              <a:rPr lang="en-US" sz="1200" dirty="0">
                <a:solidFill>
                  <a:schemeClr val="bg1"/>
                </a:solidFill>
              </a:rPr>
              <a:t>Why it matters to KTPH and ALPS: one accountable vendor, already experienced at KTPH, for hardware, software, installation and service across three hospitals.</a:t>
            </a:r>
            <a:endParaRPr lang="en-US" sz="1200" dirty="0"/>
          </a:p>
        </p:txBody>
      </p:sp>
      <p:sp>
        <p:nvSpPr>
          <p:cNvPr id="29" name="Input placeholder"/>
          <p:cNvSpPr/>
          <p:nvPr/>
        </p:nvSpPr>
        <p:spPr>
          <a:xfrm>
            <a:off x="6355080" y="5577840"/>
            <a:ext cx="5285232" cy="457200"/>
          </a:xfrm>
          <a:prstGeom prst="rect">
            <a:avLst/>
          </a:prstGeom>
          <a:solidFill>
            <a:srgbClr val="FFF4D6"/>
          </a:solidFill>
          <a:ln w="12700">
            <a:solidFill>
              <a:srgbClr val="F2A900"/>
            </a:solidFill>
            <a:prstDash val="dash"/>
          </a:ln>
        </p:spPr>
      </p:sp>
      <p:sp>
        <p:nvSpPr>
          <p:cNvPr id="30" name="Text 27"/>
          <p:cNvSpPr txBox="1"/>
          <p:nvPr/>
        </p:nvSpPr>
        <p:spPr>
          <a:xfrm>
            <a:off x="6446520" y="5577840"/>
            <a:ext cx="5102352" cy="457200"/>
          </a:xfrm>
          <a:prstGeom prst="rect">
            <a:avLst/>
          </a:prstGeom>
          <a:noFill/>
          <a:ln/>
        </p:spPr>
        <p:txBody>
          <a:bodyPr wrap="square" lIns="0" tIns="0" rIns="0" bIns="0" rtlCol="0" anchor="ctr"/>
          <a:lstStyle/>
          <a:p>
            <a:pPr indent="0" marL="0">
              <a:buNone/>
            </a:pPr>
            <a:r>
              <a:rPr lang="en-US" sz="1000" i="1" dirty="0">
                <a:solidFill>
                  <a:srgbClr val="7A4F00"/>
                </a:solidFill>
              </a:rPr>
              <a:t>[INPUT REQUIRED] Singapore entity / UEN and headcount to be added.</a:t>
            </a:r>
            <a:endParaRPr lang="en-US" sz="10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2 · INDUSTRY CERTIFICATIONS AND STANDARDS</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MONIT's CE, IMDA and KC certifications are declared in the contract, and ISO 27001/27017/27018 certification is underway</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Master Agreement Sch. 2, Clause 5; RFP Consent Form (HSA); Section 1 clause 19. Certificate copies available on request.</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834640"/>
                <a:gridCol w="4754880"/>
                <a:gridCol w="2542032"/>
                <a:gridCol w="960120"/>
              </a:tblGrid>
              <a:tr h="475488">
                <a:tc>
                  <a:txBody>
                    <a:bodyPr/>
                    <a:lstStyle/>
                    <a:p>
                      <a:pPr indent="0" marL="0">
                        <a:buNone/>
                      </a:pPr>
                      <a:r>
                        <a:rPr lang="en-US" sz="1050" b="1" dirty="0">
                          <a:solidFill>
                            <a:srgbClr val="FFFFFF"/>
                          </a:solidFill>
                        </a:rPr>
                        <a:t>Standard / certification</a:t>
                      </a:r>
                      <a:endParaRPr lang="en-US" sz="10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50" b="1" dirty="0">
                          <a:solidFill>
                            <a:srgbClr val="FFFFFF"/>
                          </a:solidFill>
                        </a:rPr>
                        <a:t>Why it matters for this RFP</a:t>
                      </a:r>
                      <a:endParaRPr lang="en-US" sz="10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50" b="1" dirty="0">
                          <a:solidFill>
                            <a:srgbClr val="FFFFFF"/>
                          </a:solidFill>
                        </a:rPr>
                        <a:t>Status</a:t>
                      </a:r>
                      <a:endParaRPr lang="en-US" sz="10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50" b="1" dirty="0">
                          <a:solidFill>
                            <a:srgbClr val="FFFFFF"/>
                          </a:solidFill>
                        </a:rPr>
                        <a:t>Valid until</a:t>
                      </a:r>
                      <a:endParaRPr lang="en-US" sz="10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r>
              <a:tr h="475488">
                <a:tc>
                  <a:txBody>
                    <a:bodyPr/>
                    <a:lstStyle/>
                    <a:p>
                      <a:pPr indent="0" marL="0">
                        <a:buNone/>
                      </a:pPr>
                      <a:r>
                        <a:rPr lang="en-US" sz="1050" b="1" dirty="0">
                          <a:solidFill>
                            <a:srgbClr val="1F2937"/>
                          </a:solidFill>
                        </a:rPr>
                        <a:t>CE marking</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Product conformity of sensor and relay</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Declared in Master Agreement Sch. 2</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i="1" dirty="0">
                          <a:solidFill>
                            <a:srgbClr val="7A4F00"/>
                          </a:solidFill>
                        </a:rPr>
                        <a:t>[INPUT]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475488">
                <a:tc>
                  <a:txBody>
                    <a:bodyPr/>
                    <a:lstStyle/>
                    <a:p>
                      <a:pPr indent="0" marL="0">
                        <a:buNone/>
                      </a:pPr>
                      <a:r>
                        <a:rPr lang="en-US" sz="1050" b="1" dirty="0">
                          <a:solidFill>
                            <a:srgbClr val="1F2937"/>
                          </a:solidFill>
                        </a:rPr>
                        <a:t>IMDA registration (Singapore)</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Relay radio (BLE 5 + Wi-Fi 2.4 GHz) lawfully used in Singapore</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Declared in Master Agreement Sch. 2</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i="1" dirty="0">
                          <a:solidFill>
                            <a:srgbClr val="7A4F00"/>
                          </a:solidFill>
                        </a:rPr>
                        <a:t>[INPUT]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475488">
                <a:tc>
                  <a:txBody>
                    <a:bodyPr/>
                    <a:lstStyle/>
                    <a:p>
                      <a:pPr indent="0" marL="0">
                        <a:buNone/>
                      </a:pPr>
                      <a:r>
                        <a:rPr lang="en-US" sz="1050" b="1" dirty="0">
                          <a:solidFill>
                            <a:srgbClr val="1F2937"/>
                          </a:solidFill>
                        </a:rPr>
                        <a:t>KC certification (Korea)</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Product certification in the country of manufacture</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Declared in Master Agreement Sch. 2</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i="1" dirty="0">
                          <a:solidFill>
                            <a:srgbClr val="7A4F00"/>
                          </a:solidFill>
                        </a:rPr>
                        <a:t>[INPUT]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475488">
                <a:tc>
                  <a:txBody>
                    <a:bodyPr/>
                    <a:lstStyle/>
                    <a:p>
                      <a:pPr indent="0" marL="0">
                        <a:buNone/>
                      </a:pPr>
                      <a:r>
                        <a:rPr lang="en-US" sz="1050" b="1" dirty="0">
                          <a:solidFill>
                            <a:srgbClr val="1F2937"/>
                          </a:solidFill>
                        </a:rPr>
                        <a:t>HSA – medical device registration</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RFP requires registration for Class B/C/D and Class A devices — classification to be confirmed</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i="1" dirty="0">
                          <a:solidFill>
                            <a:srgbClr val="7A4F00"/>
                          </a:solidFill>
                        </a:rPr>
                        <a:t>[INPUT REQUIRED] class &amp; reg. no.</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050" i="1" dirty="0">
                          <a:solidFill>
                            <a:srgbClr val="7A4F00"/>
                          </a:solidFill>
                        </a:rPr>
                        <a:t>[INPUT]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475488">
                <a:tc>
                  <a:txBody>
                    <a:bodyPr/>
                    <a:lstStyle/>
                    <a:p>
                      <a:pPr indent="0" marL="0">
                        <a:buNone/>
                      </a:pPr>
                      <a:r>
                        <a:rPr lang="en-US" sz="1050" b="1" dirty="0">
                          <a:solidFill>
                            <a:srgbClr val="1F2937"/>
                          </a:solidFill>
                        </a:rPr>
                        <a:t>ISO/IEC 27001 / 27017 / 27018</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Information security, cloud security controls and PII protection in the cloud; supports PDPA</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Certification underway; target [INPUT]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rgbClr val="1F2937"/>
                          </a:solidFill>
                        </a:rPr>
                        <a:t>BizSAFE</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Contractor safety for on-site installation in hospitals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i="1" dirty="0">
                          <a:solidFill>
                            <a:srgbClr val="7A4F00"/>
                          </a:solidFill>
                        </a:rPr>
                        <a:t>[INPUT REQUIRED] level &amp; cert no.</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050" i="1" dirty="0">
                          <a:solidFill>
                            <a:srgbClr val="7A4F00"/>
                          </a:solidFill>
                        </a:rPr>
                        <a:t>[INPUT]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475488">
                <a:tc>
                  <a:txBody>
                    <a:bodyPr/>
                    <a:lstStyle/>
                    <a:p>
                      <a:pPr indent="0" marL="0">
                        <a:buNone/>
                      </a:pPr>
                      <a:r>
                        <a:rPr lang="en-US" sz="1050" b="1" dirty="0">
                          <a:solidFill>
                            <a:srgbClr val="1F2937"/>
                          </a:solidFill>
                        </a:rPr>
                        <a:t>ISO 9001 / ISO 13485</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Quality management; medical-device QMS for design and manufacture</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i="1" dirty="0">
                          <a:solidFill>
                            <a:srgbClr val="7A4F00"/>
                          </a:solidFill>
                        </a:rPr>
                        <a:t>[INPUT REQUIRED]</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050" i="1" dirty="0">
                          <a:solidFill>
                            <a:srgbClr val="7A4F00"/>
                          </a:solidFill>
                        </a:rPr>
                        <a:t>[INPUT]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475488">
                <a:tc>
                  <a:txBody>
                    <a:bodyPr/>
                    <a:lstStyle/>
                    <a:p>
                      <a:pPr indent="0" marL="0">
                        <a:buNone/>
                      </a:pPr>
                      <a:r>
                        <a:rPr lang="en-US" sz="1050" b="1" dirty="0">
                          <a:solidFill>
                            <a:srgbClr val="1F2937"/>
                          </a:solidFill>
                        </a:rPr>
                        <a:t>ISO 14001 / ISO 45001</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Aligns with ALPS's ISO14000 / OSHA requirements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i="1" dirty="0">
                          <a:solidFill>
                            <a:srgbClr val="7A4F00"/>
                          </a:solidFill>
                        </a:rPr>
                        <a:t>[INPUT REQUIRED]</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050" i="1" dirty="0">
                          <a:solidFill>
                            <a:srgbClr val="7A4F00"/>
                          </a:solidFill>
                        </a:rPr>
                        <a:t>[INPUT]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3 · SMART DIAPER SYSTEM</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The system turns every diaper change into a timely, data-driven decision — detect, notify, document</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Master Agreement Schedule 3 (Master Equipment and Master Services); MONIT.</a:t>
            </a:r>
            <a:endParaRPr lang="en-US" sz="900" dirty="0"/>
          </a:p>
        </p:txBody>
      </p:sp>
      <p:sp>
        <p:nvSpPr>
          <p:cNvPr id="6" name="Shape 3"/>
          <p:cNvSpPr/>
          <p:nvPr/>
        </p:nvSpPr>
        <p:spPr>
          <a:xfrm>
            <a:off x="548640" y="1737360"/>
            <a:ext cx="2011680" cy="2286000"/>
          </a:xfrm>
          <a:prstGeom prst="rect">
            <a:avLst/>
          </a:prstGeom>
          <a:solidFill>
            <a:schemeClr val="bg2"/>
          </a:solidFill>
          <a:ln/>
        </p:spPr>
      </p:sp>
      <p:sp>
        <p:nvSpPr>
          <p:cNvPr id="7" name="Shape 4"/>
          <p:cNvSpPr/>
          <p:nvPr/>
        </p:nvSpPr>
        <p:spPr>
          <a:xfrm>
            <a:off x="1280160" y="1874520"/>
            <a:ext cx="548640" cy="548640"/>
          </a:xfrm>
          <a:prstGeom prst="ellipse">
            <a:avLst/>
          </a:prstGeom>
          <a:solidFill>
            <a:schemeClr val="tx2"/>
          </a:solidFill>
          <a:ln/>
        </p:spPr>
      </p:sp>
      <p:pic>
        <p:nvPicPr>
          <p:cNvPr id="8" name="Image 0" descr="preencoded.png">    </p:cNvPr>
          <p:cNvPicPr>
            <a:picLocks noChangeAspect="1"/>
          </p:cNvPicPr>
          <p:nvPr/>
        </p:nvPicPr>
        <p:blipFill>
          <a:blip r:embed="rId1"/>
          <a:stretch>
            <a:fillRect/>
          </a:stretch>
        </p:blipFill>
        <p:spPr>
          <a:xfrm>
            <a:off x="1417320" y="2011680"/>
            <a:ext cx="274320" cy="274320"/>
          </a:xfrm>
          <a:prstGeom prst="rect">
            <a:avLst/>
          </a:prstGeom>
        </p:spPr>
      </p:pic>
      <p:sp>
        <p:nvSpPr>
          <p:cNvPr id="9" name="Text 5"/>
          <p:cNvSpPr txBox="1"/>
          <p:nvPr/>
        </p:nvSpPr>
        <p:spPr>
          <a:xfrm>
            <a:off x="640080" y="2560320"/>
            <a:ext cx="1828800" cy="320040"/>
          </a:xfrm>
          <a:prstGeom prst="rect">
            <a:avLst/>
          </a:prstGeom>
          <a:noFill/>
          <a:ln/>
        </p:spPr>
        <p:txBody>
          <a:bodyPr wrap="square" lIns="0" tIns="0" rIns="0" bIns="0" rtlCol="0" anchor="t"/>
          <a:lstStyle/>
          <a:p>
            <a:pPr algn="ctr" indent="0" marL="0">
              <a:buNone/>
            </a:pPr>
            <a:r>
              <a:rPr lang="en-US" sz="1400" b="1" dirty="0">
                <a:solidFill>
                  <a:schemeClr val="tx2"/>
                </a:solidFill>
              </a:rPr>
              <a:t>Sensor unit</a:t>
            </a:r>
            <a:endParaRPr lang="en-US" sz="1400" dirty="0"/>
          </a:p>
        </p:txBody>
      </p:sp>
      <p:sp>
        <p:nvSpPr>
          <p:cNvPr id="10" name="Text 6"/>
          <p:cNvSpPr txBox="1"/>
          <p:nvPr/>
        </p:nvSpPr>
        <p:spPr>
          <a:xfrm>
            <a:off x="685800" y="2926080"/>
            <a:ext cx="1737360" cy="1005840"/>
          </a:xfrm>
          <a:prstGeom prst="rect">
            <a:avLst/>
          </a:prstGeom>
          <a:noFill/>
          <a:ln/>
        </p:spPr>
        <p:txBody>
          <a:bodyPr wrap="square" lIns="0" tIns="0" rIns="0" bIns="0" rtlCol="0" anchor="t"/>
          <a:lstStyle/>
          <a:p>
            <a:pPr algn="ctr" indent="0" marL="0">
              <a:buNone/>
            </a:pPr>
            <a:r>
              <a:rPr lang="en-US" sz="1100" dirty="0">
                <a:solidFill>
                  <a:schemeClr val="tx1"/>
                </a:solidFill>
              </a:rPr>
              <a:t>Reusable sensor mounted on any standard diaper with a strap sticker; BLE</a:t>
            </a:r>
            <a:endParaRPr lang="en-US" sz="1100" dirty="0"/>
          </a:p>
        </p:txBody>
      </p:sp>
      <p:sp>
        <p:nvSpPr>
          <p:cNvPr id="11" name="Shape 7"/>
          <p:cNvSpPr/>
          <p:nvPr/>
        </p:nvSpPr>
        <p:spPr>
          <a:xfrm>
            <a:off x="2560320" y="2148840"/>
            <a:ext cx="228600" cy="0"/>
          </a:xfrm>
          <a:prstGeom prst="line">
            <a:avLst/>
          </a:prstGeom>
          <a:noFill/>
          <a:ln w="25400">
            <a:solidFill>
              <a:srgbClr val="00A3AD"/>
            </a:solidFill>
            <a:prstDash val="solid"/>
            <a:tailEnd type="triangle"/>
          </a:ln>
        </p:spPr>
      </p:sp>
      <p:sp>
        <p:nvSpPr>
          <p:cNvPr id="12" name="Shape 8"/>
          <p:cNvSpPr/>
          <p:nvPr/>
        </p:nvSpPr>
        <p:spPr>
          <a:xfrm>
            <a:off x="2788920" y="1737360"/>
            <a:ext cx="2011680" cy="2286000"/>
          </a:xfrm>
          <a:prstGeom prst="rect">
            <a:avLst/>
          </a:prstGeom>
          <a:solidFill>
            <a:schemeClr val="bg2"/>
          </a:solidFill>
          <a:ln/>
        </p:spPr>
      </p:sp>
      <p:sp>
        <p:nvSpPr>
          <p:cNvPr id="13" name="Shape 9"/>
          <p:cNvSpPr/>
          <p:nvPr/>
        </p:nvSpPr>
        <p:spPr>
          <a:xfrm>
            <a:off x="3520440" y="1874520"/>
            <a:ext cx="548640" cy="548640"/>
          </a:xfrm>
          <a:prstGeom prst="ellipse">
            <a:avLst/>
          </a:prstGeom>
          <a:solidFill>
            <a:schemeClr val="accent1"/>
          </a:solidFill>
          <a:ln/>
        </p:spPr>
      </p:sp>
      <p:pic>
        <p:nvPicPr>
          <p:cNvPr id="14" name="Image 1" descr="preencoded.png">    </p:cNvPr>
          <p:cNvPicPr>
            <a:picLocks noChangeAspect="1"/>
          </p:cNvPicPr>
          <p:nvPr/>
        </p:nvPicPr>
        <p:blipFill>
          <a:blip r:embed="rId2"/>
          <a:stretch>
            <a:fillRect/>
          </a:stretch>
        </p:blipFill>
        <p:spPr>
          <a:xfrm>
            <a:off x="3657600" y="2011680"/>
            <a:ext cx="274320" cy="274320"/>
          </a:xfrm>
          <a:prstGeom prst="rect">
            <a:avLst/>
          </a:prstGeom>
        </p:spPr>
      </p:pic>
      <p:sp>
        <p:nvSpPr>
          <p:cNvPr id="15" name="Text 10"/>
          <p:cNvSpPr txBox="1"/>
          <p:nvPr/>
        </p:nvSpPr>
        <p:spPr>
          <a:xfrm>
            <a:off x="2880360" y="2560320"/>
            <a:ext cx="1828800" cy="320040"/>
          </a:xfrm>
          <a:prstGeom prst="rect">
            <a:avLst/>
          </a:prstGeom>
          <a:noFill/>
          <a:ln/>
        </p:spPr>
        <p:txBody>
          <a:bodyPr wrap="square" lIns="0" tIns="0" rIns="0" bIns="0" rtlCol="0" anchor="t"/>
          <a:lstStyle/>
          <a:p>
            <a:pPr algn="ctr" indent="0" marL="0">
              <a:buNone/>
            </a:pPr>
            <a:r>
              <a:rPr lang="en-US" sz="1400" b="1" dirty="0">
                <a:solidFill>
                  <a:schemeClr val="tx2"/>
                </a:solidFill>
              </a:rPr>
              <a:t>Relay device</a:t>
            </a:r>
            <a:endParaRPr lang="en-US" sz="1400" dirty="0"/>
          </a:p>
        </p:txBody>
      </p:sp>
      <p:sp>
        <p:nvSpPr>
          <p:cNvPr id="16" name="Text 11"/>
          <p:cNvSpPr txBox="1"/>
          <p:nvPr/>
        </p:nvSpPr>
        <p:spPr>
          <a:xfrm>
            <a:off x="2926080" y="2926080"/>
            <a:ext cx="1737360" cy="1005840"/>
          </a:xfrm>
          <a:prstGeom prst="rect">
            <a:avLst/>
          </a:prstGeom>
          <a:noFill/>
          <a:ln/>
        </p:spPr>
        <p:txBody>
          <a:bodyPr wrap="square" lIns="0" tIns="0" rIns="0" bIns="0" rtlCol="0" anchor="t"/>
          <a:lstStyle/>
          <a:p>
            <a:pPr algn="ctr" indent="0" marL="0">
              <a:buNone/>
            </a:pPr>
            <a:r>
              <a:rPr lang="en-US" sz="1100" dirty="0">
                <a:solidFill>
                  <a:schemeClr val="tx1"/>
                </a:solidFill>
              </a:rPr>
              <a:t>Collects sensor data in the ward; BLE 5 in, Wi-Fi 2.4 GHz out</a:t>
            </a:r>
            <a:endParaRPr lang="en-US" sz="1100" dirty="0"/>
          </a:p>
        </p:txBody>
      </p:sp>
      <p:sp>
        <p:nvSpPr>
          <p:cNvPr id="17" name="Shape 12"/>
          <p:cNvSpPr/>
          <p:nvPr/>
        </p:nvSpPr>
        <p:spPr>
          <a:xfrm>
            <a:off x="4800600" y="2148840"/>
            <a:ext cx="228600" cy="0"/>
          </a:xfrm>
          <a:prstGeom prst="line">
            <a:avLst/>
          </a:prstGeom>
          <a:noFill/>
          <a:ln w="25400">
            <a:solidFill>
              <a:srgbClr val="00A3AD"/>
            </a:solidFill>
            <a:prstDash val="solid"/>
            <a:tailEnd type="triangle"/>
          </a:ln>
        </p:spPr>
      </p:sp>
      <p:sp>
        <p:nvSpPr>
          <p:cNvPr id="18" name="Shape 13"/>
          <p:cNvSpPr/>
          <p:nvPr/>
        </p:nvSpPr>
        <p:spPr>
          <a:xfrm>
            <a:off x="5029200" y="1737360"/>
            <a:ext cx="2011680" cy="2286000"/>
          </a:xfrm>
          <a:prstGeom prst="rect">
            <a:avLst/>
          </a:prstGeom>
          <a:solidFill>
            <a:schemeClr val="bg2"/>
          </a:solidFill>
          <a:ln/>
        </p:spPr>
      </p:sp>
      <p:sp>
        <p:nvSpPr>
          <p:cNvPr id="19" name="Shape 14"/>
          <p:cNvSpPr/>
          <p:nvPr/>
        </p:nvSpPr>
        <p:spPr>
          <a:xfrm>
            <a:off x="5760720" y="1874520"/>
            <a:ext cx="548640" cy="548640"/>
          </a:xfrm>
          <a:prstGeom prst="ellipse">
            <a:avLst/>
          </a:prstGeom>
          <a:solidFill>
            <a:schemeClr val="tx2"/>
          </a:solidFill>
          <a:ln/>
        </p:spPr>
      </p:sp>
      <p:pic>
        <p:nvPicPr>
          <p:cNvPr id="20" name="Image 2" descr="preencoded.png">    </p:cNvPr>
          <p:cNvPicPr>
            <a:picLocks noChangeAspect="1"/>
          </p:cNvPicPr>
          <p:nvPr/>
        </p:nvPicPr>
        <p:blipFill>
          <a:blip r:embed="rId3"/>
          <a:stretch>
            <a:fillRect/>
          </a:stretch>
        </p:blipFill>
        <p:spPr>
          <a:xfrm>
            <a:off x="5897880" y="2011680"/>
            <a:ext cx="274320" cy="274320"/>
          </a:xfrm>
          <a:prstGeom prst="rect">
            <a:avLst/>
          </a:prstGeom>
        </p:spPr>
      </p:pic>
      <p:sp>
        <p:nvSpPr>
          <p:cNvPr id="21" name="Text 15"/>
          <p:cNvSpPr txBox="1"/>
          <p:nvPr/>
        </p:nvSpPr>
        <p:spPr>
          <a:xfrm>
            <a:off x="5120640" y="2560320"/>
            <a:ext cx="1828800" cy="320040"/>
          </a:xfrm>
          <a:prstGeom prst="rect">
            <a:avLst/>
          </a:prstGeom>
          <a:noFill/>
          <a:ln/>
        </p:spPr>
        <p:txBody>
          <a:bodyPr wrap="square" lIns="0" tIns="0" rIns="0" bIns="0" rtlCol="0" anchor="t"/>
          <a:lstStyle/>
          <a:p>
            <a:pPr algn="ctr" indent="0" marL="0">
              <a:buNone/>
            </a:pPr>
            <a:r>
              <a:rPr lang="en-US" sz="1400" b="1" dirty="0">
                <a:solidFill>
                  <a:schemeClr val="tx2"/>
                </a:solidFill>
              </a:rPr>
              <a:t>Cloud server</a:t>
            </a:r>
            <a:endParaRPr lang="en-US" sz="1400" dirty="0"/>
          </a:p>
        </p:txBody>
      </p:sp>
      <p:sp>
        <p:nvSpPr>
          <p:cNvPr id="22" name="Text 16"/>
          <p:cNvSpPr txBox="1"/>
          <p:nvPr/>
        </p:nvSpPr>
        <p:spPr>
          <a:xfrm>
            <a:off x="5166360" y="2926080"/>
            <a:ext cx="1737360" cy="1005840"/>
          </a:xfrm>
          <a:prstGeom prst="rect">
            <a:avLst/>
          </a:prstGeom>
          <a:noFill/>
          <a:ln/>
        </p:spPr>
        <p:txBody>
          <a:bodyPr wrap="square" lIns="0" tIns="0" rIns="0" bIns="0" rtlCol="0" anchor="t"/>
          <a:lstStyle/>
          <a:p>
            <a:pPr algn="ctr" indent="0" marL="0">
              <a:buNone/>
            </a:pPr>
            <a:r>
              <a:rPr lang="en-US" sz="1100" dirty="0">
                <a:solidFill>
                  <a:schemeClr val="tx1"/>
                </a:solidFill>
              </a:rPr>
              <a:t>AI detection, event history, secure storage</a:t>
            </a:r>
            <a:endParaRPr lang="en-US" sz="1100" dirty="0"/>
          </a:p>
        </p:txBody>
      </p:sp>
      <p:sp>
        <p:nvSpPr>
          <p:cNvPr id="23" name="Shape 17"/>
          <p:cNvSpPr/>
          <p:nvPr/>
        </p:nvSpPr>
        <p:spPr>
          <a:xfrm>
            <a:off x="7040880" y="2148840"/>
            <a:ext cx="228600" cy="0"/>
          </a:xfrm>
          <a:prstGeom prst="line">
            <a:avLst/>
          </a:prstGeom>
          <a:noFill/>
          <a:ln w="25400">
            <a:solidFill>
              <a:srgbClr val="00A3AD"/>
            </a:solidFill>
            <a:prstDash val="solid"/>
            <a:tailEnd type="triangle"/>
          </a:ln>
        </p:spPr>
      </p:sp>
      <p:sp>
        <p:nvSpPr>
          <p:cNvPr id="24" name="Shape 18"/>
          <p:cNvSpPr/>
          <p:nvPr/>
        </p:nvSpPr>
        <p:spPr>
          <a:xfrm>
            <a:off x="7269480" y="1737360"/>
            <a:ext cx="2011680" cy="2286000"/>
          </a:xfrm>
          <a:prstGeom prst="rect">
            <a:avLst/>
          </a:prstGeom>
          <a:solidFill>
            <a:schemeClr val="bg2"/>
          </a:solidFill>
          <a:ln/>
        </p:spPr>
      </p:sp>
      <p:sp>
        <p:nvSpPr>
          <p:cNvPr id="25" name="Shape 19"/>
          <p:cNvSpPr/>
          <p:nvPr/>
        </p:nvSpPr>
        <p:spPr>
          <a:xfrm>
            <a:off x="8001000" y="1874520"/>
            <a:ext cx="548640" cy="548640"/>
          </a:xfrm>
          <a:prstGeom prst="ellipse">
            <a:avLst/>
          </a:prstGeom>
          <a:solidFill>
            <a:schemeClr val="accent1"/>
          </a:solidFill>
          <a:ln/>
        </p:spPr>
      </p:sp>
      <p:pic>
        <p:nvPicPr>
          <p:cNvPr id="26" name="Image 3" descr="preencoded.png">    </p:cNvPr>
          <p:cNvPicPr>
            <a:picLocks noChangeAspect="1"/>
          </p:cNvPicPr>
          <p:nvPr/>
        </p:nvPicPr>
        <p:blipFill>
          <a:blip r:embed="rId4"/>
          <a:stretch>
            <a:fillRect/>
          </a:stretch>
        </p:blipFill>
        <p:spPr>
          <a:xfrm>
            <a:off x="8138160" y="2011680"/>
            <a:ext cx="274320" cy="274320"/>
          </a:xfrm>
          <a:prstGeom prst="rect">
            <a:avLst/>
          </a:prstGeom>
        </p:spPr>
      </p:pic>
      <p:sp>
        <p:nvSpPr>
          <p:cNvPr id="27" name="Text 20"/>
          <p:cNvSpPr txBox="1"/>
          <p:nvPr/>
        </p:nvSpPr>
        <p:spPr>
          <a:xfrm>
            <a:off x="7360920" y="2560320"/>
            <a:ext cx="1828800" cy="320040"/>
          </a:xfrm>
          <a:prstGeom prst="rect">
            <a:avLst/>
          </a:prstGeom>
          <a:noFill/>
          <a:ln/>
        </p:spPr>
        <p:txBody>
          <a:bodyPr wrap="square" lIns="0" tIns="0" rIns="0" bIns="0" rtlCol="0" anchor="t"/>
          <a:lstStyle/>
          <a:p>
            <a:pPr algn="ctr" indent="0" marL="0">
              <a:buNone/>
            </a:pPr>
            <a:r>
              <a:rPr lang="en-US" sz="1400" b="1" dirty="0">
                <a:solidFill>
                  <a:schemeClr val="tx2"/>
                </a:solidFill>
              </a:rPr>
              <a:t>Web dashboard</a:t>
            </a:r>
            <a:endParaRPr lang="en-US" sz="1400" dirty="0"/>
          </a:p>
        </p:txBody>
      </p:sp>
      <p:sp>
        <p:nvSpPr>
          <p:cNvPr id="28" name="Text 21"/>
          <p:cNvSpPr txBox="1"/>
          <p:nvPr/>
        </p:nvSpPr>
        <p:spPr>
          <a:xfrm>
            <a:off x="7406640" y="2926080"/>
            <a:ext cx="1737360" cy="1005840"/>
          </a:xfrm>
          <a:prstGeom prst="rect">
            <a:avLst/>
          </a:prstGeom>
          <a:noFill/>
          <a:ln/>
        </p:spPr>
        <p:txBody>
          <a:bodyPr wrap="square" lIns="0" tIns="0" rIns="0" bIns="0" rtlCol="0" anchor="t"/>
          <a:lstStyle/>
          <a:p>
            <a:pPr algn="ctr" indent="0" marL="0">
              <a:buNone/>
            </a:pPr>
            <a:r>
              <a:rPr lang="en-US" sz="1100" dirty="0">
                <a:solidFill>
                  <a:schemeClr val="tx1"/>
                </a:solidFill>
              </a:rPr>
              <a:t>Management and nurse-station view (PC)</a:t>
            </a:r>
            <a:endParaRPr lang="en-US" sz="1100" dirty="0"/>
          </a:p>
        </p:txBody>
      </p:sp>
      <p:sp>
        <p:nvSpPr>
          <p:cNvPr id="29" name="Shape 22"/>
          <p:cNvSpPr/>
          <p:nvPr/>
        </p:nvSpPr>
        <p:spPr>
          <a:xfrm>
            <a:off x="9281160" y="2148840"/>
            <a:ext cx="228600" cy="0"/>
          </a:xfrm>
          <a:prstGeom prst="line">
            <a:avLst/>
          </a:prstGeom>
          <a:noFill/>
          <a:ln w="25400">
            <a:solidFill>
              <a:srgbClr val="00A3AD"/>
            </a:solidFill>
            <a:prstDash val="solid"/>
            <a:tailEnd type="triangle"/>
          </a:ln>
        </p:spPr>
      </p:sp>
      <p:sp>
        <p:nvSpPr>
          <p:cNvPr id="30" name="Shape 23"/>
          <p:cNvSpPr/>
          <p:nvPr/>
        </p:nvSpPr>
        <p:spPr>
          <a:xfrm>
            <a:off x="9509760" y="1737360"/>
            <a:ext cx="2011680" cy="2286000"/>
          </a:xfrm>
          <a:prstGeom prst="rect">
            <a:avLst/>
          </a:prstGeom>
          <a:solidFill>
            <a:schemeClr val="bg2"/>
          </a:solidFill>
          <a:ln/>
        </p:spPr>
      </p:sp>
      <p:sp>
        <p:nvSpPr>
          <p:cNvPr id="31" name="Shape 24"/>
          <p:cNvSpPr/>
          <p:nvPr/>
        </p:nvSpPr>
        <p:spPr>
          <a:xfrm>
            <a:off x="10241280" y="1874520"/>
            <a:ext cx="548640" cy="548640"/>
          </a:xfrm>
          <a:prstGeom prst="ellipse">
            <a:avLst/>
          </a:prstGeom>
          <a:solidFill>
            <a:schemeClr val="tx2"/>
          </a:solidFill>
          <a:ln/>
        </p:spPr>
      </p:sp>
      <p:pic>
        <p:nvPicPr>
          <p:cNvPr id="32" name="Image 4" descr="preencoded.png">    </p:cNvPr>
          <p:cNvPicPr>
            <a:picLocks noChangeAspect="1"/>
          </p:cNvPicPr>
          <p:nvPr/>
        </p:nvPicPr>
        <p:blipFill>
          <a:blip r:embed="rId5"/>
          <a:stretch>
            <a:fillRect/>
          </a:stretch>
        </p:blipFill>
        <p:spPr>
          <a:xfrm>
            <a:off x="10378440" y="2011680"/>
            <a:ext cx="274320" cy="274320"/>
          </a:xfrm>
          <a:prstGeom prst="rect">
            <a:avLst/>
          </a:prstGeom>
        </p:spPr>
      </p:pic>
      <p:sp>
        <p:nvSpPr>
          <p:cNvPr id="33" name="Text 25"/>
          <p:cNvSpPr txBox="1"/>
          <p:nvPr/>
        </p:nvSpPr>
        <p:spPr>
          <a:xfrm>
            <a:off x="9601200" y="2560320"/>
            <a:ext cx="1828800" cy="320040"/>
          </a:xfrm>
          <a:prstGeom prst="rect">
            <a:avLst/>
          </a:prstGeom>
          <a:noFill/>
          <a:ln/>
        </p:spPr>
        <p:txBody>
          <a:bodyPr wrap="square" lIns="0" tIns="0" rIns="0" bIns="0" rtlCol="0" anchor="t"/>
          <a:lstStyle/>
          <a:p>
            <a:pPr algn="ctr" indent="0" marL="0">
              <a:buNone/>
            </a:pPr>
            <a:r>
              <a:rPr lang="en-US" sz="1400" b="1" dirty="0">
                <a:solidFill>
                  <a:schemeClr val="tx2"/>
                </a:solidFill>
              </a:rPr>
              <a:t>Mobile app</a:t>
            </a:r>
            <a:endParaRPr lang="en-US" sz="1400" dirty="0"/>
          </a:p>
        </p:txBody>
      </p:sp>
      <p:sp>
        <p:nvSpPr>
          <p:cNvPr id="34" name="Text 26"/>
          <p:cNvSpPr txBox="1"/>
          <p:nvPr/>
        </p:nvSpPr>
        <p:spPr>
          <a:xfrm>
            <a:off x="9646920" y="2926080"/>
            <a:ext cx="1737360" cy="1005840"/>
          </a:xfrm>
          <a:prstGeom prst="rect">
            <a:avLst/>
          </a:prstGeom>
          <a:noFill/>
          <a:ln/>
        </p:spPr>
        <p:txBody>
          <a:bodyPr wrap="square" lIns="0" tIns="0" rIns="0" bIns="0" rtlCol="0" anchor="t"/>
          <a:lstStyle/>
          <a:p>
            <a:pPr algn="ctr" indent="0" marL="0">
              <a:buNone/>
            </a:pPr>
            <a:r>
              <a:rPr lang="en-US" sz="1100" dirty="0">
                <a:solidFill>
                  <a:schemeClr val="tx1"/>
                </a:solidFill>
              </a:rPr>
              <a:t>Alerts for on-site care workers (iOS / Android)</a:t>
            </a:r>
            <a:endParaRPr lang="en-US" sz="1100" dirty="0"/>
          </a:p>
        </p:txBody>
      </p:sp>
      <p:sp>
        <p:nvSpPr>
          <p:cNvPr id="35" name="Text 27"/>
          <p:cNvSpPr txBox="1"/>
          <p:nvPr/>
        </p:nvSpPr>
        <p:spPr>
          <a:xfrm>
            <a:off x="548640" y="4297680"/>
            <a:ext cx="5120640" cy="274320"/>
          </a:xfrm>
          <a:prstGeom prst="rect">
            <a:avLst/>
          </a:prstGeom>
          <a:noFill/>
          <a:ln/>
        </p:spPr>
        <p:txBody>
          <a:bodyPr wrap="square" lIns="0" tIns="0" rIns="0" bIns="0" rtlCol="0" anchor="t"/>
          <a:lstStyle/>
          <a:p>
            <a:pPr indent="0" marL="0">
              <a:buNone/>
            </a:pPr>
            <a:r>
              <a:rPr lang="en-US" sz="1400" b="1" dirty="0">
                <a:solidFill>
                  <a:schemeClr val="tx2"/>
                </a:solidFill>
              </a:rPr>
              <a:t>Value to hospitals</a:t>
            </a:r>
            <a:endParaRPr lang="en-US" sz="1400" dirty="0"/>
          </a:p>
        </p:txBody>
      </p:sp>
      <p:sp>
        <p:nvSpPr>
          <p:cNvPr id="36" name="Text 28"/>
          <p:cNvSpPr txBox="1"/>
          <p:nvPr/>
        </p:nvSpPr>
        <p:spPr>
          <a:xfrm>
            <a:off x="548640" y="4617720"/>
            <a:ext cx="5120640" cy="137160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tx1"/>
                </a:solidFill>
              </a:rPr>
              <a:t>Right-time diaper changes instead of routine checks</a:t>
            </a:r>
            <a:endParaRPr lang="en-US" sz="1300" dirty="0"/>
          </a:p>
          <a:p>
            <a:pPr marL="152400" indent="-152400">
              <a:spcAft>
                <a:spcPts val="500"/>
              </a:spcAft>
              <a:buSzPct val="100000"/>
              <a:buChar char="•"/>
            </a:pPr>
            <a:r>
              <a:rPr lang="en-US" sz="1300" dirty="0">
                <a:solidFill>
                  <a:schemeClr val="tx1"/>
                </a:solidFill>
              </a:rPr>
              <a:t>Less nurse time on manual rounds; fewer disturbances for patients</a:t>
            </a:r>
            <a:endParaRPr lang="en-US" sz="1300" dirty="0"/>
          </a:p>
          <a:p>
            <a:pPr marL="152400" indent="-152400">
              <a:spcAft>
                <a:spcPts val="500"/>
              </a:spcAft>
              <a:buSzPct val="100000"/>
              <a:buChar char="•"/>
            </a:pPr>
            <a:r>
              <a:rPr lang="en-US" sz="1300" dirty="0">
                <a:solidFill>
                  <a:schemeClr val="tx1"/>
                </a:solidFill>
              </a:rPr>
              <a:t>Objective data to support skin-integrity and continence care</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943600" y="4297680"/>
          <a:ext cx="5696712" cy="914400"/>
        </p:xfrm>
        <a:graphic>
          <a:graphicData uri="http://schemas.openxmlformats.org/drawingml/2006/table">
            <a:tbl>
              <a:tblPr/>
              <a:tblGrid>
                <a:gridCol w="1554480"/>
                <a:gridCol w="4142232"/>
              </a:tblGrid>
              <a:tr h="411480">
                <a:tc>
                  <a:txBody>
                    <a:bodyPr/>
                    <a:lstStyle/>
                    <a:p>
                      <a:pPr indent="0" marL="0">
                        <a:buNone/>
                      </a:pPr>
                      <a:r>
                        <a:rPr lang="en-US" sz="1050" b="1" dirty="0">
                          <a:solidFill>
                            <a:srgbClr val="FFFFFF"/>
                          </a:solidFill>
                        </a:rPr>
                        <a:t>Hardware</a:t>
                      </a:r>
                      <a:endParaRPr lang="en-US" sz="10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50" b="1" dirty="0">
                          <a:solidFill>
                            <a:srgbClr val="FFFFFF"/>
                          </a:solidFill>
                        </a:rPr>
                        <a:t>Key specifications</a:t>
                      </a:r>
                      <a:endParaRPr lang="en-US" sz="10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r>
              <a:tr h="411480">
                <a:tc>
                  <a:txBody>
                    <a:bodyPr/>
                    <a:lstStyle/>
                    <a:p>
                      <a:pPr indent="0" marL="0">
                        <a:buNone/>
                      </a:pPr>
                      <a:r>
                        <a:rPr lang="en-US" sz="1050" b="1" dirty="0">
                          <a:solidFill>
                            <a:srgbClr val="1F2937"/>
                          </a:solidFill>
                        </a:rPr>
                        <a:t>Sensor unit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290 × 31 × 10.85 mm · 23 g · CR2032 coin cell · BLE</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411480">
                <a:tc>
                  <a:txBody>
                    <a:bodyPr/>
                    <a:lstStyle/>
                    <a:p>
                      <a:pPr indent="0" marL="0">
                        <a:buNone/>
                      </a:pPr>
                      <a:r>
                        <a:rPr lang="en-US" sz="1050" b="1" dirty="0">
                          <a:solidFill>
                            <a:srgbClr val="1F2937"/>
                          </a:solidFill>
                        </a:rPr>
                        <a:t>Relay device</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42 g · 5 V USB-A, always-on · BLE 5 + Wi-Fi 2.4 GHz</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411480">
                <a:tc>
                  <a:txBody>
                    <a:bodyPr/>
                    <a:lstStyle/>
                    <a:p>
                      <a:pPr indent="0" marL="0">
                        <a:buNone/>
                      </a:pPr>
                      <a:r>
                        <a:rPr lang="en-US" sz="1050" b="1" dirty="0">
                          <a:solidFill>
                            <a:srgbClr val="1F2937"/>
                          </a:solidFill>
                        </a:rPr>
                        <a:t>Consumables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Strap stickers (600 pcs/set); single-use hygiene barrier film</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3 · SMART DIAPER SYSTEM</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Clinical validation demonstrates reliable detection performance of the sensor hardware</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clinical / validation reports. Do not present figures until verified against the source studies.</a:t>
            </a:r>
            <a:endParaRPr lang="en-US" sz="900" dirty="0"/>
          </a:p>
        </p:txBody>
      </p:sp>
      <p:sp>
        <p:nvSpPr>
          <p:cNvPr id="6" name="Shape 3"/>
          <p:cNvSpPr/>
          <p:nvPr/>
        </p:nvSpPr>
        <p:spPr>
          <a:xfrm>
            <a:off x="548640" y="1691640"/>
            <a:ext cx="2651760" cy="1280160"/>
          </a:xfrm>
          <a:prstGeom prst="rect">
            <a:avLst/>
          </a:prstGeom>
          <a:solidFill>
            <a:schemeClr val="bg2"/>
          </a:solidFill>
          <a:ln/>
        </p:spPr>
      </p:sp>
      <p:sp>
        <p:nvSpPr>
          <p:cNvPr id="7" name="Text 4"/>
          <p:cNvSpPr txBox="1"/>
          <p:nvPr/>
        </p:nvSpPr>
        <p:spPr>
          <a:xfrm>
            <a:off x="731520" y="1783080"/>
            <a:ext cx="2286000" cy="685800"/>
          </a:xfrm>
          <a:prstGeom prst="rect">
            <a:avLst/>
          </a:prstGeom>
          <a:noFill/>
          <a:ln/>
        </p:spPr>
        <p:txBody>
          <a:bodyPr wrap="square" lIns="0" tIns="0" rIns="0" bIns="0" rtlCol="0" anchor="t"/>
          <a:lstStyle/>
          <a:p>
            <a:pPr indent="0" marL="0">
              <a:buNone/>
            </a:pPr>
            <a:r>
              <a:rPr lang="en-US" sz="3600" b="1" dirty="0">
                <a:solidFill>
                  <a:schemeClr val="accent3"/>
                </a:solidFill>
                <a:latin typeface="Cambria" pitchFamily="34" charset="0"/>
                <a:ea typeface="Cambria" pitchFamily="34" charset="-122"/>
                <a:cs typeface="Cambria" pitchFamily="34" charset="-120"/>
              </a:rPr>
              <a:t>[xx]%</a:t>
            </a:r>
            <a:endParaRPr lang="en-US" sz="3600" dirty="0"/>
          </a:p>
        </p:txBody>
      </p:sp>
      <p:sp>
        <p:nvSpPr>
          <p:cNvPr id="8" name="Text 5"/>
          <p:cNvSpPr txBox="1"/>
          <p:nvPr/>
        </p:nvSpPr>
        <p:spPr>
          <a:xfrm>
            <a:off x="731520" y="2514600"/>
            <a:ext cx="2286000" cy="365760"/>
          </a:xfrm>
          <a:prstGeom prst="rect">
            <a:avLst/>
          </a:prstGeom>
          <a:noFill/>
          <a:ln/>
        </p:spPr>
        <p:txBody>
          <a:bodyPr wrap="square" lIns="0" tIns="0" rIns="0" bIns="0" rtlCol="0" anchor="t"/>
          <a:lstStyle/>
          <a:p>
            <a:pPr indent="0" marL="0">
              <a:buNone/>
            </a:pPr>
            <a:r>
              <a:rPr lang="en-US" sz="1200" dirty="0">
                <a:solidFill>
                  <a:schemeClr val="accent4"/>
                </a:solidFill>
              </a:rPr>
              <a:t>Sensitivity</a:t>
            </a:r>
            <a:endParaRPr lang="en-US" sz="1200" dirty="0"/>
          </a:p>
        </p:txBody>
      </p:sp>
      <p:sp>
        <p:nvSpPr>
          <p:cNvPr id="9" name="Shape 6"/>
          <p:cNvSpPr/>
          <p:nvPr/>
        </p:nvSpPr>
        <p:spPr>
          <a:xfrm>
            <a:off x="3355848" y="1691640"/>
            <a:ext cx="2651760" cy="1280160"/>
          </a:xfrm>
          <a:prstGeom prst="rect">
            <a:avLst/>
          </a:prstGeom>
          <a:solidFill>
            <a:schemeClr val="bg2"/>
          </a:solidFill>
          <a:ln/>
        </p:spPr>
      </p:sp>
      <p:sp>
        <p:nvSpPr>
          <p:cNvPr id="10" name="Text 7"/>
          <p:cNvSpPr txBox="1"/>
          <p:nvPr/>
        </p:nvSpPr>
        <p:spPr>
          <a:xfrm>
            <a:off x="3538728" y="1783080"/>
            <a:ext cx="2286000" cy="685800"/>
          </a:xfrm>
          <a:prstGeom prst="rect">
            <a:avLst/>
          </a:prstGeom>
          <a:noFill/>
          <a:ln/>
        </p:spPr>
        <p:txBody>
          <a:bodyPr wrap="square" lIns="0" tIns="0" rIns="0" bIns="0" rtlCol="0" anchor="t"/>
          <a:lstStyle/>
          <a:p>
            <a:pPr indent="0" marL="0">
              <a:buNone/>
            </a:pPr>
            <a:r>
              <a:rPr lang="en-US" sz="3600" b="1" dirty="0">
                <a:solidFill>
                  <a:schemeClr val="accent3"/>
                </a:solidFill>
                <a:latin typeface="Cambria" pitchFamily="34" charset="0"/>
                <a:ea typeface="Cambria" pitchFamily="34" charset="-122"/>
                <a:cs typeface="Cambria" pitchFamily="34" charset="-120"/>
              </a:rPr>
              <a:t>[xx]%</a:t>
            </a:r>
            <a:endParaRPr lang="en-US" sz="3600" dirty="0"/>
          </a:p>
        </p:txBody>
      </p:sp>
      <p:sp>
        <p:nvSpPr>
          <p:cNvPr id="11" name="Text 8"/>
          <p:cNvSpPr txBox="1"/>
          <p:nvPr/>
        </p:nvSpPr>
        <p:spPr>
          <a:xfrm>
            <a:off x="3538728" y="2514600"/>
            <a:ext cx="2286000" cy="365760"/>
          </a:xfrm>
          <a:prstGeom prst="rect">
            <a:avLst/>
          </a:prstGeom>
          <a:noFill/>
          <a:ln/>
        </p:spPr>
        <p:txBody>
          <a:bodyPr wrap="square" lIns="0" tIns="0" rIns="0" bIns="0" rtlCol="0" anchor="t"/>
          <a:lstStyle/>
          <a:p>
            <a:pPr indent="0" marL="0">
              <a:buNone/>
            </a:pPr>
            <a:r>
              <a:rPr lang="en-US" sz="1200" dirty="0">
                <a:solidFill>
                  <a:schemeClr val="accent4"/>
                </a:solidFill>
              </a:rPr>
              <a:t>Specificity</a:t>
            </a:r>
            <a:endParaRPr lang="en-US" sz="1200" dirty="0"/>
          </a:p>
        </p:txBody>
      </p:sp>
      <p:sp>
        <p:nvSpPr>
          <p:cNvPr id="12" name="Shape 9"/>
          <p:cNvSpPr/>
          <p:nvPr/>
        </p:nvSpPr>
        <p:spPr>
          <a:xfrm>
            <a:off x="6163056" y="1691640"/>
            <a:ext cx="2651760" cy="1280160"/>
          </a:xfrm>
          <a:prstGeom prst="rect">
            <a:avLst/>
          </a:prstGeom>
          <a:solidFill>
            <a:schemeClr val="bg2"/>
          </a:solidFill>
          <a:ln/>
        </p:spPr>
      </p:sp>
      <p:sp>
        <p:nvSpPr>
          <p:cNvPr id="13" name="Text 10"/>
          <p:cNvSpPr txBox="1"/>
          <p:nvPr/>
        </p:nvSpPr>
        <p:spPr>
          <a:xfrm>
            <a:off x="6345936" y="1783080"/>
            <a:ext cx="2286000" cy="685800"/>
          </a:xfrm>
          <a:prstGeom prst="rect">
            <a:avLst/>
          </a:prstGeom>
          <a:noFill/>
          <a:ln/>
        </p:spPr>
        <p:txBody>
          <a:bodyPr wrap="square" lIns="0" tIns="0" rIns="0" bIns="0" rtlCol="0" anchor="t"/>
          <a:lstStyle/>
          <a:p>
            <a:pPr indent="0" marL="0">
              <a:buNone/>
            </a:pPr>
            <a:r>
              <a:rPr lang="en-US" sz="3600" b="1" dirty="0">
                <a:solidFill>
                  <a:schemeClr val="accent3"/>
                </a:solidFill>
                <a:latin typeface="Cambria" pitchFamily="34" charset="0"/>
                <a:ea typeface="Cambria" pitchFamily="34" charset="-122"/>
                <a:cs typeface="Cambria" pitchFamily="34" charset="-120"/>
              </a:rPr>
              <a:t>[xx] s</a:t>
            </a:r>
            <a:endParaRPr lang="en-US" sz="3600" dirty="0"/>
          </a:p>
        </p:txBody>
      </p:sp>
      <p:sp>
        <p:nvSpPr>
          <p:cNvPr id="14" name="Text 11"/>
          <p:cNvSpPr txBox="1"/>
          <p:nvPr/>
        </p:nvSpPr>
        <p:spPr>
          <a:xfrm>
            <a:off x="6345936" y="2514600"/>
            <a:ext cx="2286000" cy="365760"/>
          </a:xfrm>
          <a:prstGeom prst="rect">
            <a:avLst/>
          </a:prstGeom>
          <a:noFill/>
          <a:ln/>
        </p:spPr>
        <p:txBody>
          <a:bodyPr wrap="square" lIns="0" tIns="0" rIns="0" bIns="0" rtlCol="0" anchor="t"/>
          <a:lstStyle/>
          <a:p>
            <a:pPr indent="0" marL="0">
              <a:buNone/>
            </a:pPr>
            <a:r>
              <a:rPr lang="en-US" sz="1200" dirty="0">
                <a:solidFill>
                  <a:schemeClr val="accent4"/>
                </a:solidFill>
              </a:rPr>
              <a:t>Median detection latency</a:t>
            </a:r>
            <a:endParaRPr lang="en-US" sz="1200" dirty="0"/>
          </a:p>
        </p:txBody>
      </p:sp>
      <p:sp>
        <p:nvSpPr>
          <p:cNvPr id="15" name="Shape 12"/>
          <p:cNvSpPr/>
          <p:nvPr/>
        </p:nvSpPr>
        <p:spPr>
          <a:xfrm>
            <a:off x="8970264" y="1691640"/>
            <a:ext cx="2651760" cy="1280160"/>
          </a:xfrm>
          <a:prstGeom prst="rect">
            <a:avLst/>
          </a:prstGeom>
          <a:solidFill>
            <a:schemeClr val="bg2"/>
          </a:solidFill>
          <a:ln/>
        </p:spPr>
      </p:sp>
      <p:sp>
        <p:nvSpPr>
          <p:cNvPr id="16" name="Text 13"/>
          <p:cNvSpPr txBox="1"/>
          <p:nvPr/>
        </p:nvSpPr>
        <p:spPr>
          <a:xfrm>
            <a:off x="9153144" y="1783080"/>
            <a:ext cx="2286000" cy="685800"/>
          </a:xfrm>
          <a:prstGeom prst="rect">
            <a:avLst/>
          </a:prstGeom>
          <a:noFill/>
          <a:ln/>
        </p:spPr>
        <p:txBody>
          <a:bodyPr wrap="square" lIns="0" tIns="0" rIns="0" bIns="0" rtlCol="0" anchor="t"/>
          <a:lstStyle/>
          <a:p>
            <a:pPr indent="0" marL="0">
              <a:buNone/>
            </a:pPr>
            <a:r>
              <a:rPr lang="en-US" sz="3600" b="1" dirty="0">
                <a:solidFill>
                  <a:schemeClr val="accent3"/>
                </a:solidFill>
                <a:latin typeface="Cambria" pitchFamily="34" charset="0"/>
                <a:ea typeface="Cambria" pitchFamily="34" charset="-122"/>
                <a:cs typeface="Cambria" pitchFamily="34" charset="-120"/>
              </a:rPr>
              <a:t>[xx]</a:t>
            </a:r>
            <a:endParaRPr lang="en-US" sz="3600" dirty="0"/>
          </a:p>
        </p:txBody>
      </p:sp>
      <p:sp>
        <p:nvSpPr>
          <p:cNvPr id="17" name="Text 14"/>
          <p:cNvSpPr txBox="1"/>
          <p:nvPr/>
        </p:nvSpPr>
        <p:spPr>
          <a:xfrm>
            <a:off x="9153144" y="2514600"/>
            <a:ext cx="2286000" cy="365760"/>
          </a:xfrm>
          <a:prstGeom prst="rect">
            <a:avLst/>
          </a:prstGeom>
          <a:noFill/>
          <a:ln/>
        </p:spPr>
        <p:txBody>
          <a:bodyPr wrap="square" lIns="0" tIns="0" rIns="0" bIns="0" rtlCol="0" anchor="t"/>
          <a:lstStyle/>
          <a:p>
            <a:pPr indent="0" marL="0">
              <a:buNone/>
            </a:pPr>
            <a:r>
              <a:rPr lang="en-US" sz="1200" dirty="0">
                <a:solidFill>
                  <a:schemeClr val="accent4"/>
                </a:solidFill>
              </a:rPr>
              <a:t>False alarms / bed / day</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11091672" cy="914400"/>
        </p:xfrm>
        <a:graphic>
          <a:graphicData uri="http://schemas.openxmlformats.org/drawingml/2006/table">
            <a:tbl>
              <a:tblPr/>
              <a:tblGrid>
                <a:gridCol w="2926080"/>
                <a:gridCol w="2194560"/>
                <a:gridCol w="1645920"/>
                <a:gridCol w="2103120"/>
                <a:gridCol w="2221992"/>
              </a:tblGrid>
              <a:tr h="457200">
                <a:tc>
                  <a:txBody>
                    <a:bodyPr/>
                    <a:lstStyle/>
                    <a:p>
                      <a:pPr indent="0" marL="0">
                        <a:buNone/>
                      </a:pPr>
                      <a:r>
                        <a:rPr lang="en-US" sz="1100" b="1" dirty="0">
                          <a:solidFill>
                            <a:srgbClr val="FFFFFF"/>
                          </a:solidFill>
                        </a:rPr>
                        <a:t>Study / report</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Setting</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Sample</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Design</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Key result</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r>
              <a:tr h="457200">
                <a:tc>
                  <a:txBody>
                    <a:bodyPr/>
                    <a:lstStyle/>
                    <a:p>
                      <a:pPr indent="0" marL="0">
                        <a:buNone/>
                      </a:pPr>
                      <a:r>
                        <a:rPr lang="en-US" sz="1100" i="1" dirty="0">
                          <a:solidFill>
                            <a:srgbClr val="7A4F00"/>
                          </a:solidFill>
                        </a:rPr>
                        <a:t>[INPUT REQUIRED]</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457200">
                <a:tc>
                  <a:txBody>
                    <a:bodyPr/>
                    <a:lstStyle/>
                    <a:p>
                      <a:pPr indent="0" marL="0">
                        <a:buNone/>
                      </a:pPr>
                      <a:r>
                        <a:rPr lang="en-US" sz="1100" i="1" dirty="0">
                          <a:solidFill>
                            <a:srgbClr val="7A4F00"/>
                          </a:solidFill>
                        </a:rPr>
                        <a:t>[INPUT REQUIRED]</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457200">
                <a:tc>
                  <a:txBody>
                    <a:bodyPr/>
                    <a:lstStyle/>
                    <a:p>
                      <a:pPr indent="0" marL="0">
                        <a:buNone/>
                      </a:pPr>
                      <a:r>
                        <a:rPr lang="en-US" sz="1100" i="1" dirty="0">
                          <a:solidFill>
                            <a:srgbClr val="7A4F00"/>
                          </a:solidFill>
                        </a:rPr>
                        <a:t>[INPUT REQUIRED]</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bl>
          </a:graphicData>
        </a:graphic>
      </p:graphicFrame>
      <p:sp>
        <p:nvSpPr>
          <p:cNvPr id="19" name="Text 15"/>
          <p:cNvSpPr txBox="1"/>
          <p:nvPr/>
        </p:nvSpPr>
        <p:spPr>
          <a:xfrm>
            <a:off x="548640" y="5349240"/>
            <a:ext cx="11091672" cy="457200"/>
          </a:xfrm>
          <a:prstGeom prst="rect">
            <a:avLst/>
          </a:prstGeom>
          <a:noFill/>
          <a:ln/>
        </p:spPr>
        <p:txBody>
          <a:bodyPr wrap="square" lIns="0" tIns="0" rIns="0" bIns="0" rtlCol="0" anchor="t"/>
          <a:lstStyle/>
          <a:p>
            <a:pPr indent="0" marL="0">
              <a:buNone/>
            </a:pPr>
            <a:r>
              <a:rPr lang="en-US" sz="1200" dirty="0">
                <a:solidFill>
                  <a:schemeClr val="accent4"/>
                </a:solidFill>
              </a:rPr>
              <a:t>Also include: hospital-environment testing (RF interference, multi-bed density), safety / biocompatibility tests, third-party test-lab reports.</a:t>
            </a:r>
            <a:endParaRPr lang="en-US" sz="12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3 · SMART DIAPER SYSTEM</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A ward-level dashboard gives nurses a single view of who needs care now</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Screen shown is an illustrative wireframe, not the final UI.</a:t>
            </a:r>
            <a:endParaRPr lang="en-US" sz="900" dirty="0"/>
          </a:p>
        </p:txBody>
      </p:sp>
      <p:sp>
        <p:nvSpPr>
          <p:cNvPr id="6" name="Shape 3"/>
          <p:cNvSpPr/>
          <p:nvPr/>
        </p:nvSpPr>
        <p:spPr>
          <a:xfrm>
            <a:off x="548640" y="1691640"/>
            <a:ext cx="5760720" cy="4206240"/>
          </a:xfrm>
          <a:prstGeom prst="rect">
            <a:avLst/>
          </a:prstGeom>
          <a:solidFill>
            <a:srgbClr val="FFFFFF"/>
          </a:solidFill>
          <a:ln w="12700">
            <a:solidFill>
              <a:srgbClr val="D5DCE6"/>
            </a:solidFill>
            <a:prstDash val="solid"/>
          </a:ln>
          <a:effectLst>
            <a:outerShdw sx="100000" sy="100000" kx="0" ky="0" algn="bl" rotWithShape="0" blurRad="76200" dist="25400" dir="5400000">
              <a:srgbClr val="000000">
                <a:alpha val="12000"/>
              </a:srgbClr>
            </a:outerShdw>
          </a:effectLst>
        </p:spPr>
      </p:sp>
      <p:sp>
        <p:nvSpPr>
          <p:cNvPr id="7" name="Shape 4"/>
          <p:cNvSpPr/>
          <p:nvPr/>
        </p:nvSpPr>
        <p:spPr>
          <a:xfrm>
            <a:off x="548640" y="1691640"/>
            <a:ext cx="5760720" cy="411480"/>
          </a:xfrm>
          <a:prstGeom prst="rect">
            <a:avLst/>
          </a:prstGeom>
          <a:solidFill>
            <a:schemeClr val="tx2"/>
          </a:solidFill>
          <a:ln/>
        </p:spPr>
      </p:sp>
      <p:sp>
        <p:nvSpPr>
          <p:cNvPr id="8" name="Text 5"/>
          <p:cNvSpPr txBox="1"/>
          <p:nvPr/>
        </p:nvSpPr>
        <p:spPr>
          <a:xfrm>
            <a:off x="731520" y="1691640"/>
            <a:ext cx="5303520" cy="411480"/>
          </a:xfrm>
          <a:prstGeom prst="rect">
            <a:avLst/>
          </a:prstGeom>
          <a:noFill/>
          <a:ln/>
        </p:spPr>
        <p:txBody>
          <a:bodyPr wrap="square" lIns="0" tIns="0" rIns="0" bIns="0" rtlCol="0" anchor="ctr"/>
          <a:lstStyle/>
          <a:p>
            <a:pPr indent="0" marL="0">
              <a:buNone/>
            </a:pPr>
            <a:r>
              <a:rPr lang="en-US" sz="1200" b="1" dirty="0">
                <a:solidFill>
                  <a:schemeClr val="bg1"/>
                </a:solidFill>
              </a:rPr>
              <a:t>Ward 5A — Live bed status (illustrative)</a:t>
            </a:r>
            <a:endParaRPr lang="en-US" sz="1200" dirty="0"/>
          </a:p>
        </p:txBody>
      </p:sp>
      <p:sp>
        <p:nvSpPr>
          <p:cNvPr id="9" name="Shape 6"/>
          <p:cNvSpPr/>
          <p:nvPr/>
        </p:nvSpPr>
        <p:spPr>
          <a:xfrm>
            <a:off x="777240" y="2331720"/>
            <a:ext cx="1234440" cy="868680"/>
          </a:xfrm>
          <a:prstGeom prst="rect">
            <a:avLst/>
          </a:prstGeom>
          <a:solidFill>
            <a:schemeClr val="accent1">
              <a:alpha val="85000"/>
            </a:schemeClr>
          </a:solidFill>
          <a:ln/>
        </p:spPr>
      </p:sp>
      <p:sp>
        <p:nvSpPr>
          <p:cNvPr id="10" name="Text 7"/>
          <p:cNvSpPr txBox="1"/>
          <p:nvPr/>
        </p:nvSpPr>
        <p:spPr>
          <a:xfrm>
            <a:off x="777240" y="242316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01</a:t>
            </a:r>
            <a:endParaRPr lang="en-US" sz="1100" dirty="0"/>
          </a:p>
        </p:txBody>
      </p:sp>
      <p:sp>
        <p:nvSpPr>
          <p:cNvPr id="11" name="Text 8"/>
          <p:cNvSpPr txBox="1"/>
          <p:nvPr/>
        </p:nvSpPr>
        <p:spPr>
          <a:xfrm>
            <a:off x="777240" y="274320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OK</a:t>
            </a:r>
            <a:endParaRPr lang="en-US" sz="1100" dirty="0"/>
          </a:p>
        </p:txBody>
      </p:sp>
      <p:sp>
        <p:nvSpPr>
          <p:cNvPr id="12" name="Shape 9"/>
          <p:cNvSpPr/>
          <p:nvPr/>
        </p:nvSpPr>
        <p:spPr>
          <a:xfrm>
            <a:off x="2148840" y="2331720"/>
            <a:ext cx="1234440" cy="868680"/>
          </a:xfrm>
          <a:prstGeom prst="rect">
            <a:avLst/>
          </a:prstGeom>
          <a:solidFill>
            <a:schemeClr val="accent1">
              <a:alpha val="85000"/>
            </a:schemeClr>
          </a:solidFill>
          <a:ln/>
        </p:spPr>
      </p:sp>
      <p:sp>
        <p:nvSpPr>
          <p:cNvPr id="13" name="Text 10"/>
          <p:cNvSpPr txBox="1"/>
          <p:nvPr/>
        </p:nvSpPr>
        <p:spPr>
          <a:xfrm>
            <a:off x="2148840" y="242316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02</a:t>
            </a:r>
            <a:endParaRPr lang="en-US" sz="1100" dirty="0"/>
          </a:p>
        </p:txBody>
      </p:sp>
      <p:sp>
        <p:nvSpPr>
          <p:cNvPr id="14" name="Text 11"/>
          <p:cNvSpPr txBox="1"/>
          <p:nvPr/>
        </p:nvSpPr>
        <p:spPr>
          <a:xfrm>
            <a:off x="2148840" y="274320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OK</a:t>
            </a:r>
            <a:endParaRPr lang="en-US" sz="1100" dirty="0"/>
          </a:p>
        </p:txBody>
      </p:sp>
      <p:sp>
        <p:nvSpPr>
          <p:cNvPr id="15" name="Shape 12"/>
          <p:cNvSpPr/>
          <p:nvPr/>
        </p:nvSpPr>
        <p:spPr>
          <a:xfrm>
            <a:off x="3520440" y="2331720"/>
            <a:ext cx="1234440" cy="868680"/>
          </a:xfrm>
          <a:prstGeom prst="rect">
            <a:avLst/>
          </a:prstGeom>
          <a:solidFill>
            <a:schemeClr val="accent3">
              <a:alpha val="85000"/>
            </a:schemeClr>
          </a:solidFill>
          <a:ln/>
        </p:spPr>
      </p:sp>
      <p:sp>
        <p:nvSpPr>
          <p:cNvPr id="16" name="Text 13"/>
          <p:cNvSpPr txBox="1"/>
          <p:nvPr/>
        </p:nvSpPr>
        <p:spPr>
          <a:xfrm>
            <a:off x="3520440" y="242316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03</a:t>
            </a:r>
            <a:endParaRPr lang="en-US" sz="1100" dirty="0"/>
          </a:p>
        </p:txBody>
      </p:sp>
      <p:sp>
        <p:nvSpPr>
          <p:cNvPr id="17" name="Text 14"/>
          <p:cNvSpPr txBox="1"/>
          <p:nvPr/>
        </p:nvSpPr>
        <p:spPr>
          <a:xfrm>
            <a:off x="3520440" y="274320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Soon</a:t>
            </a:r>
            <a:endParaRPr lang="en-US" sz="1100" dirty="0"/>
          </a:p>
        </p:txBody>
      </p:sp>
      <p:sp>
        <p:nvSpPr>
          <p:cNvPr id="18" name="Shape 15"/>
          <p:cNvSpPr/>
          <p:nvPr/>
        </p:nvSpPr>
        <p:spPr>
          <a:xfrm>
            <a:off x="4892040" y="2331720"/>
            <a:ext cx="1234440" cy="868680"/>
          </a:xfrm>
          <a:prstGeom prst="rect">
            <a:avLst/>
          </a:prstGeom>
          <a:solidFill>
            <a:schemeClr val="accent1">
              <a:alpha val="85000"/>
            </a:schemeClr>
          </a:solidFill>
          <a:ln/>
        </p:spPr>
      </p:sp>
      <p:sp>
        <p:nvSpPr>
          <p:cNvPr id="19" name="Text 16"/>
          <p:cNvSpPr txBox="1"/>
          <p:nvPr/>
        </p:nvSpPr>
        <p:spPr>
          <a:xfrm>
            <a:off x="4892040" y="242316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04</a:t>
            </a:r>
            <a:endParaRPr lang="en-US" sz="1100" dirty="0"/>
          </a:p>
        </p:txBody>
      </p:sp>
      <p:sp>
        <p:nvSpPr>
          <p:cNvPr id="20" name="Text 17"/>
          <p:cNvSpPr txBox="1"/>
          <p:nvPr/>
        </p:nvSpPr>
        <p:spPr>
          <a:xfrm>
            <a:off x="4892040" y="274320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OK</a:t>
            </a:r>
            <a:endParaRPr lang="en-US" sz="1100" dirty="0"/>
          </a:p>
        </p:txBody>
      </p:sp>
      <p:sp>
        <p:nvSpPr>
          <p:cNvPr id="21" name="Shape 18"/>
          <p:cNvSpPr/>
          <p:nvPr/>
        </p:nvSpPr>
        <p:spPr>
          <a:xfrm>
            <a:off x="777240" y="3337560"/>
            <a:ext cx="1234440" cy="868680"/>
          </a:xfrm>
          <a:prstGeom prst="rect">
            <a:avLst/>
          </a:prstGeom>
          <a:solidFill>
            <a:schemeClr val="accent6">
              <a:alpha val="85000"/>
            </a:schemeClr>
          </a:solidFill>
          <a:ln/>
        </p:spPr>
      </p:sp>
      <p:sp>
        <p:nvSpPr>
          <p:cNvPr id="22" name="Text 19"/>
          <p:cNvSpPr txBox="1"/>
          <p:nvPr/>
        </p:nvSpPr>
        <p:spPr>
          <a:xfrm>
            <a:off x="777240" y="342900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05</a:t>
            </a:r>
            <a:endParaRPr lang="en-US" sz="1100" dirty="0"/>
          </a:p>
        </p:txBody>
      </p:sp>
      <p:sp>
        <p:nvSpPr>
          <p:cNvPr id="23" name="Text 20"/>
          <p:cNvSpPr txBox="1"/>
          <p:nvPr/>
        </p:nvSpPr>
        <p:spPr>
          <a:xfrm>
            <a:off x="777240" y="374904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Change now</a:t>
            </a:r>
            <a:endParaRPr lang="en-US" sz="1100" dirty="0"/>
          </a:p>
        </p:txBody>
      </p:sp>
      <p:sp>
        <p:nvSpPr>
          <p:cNvPr id="24" name="Shape 21"/>
          <p:cNvSpPr/>
          <p:nvPr/>
        </p:nvSpPr>
        <p:spPr>
          <a:xfrm>
            <a:off x="2148840" y="3337560"/>
            <a:ext cx="1234440" cy="868680"/>
          </a:xfrm>
          <a:prstGeom prst="rect">
            <a:avLst/>
          </a:prstGeom>
          <a:solidFill>
            <a:schemeClr val="accent1">
              <a:alpha val="85000"/>
            </a:schemeClr>
          </a:solidFill>
          <a:ln/>
        </p:spPr>
      </p:sp>
      <p:sp>
        <p:nvSpPr>
          <p:cNvPr id="25" name="Text 22"/>
          <p:cNvSpPr txBox="1"/>
          <p:nvPr/>
        </p:nvSpPr>
        <p:spPr>
          <a:xfrm>
            <a:off x="2148840" y="342900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06</a:t>
            </a:r>
            <a:endParaRPr lang="en-US" sz="1100" dirty="0"/>
          </a:p>
        </p:txBody>
      </p:sp>
      <p:sp>
        <p:nvSpPr>
          <p:cNvPr id="26" name="Text 23"/>
          <p:cNvSpPr txBox="1"/>
          <p:nvPr/>
        </p:nvSpPr>
        <p:spPr>
          <a:xfrm>
            <a:off x="2148840" y="374904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OK</a:t>
            </a:r>
            <a:endParaRPr lang="en-US" sz="1100" dirty="0"/>
          </a:p>
        </p:txBody>
      </p:sp>
      <p:sp>
        <p:nvSpPr>
          <p:cNvPr id="27" name="Shape 24"/>
          <p:cNvSpPr/>
          <p:nvPr/>
        </p:nvSpPr>
        <p:spPr>
          <a:xfrm>
            <a:off x="3520440" y="3337560"/>
            <a:ext cx="1234440" cy="868680"/>
          </a:xfrm>
          <a:prstGeom prst="rect">
            <a:avLst/>
          </a:prstGeom>
          <a:solidFill>
            <a:schemeClr val="accent1">
              <a:alpha val="85000"/>
            </a:schemeClr>
          </a:solidFill>
          <a:ln/>
        </p:spPr>
      </p:sp>
      <p:sp>
        <p:nvSpPr>
          <p:cNvPr id="28" name="Text 25"/>
          <p:cNvSpPr txBox="1"/>
          <p:nvPr/>
        </p:nvSpPr>
        <p:spPr>
          <a:xfrm>
            <a:off x="3520440" y="342900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07</a:t>
            </a:r>
            <a:endParaRPr lang="en-US" sz="1100" dirty="0"/>
          </a:p>
        </p:txBody>
      </p:sp>
      <p:sp>
        <p:nvSpPr>
          <p:cNvPr id="29" name="Text 26"/>
          <p:cNvSpPr txBox="1"/>
          <p:nvPr/>
        </p:nvSpPr>
        <p:spPr>
          <a:xfrm>
            <a:off x="3520440" y="374904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OK</a:t>
            </a:r>
            <a:endParaRPr lang="en-US" sz="1100" dirty="0"/>
          </a:p>
        </p:txBody>
      </p:sp>
      <p:sp>
        <p:nvSpPr>
          <p:cNvPr id="30" name="Shape 27"/>
          <p:cNvSpPr/>
          <p:nvPr/>
        </p:nvSpPr>
        <p:spPr>
          <a:xfrm>
            <a:off x="4892040" y="3337560"/>
            <a:ext cx="1234440" cy="868680"/>
          </a:xfrm>
          <a:prstGeom prst="rect">
            <a:avLst/>
          </a:prstGeom>
          <a:solidFill>
            <a:schemeClr val="accent3">
              <a:alpha val="85000"/>
            </a:schemeClr>
          </a:solidFill>
          <a:ln/>
        </p:spPr>
      </p:sp>
      <p:sp>
        <p:nvSpPr>
          <p:cNvPr id="31" name="Text 28"/>
          <p:cNvSpPr txBox="1"/>
          <p:nvPr/>
        </p:nvSpPr>
        <p:spPr>
          <a:xfrm>
            <a:off x="4892040" y="342900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08</a:t>
            </a:r>
            <a:endParaRPr lang="en-US" sz="1100" dirty="0"/>
          </a:p>
        </p:txBody>
      </p:sp>
      <p:sp>
        <p:nvSpPr>
          <p:cNvPr id="32" name="Text 29"/>
          <p:cNvSpPr txBox="1"/>
          <p:nvPr/>
        </p:nvSpPr>
        <p:spPr>
          <a:xfrm>
            <a:off x="4892040" y="374904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Soon</a:t>
            </a:r>
            <a:endParaRPr lang="en-US" sz="1100" dirty="0"/>
          </a:p>
        </p:txBody>
      </p:sp>
      <p:sp>
        <p:nvSpPr>
          <p:cNvPr id="33" name="Shape 30"/>
          <p:cNvSpPr/>
          <p:nvPr/>
        </p:nvSpPr>
        <p:spPr>
          <a:xfrm>
            <a:off x="777240" y="4343400"/>
            <a:ext cx="1234440" cy="868680"/>
          </a:xfrm>
          <a:prstGeom prst="rect">
            <a:avLst/>
          </a:prstGeom>
          <a:solidFill>
            <a:schemeClr val="accent1">
              <a:alpha val="85000"/>
            </a:schemeClr>
          </a:solidFill>
          <a:ln/>
        </p:spPr>
      </p:sp>
      <p:sp>
        <p:nvSpPr>
          <p:cNvPr id="34" name="Text 31"/>
          <p:cNvSpPr txBox="1"/>
          <p:nvPr/>
        </p:nvSpPr>
        <p:spPr>
          <a:xfrm>
            <a:off x="777240" y="443484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09</a:t>
            </a:r>
            <a:endParaRPr lang="en-US" sz="1100" dirty="0"/>
          </a:p>
        </p:txBody>
      </p:sp>
      <p:sp>
        <p:nvSpPr>
          <p:cNvPr id="35" name="Text 32"/>
          <p:cNvSpPr txBox="1"/>
          <p:nvPr/>
        </p:nvSpPr>
        <p:spPr>
          <a:xfrm>
            <a:off x="777240" y="475488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OK</a:t>
            </a:r>
            <a:endParaRPr lang="en-US" sz="1100" dirty="0"/>
          </a:p>
        </p:txBody>
      </p:sp>
      <p:sp>
        <p:nvSpPr>
          <p:cNvPr id="36" name="Shape 33"/>
          <p:cNvSpPr/>
          <p:nvPr/>
        </p:nvSpPr>
        <p:spPr>
          <a:xfrm>
            <a:off x="2148840" y="4343400"/>
            <a:ext cx="1234440" cy="868680"/>
          </a:xfrm>
          <a:prstGeom prst="rect">
            <a:avLst/>
          </a:prstGeom>
          <a:solidFill>
            <a:schemeClr val="accent1">
              <a:alpha val="85000"/>
            </a:schemeClr>
          </a:solidFill>
          <a:ln/>
        </p:spPr>
      </p:sp>
      <p:sp>
        <p:nvSpPr>
          <p:cNvPr id="37" name="Text 34"/>
          <p:cNvSpPr txBox="1"/>
          <p:nvPr/>
        </p:nvSpPr>
        <p:spPr>
          <a:xfrm>
            <a:off x="2148840" y="443484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10</a:t>
            </a:r>
            <a:endParaRPr lang="en-US" sz="1100" dirty="0"/>
          </a:p>
        </p:txBody>
      </p:sp>
      <p:sp>
        <p:nvSpPr>
          <p:cNvPr id="38" name="Text 35"/>
          <p:cNvSpPr txBox="1"/>
          <p:nvPr/>
        </p:nvSpPr>
        <p:spPr>
          <a:xfrm>
            <a:off x="2148840" y="475488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OK</a:t>
            </a:r>
            <a:endParaRPr lang="en-US" sz="1100" dirty="0"/>
          </a:p>
        </p:txBody>
      </p:sp>
      <p:sp>
        <p:nvSpPr>
          <p:cNvPr id="39" name="Shape 36"/>
          <p:cNvSpPr/>
          <p:nvPr/>
        </p:nvSpPr>
        <p:spPr>
          <a:xfrm>
            <a:off x="3520440" y="4343400"/>
            <a:ext cx="1234440" cy="868680"/>
          </a:xfrm>
          <a:prstGeom prst="rect">
            <a:avLst/>
          </a:prstGeom>
          <a:solidFill>
            <a:schemeClr val="accent1">
              <a:alpha val="85000"/>
            </a:schemeClr>
          </a:solidFill>
          <a:ln/>
        </p:spPr>
      </p:sp>
      <p:sp>
        <p:nvSpPr>
          <p:cNvPr id="40" name="Text 37"/>
          <p:cNvSpPr txBox="1"/>
          <p:nvPr/>
        </p:nvSpPr>
        <p:spPr>
          <a:xfrm>
            <a:off x="3520440" y="443484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11</a:t>
            </a:r>
            <a:endParaRPr lang="en-US" sz="1100" dirty="0"/>
          </a:p>
        </p:txBody>
      </p:sp>
      <p:sp>
        <p:nvSpPr>
          <p:cNvPr id="41" name="Text 38"/>
          <p:cNvSpPr txBox="1"/>
          <p:nvPr/>
        </p:nvSpPr>
        <p:spPr>
          <a:xfrm>
            <a:off x="3520440" y="475488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OK</a:t>
            </a:r>
            <a:endParaRPr lang="en-US" sz="1100" dirty="0"/>
          </a:p>
        </p:txBody>
      </p:sp>
      <p:sp>
        <p:nvSpPr>
          <p:cNvPr id="42" name="Shape 39"/>
          <p:cNvSpPr/>
          <p:nvPr/>
        </p:nvSpPr>
        <p:spPr>
          <a:xfrm>
            <a:off x="4892040" y="4343400"/>
            <a:ext cx="1234440" cy="868680"/>
          </a:xfrm>
          <a:prstGeom prst="rect">
            <a:avLst/>
          </a:prstGeom>
          <a:solidFill>
            <a:schemeClr val="accent6">
              <a:alpha val="85000"/>
            </a:schemeClr>
          </a:solidFill>
          <a:ln/>
        </p:spPr>
      </p:sp>
      <p:sp>
        <p:nvSpPr>
          <p:cNvPr id="43" name="Text 40"/>
          <p:cNvSpPr txBox="1"/>
          <p:nvPr/>
        </p:nvSpPr>
        <p:spPr>
          <a:xfrm>
            <a:off x="4892040" y="443484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12</a:t>
            </a:r>
            <a:endParaRPr lang="en-US" sz="1100" dirty="0"/>
          </a:p>
        </p:txBody>
      </p:sp>
      <p:sp>
        <p:nvSpPr>
          <p:cNvPr id="44" name="Text 41"/>
          <p:cNvSpPr txBox="1"/>
          <p:nvPr/>
        </p:nvSpPr>
        <p:spPr>
          <a:xfrm>
            <a:off x="4892040" y="475488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Change now</a:t>
            </a:r>
            <a:endParaRPr lang="en-US" sz="1100" dirty="0"/>
          </a:p>
        </p:txBody>
      </p:sp>
      <p:sp>
        <p:nvSpPr>
          <p:cNvPr id="45" name="Text 42"/>
          <p:cNvSpPr txBox="1"/>
          <p:nvPr/>
        </p:nvSpPr>
        <p:spPr>
          <a:xfrm>
            <a:off x="777240" y="5440680"/>
            <a:ext cx="4572000" cy="274320"/>
          </a:xfrm>
          <a:prstGeom prst="rect">
            <a:avLst/>
          </a:prstGeom>
          <a:noFill/>
          <a:ln/>
        </p:spPr>
        <p:txBody>
          <a:bodyPr wrap="square" lIns="0" tIns="0" rIns="0" bIns="0" rtlCol="0" anchor="t"/>
          <a:lstStyle/>
          <a:p>
            <a:pPr indent="0" marL="0">
              <a:buNone/>
            </a:pPr>
            <a:r>
              <a:rPr lang="en-US" sz="1100" b="1" dirty="0">
                <a:solidFill>
                  <a:schemeClr val="accent1"/>
                </a:solidFill>
              </a:rPr>
              <a:t>● OK   </a:t>
            </a:r>
            <a:pPr indent="0" marL="0">
              <a:buNone/>
            </a:pPr>
            <a:r>
              <a:rPr lang="en-US" sz="1100" b="1" dirty="0">
                <a:solidFill>
                  <a:schemeClr val="accent3"/>
                </a:solidFill>
              </a:rPr>
              <a:t>● Change soon   </a:t>
            </a:r>
            <a:pPr indent="0" marL="0">
              <a:buNone/>
            </a:pPr>
            <a:r>
              <a:rPr lang="en-US" sz="1100" b="1" dirty="0">
                <a:solidFill>
                  <a:schemeClr val="accent6"/>
                </a:solidFill>
              </a:rPr>
              <a:t>● Change now</a:t>
            </a:r>
            <a:endParaRPr lang="en-US" sz="1100" dirty="0"/>
          </a:p>
        </p:txBody>
      </p:sp>
      <p:sp>
        <p:nvSpPr>
          <p:cNvPr id="46" name="Shape 43"/>
          <p:cNvSpPr/>
          <p:nvPr/>
        </p:nvSpPr>
        <p:spPr>
          <a:xfrm>
            <a:off x="6675120" y="1783080"/>
            <a:ext cx="502920" cy="502920"/>
          </a:xfrm>
          <a:prstGeom prst="ellipse">
            <a:avLst/>
          </a:prstGeom>
          <a:solidFill>
            <a:schemeClr val="tx2"/>
          </a:solidFill>
          <a:ln/>
        </p:spPr>
      </p:sp>
      <p:pic>
        <p:nvPicPr>
          <p:cNvPr id="47" name="Image 0" descr="preencoded.png">    </p:cNvPr>
          <p:cNvPicPr>
            <a:picLocks noChangeAspect="1"/>
          </p:cNvPicPr>
          <p:nvPr/>
        </p:nvPicPr>
        <p:blipFill>
          <a:blip r:embed="rId1"/>
          <a:stretch>
            <a:fillRect/>
          </a:stretch>
        </p:blipFill>
        <p:spPr>
          <a:xfrm>
            <a:off x="6800850" y="1908810"/>
            <a:ext cx="251460" cy="251460"/>
          </a:xfrm>
          <a:prstGeom prst="rect">
            <a:avLst/>
          </a:prstGeom>
        </p:spPr>
      </p:pic>
      <p:sp>
        <p:nvSpPr>
          <p:cNvPr id="48" name="Text 44"/>
          <p:cNvSpPr txBox="1"/>
          <p:nvPr/>
        </p:nvSpPr>
        <p:spPr>
          <a:xfrm>
            <a:off x="7406640" y="1691640"/>
            <a:ext cx="4206240" cy="320040"/>
          </a:xfrm>
          <a:prstGeom prst="rect">
            <a:avLst/>
          </a:prstGeom>
          <a:noFill/>
          <a:ln/>
        </p:spPr>
        <p:txBody>
          <a:bodyPr wrap="square" lIns="0" tIns="0" rIns="0" bIns="0" rtlCol="0" anchor="t"/>
          <a:lstStyle/>
          <a:p>
            <a:pPr indent="0" marL="0">
              <a:buNone/>
            </a:pPr>
            <a:r>
              <a:rPr lang="en-US" sz="1400" b="1" dirty="0">
                <a:solidFill>
                  <a:schemeClr val="tx2"/>
                </a:solidFill>
              </a:rPr>
              <a:t>Real-time alerts</a:t>
            </a:r>
            <a:endParaRPr lang="en-US" sz="1400" dirty="0"/>
          </a:p>
        </p:txBody>
      </p:sp>
      <p:sp>
        <p:nvSpPr>
          <p:cNvPr id="49" name="Text 45"/>
          <p:cNvSpPr txBox="1"/>
          <p:nvPr/>
        </p:nvSpPr>
        <p:spPr>
          <a:xfrm>
            <a:off x="7406640" y="2029968"/>
            <a:ext cx="4206240" cy="594360"/>
          </a:xfrm>
          <a:prstGeom prst="rect">
            <a:avLst/>
          </a:prstGeom>
          <a:noFill/>
          <a:ln/>
        </p:spPr>
        <p:txBody>
          <a:bodyPr wrap="square" lIns="0" tIns="0" rIns="0" bIns="0" rtlCol="0" anchor="t"/>
          <a:lstStyle/>
          <a:p>
            <a:pPr indent="0" marL="0">
              <a:buNone/>
            </a:pPr>
            <a:r>
              <a:rPr lang="en-US" sz="1200" dirty="0">
                <a:solidFill>
                  <a:schemeClr val="tx1"/>
                </a:solidFill>
              </a:rPr>
              <a:t>Nurse-station dashboard and mobile app (iOS / Android) with escalation rules</a:t>
            </a:r>
            <a:endParaRPr lang="en-US" sz="1200" dirty="0"/>
          </a:p>
        </p:txBody>
      </p:sp>
      <p:sp>
        <p:nvSpPr>
          <p:cNvPr id="50" name="Shape 46"/>
          <p:cNvSpPr/>
          <p:nvPr/>
        </p:nvSpPr>
        <p:spPr>
          <a:xfrm>
            <a:off x="6675120" y="2862072"/>
            <a:ext cx="502920" cy="502920"/>
          </a:xfrm>
          <a:prstGeom prst="ellipse">
            <a:avLst/>
          </a:prstGeom>
          <a:solidFill>
            <a:schemeClr val="accent1"/>
          </a:solidFill>
          <a:ln/>
        </p:spPr>
      </p:sp>
      <p:pic>
        <p:nvPicPr>
          <p:cNvPr id="51" name="Image 1" descr="preencoded.png">    </p:cNvPr>
          <p:cNvPicPr>
            <a:picLocks noChangeAspect="1"/>
          </p:cNvPicPr>
          <p:nvPr/>
        </p:nvPicPr>
        <p:blipFill>
          <a:blip r:embed="rId2"/>
          <a:stretch>
            <a:fillRect/>
          </a:stretch>
        </p:blipFill>
        <p:spPr>
          <a:xfrm>
            <a:off x="6800850" y="2987802"/>
            <a:ext cx="251460" cy="251460"/>
          </a:xfrm>
          <a:prstGeom prst="rect">
            <a:avLst/>
          </a:prstGeom>
        </p:spPr>
      </p:pic>
      <p:sp>
        <p:nvSpPr>
          <p:cNvPr id="52" name="Text 47"/>
          <p:cNvSpPr txBox="1"/>
          <p:nvPr/>
        </p:nvSpPr>
        <p:spPr>
          <a:xfrm>
            <a:off x="7406640" y="2770632"/>
            <a:ext cx="4206240" cy="320040"/>
          </a:xfrm>
          <a:prstGeom prst="rect">
            <a:avLst/>
          </a:prstGeom>
          <a:noFill/>
          <a:ln/>
        </p:spPr>
        <p:txBody>
          <a:bodyPr wrap="square" lIns="0" tIns="0" rIns="0" bIns="0" rtlCol="0" anchor="t"/>
          <a:lstStyle/>
          <a:p>
            <a:pPr indent="0" marL="0">
              <a:buNone/>
            </a:pPr>
            <a:r>
              <a:rPr lang="en-US" sz="1400" b="1" dirty="0">
                <a:solidFill>
                  <a:schemeClr val="tx2"/>
                </a:solidFill>
              </a:rPr>
              <a:t>Care records</a:t>
            </a:r>
            <a:endParaRPr lang="en-US" sz="1400" dirty="0"/>
          </a:p>
        </p:txBody>
      </p:sp>
      <p:sp>
        <p:nvSpPr>
          <p:cNvPr id="53" name="Text 48"/>
          <p:cNvSpPr txBox="1"/>
          <p:nvPr/>
        </p:nvSpPr>
        <p:spPr>
          <a:xfrm>
            <a:off x="7406640" y="3108960"/>
            <a:ext cx="4206240" cy="594360"/>
          </a:xfrm>
          <a:prstGeom prst="rect">
            <a:avLst/>
          </a:prstGeom>
          <a:noFill/>
          <a:ln/>
        </p:spPr>
        <p:txBody>
          <a:bodyPr wrap="square" lIns="0" tIns="0" rIns="0" bIns="0" rtlCol="0" anchor="t"/>
          <a:lstStyle/>
          <a:p>
            <a:pPr indent="0" marL="0">
              <a:buNone/>
            </a:pPr>
            <a:r>
              <a:rPr lang="en-US" sz="1200" dirty="0">
                <a:solidFill>
                  <a:schemeClr val="tx1"/>
                </a:solidFill>
              </a:rPr>
              <a:t>Event history per bed; exportable for documentation</a:t>
            </a:r>
            <a:endParaRPr lang="en-US" sz="1200" dirty="0"/>
          </a:p>
        </p:txBody>
      </p:sp>
      <p:sp>
        <p:nvSpPr>
          <p:cNvPr id="54" name="Shape 49"/>
          <p:cNvSpPr/>
          <p:nvPr/>
        </p:nvSpPr>
        <p:spPr>
          <a:xfrm>
            <a:off x="6675120" y="3941064"/>
            <a:ext cx="502920" cy="502920"/>
          </a:xfrm>
          <a:prstGeom prst="ellipse">
            <a:avLst/>
          </a:prstGeom>
          <a:solidFill>
            <a:schemeClr val="tx2"/>
          </a:solidFill>
          <a:ln/>
        </p:spPr>
      </p:sp>
      <p:pic>
        <p:nvPicPr>
          <p:cNvPr id="55" name="Image 2" descr="preencoded.png">    </p:cNvPr>
          <p:cNvPicPr>
            <a:picLocks noChangeAspect="1"/>
          </p:cNvPicPr>
          <p:nvPr/>
        </p:nvPicPr>
        <p:blipFill>
          <a:blip r:embed="rId3"/>
          <a:stretch>
            <a:fillRect/>
          </a:stretch>
        </p:blipFill>
        <p:spPr>
          <a:xfrm>
            <a:off x="6800850" y="4066794"/>
            <a:ext cx="251460" cy="251460"/>
          </a:xfrm>
          <a:prstGeom prst="rect">
            <a:avLst/>
          </a:prstGeom>
        </p:spPr>
      </p:pic>
      <p:sp>
        <p:nvSpPr>
          <p:cNvPr id="56" name="Text 50"/>
          <p:cNvSpPr txBox="1"/>
          <p:nvPr/>
        </p:nvSpPr>
        <p:spPr>
          <a:xfrm>
            <a:off x="7406640" y="3849624"/>
            <a:ext cx="4206240" cy="320040"/>
          </a:xfrm>
          <a:prstGeom prst="rect">
            <a:avLst/>
          </a:prstGeom>
          <a:noFill/>
          <a:ln/>
        </p:spPr>
        <p:txBody>
          <a:bodyPr wrap="square" lIns="0" tIns="0" rIns="0" bIns="0" rtlCol="0" anchor="t"/>
          <a:lstStyle/>
          <a:p>
            <a:pPr indent="0" marL="0">
              <a:buNone/>
            </a:pPr>
            <a:r>
              <a:rPr lang="en-US" sz="1400" b="1" dirty="0">
                <a:solidFill>
                  <a:schemeClr val="tx2"/>
                </a:solidFill>
              </a:rPr>
              <a:t>Analytics</a:t>
            </a:r>
            <a:endParaRPr lang="en-US" sz="1400" dirty="0"/>
          </a:p>
        </p:txBody>
      </p:sp>
      <p:sp>
        <p:nvSpPr>
          <p:cNvPr id="57" name="Text 51"/>
          <p:cNvSpPr txBox="1"/>
          <p:nvPr/>
        </p:nvSpPr>
        <p:spPr>
          <a:xfrm>
            <a:off x="7406640" y="4187952"/>
            <a:ext cx="4206240" cy="594360"/>
          </a:xfrm>
          <a:prstGeom prst="rect">
            <a:avLst/>
          </a:prstGeom>
          <a:noFill/>
          <a:ln/>
        </p:spPr>
        <p:txBody>
          <a:bodyPr wrap="square" lIns="0" tIns="0" rIns="0" bIns="0" rtlCol="0" anchor="t"/>
          <a:lstStyle/>
          <a:p>
            <a:pPr indent="0" marL="0">
              <a:buNone/>
            </a:pPr>
            <a:r>
              <a:rPr lang="en-US" sz="1200" dirty="0">
                <a:solidFill>
                  <a:schemeClr val="tx1"/>
                </a:solidFill>
              </a:rPr>
              <a:t>Change intervals, response times, ward workload trends</a:t>
            </a:r>
            <a:endParaRPr lang="en-US" sz="1200" dirty="0"/>
          </a:p>
        </p:txBody>
      </p:sp>
      <p:sp>
        <p:nvSpPr>
          <p:cNvPr id="58" name="Shape 52"/>
          <p:cNvSpPr/>
          <p:nvPr/>
        </p:nvSpPr>
        <p:spPr>
          <a:xfrm>
            <a:off x="6675120" y="5020056"/>
            <a:ext cx="502920" cy="502920"/>
          </a:xfrm>
          <a:prstGeom prst="ellipse">
            <a:avLst/>
          </a:prstGeom>
          <a:solidFill>
            <a:schemeClr val="accent1"/>
          </a:solidFill>
          <a:ln/>
        </p:spPr>
      </p:sp>
      <p:pic>
        <p:nvPicPr>
          <p:cNvPr id="59" name="Image 3" descr="preencoded.png">    </p:cNvPr>
          <p:cNvPicPr>
            <a:picLocks noChangeAspect="1"/>
          </p:cNvPicPr>
          <p:nvPr/>
        </p:nvPicPr>
        <p:blipFill>
          <a:blip r:embed="rId4"/>
          <a:stretch>
            <a:fillRect/>
          </a:stretch>
        </p:blipFill>
        <p:spPr>
          <a:xfrm>
            <a:off x="6800850" y="5145786"/>
            <a:ext cx="251460" cy="251460"/>
          </a:xfrm>
          <a:prstGeom prst="rect">
            <a:avLst/>
          </a:prstGeom>
        </p:spPr>
      </p:pic>
      <p:sp>
        <p:nvSpPr>
          <p:cNvPr id="60" name="Text 53"/>
          <p:cNvSpPr txBox="1"/>
          <p:nvPr/>
        </p:nvSpPr>
        <p:spPr>
          <a:xfrm>
            <a:off x="7406640" y="4928616"/>
            <a:ext cx="4206240" cy="320040"/>
          </a:xfrm>
          <a:prstGeom prst="rect">
            <a:avLst/>
          </a:prstGeom>
          <a:noFill/>
          <a:ln/>
        </p:spPr>
        <p:txBody>
          <a:bodyPr wrap="square" lIns="0" tIns="0" rIns="0" bIns="0" rtlCol="0" anchor="t"/>
          <a:lstStyle/>
          <a:p>
            <a:pPr indent="0" marL="0">
              <a:buNone/>
            </a:pPr>
            <a:r>
              <a:rPr lang="en-US" sz="1400" b="1" dirty="0">
                <a:solidFill>
                  <a:schemeClr val="tx2"/>
                </a:solidFill>
              </a:rPr>
              <a:t>Admin &amp; security</a:t>
            </a:r>
            <a:endParaRPr lang="en-US" sz="1400" dirty="0"/>
          </a:p>
        </p:txBody>
      </p:sp>
      <p:sp>
        <p:nvSpPr>
          <p:cNvPr id="61" name="Text 54"/>
          <p:cNvSpPr txBox="1"/>
          <p:nvPr/>
        </p:nvSpPr>
        <p:spPr>
          <a:xfrm>
            <a:off x="7406640" y="5266944"/>
            <a:ext cx="4206240" cy="594360"/>
          </a:xfrm>
          <a:prstGeom prst="rect">
            <a:avLst/>
          </a:prstGeom>
          <a:noFill/>
          <a:ln/>
        </p:spPr>
        <p:txBody>
          <a:bodyPr wrap="square" lIns="0" tIns="0" rIns="0" bIns="0" rtlCol="0" anchor="t"/>
          <a:lstStyle/>
          <a:p>
            <a:pPr indent="0" marL="0">
              <a:buNone/>
            </a:pPr>
            <a:r>
              <a:rPr lang="en-US" sz="1200" dirty="0">
                <a:solidFill>
                  <a:schemeClr val="tx1"/>
                </a:solidFill>
              </a:rPr>
              <a:t>Role-based access, audit trail, PDPA-aligned data handling</a:t>
            </a:r>
            <a:endParaRPr lang="en-US" sz="12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3 · SMART DIAPER SYSTEM</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MONIT backs the system with a 12-month maintenance period, a 24-hour hotline, a 99% uptime commitment and named engineers</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Master Agreement Schedule 2 (Key Terms), Schedule 3 and Transaction Schedule. Response and repair times follow the terms in MONIT's Master Agreement submission.</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223760" cy="914400"/>
        </p:xfrm>
        <a:graphic>
          <a:graphicData uri="http://schemas.openxmlformats.org/drawingml/2006/table">
            <a:tbl>
              <a:tblPr/>
              <a:tblGrid>
                <a:gridCol w="2286000"/>
                <a:gridCol w="4937760"/>
              </a:tblGrid>
              <a:tr h="457200">
                <a:tc>
                  <a:txBody>
                    <a:bodyPr/>
                    <a:lstStyle/>
                    <a:p>
                      <a:pPr indent="0" marL="0">
                        <a:buNone/>
                      </a:pPr>
                      <a:r>
                        <a:rPr lang="en-US" sz="1050" b="1" dirty="0">
                          <a:solidFill>
                            <a:srgbClr val="FFFFFF"/>
                          </a:solidFill>
                        </a:rPr>
                        <a:t>Service element</a:t>
                      </a:r>
                      <a:endParaRPr lang="en-US" sz="10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50" b="1" dirty="0">
                          <a:solidFill>
                            <a:srgbClr val="FFFFFF"/>
                          </a:solidFill>
                        </a:rPr>
                        <a:t>MONIT commitment</a:t>
                      </a:r>
                      <a:endParaRPr lang="en-US" sz="10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r>
              <a:tr h="457200">
                <a:tc>
                  <a:txBody>
                    <a:bodyPr/>
                    <a:lstStyle/>
                    <a:p>
                      <a:pPr indent="0" marL="0">
                        <a:buNone/>
                      </a:pPr>
                      <a:r>
                        <a:rPr lang="en-US" sz="1050" b="1" dirty="0">
                          <a:solidFill>
                            <a:srgbClr val="1F2937"/>
                          </a:solidFill>
                        </a:rPr>
                        <a:t>Warranty and maintenance period</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Sensor 6 months · relay 12 months · platform 12 months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F2937"/>
                          </a:solidFill>
                        </a:rPr>
                        <a:t>Support hours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Mon–Fri 09:00–18:00 Singapore time (excl. public holidays); 24-hour hotline</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457200">
                <a:tc>
                  <a:txBody>
                    <a:bodyPr/>
                    <a:lstStyle/>
                    <a:p>
                      <a:pPr indent="0" marL="0">
                        <a:buNone/>
                      </a:pPr>
                      <a:r>
                        <a:rPr lang="en-US" sz="1050" b="1" dirty="0">
                          <a:solidFill>
                            <a:srgbClr val="1F2937"/>
                          </a:solidFill>
                        </a:rPr>
                        <a:t>Preventive maintenance</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At least one week's notice before each visit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F2937"/>
                          </a:solidFill>
                        </a:rPr>
                        <a:t>Corrective maintenance</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Response within 8 business hours; repair within 3 business days of attendance</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457200">
                <a:tc>
                  <a:txBody>
                    <a:bodyPr/>
                    <a:lstStyle/>
                    <a:p>
                      <a:pPr indent="0" marL="0">
                        <a:buNone/>
                      </a:pPr>
                      <a:r>
                        <a:rPr lang="en-US" sz="1050" b="1" dirty="0">
                          <a:solidFill>
                            <a:srgbClr val="1F2937"/>
                          </a:solidFill>
                        </a:rPr>
                        <a:t>Temporary replacement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Loan unit within 3 business days of request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F2937"/>
                          </a:solidFill>
                        </a:rPr>
                        <a:t>Platform uptime</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99% per calendar quarter, measured on the cloud dashboard</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457200">
                <a:tc>
                  <a:txBody>
                    <a:bodyPr/>
                    <a:lstStyle/>
                    <a:p>
                      <a:pPr indent="0" marL="0">
                        <a:buNone/>
                      </a:pPr>
                      <a:r>
                        <a:rPr lang="en-US" sz="1050" b="1" dirty="0">
                          <a:solidFill>
                            <a:srgbClr val="1F2937"/>
                          </a:solidFill>
                        </a:rPr>
                        <a:t>Spare parts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Maintained for 7 years from delivery</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F2937"/>
                          </a:solidFill>
                        </a:rPr>
                        <a:t>Training</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Training plan within 14 days of contract; user training within 14 days of delivery, in English</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bl>
          </a:graphicData>
        </a:graphic>
      </p:graphicFrame>
      <p:sp>
        <p:nvSpPr>
          <p:cNvPr id="7" name="Card Named engineers"/>
          <p:cNvSpPr/>
          <p:nvPr/>
        </p:nvSpPr>
        <p:spPr>
          <a:xfrm>
            <a:off x="8046720" y="1691640"/>
            <a:ext cx="3593592" cy="2834640"/>
          </a:xfrm>
          <a:prstGeom prst="rect">
            <a:avLst/>
          </a:prstGeom>
          <a:solidFill>
            <a:schemeClr val="bg2"/>
          </a:solidFill>
          <a:ln/>
        </p:spPr>
      </p:sp>
      <p:sp>
        <p:nvSpPr>
          <p:cNvPr id="8" name="Shape 4"/>
          <p:cNvSpPr/>
          <p:nvPr/>
        </p:nvSpPr>
        <p:spPr>
          <a:xfrm>
            <a:off x="8229600" y="1874520"/>
            <a:ext cx="475488" cy="475488"/>
          </a:xfrm>
          <a:prstGeom prst="ellipse">
            <a:avLst/>
          </a:prstGeom>
          <a:solidFill>
            <a:schemeClr val="tx2"/>
          </a:solidFill>
          <a:ln/>
        </p:spPr>
      </p:sp>
      <p:pic>
        <p:nvPicPr>
          <p:cNvPr id="9" name="Image 0" descr="preencoded.png">    </p:cNvPr>
          <p:cNvPicPr>
            <a:picLocks noChangeAspect="1"/>
          </p:cNvPicPr>
          <p:nvPr/>
        </p:nvPicPr>
        <p:blipFill>
          <a:blip r:embed="rId1"/>
          <a:stretch>
            <a:fillRect/>
          </a:stretch>
        </p:blipFill>
        <p:spPr>
          <a:xfrm>
            <a:off x="8348472" y="1993392"/>
            <a:ext cx="237744" cy="237744"/>
          </a:xfrm>
          <a:prstGeom prst="rect">
            <a:avLst/>
          </a:prstGeom>
        </p:spPr>
      </p:pic>
      <p:sp>
        <p:nvSpPr>
          <p:cNvPr id="10" name="Text 5"/>
          <p:cNvSpPr txBox="1"/>
          <p:nvPr/>
        </p:nvSpPr>
        <p:spPr>
          <a:xfrm>
            <a:off x="8823960" y="1874520"/>
            <a:ext cx="2633472" cy="475488"/>
          </a:xfrm>
          <a:prstGeom prst="rect">
            <a:avLst/>
          </a:prstGeom>
          <a:noFill/>
          <a:ln/>
        </p:spPr>
        <p:txBody>
          <a:bodyPr wrap="square" lIns="0" tIns="0" rIns="0" bIns="0" rtlCol="0" anchor="ctr"/>
          <a:lstStyle/>
          <a:p>
            <a:pPr indent="0" marL="0">
              <a:buNone/>
            </a:pPr>
            <a:r>
              <a:rPr lang="en-US" sz="1400" b="1" dirty="0">
                <a:solidFill>
                  <a:schemeClr val="tx2"/>
                </a:solidFill>
              </a:rPr>
              <a:t>Named engineers</a:t>
            </a:r>
            <a:endParaRPr lang="en-US" sz="1400" dirty="0"/>
          </a:p>
        </p:txBody>
      </p:sp>
      <p:sp>
        <p:nvSpPr>
          <p:cNvPr id="11" name="Text 6"/>
          <p:cNvSpPr txBox="1"/>
          <p:nvPr/>
        </p:nvSpPr>
        <p:spPr>
          <a:xfrm>
            <a:off x="8229600" y="2514600"/>
            <a:ext cx="3227832" cy="187452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Cloud server and web dashboard: Chief Technology Officer</a:t>
            </a:r>
            <a:endParaRPr lang="en-US" sz="1100" dirty="0"/>
          </a:p>
          <a:p>
            <a:pPr marL="152400" indent="-152400">
              <a:spcAft>
                <a:spcPts val="400"/>
              </a:spcAft>
              <a:buSzPct val="100000"/>
              <a:buChar char="•"/>
            </a:pPr>
            <a:r>
              <a:rPr lang="en-US" sz="1100" dirty="0">
                <a:solidFill>
                  <a:schemeClr val="tx1"/>
                </a:solidFill>
              </a:rPr>
              <a:t>Sensor units and BLE gateways: Chief Executive Officer</a:t>
            </a:r>
            <a:endParaRPr lang="en-US" sz="1100" dirty="0"/>
          </a:p>
          <a:p>
            <a:pPr marL="152400" indent="-152400">
              <a:spcAft>
                <a:spcPts val="400"/>
              </a:spcAft>
              <a:buSzPct val="100000"/>
              <a:buChar char="•"/>
            </a:pPr>
            <a:r>
              <a:rPr lang="en-US" sz="1100" dirty="0">
                <a:solidFill>
                  <a:schemeClr val="tx1"/>
                </a:solidFill>
              </a:rPr>
              <a:t>Application services: application lead</a:t>
            </a:r>
            <a:endParaRPr lang="en-US" sz="1100" dirty="0"/>
          </a:p>
          <a:p>
            <a:pPr marL="152400" indent="-152400">
              <a:spcAft>
                <a:spcPts val="400"/>
              </a:spcAft>
              <a:buSzPct val="100000"/>
              <a:buChar char="•"/>
            </a:pPr>
            <a:r>
              <a:rPr lang="en-US" sz="1100" dirty="0">
                <a:solidFill>
                  <a:schemeClr val="tx1"/>
                </a:solidFill>
              </a:rPr>
              <a:t>Replacements of equal qualification on written notice</a:t>
            </a:r>
            <a:endParaRPr lang="en-US" sz="1100" dirty="0"/>
          </a:p>
        </p:txBody>
      </p:sp>
      <p:sp>
        <p:nvSpPr>
          <p:cNvPr id="12" name="Proposed response"/>
          <p:cNvSpPr/>
          <p:nvPr/>
        </p:nvSpPr>
        <p:spPr>
          <a:xfrm>
            <a:off x="8046720" y="4709160"/>
            <a:ext cx="3593592" cy="1234440"/>
          </a:xfrm>
          <a:prstGeom prst="rect">
            <a:avLst/>
          </a:prstGeom>
          <a:solidFill>
            <a:srgbClr val="E6F6F7"/>
          </a:solidFill>
          <a:ln w="12700">
            <a:solidFill>
              <a:srgbClr val="00A3AD"/>
            </a:solidFill>
            <a:prstDash val="dash"/>
          </a:ln>
        </p:spPr>
      </p:sp>
      <p:sp>
        <p:nvSpPr>
          <p:cNvPr id="13" name="Text 8"/>
          <p:cNvSpPr txBox="1"/>
          <p:nvPr/>
        </p:nvSpPr>
        <p:spPr>
          <a:xfrm>
            <a:off x="8138160" y="4709160"/>
            <a:ext cx="3410712" cy="1234440"/>
          </a:xfrm>
          <a:prstGeom prst="rect">
            <a:avLst/>
          </a:prstGeom>
          <a:noFill/>
          <a:ln/>
        </p:spPr>
        <p:txBody>
          <a:bodyPr wrap="square" lIns="0" tIns="0" rIns="0" bIns="0" rtlCol="0" anchor="ctr"/>
          <a:lstStyle/>
          <a:p>
            <a:pPr indent="0" marL="0">
              <a:buNone/>
            </a:pPr>
            <a:r>
              <a:rPr lang="en-US" sz="1050" b="1" dirty="0">
                <a:solidFill>
                  <a:srgbClr val="0B6F76"/>
                </a:solidFill>
              </a:rPr>
              <a:t>PROPOSED  </a:t>
            </a:r>
            <a:pPr indent="0" marL="0">
              <a:buNone/>
            </a:pPr>
            <a:r>
              <a:rPr lang="en-US" sz="1050" dirty="0">
                <a:solidFill>
                  <a:srgbClr val="1F2937"/>
                </a:solidFill>
              </a:rPr>
              <a:t>Single point of contact per site, monthly service report and quarterly review meeting, matching the Master Agreement's quarterly project-manager meetings.</a:t>
            </a:r>
            <a:endParaRPr lang="en-US" sz="105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3 · SMART DIAPER SYSTEM</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A clear severity scale and escalation path gives hospital teams one route from fault to fix</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Master Agreement Schedule 2 and Transaction Schedule (rate card). Severity targets are a proposed response format and will be aligned with Schedule 2 before issue.</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766560" cy="914400"/>
        </p:xfrm>
        <a:graphic>
          <a:graphicData uri="http://schemas.openxmlformats.org/drawingml/2006/table">
            <a:tbl>
              <a:tblPr/>
              <a:tblGrid>
                <a:gridCol w="1737360"/>
                <a:gridCol w="1920240"/>
                <a:gridCol w="1554480"/>
                <a:gridCol w="1554480"/>
              </a:tblGrid>
              <a:tr h="566928">
                <a:tc>
                  <a:txBody>
                    <a:bodyPr/>
                    <a:lstStyle/>
                    <a:p>
                      <a:pPr indent="0" marL="0">
                        <a:buNone/>
                      </a:pPr>
                      <a:r>
                        <a:rPr lang="en-US" sz="1050" b="1" dirty="0">
                          <a:solidFill>
                            <a:srgbClr val="FFFFFF"/>
                          </a:solidFill>
                        </a:rPr>
                        <a:t>Severity</a:t>
                      </a:r>
                      <a:endParaRPr lang="en-US" sz="10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50" b="1" dirty="0">
                          <a:solidFill>
                            <a:srgbClr val="FFFFFF"/>
                          </a:solidFill>
                        </a:rPr>
                        <a:t>Definition</a:t>
                      </a:r>
                      <a:endParaRPr lang="en-US" sz="10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50" b="1" dirty="0">
                          <a:solidFill>
                            <a:srgbClr val="FFFFFF"/>
                          </a:solidFill>
                        </a:rPr>
                        <a:t>Response</a:t>
                      </a:r>
                      <a:endParaRPr lang="en-US" sz="10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50" b="1" dirty="0">
                          <a:solidFill>
                            <a:srgbClr val="FFFFFF"/>
                          </a:solidFill>
                        </a:rPr>
                        <a:t>Restoration or workaround</a:t>
                      </a:r>
                      <a:endParaRPr lang="en-US" sz="10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r>
              <a:tr h="566928">
                <a:tc>
                  <a:txBody>
                    <a:bodyPr/>
                    <a:lstStyle/>
                    <a:p>
                      <a:pPr indent="0" marL="0">
                        <a:buNone/>
                      </a:pPr>
                      <a:r>
                        <a:rPr lang="en-US" sz="1050" b="1" dirty="0">
                          <a:solidFill>
                            <a:srgbClr val="0B6F76"/>
                          </a:solidFill>
                        </a:rPr>
                        <a:t>PROPOSED  </a:t>
                      </a:r>
                      <a:pPr indent="0" marL="0">
                        <a:buNone/>
                      </a:pPr>
                      <a:r>
                        <a:rPr lang="en-US" sz="1050" dirty="0">
                          <a:solidFill>
                            <a:srgbClr val="1F2937"/>
                          </a:solidFill>
                        </a:rPr>
                        <a:t>P1 – Critical</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E6F6F7"/>
                    </a:solidFill>
                  </a:tcPr>
                </a:tc>
                <a:tc>
                  <a:txBody>
                    <a:bodyPr/>
                    <a:lstStyle/>
                    <a:p>
                      <a:pPr indent="0" marL="0">
                        <a:buNone/>
                      </a:pPr>
                      <a:r>
                        <a:rPr lang="en-US" sz="1050" dirty="0">
                          <a:solidFill>
                            <a:srgbClr val="1F2937"/>
                          </a:solidFill>
                        </a:rPr>
                        <a:t>Ward-wide loss of alerts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b="1" dirty="0">
                          <a:solidFill>
                            <a:srgbClr val="0B6F76"/>
                          </a:solidFill>
                        </a:rPr>
                        <a:t>PROPOSED  </a:t>
                      </a:r>
                      <a:pPr indent="0" marL="0">
                        <a:buNone/>
                      </a:pPr>
                      <a:r>
                        <a:rPr lang="en-US" sz="1050" dirty="0">
                          <a:solidFill>
                            <a:srgbClr val="1F2937"/>
                          </a:solidFill>
                        </a:rPr>
                        <a:t>2 business hours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E6F6F7"/>
                    </a:solidFill>
                  </a:tcPr>
                </a:tc>
                <a:tc>
                  <a:txBody>
                    <a:bodyPr/>
                    <a:lstStyle/>
                    <a:p>
                      <a:pPr indent="0" marL="0">
                        <a:buNone/>
                      </a:pPr>
                      <a:r>
                        <a:rPr lang="en-US" sz="1050" b="1" dirty="0">
                          <a:solidFill>
                            <a:srgbClr val="0B6F76"/>
                          </a:solidFill>
                        </a:rPr>
                        <a:t>PROPOSED  </a:t>
                      </a:r>
                      <a:pPr indent="0" marL="0">
                        <a:buNone/>
                      </a:pPr>
                      <a:r>
                        <a:rPr lang="en-US" sz="1050" dirty="0">
                          <a:solidFill>
                            <a:srgbClr val="1F2937"/>
                          </a:solidFill>
                        </a:rPr>
                        <a:t>1 business day</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E6F6F7"/>
                    </a:solidFill>
                  </a:tcPr>
                </a:tc>
              </a:tr>
              <a:tr h="566928">
                <a:tc>
                  <a:txBody>
                    <a:bodyPr/>
                    <a:lstStyle/>
                    <a:p>
                      <a:pPr indent="0" marL="0">
                        <a:buNone/>
                      </a:pPr>
                      <a:r>
                        <a:rPr lang="en-US" sz="1050" b="1" dirty="0">
                          <a:solidFill>
                            <a:srgbClr val="0B6F76"/>
                          </a:solidFill>
                        </a:rPr>
                        <a:t>PROPOSED  </a:t>
                      </a:r>
                      <a:pPr indent="0" marL="0">
                        <a:buNone/>
                      </a:pPr>
                      <a:r>
                        <a:rPr lang="en-US" sz="1050" dirty="0">
                          <a:solidFill>
                            <a:srgbClr val="1F2937"/>
                          </a:solidFill>
                        </a:rPr>
                        <a:t>P2 – Major</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E6F6F7"/>
                    </a:solidFill>
                  </a:tcPr>
                </a:tc>
                <a:tc>
                  <a:txBody>
                    <a:bodyPr/>
                    <a:lstStyle/>
                    <a:p>
                      <a:pPr indent="0" marL="0">
                        <a:buNone/>
                      </a:pPr>
                      <a:r>
                        <a:rPr lang="en-US" sz="1050" dirty="0">
                          <a:solidFill>
                            <a:srgbClr val="1F2937"/>
                          </a:solidFill>
                        </a:rPr>
                        <a:t>Several beds affected</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b="1" dirty="0">
                          <a:solidFill>
                            <a:srgbClr val="0B6F76"/>
                          </a:solidFill>
                        </a:rPr>
                        <a:t>PROPOSED  </a:t>
                      </a:r>
                      <a:pPr indent="0" marL="0">
                        <a:buNone/>
                      </a:pPr>
                      <a:r>
                        <a:rPr lang="en-US" sz="1050" dirty="0">
                          <a:solidFill>
                            <a:srgbClr val="1F2937"/>
                          </a:solidFill>
                        </a:rPr>
                        <a:t>4 business hours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E6F6F7"/>
                    </a:solidFill>
                  </a:tcPr>
                </a:tc>
                <a:tc>
                  <a:txBody>
                    <a:bodyPr/>
                    <a:lstStyle/>
                    <a:p>
                      <a:pPr indent="0" marL="0">
                        <a:buNone/>
                      </a:pPr>
                      <a:r>
                        <a:rPr lang="en-US" sz="1050" b="1" dirty="0">
                          <a:solidFill>
                            <a:srgbClr val="0B6F76"/>
                          </a:solidFill>
                        </a:rPr>
                        <a:t>PROPOSED  </a:t>
                      </a:r>
                      <a:pPr indent="0" marL="0">
                        <a:buNone/>
                      </a:pPr>
                      <a:r>
                        <a:rPr lang="en-US" sz="1050" dirty="0">
                          <a:solidFill>
                            <a:srgbClr val="1F2937"/>
                          </a:solidFill>
                        </a:rPr>
                        <a:t>2 business days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E6F6F7"/>
                    </a:solidFill>
                  </a:tcPr>
                </a:tc>
              </a:tr>
              <a:tr h="566928">
                <a:tc>
                  <a:txBody>
                    <a:bodyPr/>
                    <a:lstStyle/>
                    <a:p>
                      <a:pPr indent="0" marL="0">
                        <a:buNone/>
                      </a:pPr>
                      <a:r>
                        <a:rPr lang="en-US" sz="1050" b="1" dirty="0">
                          <a:solidFill>
                            <a:srgbClr val="1F2937"/>
                          </a:solidFill>
                        </a:rPr>
                        <a:t>P3 – Minor</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Single device or cosmetic issue</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Within 8 business hours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Within 3 business days of attendance</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7680960" y="1691640"/>
            <a:ext cx="3931920" cy="274320"/>
          </a:xfrm>
          <a:prstGeom prst="rect">
            <a:avLst/>
          </a:prstGeom>
          <a:noFill/>
          <a:ln/>
        </p:spPr>
        <p:txBody>
          <a:bodyPr wrap="square" lIns="0" tIns="0" rIns="0" bIns="0" rtlCol="0" anchor="t"/>
          <a:lstStyle/>
          <a:p>
            <a:pPr indent="0" marL="0">
              <a:buNone/>
            </a:pPr>
            <a:r>
              <a:rPr lang="en-US" sz="1400" b="1" dirty="0">
                <a:solidFill>
                  <a:schemeClr val="tx2"/>
                </a:solidFill>
              </a:rPr>
              <a:t>Escalation path</a:t>
            </a:r>
            <a:endParaRPr lang="en-US" sz="1400" dirty="0"/>
          </a:p>
        </p:txBody>
      </p:sp>
      <p:sp>
        <p:nvSpPr>
          <p:cNvPr id="8" name="Shape 4"/>
          <p:cNvSpPr/>
          <p:nvPr/>
        </p:nvSpPr>
        <p:spPr>
          <a:xfrm>
            <a:off x="7680960" y="2084832"/>
            <a:ext cx="365760" cy="365760"/>
          </a:xfrm>
          <a:prstGeom prst="ellipse">
            <a:avLst/>
          </a:prstGeom>
          <a:solidFill>
            <a:schemeClr val="tx2"/>
          </a:solidFill>
          <a:ln/>
        </p:spPr>
      </p:sp>
      <p:sp>
        <p:nvSpPr>
          <p:cNvPr id="9" name="Text 5"/>
          <p:cNvSpPr txBox="1"/>
          <p:nvPr/>
        </p:nvSpPr>
        <p:spPr>
          <a:xfrm>
            <a:off x="7680960" y="208483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0" name="Text 6"/>
          <p:cNvSpPr txBox="1"/>
          <p:nvPr/>
        </p:nvSpPr>
        <p:spPr>
          <a:xfrm>
            <a:off x="8183880" y="2057400"/>
            <a:ext cx="3474720" cy="457200"/>
          </a:xfrm>
          <a:prstGeom prst="rect">
            <a:avLst/>
          </a:prstGeom>
          <a:noFill/>
          <a:ln/>
        </p:spPr>
        <p:txBody>
          <a:bodyPr wrap="square" lIns="0" tIns="0" rIns="0" bIns="0" rtlCol="0" anchor="ctr"/>
          <a:lstStyle/>
          <a:p>
            <a:pPr indent="0" marL="0">
              <a:buNone/>
            </a:pPr>
            <a:r>
              <a:rPr lang="en-US" sz="1150" dirty="0">
                <a:solidFill>
                  <a:schemeClr val="tx1"/>
                </a:solidFill>
              </a:rPr>
              <a:t>Hospital user → hotline / helpdesk</a:t>
            </a:r>
            <a:endParaRPr lang="en-US" sz="1150" dirty="0"/>
          </a:p>
        </p:txBody>
      </p:sp>
      <p:sp>
        <p:nvSpPr>
          <p:cNvPr id="11" name="Shape 7"/>
          <p:cNvSpPr/>
          <p:nvPr/>
        </p:nvSpPr>
        <p:spPr>
          <a:xfrm>
            <a:off x="7680960" y="2633472"/>
            <a:ext cx="365760" cy="365760"/>
          </a:xfrm>
          <a:prstGeom prst="ellipse">
            <a:avLst/>
          </a:prstGeom>
          <a:solidFill>
            <a:schemeClr val="accent1"/>
          </a:solidFill>
          <a:ln/>
        </p:spPr>
      </p:sp>
      <p:sp>
        <p:nvSpPr>
          <p:cNvPr id="12" name="Text 8"/>
          <p:cNvSpPr txBox="1"/>
          <p:nvPr/>
        </p:nvSpPr>
        <p:spPr>
          <a:xfrm>
            <a:off x="7680960" y="263347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3" name="Text 9"/>
          <p:cNvSpPr txBox="1"/>
          <p:nvPr/>
        </p:nvSpPr>
        <p:spPr>
          <a:xfrm>
            <a:off x="8183880" y="2606040"/>
            <a:ext cx="3474720" cy="457200"/>
          </a:xfrm>
          <a:prstGeom prst="rect">
            <a:avLst/>
          </a:prstGeom>
          <a:noFill/>
          <a:ln/>
        </p:spPr>
        <p:txBody>
          <a:bodyPr wrap="square" lIns="0" tIns="0" rIns="0" bIns="0" rtlCol="0" anchor="ctr"/>
          <a:lstStyle/>
          <a:p>
            <a:pPr indent="0" marL="0">
              <a:buNone/>
            </a:pPr>
            <a:r>
              <a:rPr lang="en-US" sz="1150" dirty="0">
                <a:solidFill>
                  <a:schemeClr val="tx1"/>
                </a:solidFill>
              </a:rPr>
              <a:t>MONIT service engineer</a:t>
            </a:r>
            <a:endParaRPr lang="en-US" sz="1150" dirty="0"/>
          </a:p>
        </p:txBody>
      </p:sp>
      <p:sp>
        <p:nvSpPr>
          <p:cNvPr id="14" name="Shape 10"/>
          <p:cNvSpPr/>
          <p:nvPr/>
        </p:nvSpPr>
        <p:spPr>
          <a:xfrm>
            <a:off x="7680960" y="3182112"/>
            <a:ext cx="365760" cy="365760"/>
          </a:xfrm>
          <a:prstGeom prst="ellipse">
            <a:avLst/>
          </a:prstGeom>
          <a:solidFill>
            <a:schemeClr val="tx2"/>
          </a:solidFill>
          <a:ln/>
        </p:spPr>
      </p:sp>
      <p:sp>
        <p:nvSpPr>
          <p:cNvPr id="15" name="Text 11"/>
          <p:cNvSpPr txBox="1"/>
          <p:nvPr/>
        </p:nvSpPr>
        <p:spPr>
          <a:xfrm>
            <a:off x="7680960" y="318211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6" name="Text 12"/>
          <p:cNvSpPr txBox="1"/>
          <p:nvPr/>
        </p:nvSpPr>
        <p:spPr>
          <a:xfrm>
            <a:off x="8183880" y="3154680"/>
            <a:ext cx="3474720" cy="457200"/>
          </a:xfrm>
          <a:prstGeom prst="rect">
            <a:avLst/>
          </a:prstGeom>
          <a:noFill/>
          <a:ln/>
        </p:spPr>
        <p:txBody>
          <a:bodyPr wrap="square" lIns="0" tIns="0" rIns="0" bIns="0" rtlCol="0" anchor="ctr"/>
          <a:lstStyle/>
          <a:p>
            <a:pPr indent="0" marL="0">
              <a:buNone/>
            </a:pPr>
            <a:r>
              <a:rPr lang="en-US" sz="1150" dirty="0">
                <a:solidFill>
                  <a:schemeClr val="tx1"/>
                </a:solidFill>
              </a:rPr>
              <a:t>Approved maintenance personnel (by domain)</a:t>
            </a:r>
            <a:endParaRPr lang="en-US" sz="1150" dirty="0"/>
          </a:p>
        </p:txBody>
      </p:sp>
      <p:sp>
        <p:nvSpPr>
          <p:cNvPr id="17" name="Shape 13"/>
          <p:cNvSpPr/>
          <p:nvPr/>
        </p:nvSpPr>
        <p:spPr>
          <a:xfrm>
            <a:off x="7680960" y="3730752"/>
            <a:ext cx="365760" cy="365760"/>
          </a:xfrm>
          <a:prstGeom prst="ellipse">
            <a:avLst/>
          </a:prstGeom>
          <a:solidFill>
            <a:schemeClr val="accent1"/>
          </a:solidFill>
          <a:ln/>
        </p:spPr>
      </p:sp>
      <p:sp>
        <p:nvSpPr>
          <p:cNvPr id="18" name="Text 14"/>
          <p:cNvSpPr txBox="1"/>
          <p:nvPr/>
        </p:nvSpPr>
        <p:spPr>
          <a:xfrm>
            <a:off x="7680960" y="373075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9" name="Text 15"/>
          <p:cNvSpPr txBox="1"/>
          <p:nvPr/>
        </p:nvSpPr>
        <p:spPr>
          <a:xfrm>
            <a:off x="8183880" y="3703320"/>
            <a:ext cx="3474720" cy="457200"/>
          </a:xfrm>
          <a:prstGeom prst="rect">
            <a:avLst/>
          </a:prstGeom>
          <a:noFill/>
          <a:ln/>
        </p:spPr>
        <p:txBody>
          <a:bodyPr wrap="square" lIns="0" tIns="0" rIns="0" bIns="0" rtlCol="0" anchor="ctr"/>
          <a:lstStyle/>
          <a:p>
            <a:pPr indent="0" marL="0">
              <a:buNone/>
            </a:pPr>
            <a:r>
              <a:rPr lang="en-US" sz="1150" dirty="0">
                <a:solidFill>
                  <a:schemeClr val="tx1"/>
                </a:solidFill>
              </a:rPr>
              <a:t>MONIT Chief Technology Officer / project manager</a:t>
            </a:r>
            <a:endParaRPr lang="en-US" sz="1150" dirty="0"/>
          </a:p>
        </p:txBody>
      </p:sp>
      <p:sp>
        <p:nvSpPr>
          <p:cNvPr id="20" name="Text 16"/>
          <p:cNvSpPr txBox="1"/>
          <p:nvPr/>
        </p:nvSpPr>
        <p:spPr>
          <a:xfrm>
            <a:off x="548640" y="4114800"/>
            <a:ext cx="7315200" cy="274320"/>
          </a:xfrm>
          <a:prstGeom prst="rect">
            <a:avLst/>
          </a:prstGeom>
          <a:noFill/>
          <a:ln/>
        </p:spPr>
        <p:txBody>
          <a:bodyPr wrap="square" lIns="0" tIns="0" rIns="0" bIns="0" rtlCol="0" anchor="t"/>
          <a:lstStyle/>
          <a:p>
            <a:pPr indent="0" marL="0">
              <a:buNone/>
            </a:pPr>
            <a:r>
              <a:rPr lang="en-US" sz="1200" b="1" dirty="0">
                <a:solidFill>
                  <a:schemeClr val="tx2"/>
                </a:solidFill>
              </a:rPr>
              <a:t>Rate card for chargeable attendance (S$ per hour: first / subsequent)</a:t>
            </a:r>
            <a:endParaRPr lang="en-US" sz="12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548640" y="4434840"/>
          <a:ext cx="6766560" cy="914400"/>
        </p:xfrm>
        <a:graphic>
          <a:graphicData uri="http://schemas.openxmlformats.org/drawingml/2006/table">
            <a:tbl>
              <a:tblPr/>
              <a:tblGrid>
                <a:gridCol w="1691640"/>
                <a:gridCol w="1691640"/>
                <a:gridCol w="1691640"/>
                <a:gridCol w="1691640"/>
              </a:tblGrid>
              <a:tr h="384048">
                <a:tc>
                  <a:txBody>
                    <a:bodyPr/>
                    <a:lstStyle/>
                    <a:p>
                      <a:pPr indent="0" marL="0">
                        <a:buNone/>
                      </a:pPr>
                      <a:r>
                        <a:rPr lang="en-US" sz="1100" b="1" dirty="0">
                          <a:solidFill>
                            <a:srgbClr val="FFFFFF"/>
                          </a:solidFill>
                        </a:rPr>
                        <a:t>Mon–Fri 08:30–18:00</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Sat 08:30–12:30</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After hours</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Sun / public holiday</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r>
              <a:tr h="384048">
                <a:tc>
                  <a:txBody>
                    <a:bodyPr/>
                    <a:lstStyle/>
                    <a:p>
                      <a:pPr indent="0" marL="0">
                        <a:buNone/>
                      </a:pPr>
                      <a:r>
                        <a:rPr lang="en-US" sz="1100" b="1" dirty="0">
                          <a:solidFill>
                            <a:srgbClr val="1F2937"/>
                          </a:solidFill>
                        </a:rPr>
                        <a:t>220 / 150</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280 / 190</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330 / 220</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440 / 300</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bl>
          </a:graphicData>
        </a:graphic>
      </p:graphicFrame>
      <p:sp>
        <p:nvSpPr>
          <p:cNvPr id="22" name="Proposed response"/>
          <p:cNvSpPr/>
          <p:nvPr/>
        </p:nvSpPr>
        <p:spPr>
          <a:xfrm>
            <a:off x="548640" y="5440680"/>
            <a:ext cx="11091672" cy="548640"/>
          </a:xfrm>
          <a:prstGeom prst="rect">
            <a:avLst/>
          </a:prstGeom>
          <a:solidFill>
            <a:srgbClr val="E6F6F7"/>
          </a:solidFill>
          <a:ln w="12700">
            <a:solidFill>
              <a:srgbClr val="00A3AD"/>
            </a:solidFill>
            <a:prstDash val="dash"/>
          </a:ln>
        </p:spPr>
      </p:sp>
      <p:sp>
        <p:nvSpPr>
          <p:cNvPr id="23" name="Text 18"/>
          <p:cNvSpPr txBox="1"/>
          <p:nvPr/>
        </p:nvSpPr>
        <p:spPr>
          <a:xfrm>
            <a:off x="640080" y="5440680"/>
            <a:ext cx="10908792" cy="548640"/>
          </a:xfrm>
          <a:prstGeom prst="rect">
            <a:avLst/>
          </a:prstGeom>
          <a:noFill/>
          <a:ln/>
        </p:spPr>
        <p:txBody>
          <a:bodyPr wrap="square" lIns="0" tIns="0" rIns="0" bIns="0" rtlCol="0" anchor="ctr"/>
          <a:lstStyle/>
          <a:p>
            <a:pPr indent="0" marL="0">
              <a:buNone/>
            </a:pPr>
            <a:r>
              <a:rPr lang="en-US" sz="1100" b="1" dirty="0">
                <a:solidFill>
                  <a:srgbClr val="0B6F76"/>
                </a:solidFill>
              </a:rPr>
              <a:t>PROPOSED  </a:t>
            </a:r>
            <a:pPr indent="0" marL="0">
              <a:buNone/>
            </a:pPr>
            <a:r>
              <a:rPr lang="en-US" sz="1100" dirty="0">
                <a:solidFill>
                  <a:srgbClr val="1F2937"/>
                </a:solidFill>
              </a:rPr>
              <a:t>Up to 12 chargeable breakdown attendances per site per year are covered by the response commitment; warranty replacements are free of charge during the warranty period.</a:t>
            </a:r>
            <a:endParaRPr lang="en-US" sz="11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3 · SMART DIAPER SYSTEM</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Beyond detection, the system supports staff productivity, patient dignity and consumable efficiency</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benefit figures to be sourced from validated studies or pilot data.</a:t>
            </a:r>
            <a:endParaRPr lang="en-US" sz="900" dirty="0"/>
          </a:p>
        </p:txBody>
      </p:sp>
      <p:sp>
        <p:nvSpPr>
          <p:cNvPr id="6" name="Card Staff productivity"/>
          <p:cNvSpPr/>
          <p:nvPr/>
        </p:nvSpPr>
        <p:spPr>
          <a:xfrm>
            <a:off x="548640" y="1691640"/>
            <a:ext cx="5468112" cy="1965960"/>
          </a:xfrm>
          <a:prstGeom prst="rect">
            <a:avLst/>
          </a:prstGeom>
          <a:solidFill>
            <a:schemeClr val="bg2"/>
          </a:solidFill>
          <a:ln/>
        </p:spPr>
      </p:sp>
      <p:sp>
        <p:nvSpPr>
          <p:cNvPr id="7" name="Shape 4"/>
          <p:cNvSpPr/>
          <p:nvPr/>
        </p:nvSpPr>
        <p:spPr>
          <a:xfrm>
            <a:off x="731520" y="1874520"/>
            <a:ext cx="475488" cy="475488"/>
          </a:xfrm>
          <a:prstGeom prst="ellipse">
            <a:avLst/>
          </a:prstGeom>
          <a:solidFill>
            <a:schemeClr val="tx2"/>
          </a:solidFill>
          <a:ln/>
        </p:spPr>
      </p:sp>
      <p:pic>
        <p:nvPicPr>
          <p:cNvPr id="8" name="Image 0" descr="preencoded.png">    </p:cNvPr>
          <p:cNvPicPr>
            <a:picLocks noChangeAspect="1"/>
          </p:cNvPicPr>
          <p:nvPr/>
        </p:nvPicPr>
        <p:blipFill>
          <a:blip r:embed="rId1"/>
          <a:stretch>
            <a:fillRect/>
          </a:stretch>
        </p:blipFill>
        <p:spPr>
          <a:xfrm>
            <a:off x="850392" y="1993392"/>
            <a:ext cx="237744" cy="237744"/>
          </a:xfrm>
          <a:prstGeom prst="rect">
            <a:avLst/>
          </a:prstGeom>
        </p:spPr>
      </p:pic>
      <p:sp>
        <p:nvSpPr>
          <p:cNvPr id="9" name="Text 5"/>
          <p:cNvSpPr txBox="1"/>
          <p:nvPr/>
        </p:nvSpPr>
        <p:spPr>
          <a:xfrm>
            <a:off x="1325880" y="1874520"/>
            <a:ext cx="4507992" cy="475488"/>
          </a:xfrm>
          <a:prstGeom prst="rect">
            <a:avLst/>
          </a:prstGeom>
          <a:noFill/>
          <a:ln/>
        </p:spPr>
        <p:txBody>
          <a:bodyPr wrap="square" lIns="0" tIns="0" rIns="0" bIns="0" rtlCol="0" anchor="ctr"/>
          <a:lstStyle/>
          <a:p>
            <a:pPr indent="0" marL="0">
              <a:buNone/>
            </a:pPr>
            <a:r>
              <a:rPr lang="en-US" sz="1400" b="1" dirty="0">
                <a:solidFill>
                  <a:schemeClr val="tx2"/>
                </a:solidFill>
              </a:rPr>
              <a:t>Staff productivity</a:t>
            </a:r>
            <a:endParaRPr lang="en-US" sz="1400" dirty="0"/>
          </a:p>
        </p:txBody>
      </p:sp>
      <p:sp>
        <p:nvSpPr>
          <p:cNvPr id="10" name="Text 6"/>
          <p:cNvSpPr txBox="1"/>
          <p:nvPr/>
        </p:nvSpPr>
        <p:spPr>
          <a:xfrm>
            <a:off x="731520" y="2514600"/>
            <a:ext cx="5102352" cy="100584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Targeted rounds replace routine checks</a:t>
            </a:r>
            <a:endParaRPr lang="en-US" sz="1300" dirty="0"/>
          </a:p>
          <a:p>
            <a:pPr marL="152400" indent="-152400">
              <a:spcAft>
                <a:spcPts val="400"/>
              </a:spcAft>
              <a:buSzPct val="100000"/>
              <a:buChar char="•"/>
            </a:pPr>
            <a:r>
              <a:rPr lang="en-US" sz="1300" dirty="0">
                <a:solidFill>
                  <a:schemeClr val="tx1"/>
                </a:solidFill>
              </a:rPr>
              <a:t>[INPUT REQUIRED] quantified evidence</a:t>
            </a:r>
            <a:endParaRPr lang="en-US" sz="1300" dirty="0"/>
          </a:p>
        </p:txBody>
      </p:sp>
      <p:sp>
        <p:nvSpPr>
          <p:cNvPr id="11" name="Card Patient outcomes"/>
          <p:cNvSpPr/>
          <p:nvPr/>
        </p:nvSpPr>
        <p:spPr>
          <a:xfrm>
            <a:off x="6172200" y="1691640"/>
            <a:ext cx="5468112" cy="1965960"/>
          </a:xfrm>
          <a:prstGeom prst="rect">
            <a:avLst/>
          </a:prstGeom>
          <a:solidFill>
            <a:schemeClr val="bg2"/>
          </a:solidFill>
          <a:ln/>
        </p:spPr>
      </p:sp>
      <p:sp>
        <p:nvSpPr>
          <p:cNvPr id="12" name="Shape 8"/>
          <p:cNvSpPr/>
          <p:nvPr/>
        </p:nvSpPr>
        <p:spPr>
          <a:xfrm>
            <a:off x="6355080" y="1874520"/>
            <a:ext cx="475488" cy="475488"/>
          </a:xfrm>
          <a:prstGeom prst="ellipse">
            <a:avLst/>
          </a:prstGeom>
          <a:solidFill>
            <a:schemeClr val="tx2"/>
          </a:solidFill>
          <a:ln/>
        </p:spPr>
      </p:sp>
      <p:pic>
        <p:nvPicPr>
          <p:cNvPr id="13" name="Image 1" descr="preencoded.png">    </p:cNvPr>
          <p:cNvPicPr>
            <a:picLocks noChangeAspect="1"/>
          </p:cNvPicPr>
          <p:nvPr/>
        </p:nvPicPr>
        <p:blipFill>
          <a:blip r:embed="rId2"/>
          <a:stretch>
            <a:fillRect/>
          </a:stretch>
        </p:blipFill>
        <p:spPr>
          <a:xfrm>
            <a:off x="6473952" y="1993392"/>
            <a:ext cx="237744" cy="237744"/>
          </a:xfrm>
          <a:prstGeom prst="rect">
            <a:avLst/>
          </a:prstGeom>
        </p:spPr>
      </p:pic>
      <p:sp>
        <p:nvSpPr>
          <p:cNvPr id="14" name="Text 9"/>
          <p:cNvSpPr txBox="1"/>
          <p:nvPr/>
        </p:nvSpPr>
        <p:spPr>
          <a:xfrm>
            <a:off x="6949440" y="1874520"/>
            <a:ext cx="4507992" cy="475488"/>
          </a:xfrm>
          <a:prstGeom prst="rect">
            <a:avLst/>
          </a:prstGeom>
          <a:noFill/>
          <a:ln/>
        </p:spPr>
        <p:txBody>
          <a:bodyPr wrap="square" lIns="0" tIns="0" rIns="0" bIns="0" rtlCol="0" anchor="ctr"/>
          <a:lstStyle/>
          <a:p>
            <a:pPr indent="0" marL="0">
              <a:buNone/>
            </a:pPr>
            <a:r>
              <a:rPr lang="en-US" sz="1400" b="1" dirty="0">
                <a:solidFill>
                  <a:schemeClr val="tx2"/>
                </a:solidFill>
              </a:rPr>
              <a:t>Patient outcomes</a:t>
            </a:r>
            <a:endParaRPr lang="en-US" sz="1400" dirty="0"/>
          </a:p>
        </p:txBody>
      </p:sp>
      <p:sp>
        <p:nvSpPr>
          <p:cNvPr id="15" name="Text 10"/>
          <p:cNvSpPr txBox="1"/>
          <p:nvPr/>
        </p:nvSpPr>
        <p:spPr>
          <a:xfrm>
            <a:off x="6355080" y="2514600"/>
            <a:ext cx="5102352" cy="100584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Fewer prolonged-wetness events; supports skin integrity</a:t>
            </a:r>
            <a:endParaRPr lang="en-US" sz="1300" dirty="0"/>
          </a:p>
          <a:p>
            <a:pPr marL="152400" indent="-152400">
              <a:spcAft>
                <a:spcPts val="400"/>
              </a:spcAft>
              <a:buSzPct val="100000"/>
              <a:buChar char="•"/>
            </a:pPr>
            <a:r>
              <a:rPr lang="en-US" sz="1300" dirty="0">
                <a:solidFill>
                  <a:schemeClr val="tx1"/>
                </a:solidFill>
              </a:rPr>
              <a:t>[INPUT REQUIRED] quantified evidence</a:t>
            </a:r>
            <a:endParaRPr lang="en-US" sz="1300" dirty="0"/>
          </a:p>
        </p:txBody>
      </p:sp>
      <p:sp>
        <p:nvSpPr>
          <p:cNvPr id="16" name="Card Consumables"/>
          <p:cNvSpPr/>
          <p:nvPr/>
        </p:nvSpPr>
        <p:spPr>
          <a:xfrm>
            <a:off x="548640" y="3840480"/>
            <a:ext cx="5468112" cy="1965960"/>
          </a:xfrm>
          <a:prstGeom prst="rect">
            <a:avLst/>
          </a:prstGeom>
          <a:solidFill>
            <a:schemeClr val="bg2"/>
          </a:solidFill>
          <a:ln/>
        </p:spPr>
      </p:sp>
      <p:sp>
        <p:nvSpPr>
          <p:cNvPr id="17" name="Shape 12"/>
          <p:cNvSpPr/>
          <p:nvPr/>
        </p:nvSpPr>
        <p:spPr>
          <a:xfrm>
            <a:off x="731520" y="4023360"/>
            <a:ext cx="475488" cy="475488"/>
          </a:xfrm>
          <a:prstGeom prst="ellipse">
            <a:avLst/>
          </a:prstGeom>
          <a:solidFill>
            <a:schemeClr val="tx2"/>
          </a:solidFill>
          <a:ln/>
        </p:spPr>
      </p:sp>
      <p:pic>
        <p:nvPicPr>
          <p:cNvPr id="18" name="Image 2" descr="preencoded.png">    </p:cNvPr>
          <p:cNvPicPr>
            <a:picLocks noChangeAspect="1"/>
          </p:cNvPicPr>
          <p:nvPr/>
        </p:nvPicPr>
        <p:blipFill>
          <a:blip r:embed="rId3"/>
          <a:stretch>
            <a:fillRect/>
          </a:stretch>
        </p:blipFill>
        <p:spPr>
          <a:xfrm>
            <a:off x="850392" y="4142232"/>
            <a:ext cx="237744" cy="237744"/>
          </a:xfrm>
          <a:prstGeom prst="rect">
            <a:avLst/>
          </a:prstGeom>
        </p:spPr>
      </p:pic>
      <p:sp>
        <p:nvSpPr>
          <p:cNvPr id="19" name="Text 13"/>
          <p:cNvSpPr txBox="1"/>
          <p:nvPr/>
        </p:nvSpPr>
        <p:spPr>
          <a:xfrm>
            <a:off x="1325880" y="4023360"/>
            <a:ext cx="4507992" cy="475488"/>
          </a:xfrm>
          <a:prstGeom prst="rect">
            <a:avLst/>
          </a:prstGeom>
          <a:noFill/>
          <a:ln/>
        </p:spPr>
        <p:txBody>
          <a:bodyPr wrap="square" lIns="0" tIns="0" rIns="0" bIns="0" rtlCol="0" anchor="ctr"/>
          <a:lstStyle/>
          <a:p>
            <a:pPr indent="0" marL="0">
              <a:buNone/>
            </a:pPr>
            <a:r>
              <a:rPr lang="en-US" sz="1400" b="1" dirty="0">
                <a:solidFill>
                  <a:schemeClr val="tx2"/>
                </a:solidFill>
              </a:rPr>
              <a:t>Consumables</a:t>
            </a:r>
            <a:endParaRPr lang="en-US" sz="1400" dirty="0"/>
          </a:p>
        </p:txBody>
      </p:sp>
      <p:sp>
        <p:nvSpPr>
          <p:cNvPr id="20" name="Text 14"/>
          <p:cNvSpPr txBox="1"/>
          <p:nvPr/>
        </p:nvSpPr>
        <p:spPr>
          <a:xfrm>
            <a:off x="731520" y="4663440"/>
            <a:ext cx="5102352" cy="100584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Change at the right time; reduced waste</a:t>
            </a:r>
            <a:endParaRPr lang="en-US" sz="1300" dirty="0"/>
          </a:p>
          <a:p>
            <a:pPr marL="152400" indent="-152400">
              <a:spcAft>
                <a:spcPts val="400"/>
              </a:spcAft>
              <a:buSzPct val="100000"/>
              <a:buChar char="•"/>
            </a:pPr>
            <a:r>
              <a:rPr lang="en-US" sz="1300" dirty="0">
                <a:solidFill>
                  <a:schemeClr val="tx1"/>
                </a:solidFill>
              </a:rPr>
              <a:t>[INPUT REQUIRED] quantified evidence</a:t>
            </a:r>
            <a:endParaRPr lang="en-US" sz="1300" dirty="0"/>
          </a:p>
        </p:txBody>
      </p:sp>
      <p:sp>
        <p:nvSpPr>
          <p:cNvPr id="21" name="Card Integration &amp; roadmap"/>
          <p:cNvSpPr/>
          <p:nvPr/>
        </p:nvSpPr>
        <p:spPr>
          <a:xfrm>
            <a:off x="6172200" y="3840480"/>
            <a:ext cx="5468112" cy="1965960"/>
          </a:xfrm>
          <a:prstGeom prst="rect">
            <a:avLst/>
          </a:prstGeom>
          <a:solidFill>
            <a:schemeClr val="bg2"/>
          </a:solidFill>
          <a:ln/>
        </p:spPr>
      </p:sp>
      <p:sp>
        <p:nvSpPr>
          <p:cNvPr id="22" name="Shape 16"/>
          <p:cNvSpPr/>
          <p:nvPr/>
        </p:nvSpPr>
        <p:spPr>
          <a:xfrm>
            <a:off x="6355080" y="4023360"/>
            <a:ext cx="475488" cy="475488"/>
          </a:xfrm>
          <a:prstGeom prst="ellipse">
            <a:avLst/>
          </a:prstGeom>
          <a:solidFill>
            <a:schemeClr val="tx2"/>
          </a:solidFill>
          <a:ln/>
        </p:spPr>
      </p:sp>
      <p:pic>
        <p:nvPicPr>
          <p:cNvPr id="23" name="Image 3" descr="preencoded.png">    </p:cNvPr>
          <p:cNvPicPr>
            <a:picLocks noChangeAspect="1"/>
          </p:cNvPicPr>
          <p:nvPr/>
        </p:nvPicPr>
        <p:blipFill>
          <a:blip r:embed="rId4"/>
          <a:stretch>
            <a:fillRect/>
          </a:stretch>
        </p:blipFill>
        <p:spPr>
          <a:xfrm>
            <a:off x="6473952" y="4142232"/>
            <a:ext cx="237744" cy="237744"/>
          </a:xfrm>
          <a:prstGeom prst="rect">
            <a:avLst/>
          </a:prstGeom>
        </p:spPr>
      </p:pic>
      <p:sp>
        <p:nvSpPr>
          <p:cNvPr id="24" name="Text 17"/>
          <p:cNvSpPr txBox="1"/>
          <p:nvPr/>
        </p:nvSpPr>
        <p:spPr>
          <a:xfrm>
            <a:off x="6949440" y="4023360"/>
            <a:ext cx="4507992" cy="475488"/>
          </a:xfrm>
          <a:prstGeom prst="rect">
            <a:avLst/>
          </a:prstGeom>
          <a:noFill/>
          <a:ln/>
        </p:spPr>
        <p:txBody>
          <a:bodyPr wrap="square" lIns="0" tIns="0" rIns="0" bIns="0" rtlCol="0" anchor="ctr"/>
          <a:lstStyle/>
          <a:p>
            <a:pPr indent="0" marL="0">
              <a:buNone/>
            </a:pPr>
            <a:r>
              <a:rPr lang="en-US" sz="1400" b="1" dirty="0">
                <a:solidFill>
                  <a:schemeClr val="tx2"/>
                </a:solidFill>
              </a:rPr>
              <a:t>Integration &amp; roadmap</a:t>
            </a:r>
            <a:endParaRPr lang="en-US" sz="1400" dirty="0"/>
          </a:p>
        </p:txBody>
      </p:sp>
      <p:sp>
        <p:nvSpPr>
          <p:cNvPr id="25" name="Text 18"/>
          <p:cNvSpPr txBox="1"/>
          <p:nvPr/>
        </p:nvSpPr>
        <p:spPr>
          <a:xfrm>
            <a:off x="6355080" y="4663440"/>
            <a:ext cx="5102352" cy="100584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APIs, nurse-call / EMR options, future analytics</a:t>
            </a:r>
            <a:endParaRPr lang="en-US" sz="1300" dirty="0"/>
          </a:p>
          <a:p>
            <a:pPr marL="152400" indent="-152400">
              <a:spcAft>
                <a:spcPts val="400"/>
              </a:spcAft>
              <a:buSzPct val="100000"/>
              <a:buChar char="•"/>
            </a:pPr>
            <a:r>
              <a:rPr lang="en-US" sz="1300" dirty="0">
                <a:solidFill>
                  <a:schemeClr val="tx1"/>
                </a:solidFill>
              </a:rPr>
              <a:t>[INPUT REQUIRED] quantified evidence</a:t>
            </a:r>
            <a:endParaRPr lang="en-US" sz="13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4 · UNDERSTANDING OF THE PROJECT</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We understand ALPS needs one integrated, hospital-network-friendly system deployed consistently across three hospitals</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RFP Consent Form; Section 1 – Conditions of RFP (clauses 7, 20); Section 2 – Master Agreement; MONIT analysis.</a:t>
            </a:r>
            <a:endParaRPr lang="en-US" sz="900" dirty="0"/>
          </a:p>
        </p:txBody>
      </p:sp>
      <p:sp>
        <p:nvSpPr>
          <p:cNvPr id="6" name="Text 3"/>
          <p:cNvSpPr txBox="1"/>
          <p:nvPr/>
        </p:nvSpPr>
        <p:spPr>
          <a:xfrm>
            <a:off x="548640" y="1691640"/>
            <a:ext cx="5303520" cy="320040"/>
          </a:xfrm>
          <a:prstGeom prst="rect">
            <a:avLst/>
          </a:prstGeom>
          <a:noFill/>
          <a:ln/>
        </p:spPr>
        <p:txBody>
          <a:bodyPr wrap="square" lIns="0" tIns="0" rIns="0" bIns="0" rtlCol="0" anchor="t"/>
          <a:lstStyle/>
          <a:p>
            <a:pPr indent="0" marL="0">
              <a:buNone/>
            </a:pPr>
            <a:r>
              <a:rPr lang="en-US" sz="1600" b="1" dirty="0">
                <a:solidFill>
                  <a:schemeClr val="tx2"/>
                </a:solidFill>
              </a:rPr>
              <a:t>What the RFP asks for</a:t>
            </a:r>
            <a:endParaRPr lang="en-US" sz="1600" dirty="0"/>
          </a:p>
        </p:txBody>
      </p:sp>
      <p:sp>
        <p:nvSpPr>
          <p:cNvPr id="7" name="Text 4"/>
          <p:cNvSpPr txBox="1"/>
          <p:nvPr/>
        </p:nvSpPr>
        <p:spPr>
          <a:xfrm>
            <a:off x="548640" y="2103120"/>
            <a:ext cx="5303520" cy="384048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tx1"/>
                </a:solidFill>
              </a:rPr>
              <a:t>Supply and delivery of an AI-enabled smart diaper care system</a:t>
            </a:r>
            <a:endParaRPr lang="en-US" sz="1300" dirty="0"/>
          </a:p>
          <a:p>
            <a:pPr marL="152400" indent="-152400">
              <a:spcAft>
                <a:spcPts val="500"/>
              </a:spcAft>
              <a:buSzPct val="100000"/>
              <a:buChar char="•"/>
            </a:pPr>
            <a:r>
              <a:rPr lang="en-US" sz="1300" dirty="0">
                <a:solidFill>
                  <a:schemeClr val="tx1"/>
                </a:solidFill>
              </a:rPr>
              <a:t>Fully integrated system with safe, efficient operation on site</a:t>
            </a:r>
            <a:endParaRPr lang="en-US" sz="1300" dirty="0"/>
          </a:p>
          <a:p>
            <a:pPr marL="152400" indent="-152400">
              <a:spcAft>
                <a:spcPts val="500"/>
              </a:spcAft>
              <a:buSzPct val="100000"/>
              <a:buChar char="•"/>
            </a:pPr>
            <a:r>
              <a:rPr lang="en-US" sz="1300" dirty="0">
                <a:solidFill>
                  <a:schemeClr val="tx1"/>
                </a:solidFill>
              </a:rPr>
              <a:t>Three sites: KTPH, Woodlands Health, TTSH</a:t>
            </a:r>
            <a:endParaRPr lang="en-US" sz="1300" dirty="0"/>
          </a:p>
          <a:p>
            <a:pPr marL="152400" indent="-152400">
              <a:spcAft>
                <a:spcPts val="500"/>
              </a:spcAft>
              <a:buSzPct val="100000"/>
              <a:buChar char="•"/>
            </a:pPr>
            <a:r>
              <a:rPr lang="en-US" sz="1300" dirty="0">
                <a:solidFill>
                  <a:schemeClr val="tx1"/>
                </a:solidFill>
              </a:rPr>
              <a:t>Connectivity through each hospital's Wi-Fi (credentials held by hospital)</a:t>
            </a:r>
            <a:endParaRPr lang="en-US" sz="1300" dirty="0"/>
          </a:p>
          <a:p>
            <a:pPr marL="152400" indent="-152400">
              <a:spcAft>
                <a:spcPts val="500"/>
              </a:spcAft>
              <a:buSzPct val="100000"/>
              <a:buChar char="•"/>
            </a:pPr>
            <a:r>
              <a:rPr lang="en-US" sz="1300" dirty="0">
                <a:solidFill>
                  <a:schemeClr val="tx1"/>
                </a:solidFill>
              </a:rPr>
              <a:t>Relay quantity per ward (mandatory response)</a:t>
            </a:r>
            <a:endParaRPr lang="en-US" sz="1300" dirty="0"/>
          </a:p>
          <a:p>
            <a:pPr marL="152400" indent="-152400">
              <a:spcAft>
                <a:spcPts val="500"/>
              </a:spcAft>
              <a:buSzPct val="100000"/>
              <a:buChar char="•"/>
            </a:pPr>
            <a:r>
              <a:rPr lang="en-US" sz="1300" dirty="0">
                <a:solidFill>
                  <a:schemeClr val="tx1"/>
                </a:solidFill>
              </a:rPr>
              <a:t>Firm prices valid 180 days; framework Master Agreement with POs; security deposit and insurance</a:t>
            </a:r>
            <a:endParaRPr lang="en-US" sz="1300" dirty="0"/>
          </a:p>
        </p:txBody>
      </p:sp>
      <p:sp>
        <p:nvSpPr>
          <p:cNvPr id="8" name="Text 5"/>
          <p:cNvSpPr txBox="1"/>
          <p:nvPr/>
        </p:nvSpPr>
        <p:spPr>
          <a:xfrm>
            <a:off x="6309360" y="1691640"/>
            <a:ext cx="5303520" cy="320040"/>
          </a:xfrm>
          <a:prstGeom prst="rect">
            <a:avLst/>
          </a:prstGeom>
          <a:noFill/>
          <a:ln/>
        </p:spPr>
        <p:txBody>
          <a:bodyPr wrap="square" lIns="0" tIns="0" rIns="0" bIns="0" rtlCol="0" anchor="t"/>
          <a:lstStyle/>
          <a:p>
            <a:pPr indent="0" marL="0">
              <a:buNone/>
            </a:pPr>
            <a:r>
              <a:rPr lang="en-US" sz="1600" b="1" dirty="0">
                <a:solidFill>
                  <a:schemeClr val="tx2"/>
                </a:solidFill>
              </a:rPr>
              <a:t>What ALPS will look for</a:t>
            </a:r>
            <a:endParaRPr lang="en-US" sz="1600" dirty="0"/>
          </a:p>
        </p:txBody>
      </p:sp>
      <p:sp>
        <p:nvSpPr>
          <p:cNvPr id="9" name="Shape 6"/>
          <p:cNvSpPr/>
          <p:nvPr/>
        </p:nvSpPr>
        <p:spPr>
          <a:xfrm>
            <a:off x="6309360" y="2103120"/>
            <a:ext cx="5330952" cy="822960"/>
          </a:xfrm>
          <a:prstGeom prst="rect">
            <a:avLst/>
          </a:prstGeom>
          <a:solidFill>
            <a:schemeClr val="bg2"/>
          </a:solidFill>
          <a:ln/>
        </p:spPr>
      </p:sp>
      <p:sp>
        <p:nvSpPr>
          <p:cNvPr id="10" name="Shape 7"/>
          <p:cNvSpPr/>
          <p:nvPr/>
        </p:nvSpPr>
        <p:spPr>
          <a:xfrm>
            <a:off x="6446520" y="2258568"/>
            <a:ext cx="512064" cy="512064"/>
          </a:xfrm>
          <a:prstGeom prst="ellipse">
            <a:avLst/>
          </a:prstGeom>
          <a:solidFill>
            <a:schemeClr val="tx2"/>
          </a:solidFill>
          <a:ln/>
        </p:spPr>
      </p:sp>
      <p:pic>
        <p:nvPicPr>
          <p:cNvPr id="11" name="Image 0" descr="preencoded.png">    </p:cNvPr>
          <p:cNvPicPr>
            <a:picLocks noChangeAspect="1"/>
          </p:cNvPicPr>
          <p:nvPr/>
        </p:nvPicPr>
        <p:blipFill>
          <a:blip r:embed="rId1"/>
          <a:stretch>
            <a:fillRect/>
          </a:stretch>
        </p:blipFill>
        <p:spPr>
          <a:xfrm>
            <a:off x="6574536" y="2386584"/>
            <a:ext cx="256032" cy="256032"/>
          </a:xfrm>
          <a:prstGeom prst="rect">
            <a:avLst/>
          </a:prstGeom>
        </p:spPr>
      </p:pic>
      <p:sp>
        <p:nvSpPr>
          <p:cNvPr id="12" name="Text 8"/>
          <p:cNvSpPr txBox="1"/>
          <p:nvPr/>
        </p:nvSpPr>
        <p:spPr>
          <a:xfrm>
            <a:off x="7132320" y="2176272"/>
            <a:ext cx="4389120" cy="274320"/>
          </a:xfrm>
          <a:prstGeom prst="rect">
            <a:avLst/>
          </a:prstGeom>
          <a:noFill/>
          <a:ln/>
        </p:spPr>
        <p:txBody>
          <a:bodyPr wrap="square" lIns="0" tIns="0" rIns="0" bIns="0" rtlCol="0" anchor="t"/>
          <a:lstStyle/>
          <a:p>
            <a:pPr indent="0" marL="0">
              <a:buNone/>
            </a:pPr>
            <a:r>
              <a:rPr lang="en-US" sz="1300" b="1" dirty="0">
                <a:solidFill>
                  <a:schemeClr val="tx2"/>
                </a:solidFill>
              </a:rPr>
              <a:t>Compliance</a:t>
            </a:r>
            <a:endParaRPr lang="en-US" sz="1300" dirty="0"/>
          </a:p>
        </p:txBody>
      </p:sp>
      <p:sp>
        <p:nvSpPr>
          <p:cNvPr id="13" name="Text 9"/>
          <p:cNvSpPr txBox="1"/>
          <p:nvPr/>
        </p:nvSpPr>
        <p:spPr>
          <a:xfrm>
            <a:off x="7132320" y="2468880"/>
            <a:ext cx="4389120" cy="411480"/>
          </a:xfrm>
          <a:prstGeom prst="rect">
            <a:avLst/>
          </a:prstGeom>
          <a:noFill/>
          <a:ln/>
        </p:spPr>
        <p:txBody>
          <a:bodyPr wrap="square" lIns="0" tIns="0" rIns="0" bIns="0" rtlCol="0" anchor="t"/>
          <a:lstStyle/>
          <a:p>
            <a:pPr indent="0" marL="0">
              <a:buNone/>
            </a:pPr>
            <a:r>
              <a:rPr lang="en-US" sz="1150" dirty="0">
                <a:solidFill>
                  <a:schemeClr val="tx1"/>
                </a:solidFill>
              </a:rPr>
              <a:t>Certifications, HSA, IMDA, IT security &amp; PDPA</a:t>
            </a:r>
            <a:endParaRPr lang="en-US" sz="1150" dirty="0"/>
          </a:p>
        </p:txBody>
      </p:sp>
      <p:sp>
        <p:nvSpPr>
          <p:cNvPr id="14" name="Shape 10"/>
          <p:cNvSpPr/>
          <p:nvPr/>
        </p:nvSpPr>
        <p:spPr>
          <a:xfrm>
            <a:off x="6309360" y="3063240"/>
            <a:ext cx="5330952" cy="822960"/>
          </a:xfrm>
          <a:prstGeom prst="rect">
            <a:avLst/>
          </a:prstGeom>
          <a:solidFill>
            <a:schemeClr val="bg2"/>
          </a:solidFill>
          <a:ln/>
        </p:spPr>
      </p:sp>
      <p:sp>
        <p:nvSpPr>
          <p:cNvPr id="15" name="Shape 11"/>
          <p:cNvSpPr/>
          <p:nvPr/>
        </p:nvSpPr>
        <p:spPr>
          <a:xfrm>
            <a:off x="6446520" y="3218688"/>
            <a:ext cx="512064" cy="512064"/>
          </a:xfrm>
          <a:prstGeom prst="ellipse">
            <a:avLst/>
          </a:prstGeom>
          <a:solidFill>
            <a:schemeClr val="accent1"/>
          </a:solidFill>
          <a:ln/>
        </p:spPr>
      </p:sp>
      <p:pic>
        <p:nvPicPr>
          <p:cNvPr id="16" name="Image 1" descr="preencoded.png">    </p:cNvPr>
          <p:cNvPicPr>
            <a:picLocks noChangeAspect="1"/>
          </p:cNvPicPr>
          <p:nvPr/>
        </p:nvPicPr>
        <p:blipFill>
          <a:blip r:embed="rId2"/>
          <a:stretch>
            <a:fillRect/>
          </a:stretch>
        </p:blipFill>
        <p:spPr>
          <a:xfrm>
            <a:off x="6574536" y="3346704"/>
            <a:ext cx="256032" cy="256032"/>
          </a:xfrm>
          <a:prstGeom prst="rect">
            <a:avLst/>
          </a:prstGeom>
        </p:spPr>
      </p:pic>
      <p:sp>
        <p:nvSpPr>
          <p:cNvPr id="17" name="Text 12"/>
          <p:cNvSpPr txBox="1"/>
          <p:nvPr/>
        </p:nvSpPr>
        <p:spPr>
          <a:xfrm>
            <a:off x="7132320" y="3136392"/>
            <a:ext cx="4389120" cy="274320"/>
          </a:xfrm>
          <a:prstGeom prst="rect">
            <a:avLst/>
          </a:prstGeom>
          <a:noFill/>
          <a:ln/>
        </p:spPr>
        <p:txBody>
          <a:bodyPr wrap="square" lIns="0" tIns="0" rIns="0" bIns="0" rtlCol="0" anchor="t"/>
          <a:lstStyle/>
          <a:p>
            <a:pPr indent="0" marL="0">
              <a:buNone/>
            </a:pPr>
            <a:r>
              <a:rPr lang="en-US" sz="1300" b="1" dirty="0">
                <a:solidFill>
                  <a:schemeClr val="tx2"/>
                </a:solidFill>
              </a:rPr>
              <a:t>IT readiness</a:t>
            </a:r>
            <a:endParaRPr lang="en-US" sz="1300" dirty="0"/>
          </a:p>
        </p:txBody>
      </p:sp>
      <p:sp>
        <p:nvSpPr>
          <p:cNvPr id="18" name="Text 13"/>
          <p:cNvSpPr txBox="1"/>
          <p:nvPr/>
        </p:nvSpPr>
        <p:spPr>
          <a:xfrm>
            <a:off x="7132320" y="3429000"/>
            <a:ext cx="4389120" cy="411480"/>
          </a:xfrm>
          <a:prstGeom prst="rect">
            <a:avLst/>
          </a:prstGeom>
          <a:noFill/>
          <a:ln/>
        </p:spPr>
        <p:txBody>
          <a:bodyPr wrap="square" lIns="0" tIns="0" rIns="0" bIns="0" rtlCol="0" anchor="t"/>
          <a:lstStyle/>
          <a:p>
            <a:pPr indent="0" marL="0">
              <a:buNone/>
            </a:pPr>
            <a:r>
              <a:rPr lang="en-US" sz="1150" dirty="0">
                <a:solidFill>
                  <a:schemeClr val="tx1"/>
                </a:solidFill>
              </a:rPr>
              <a:t>Zero re-keying of Wi-Fi passwords; minimal IT effort</a:t>
            </a:r>
            <a:endParaRPr lang="en-US" sz="1150" dirty="0"/>
          </a:p>
        </p:txBody>
      </p:sp>
      <p:sp>
        <p:nvSpPr>
          <p:cNvPr id="19" name="Shape 14"/>
          <p:cNvSpPr/>
          <p:nvPr/>
        </p:nvSpPr>
        <p:spPr>
          <a:xfrm>
            <a:off x="6309360" y="4023360"/>
            <a:ext cx="5330952" cy="822960"/>
          </a:xfrm>
          <a:prstGeom prst="rect">
            <a:avLst/>
          </a:prstGeom>
          <a:solidFill>
            <a:schemeClr val="bg2"/>
          </a:solidFill>
          <a:ln/>
        </p:spPr>
      </p:sp>
      <p:sp>
        <p:nvSpPr>
          <p:cNvPr id="20" name="Shape 15"/>
          <p:cNvSpPr/>
          <p:nvPr/>
        </p:nvSpPr>
        <p:spPr>
          <a:xfrm>
            <a:off x="6446520" y="4178808"/>
            <a:ext cx="512064" cy="512064"/>
          </a:xfrm>
          <a:prstGeom prst="ellipse">
            <a:avLst/>
          </a:prstGeom>
          <a:solidFill>
            <a:schemeClr val="tx2"/>
          </a:solidFill>
          <a:ln/>
        </p:spPr>
      </p:sp>
      <p:pic>
        <p:nvPicPr>
          <p:cNvPr id="21" name="Image 2" descr="preencoded.png">    </p:cNvPr>
          <p:cNvPicPr>
            <a:picLocks noChangeAspect="1"/>
          </p:cNvPicPr>
          <p:nvPr/>
        </p:nvPicPr>
        <p:blipFill>
          <a:blip r:embed="rId3"/>
          <a:stretch>
            <a:fillRect/>
          </a:stretch>
        </p:blipFill>
        <p:spPr>
          <a:xfrm>
            <a:off x="6574536" y="4306824"/>
            <a:ext cx="256032" cy="256032"/>
          </a:xfrm>
          <a:prstGeom prst="rect">
            <a:avLst/>
          </a:prstGeom>
        </p:spPr>
      </p:pic>
      <p:sp>
        <p:nvSpPr>
          <p:cNvPr id="22" name="Text 16"/>
          <p:cNvSpPr txBox="1"/>
          <p:nvPr/>
        </p:nvSpPr>
        <p:spPr>
          <a:xfrm>
            <a:off x="7132320" y="4096512"/>
            <a:ext cx="4389120" cy="274320"/>
          </a:xfrm>
          <a:prstGeom prst="rect">
            <a:avLst/>
          </a:prstGeom>
          <a:noFill/>
          <a:ln/>
        </p:spPr>
        <p:txBody>
          <a:bodyPr wrap="square" lIns="0" tIns="0" rIns="0" bIns="0" rtlCol="0" anchor="t"/>
          <a:lstStyle/>
          <a:p>
            <a:pPr indent="0" marL="0">
              <a:buNone/>
            </a:pPr>
            <a:r>
              <a:rPr lang="en-US" sz="1300" b="1" dirty="0">
                <a:solidFill>
                  <a:schemeClr val="tx2"/>
                </a:solidFill>
              </a:rPr>
              <a:t>Delivery certainty</a:t>
            </a:r>
            <a:endParaRPr lang="en-US" sz="1300" dirty="0"/>
          </a:p>
        </p:txBody>
      </p:sp>
      <p:sp>
        <p:nvSpPr>
          <p:cNvPr id="23" name="Text 17"/>
          <p:cNvSpPr txBox="1"/>
          <p:nvPr/>
        </p:nvSpPr>
        <p:spPr>
          <a:xfrm>
            <a:off x="7132320" y="4389120"/>
            <a:ext cx="4389120" cy="411480"/>
          </a:xfrm>
          <a:prstGeom prst="rect">
            <a:avLst/>
          </a:prstGeom>
          <a:noFill/>
          <a:ln/>
        </p:spPr>
        <p:txBody>
          <a:bodyPr wrap="square" lIns="0" tIns="0" rIns="0" bIns="0" rtlCol="0" anchor="t"/>
          <a:lstStyle/>
          <a:p>
            <a:pPr indent="0" marL="0">
              <a:buNone/>
            </a:pPr>
            <a:r>
              <a:rPr lang="en-US" sz="1150" dirty="0">
                <a:solidFill>
                  <a:schemeClr val="tx1"/>
                </a:solidFill>
              </a:rPr>
              <a:t>Clear plan and lead times; low disruption to wards</a:t>
            </a:r>
            <a:endParaRPr lang="en-US" sz="1150" dirty="0"/>
          </a:p>
        </p:txBody>
      </p:sp>
      <p:sp>
        <p:nvSpPr>
          <p:cNvPr id="24" name="Shape 18"/>
          <p:cNvSpPr/>
          <p:nvPr/>
        </p:nvSpPr>
        <p:spPr>
          <a:xfrm>
            <a:off x="6309360" y="4983480"/>
            <a:ext cx="5330952" cy="822960"/>
          </a:xfrm>
          <a:prstGeom prst="rect">
            <a:avLst/>
          </a:prstGeom>
          <a:solidFill>
            <a:schemeClr val="bg2"/>
          </a:solidFill>
          <a:ln/>
        </p:spPr>
      </p:sp>
      <p:sp>
        <p:nvSpPr>
          <p:cNvPr id="25" name="Shape 19"/>
          <p:cNvSpPr/>
          <p:nvPr/>
        </p:nvSpPr>
        <p:spPr>
          <a:xfrm>
            <a:off x="6446520" y="5138928"/>
            <a:ext cx="512064" cy="512064"/>
          </a:xfrm>
          <a:prstGeom prst="ellipse">
            <a:avLst/>
          </a:prstGeom>
          <a:solidFill>
            <a:schemeClr val="accent1"/>
          </a:solidFill>
          <a:ln/>
        </p:spPr>
      </p:sp>
      <p:pic>
        <p:nvPicPr>
          <p:cNvPr id="26" name="Image 3" descr="preencoded.png">    </p:cNvPr>
          <p:cNvPicPr>
            <a:picLocks noChangeAspect="1"/>
          </p:cNvPicPr>
          <p:nvPr/>
        </p:nvPicPr>
        <p:blipFill>
          <a:blip r:embed="rId4"/>
          <a:stretch>
            <a:fillRect/>
          </a:stretch>
        </p:blipFill>
        <p:spPr>
          <a:xfrm>
            <a:off x="6574536" y="5266944"/>
            <a:ext cx="256032" cy="256032"/>
          </a:xfrm>
          <a:prstGeom prst="rect">
            <a:avLst/>
          </a:prstGeom>
        </p:spPr>
      </p:pic>
      <p:sp>
        <p:nvSpPr>
          <p:cNvPr id="27" name="Text 20"/>
          <p:cNvSpPr txBox="1"/>
          <p:nvPr/>
        </p:nvSpPr>
        <p:spPr>
          <a:xfrm>
            <a:off x="7132320" y="5056632"/>
            <a:ext cx="4389120" cy="274320"/>
          </a:xfrm>
          <a:prstGeom prst="rect">
            <a:avLst/>
          </a:prstGeom>
          <a:noFill/>
          <a:ln/>
        </p:spPr>
        <p:txBody>
          <a:bodyPr wrap="square" lIns="0" tIns="0" rIns="0" bIns="0" rtlCol="0" anchor="t"/>
          <a:lstStyle/>
          <a:p>
            <a:pPr indent="0" marL="0">
              <a:buNone/>
            </a:pPr>
            <a:r>
              <a:rPr lang="en-US" sz="1300" b="1" dirty="0">
                <a:solidFill>
                  <a:schemeClr val="tx2"/>
                </a:solidFill>
              </a:rPr>
              <a:t>Sustainability</a:t>
            </a:r>
            <a:endParaRPr lang="en-US" sz="1300" dirty="0"/>
          </a:p>
        </p:txBody>
      </p:sp>
      <p:sp>
        <p:nvSpPr>
          <p:cNvPr id="28" name="Text 21"/>
          <p:cNvSpPr txBox="1"/>
          <p:nvPr/>
        </p:nvSpPr>
        <p:spPr>
          <a:xfrm>
            <a:off x="7132320" y="5349240"/>
            <a:ext cx="4389120" cy="411480"/>
          </a:xfrm>
          <a:prstGeom prst="rect">
            <a:avLst/>
          </a:prstGeom>
          <a:noFill/>
          <a:ln/>
        </p:spPr>
        <p:txBody>
          <a:bodyPr wrap="square" lIns="0" tIns="0" rIns="0" bIns="0" rtlCol="0" anchor="t"/>
          <a:lstStyle/>
          <a:p>
            <a:pPr indent="0" marL="0">
              <a:buNone/>
            </a:pPr>
            <a:r>
              <a:rPr lang="en-US" sz="1150" dirty="0">
                <a:solidFill>
                  <a:schemeClr val="tx1"/>
                </a:solidFill>
              </a:rPr>
              <a:t>Environmental practices aligned with ISO14000</a:t>
            </a:r>
            <a:endParaRPr lang="en-US" sz="115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4 · UNDERSTANDING OF THE PROJECT</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A four-phase approach takes each hospital from Letter of Award to Final Acceptance with defined checkpoints</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Master Agreement (Clauses 12, 23; Schedules 2 and 3); MONIT proposed methodology. Durations on the timeline slide.</a:t>
            </a:r>
            <a:endParaRPr lang="en-US" sz="900" dirty="0"/>
          </a:p>
        </p:txBody>
      </p:sp>
      <p:sp>
        <p:nvSpPr>
          <p:cNvPr id="6" name="Shape 3"/>
          <p:cNvSpPr/>
          <p:nvPr/>
        </p:nvSpPr>
        <p:spPr>
          <a:xfrm>
            <a:off x="548640" y="1737360"/>
            <a:ext cx="2743200" cy="731520"/>
          </a:xfrm>
          <a:prstGeom prst="homePlate">
            <a:avLst/>
          </a:prstGeom>
          <a:solidFill>
            <a:schemeClr val="tx2"/>
          </a:solidFill>
          <a:ln/>
        </p:spPr>
      </p:sp>
      <p:sp>
        <p:nvSpPr>
          <p:cNvPr id="7" name="Text 4"/>
          <p:cNvSpPr txBox="1"/>
          <p:nvPr/>
        </p:nvSpPr>
        <p:spPr>
          <a:xfrm>
            <a:off x="777240" y="1737360"/>
            <a:ext cx="2194560" cy="731520"/>
          </a:xfrm>
          <a:prstGeom prst="rect">
            <a:avLst/>
          </a:prstGeom>
          <a:noFill/>
          <a:ln/>
        </p:spPr>
        <p:txBody>
          <a:bodyPr wrap="square" lIns="0" tIns="0" rIns="0" bIns="0" rtlCol="0" anchor="ctr"/>
          <a:lstStyle/>
          <a:p>
            <a:pPr indent="0" marL="0">
              <a:buNone/>
            </a:pPr>
            <a:r>
              <a:rPr lang="en-US" sz="1600" b="1" dirty="0">
                <a:solidFill>
                  <a:schemeClr val="bg1"/>
                </a:solidFill>
                <a:latin typeface="Cambria" pitchFamily="34" charset="0"/>
                <a:ea typeface="Cambria" pitchFamily="34" charset="-122"/>
                <a:cs typeface="Cambria" pitchFamily="34" charset="-120"/>
              </a:rPr>
              <a:t>1  Mobilise and plan</a:t>
            </a:r>
            <a:endParaRPr lang="en-US" sz="1600" dirty="0"/>
          </a:p>
        </p:txBody>
      </p:sp>
      <p:sp>
        <p:nvSpPr>
          <p:cNvPr id="8" name="Shape 5"/>
          <p:cNvSpPr/>
          <p:nvPr/>
        </p:nvSpPr>
        <p:spPr>
          <a:xfrm>
            <a:off x="548640" y="2606040"/>
            <a:ext cx="2606040" cy="2468880"/>
          </a:xfrm>
          <a:prstGeom prst="rect">
            <a:avLst/>
          </a:prstGeom>
          <a:solidFill>
            <a:schemeClr val="bg2"/>
          </a:solidFill>
          <a:ln/>
        </p:spPr>
      </p:sp>
      <p:sp>
        <p:nvSpPr>
          <p:cNvPr id="9" name="Text 6"/>
          <p:cNvSpPr txBox="1"/>
          <p:nvPr/>
        </p:nvSpPr>
        <p:spPr>
          <a:xfrm>
            <a:off x="731520" y="2743200"/>
            <a:ext cx="2286000" cy="228600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Kick-off with ALPS and the three hospitals</a:t>
            </a:r>
            <a:endParaRPr lang="en-US" sz="1200" dirty="0"/>
          </a:p>
          <a:p>
            <a:pPr marL="152400" indent="-152400">
              <a:spcAft>
                <a:spcPts val="500"/>
              </a:spcAft>
              <a:buSzPct val="100000"/>
              <a:buChar char="•"/>
            </a:pPr>
            <a:r>
              <a:rPr lang="en-US" sz="1200" dirty="0">
                <a:solidFill>
                  <a:schemeClr val="tx1"/>
                </a:solidFill>
              </a:rPr>
              <a:t>Security deposit and insurance lodged</a:t>
            </a:r>
            <a:endParaRPr lang="en-US" sz="1200" dirty="0"/>
          </a:p>
          <a:p>
            <a:pPr marL="152400" indent="-152400">
              <a:spcAft>
                <a:spcPts val="500"/>
              </a:spcAft>
              <a:buSzPct val="100000"/>
              <a:buChar char="•"/>
            </a:pPr>
            <a:r>
              <a:rPr lang="en-US" sz="1200" dirty="0">
                <a:solidFill>
                  <a:schemeClr val="tx1"/>
                </a:solidFill>
              </a:rPr>
              <a:t>Training plan submitted (≤ 14 days)</a:t>
            </a:r>
            <a:endParaRPr lang="en-US" sz="1200" dirty="0"/>
          </a:p>
          <a:p>
            <a:pPr marL="152400" indent="-152400">
              <a:spcAft>
                <a:spcPts val="500"/>
              </a:spcAft>
              <a:buSzPct val="100000"/>
              <a:buChar char="•"/>
            </a:pPr>
            <a:r>
              <a:rPr lang="en-US" sz="1200" dirty="0">
                <a:solidFill>
                  <a:schemeClr val="tx1"/>
                </a:solidFill>
              </a:rPr>
              <a:t>Floor-plan review, Wi-Fi/RF survey, final relay count</a:t>
            </a:r>
            <a:endParaRPr lang="en-US" sz="1200" dirty="0"/>
          </a:p>
        </p:txBody>
      </p:sp>
      <p:sp>
        <p:nvSpPr>
          <p:cNvPr id="10" name="Shape 7"/>
          <p:cNvSpPr/>
          <p:nvPr/>
        </p:nvSpPr>
        <p:spPr>
          <a:xfrm>
            <a:off x="3337560" y="1737360"/>
            <a:ext cx="2743200" cy="731520"/>
          </a:xfrm>
          <a:prstGeom prst="homePlate">
            <a:avLst/>
          </a:prstGeom>
          <a:solidFill>
            <a:schemeClr val="accent1"/>
          </a:solidFill>
          <a:ln/>
        </p:spPr>
      </p:sp>
      <p:sp>
        <p:nvSpPr>
          <p:cNvPr id="11" name="Text 8"/>
          <p:cNvSpPr txBox="1"/>
          <p:nvPr/>
        </p:nvSpPr>
        <p:spPr>
          <a:xfrm>
            <a:off x="3566160" y="1737360"/>
            <a:ext cx="2194560" cy="731520"/>
          </a:xfrm>
          <a:prstGeom prst="rect">
            <a:avLst/>
          </a:prstGeom>
          <a:noFill/>
          <a:ln/>
        </p:spPr>
        <p:txBody>
          <a:bodyPr wrap="square" lIns="0" tIns="0" rIns="0" bIns="0" rtlCol="0" anchor="ctr"/>
          <a:lstStyle/>
          <a:p>
            <a:pPr indent="0" marL="0">
              <a:buNone/>
            </a:pPr>
            <a:r>
              <a:rPr lang="en-US" sz="1600" b="1" dirty="0">
                <a:solidFill>
                  <a:schemeClr val="bg1"/>
                </a:solidFill>
                <a:latin typeface="Cambria" pitchFamily="34" charset="0"/>
                <a:ea typeface="Cambria" pitchFamily="34" charset="-122"/>
                <a:cs typeface="Cambria" pitchFamily="34" charset="-120"/>
              </a:rPr>
              <a:t>2  Prepare and pilot</a:t>
            </a:r>
            <a:endParaRPr lang="en-US" sz="1600" dirty="0"/>
          </a:p>
        </p:txBody>
      </p:sp>
      <p:sp>
        <p:nvSpPr>
          <p:cNvPr id="12" name="Shape 9"/>
          <p:cNvSpPr/>
          <p:nvPr/>
        </p:nvSpPr>
        <p:spPr>
          <a:xfrm>
            <a:off x="3337560" y="2606040"/>
            <a:ext cx="2606040" cy="2468880"/>
          </a:xfrm>
          <a:prstGeom prst="rect">
            <a:avLst/>
          </a:prstGeom>
          <a:solidFill>
            <a:schemeClr val="bg2"/>
          </a:solidFill>
          <a:ln/>
        </p:spPr>
      </p:sp>
      <p:sp>
        <p:nvSpPr>
          <p:cNvPr id="13" name="Text 10"/>
          <p:cNvSpPr txBox="1"/>
          <p:nvPr/>
        </p:nvSpPr>
        <p:spPr>
          <a:xfrm>
            <a:off x="3520440" y="2743200"/>
            <a:ext cx="2286000" cy="228600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Pre-shipment testing at MONIT</a:t>
            </a:r>
            <a:endParaRPr lang="en-US" sz="1200" dirty="0"/>
          </a:p>
          <a:p>
            <a:pPr marL="152400" indent="-152400">
              <a:spcAft>
                <a:spcPts val="500"/>
              </a:spcAft>
              <a:buSzPct val="100000"/>
              <a:buChar char="•"/>
            </a:pPr>
            <a:r>
              <a:rPr lang="en-US" sz="1200" dirty="0">
                <a:solidFill>
                  <a:schemeClr val="tx1"/>
                </a:solidFill>
              </a:rPr>
              <a:t>Delivery with advance notice</a:t>
            </a:r>
            <a:endParaRPr lang="en-US" sz="1200" dirty="0"/>
          </a:p>
          <a:p>
            <a:pPr marL="152400" indent="-152400">
              <a:spcAft>
                <a:spcPts val="500"/>
              </a:spcAft>
              <a:buSzPct val="100000"/>
              <a:buChar char="•"/>
            </a:pPr>
            <a:r>
              <a:rPr lang="en-US" sz="1200" dirty="0">
                <a:solidFill>
                  <a:schemeClr val="tx1"/>
                </a:solidFill>
              </a:rPr>
              <a:t>Install and commission one pilot ward per hospital</a:t>
            </a:r>
            <a:endParaRPr lang="en-US" sz="1200" dirty="0"/>
          </a:p>
          <a:p>
            <a:pPr marL="152400" indent="-152400">
              <a:spcAft>
                <a:spcPts val="500"/>
              </a:spcAft>
              <a:buSzPct val="100000"/>
              <a:buChar char="•"/>
            </a:pPr>
            <a:r>
              <a:rPr lang="en-US" sz="1200" dirty="0">
                <a:solidFill>
                  <a:schemeClr val="tx1"/>
                </a:solidFill>
              </a:rPr>
              <a:t>Acceptance tests</a:t>
            </a:r>
            <a:endParaRPr lang="en-US" sz="1200" dirty="0"/>
          </a:p>
        </p:txBody>
      </p:sp>
      <p:sp>
        <p:nvSpPr>
          <p:cNvPr id="14" name="Shape 11"/>
          <p:cNvSpPr/>
          <p:nvPr/>
        </p:nvSpPr>
        <p:spPr>
          <a:xfrm>
            <a:off x="6126480" y="1737360"/>
            <a:ext cx="2743200" cy="731520"/>
          </a:xfrm>
          <a:prstGeom prst="homePlate">
            <a:avLst/>
          </a:prstGeom>
          <a:solidFill>
            <a:schemeClr val="tx2"/>
          </a:solidFill>
          <a:ln/>
        </p:spPr>
      </p:sp>
      <p:sp>
        <p:nvSpPr>
          <p:cNvPr id="15" name="Text 12"/>
          <p:cNvSpPr txBox="1"/>
          <p:nvPr/>
        </p:nvSpPr>
        <p:spPr>
          <a:xfrm>
            <a:off x="6355080" y="1737360"/>
            <a:ext cx="2194560" cy="731520"/>
          </a:xfrm>
          <a:prstGeom prst="rect">
            <a:avLst/>
          </a:prstGeom>
          <a:noFill/>
          <a:ln/>
        </p:spPr>
        <p:txBody>
          <a:bodyPr wrap="square" lIns="0" tIns="0" rIns="0" bIns="0" rtlCol="0" anchor="ctr"/>
          <a:lstStyle/>
          <a:p>
            <a:pPr indent="0" marL="0">
              <a:buNone/>
            </a:pPr>
            <a:r>
              <a:rPr lang="en-US" sz="1600" b="1" dirty="0">
                <a:solidFill>
                  <a:schemeClr val="bg1"/>
                </a:solidFill>
                <a:latin typeface="Cambria" pitchFamily="34" charset="0"/>
                <a:ea typeface="Cambria" pitchFamily="34" charset="-122"/>
                <a:cs typeface="Cambria" pitchFamily="34" charset="-120"/>
              </a:rPr>
              <a:t>3  Roll out</a:t>
            </a:r>
            <a:endParaRPr lang="en-US" sz="1600" dirty="0"/>
          </a:p>
        </p:txBody>
      </p:sp>
      <p:sp>
        <p:nvSpPr>
          <p:cNvPr id="16" name="Shape 13"/>
          <p:cNvSpPr/>
          <p:nvPr/>
        </p:nvSpPr>
        <p:spPr>
          <a:xfrm>
            <a:off x="6126480" y="2606040"/>
            <a:ext cx="2606040" cy="2468880"/>
          </a:xfrm>
          <a:prstGeom prst="rect">
            <a:avLst/>
          </a:prstGeom>
          <a:solidFill>
            <a:schemeClr val="bg2"/>
          </a:solidFill>
          <a:ln/>
        </p:spPr>
      </p:sp>
      <p:sp>
        <p:nvSpPr>
          <p:cNvPr id="17" name="Text 14"/>
          <p:cNvSpPr txBox="1"/>
          <p:nvPr/>
        </p:nvSpPr>
        <p:spPr>
          <a:xfrm>
            <a:off x="6309360" y="2743200"/>
            <a:ext cx="2286000" cy="228600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Ward-by-ward installation and commissioning</a:t>
            </a:r>
            <a:endParaRPr lang="en-US" sz="1200" dirty="0"/>
          </a:p>
          <a:p>
            <a:pPr marL="152400" indent="-152400">
              <a:spcAft>
                <a:spcPts val="500"/>
              </a:spcAft>
              <a:buSzPct val="100000"/>
              <a:buChar char="•"/>
            </a:pPr>
            <a:r>
              <a:rPr lang="en-US" sz="1200" dirty="0">
                <a:solidFill>
                  <a:schemeClr val="tx1"/>
                </a:solidFill>
              </a:rPr>
              <a:t>User training (≤ 14 days after delivery)</a:t>
            </a:r>
            <a:endParaRPr lang="en-US" sz="1200" dirty="0"/>
          </a:p>
          <a:p>
            <a:pPr marL="152400" indent="-152400">
              <a:spcAft>
                <a:spcPts val="500"/>
              </a:spcAft>
              <a:buSzPct val="100000"/>
              <a:buChar char="•"/>
            </a:pPr>
            <a:r>
              <a:rPr lang="en-US" sz="1200" dirty="0">
                <a:solidFill>
                  <a:schemeClr val="tx1"/>
                </a:solidFill>
              </a:rPr>
              <a:t>Minimal disruption to care routines</a:t>
            </a:r>
            <a:endParaRPr lang="en-US" sz="1200" dirty="0"/>
          </a:p>
          <a:p>
            <a:pPr marL="152400" indent="-152400">
              <a:spcAft>
                <a:spcPts val="500"/>
              </a:spcAft>
              <a:buSzPct val="100000"/>
              <a:buChar char="•"/>
            </a:pPr>
            <a:r>
              <a:rPr lang="en-US" sz="1200" dirty="0">
                <a:solidFill>
                  <a:schemeClr val="tx1"/>
                </a:solidFill>
              </a:rPr>
              <a:t>Sign-off per ward</a:t>
            </a:r>
            <a:endParaRPr lang="en-US" sz="1200" dirty="0"/>
          </a:p>
        </p:txBody>
      </p:sp>
      <p:sp>
        <p:nvSpPr>
          <p:cNvPr id="18" name="Shape 15"/>
          <p:cNvSpPr/>
          <p:nvPr/>
        </p:nvSpPr>
        <p:spPr>
          <a:xfrm>
            <a:off x="8915400" y="1737360"/>
            <a:ext cx="2743200" cy="731520"/>
          </a:xfrm>
          <a:prstGeom prst="homePlate">
            <a:avLst/>
          </a:prstGeom>
          <a:solidFill>
            <a:schemeClr val="accent1"/>
          </a:solidFill>
          <a:ln/>
        </p:spPr>
      </p:sp>
      <p:sp>
        <p:nvSpPr>
          <p:cNvPr id="19" name="Text 16"/>
          <p:cNvSpPr txBox="1"/>
          <p:nvPr/>
        </p:nvSpPr>
        <p:spPr>
          <a:xfrm>
            <a:off x="9144000" y="1737360"/>
            <a:ext cx="2194560" cy="731520"/>
          </a:xfrm>
          <a:prstGeom prst="rect">
            <a:avLst/>
          </a:prstGeom>
          <a:noFill/>
          <a:ln/>
        </p:spPr>
        <p:txBody>
          <a:bodyPr wrap="square" lIns="0" tIns="0" rIns="0" bIns="0" rtlCol="0" anchor="ctr"/>
          <a:lstStyle/>
          <a:p>
            <a:pPr indent="0" marL="0">
              <a:buNone/>
            </a:pPr>
            <a:r>
              <a:rPr lang="en-US" sz="1600" b="1" dirty="0">
                <a:solidFill>
                  <a:schemeClr val="bg1"/>
                </a:solidFill>
                <a:latin typeface="Cambria" pitchFamily="34" charset="0"/>
                <a:ea typeface="Cambria" pitchFamily="34" charset="-122"/>
                <a:cs typeface="Cambria" pitchFamily="34" charset="-120"/>
              </a:rPr>
              <a:t>4  Accept and support</a:t>
            </a:r>
            <a:endParaRPr lang="en-US" sz="1600" dirty="0"/>
          </a:p>
        </p:txBody>
      </p:sp>
      <p:sp>
        <p:nvSpPr>
          <p:cNvPr id="20" name="Shape 17"/>
          <p:cNvSpPr/>
          <p:nvPr/>
        </p:nvSpPr>
        <p:spPr>
          <a:xfrm>
            <a:off x="8915400" y="2606040"/>
            <a:ext cx="2606040" cy="2468880"/>
          </a:xfrm>
          <a:prstGeom prst="rect">
            <a:avLst/>
          </a:prstGeom>
          <a:solidFill>
            <a:schemeClr val="bg2"/>
          </a:solidFill>
          <a:ln/>
        </p:spPr>
      </p:sp>
      <p:sp>
        <p:nvSpPr>
          <p:cNvPr id="21" name="Text 18"/>
          <p:cNvSpPr txBox="1"/>
          <p:nvPr/>
        </p:nvSpPr>
        <p:spPr>
          <a:xfrm>
            <a:off x="9098280" y="2743200"/>
            <a:ext cx="2286000" cy="228600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Final Acceptance Notice per hospital</a:t>
            </a:r>
            <a:endParaRPr lang="en-US" sz="1200" dirty="0"/>
          </a:p>
          <a:p>
            <a:pPr marL="152400" indent="-152400">
              <a:spcAft>
                <a:spcPts val="500"/>
              </a:spcAft>
              <a:buSzPct val="100000"/>
              <a:buChar char="•"/>
            </a:pPr>
            <a:r>
              <a:rPr lang="en-US" sz="1200" dirty="0">
                <a:solidFill>
                  <a:schemeClr val="tx1"/>
                </a:solidFill>
              </a:rPr>
              <a:t>Invoice within 7 days</a:t>
            </a:r>
            <a:endParaRPr lang="en-US" sz="1200" dirty="0"/>
          </a:p>
          <a:p>
            <a:pPr marL="152400" indent="-152400">
              <a:spcAft>
                <a:spcPts val="500"/>
              </a:spcAft>
              <a:buSzPct val="100000"/>
              <a:buChar char="•"/>
            </a:pPr>
            <a:r>
              <a:rPr lang="en-US" sz="1200" dirty="0">
                <a:solidFill>
                  <a:schemeClr val="tx1"/>
                </a:solidFill>
              </a:rPr>
              <a:t>Hypercare, then 12-month maintenance</a:t>
            </a:r>
            <a:endParaRPr lang="en-US" sz="1200" dirty="0"/>
          </a:p>
          <a:p>
            <a:pPr marL="152400" indent="-152400">
              <a:spcAft>
                <a:spcPts val="500"/>
              </a:spcAft>
              <a:buSzPct val="100000"/>
              <a:buChar char="•"/>
            </a:pPr>
            <a:r>
              <a:rPr lang="en-US" sz="1200" dirty="0">
                <a:solidFill>
                  <a:schemeClr val="tx1"/>
                </a:solidFill>
              </a:rPr>
              <a:t>Quarterly review meetings</a:t>
            </a:r>
            <a:endParaRPr lang="en-US" sz="1200" dirty="0"/>
          </a:p>
        </p:txBody>
      </p:sp>
      <p:sp>
        <p:nvSpPr>
          <p:cNvPr id="22" name="Shape 19"/>
          <p:cNvSpPr/>
          <p:nvPr/>
        </p:nvSpPr>
        <p:spPr>
          <a:xfrm>
            <a:off x="548640" y="5257800"/>
            <a:ext cx="11091672" cy="777240"/>
          </a:xfrm>
          <a:prstGeom prst="rect">
            <a:avLst/>
          </a:prstGeom>
          <a:solidFill>
            <a:schemeClr val="tx2"/>
          </a:solidFill>
          <a:ln/>
        </p:spPr>
      </p:sp>
      <p:sp>
        <p:nvSpPr>
          <p:cNvPr id="23" name="Text 20"/>
          <p:cNvSpPr txBox="1"/>
          <p:nvPr/>
        </p:nvSpPr>
        <p:spPr>
          <a:xfrm>
            <a:off x="777240" y="5257800"/>
            <a:ext cx="10607040" cy="777240"/>
          </a:xfrm>
          <a:prstGeom prst="rect">
            <a:avLst/>
          </a:prstGeom>
          <a:noFill/>
          <a:ln/>
        </p:spPr>
        <p:txBody>
          <a:bodyPr wrap="square" lIns="0" tIns="0" rIns="0" bIns="0" rtlCol="0" anchor="ctr"/>
          <a:lstStyle/>
          <a:p>
            <a:pPr indent="0" marL="0">
              <a:buNone/>
            </a:pPr>
            <a:r>
              <a:rPr lang="en-US" sz="1200" b="1" dirty="0">
                <a:solidFill>
                  <a:schemeClr val="bg1"/>
                </a:solidFill>
              </a:rPr>
              <a:t>What the hospital provides:  </a:t>
            </a:r>
            <a:pPr indent="0" marL="0">
              <a:buNone/>
            </a:pPr>
            <a:r>
              <a:rPr lang="en-US" sz="1200" dirty="0">
                <a:solidFill>
                  <a:schemeClr val="bg1"/>
                </a:solidFill>
              </a:rPr>
              <a:t>network connectivity (2.4 GHz Wi-Fi coverage at relay locations), a powered outlet for each relay (5 V USB), and physical access to wards at agreed times. MONIT performs installation, commissioning and testing.</a:t>
            </a:r>
            <a:endParaRPr lang="en-US" sz="12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4 · UNDERSTANDING OF THE PROJECT</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Defined governance and acceptance steps let KTPH verify progress and quality at every stage</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Master Agreement Clauses 4, 12, 13, 23 and Schedule 2; MONIT.</a:t>
            </a:r>
            <a:endParaRPr lang="en-US" sz="900" dirty="0"/>
          </a:p>
        </p:txBody>
      </p:sp>
      <p:sp>
        <p:nvSpPr>
          <p:cNvPr id="6" name="Shape 3"/>
          <p:cNvSpPr/>
          <p:nvPr/>
        </p:nvSpPr>
        <p:spPr>
          <a:xfrm>
            <a:off x="548640" y="1691640"/>
            <a:ext cx="2651760" cy="1280160"/>
          </a:xfrm>
          <a:prstGeom prst="rect">
            <a:avLst/>
          </a:prstGeom>
          <a:solidFill>
            <a:schemeClr val="bg2"/>
          </a:solidFill>
          <a:ln/>
        </p:spPr>
      </p:sp>
      <p:sp>
        <p:nvSpPr>
          <p:cNvPr id="7" name="Shape 4"/>
          <p:cNvSpPr/>
          <p:nvPr/>
        </p:nvSpPr>
        <p:spPr>
          <a:xfrm>
            <a:off x="685800" y="1828800"/>
            <a:ext cx="411480" cy="411480"/>
          </a:xfrm>
          <a:prstGeom prst="ellipse">
            <a:avLst/>
          </a:prstGeom>
          <a:solidFill>
            <a:schemeClr val="tx2"/>
          </a:solidFill>
          <a:ln/>
        </p:spPr>
      </p:sp>
      <p:sp>
        <p:nvSpPr>
          <p:cNvPr id="8" name="Text 5"/>
          <p:cNvSpPr txBox="1"/>
          <p:nvPr/>
        </p:nvSpPr>
        <p:spPr>
          <a:xfrm>
            <a:off x="685800" y="182880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6"/>
          <p:cNvSpPr txBox="1"/>
          <p:nvPr/>
        </p:nvSpPr>
        <p:spPr>
          <a:xfrm>
            <a:off x="1207008" y="1828800"/>
            <a:ext cx="1920240" cy="411480"/>
          </a:xfrm>
          <a:prstGeom prst="rect">
            <a:avLst/>
          </a:prstGeom>
          <a:noFill/>
          <a:ln/>
        </p:spPr>
        <p:txBody>
          <a:bodyPr wrap="square" lIns="0" tIns="0" rIns="0" bIns="0" rtlCol="0" anchor="ctr"/>
          <a:lstStyle/>
          <a:p>
            <a:pPr indent="0" marL="0">
              <a:buNone/>
            </a:pPr>
            <a:r>
              <a:rPr lang="en-US" sz="1300" b="1" dirty="0">
                <a:solidFill>
                  <a:schemeClr val="tx2"/>
                </a:solidFill>
              </a:rPr>
              <a:t>Letter of Award</a:t>
            </a:r>
            <a:endParaRPr lang="en-US" sz="1300" dirty="0"/>
          </a:p>
        </p:txBody>
      </p:sp>
      <p:sp>
        <p:nvSpPr>
          <p:cNvPr id="10" name="Text 7"/>
          <p:cNvSpPr txBox="1"/>
          <p:nvPr/>
        </p:nvSpPr>
        <p:spPr>
          <a:xfrm>
            <a:off x="685800" y="2377440"/>
            <a:ext cx="2423160" cy="548640"/>
          </a:xfrm>
          <a:prstGeom prst="rect">
            <a:avLst/>
          </a:prstGeom>
          <a:noFill/>
          <a:ln/>
        </p:spPr>
        <p:txBody>
          <a:bodyPr wrap="square" lIns="0" tIns="0" rIns="0" bIns="0" rtlCol="0" anchor="t"/>
          <a:lstStyle/>
          <a:p>
            <a:pPr indent="0" marL="0">
              <a:buNone/>
            </a:pPr>
            <a:r>
              <a:rPr lang="en-US" sz="1100" dirty="0">
                <a:solidFill>
                  <a:schemeClr val="tx1"/>
                </a:solidFill>
              </a:rPr>
              <a:t>Contract effective; project managers named</a:t>
            </a:r>
            <a:endParaRPr lang="en-US" sz="1100" dirty="0"/>
          </a:p>
        </p:txBody>
      </p:sp>
      <p:sp>
        <p:nvSpPr>
          <p:cNvPr id="11" name="Shape 8"/>
          <p:cNvSpPr/>
          <p:nvPr/>
        </p:nvSpPr>
        <p:spPr>
          <a:xfrm>
            <a:off x="3337560" y="1691640"/>
            <a:ext cx="2651760" cy="1280160"/>
          </a:xfrm>
          <a:prstGeom prst="rect">
            <a:avLst/>
          </a:prstGeom>
          <a:solidFill>
            <a:schemeClr val="bg2"/>
          </a:solidFill>
          <a:ln/>
        </p:spPr>
      </p:sp>
      <p:sp>
        <p:nvSpPr>
          <p:cNvPr id="12" name="Shape 9"/>
          <p:cNvSpPr/>
          <p:nvPr/>
        </p:nvSpPr>
        <p:spPr>
          <a:xfrm>
            <a:off x="3474720" y="1828800"/>
            <a:ext cx="411480" cy="411480"/>
          </a:xfrm>
          <a:prstGeom prst="ellipse">
            <a:avLst/>
          </a:prstGeom>
          <a:solidFill>
            <a:schemeClr val="accent1"/>
          </a:solidFill>
          <a:ln/>
        </p:spPr>
      </p:sp>
      <p:sp>
        <p:nvSpPr>
          <p:cNvPr id="13" name="Text 10"/>
          <p:cNvSpPr txBox="1"/>
          <p:nvPr/>
        </p:nvSpPr>
        <p:spPr>
          <a:xfrm>
            <a:off x="3474720" y="182880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Text 11"/>
          <p:cNvSpPr txBox="1"/>
          <p:nvPr/>
        </p:nvSpPr>
        <p:spPr>
          <a:xfrm>
            <a:off x="3995928" y="1828800"/>
            <a:ext cx="1920240" cy="411480"/>
          </a:xfrm>
          <a:prstGeom prst="rect">
            <a:avLst/>
          </a:prstGeom>
          <a:noFill/>
          <a:ln/>
        </p:spPr>
        <p:txBody>
          <a:bodyPr wrap="square" lIns="0" tIns="0" rIns="0" bIns="0" rtlCol="0" anchor="ctr"/>
          <a:lstStyle/>
          <a:p>
            <a:pPr indent="0" marL="0">
              <a:buNone/>
            </a:pPr>
            <a:r>
              <a:rPr lang="en-US" sz="1300" b="1" dirty="0">
                <a:solidFill>
                  <a:schemeClr val="tx2"/>
                </a:solidFill>
              </a:rPr>
              <a:t>Deposit and insurance</a:t>
            </a:r>
            <a:endParaRPr lang="en-US" sz="1300" dirty="0"/>
          </a:p>
        </p:txBody>
      </p:sp>
      <p:sp>
        <p:nvSpPr>
          <p:cNvPr id="15" name="Text 12"/>
          <p:cNvSpPr txBox="1"/>
          <p:nvPr/>
        </p:nvSpPr>
        <p:spPr>
          <a:xfrm>
            <a:off x="3474720" y="2377440"/>
            <a:ext cx="2423160" cy="548640"/>
          </a:xfrm>
          <a:prstGeom prst="rect">
            <a:avLst/>
          </a:prstGeom>
          <a:noFill/>
          <a:ln/>
        </p:spPr>
        <p:txBody>
          <a:bodyPr wrap="square" lIns="0" tIns="0" rIns="0" bIns="0" rtlCol="0" anchor="t"/>
          <a:lstStyle/>
          <a:p>
            <a:pPr indent="0" marL="0">
              <a:buNone/>
            </a:pPr>
            <a:r>
              <a:rPr lang="en-US" sz="1100" dirty="0">
                <a:solidFill>
                  <a:schemeClr val="tx1"/>
                </a:solidFill>
              </a:rPr>
              <a:t>Security deposit and required insurance lodged</a:t>
            </a:r>
            <a:endParaRPr lang="en-US" sz="1100" dirty="0"/>
          </a:p>
        </p:txBody>
      </p:sp>
      <p:sp>
        <p:nvSpPr>
          <p:cNvPr id="16" name="Shape 13"/>
          <p:cNvSpPr/>
          <p:nvPr/>
        </p:nvSpPr>
        <p:spPr>
          <a:xfrm>
            <a:off x="6126480" y="1691640"/>
            <a:ext cx="2651760" cy="1280160"/>
          </a:xfrm>
          <a:prstGeom prst="rect">
            <a:avLst/>
          </a:prstGeom>
          <a:solidFill>
            <a:schemeClr val="bg2"/>
          </a:solidFill>
          <a:ln/>
        </p:spPr>
      </p:sp>
      <p:sp>
        <p:nvSpPr>
          <p:cNvPr id="17" name="Shape 14"/>
          <p:cNvSpPr/>
          <p:nvPr/>
        </p:nvSpPr>
        <p:spPr>
          <a:xfrm>
            <a:off x="6263640" y="1828800"/>
            <a:ext cx="411480" cy="411480"/>
          </a:xfrm>
          <a:prstGeom prst="ellipse">
            <a:avLst/>
          </a:prstGeom>
          <a:solidFill>
            <a:schemeClr val="tx2"/>
          </a:solidFill>
          <a:ln/>
        </p:spPr>
      </p:sp>
      <p:sp>
        <p:nvSpPr>
          <p:cNvPr id="18" name="Text 15"/>
          <p:cNvSpPr txBox="1"/>
          <p:nvPr/>
        </p:nvSpPr>
        <p:spPr>
          <a:xfrm>
            <a:off x="6263640" y="182880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9" name="Text 16"/>
          <p:cNvSpPr txBox="1"/>
          <p:nvPr/>
        </p:nvSpPr>
        <p:spPr>
          <a:xfrm>
            <a:off x="6784848" y="1828800"/>
            <a:ext cx="1920240" cy="411480"/>
          </a:xfrm>
          <a:prstGeom prst="rect">
            <a:avLst/>
          </a:prstGeom>
          <a:noFill/>
          <a:ln/>
        </p:spPr>
        <p:txBody>
          <a:bodyPr wrap="square" lIns="0" tIns="0" rIns="0" bIns="0" rtlCol="0" anchor="ctr"/>
          <a:lstStyle/>
          <a:p>
            <a:pPr indent="0" marL="0">
              <a:buNone/>
            </a:pPr>
            <a:r>
              <a:rPr lang="en-US" sz="1300" b="1" dirty="0">
                <a:solidFill>
                  <a:schemeClr val="tx2"/>
                </a:solidFill>
              </a:rPr>
              <a:t>Training plan</a:t>
            </a:r>
            <a:endParaRPr lang="en-US" sz="1300" dirty="0"/>
          </a:p>
        </p:txBody>
      </p:sp>
      <p:sp>
        <p:nvSpPr>
          <p:cNvPr id="20" name="Text 17"/>
          <p:cNvSpPr txBox="1"/>
          <p:nvPr/>
        </p:nvSpPr>
        <p:spPr>
          <a:xfrm>
            <a:off x="6263640" y="2377440"/>
            <a:ext cx="2423160" cy="548640"/>
          </a:xfrm>
          <a:prstGeom prst="rect">
            <a:avLst/>
          </a:prstGeom>
          <a:noFill/>
          <a:ln/>
        </p:spPr>
        <p:txBody>
          <a:bodyPr wrap="square" lIns="0" tIns="0" rIns="0" bIns="0" rtlCol="0" anchor="t"/>
          <a:lstStyle/>
          <a:p>
            <a:pPr indent="0" marL="0">
              <a:buNone/>
            </a:pPr>
            <a:r>
              <a:rPr lang="en-US" sz="1100" dirty="0">
                <a:solidFill>
                  <a:schemeClr val="tx1"/>
                </a:solidFill>
              </a:rPr>
              <a:t>Submitted for approval within 14 days</a:t>
            </a:r>
            <a:endParaRPr lang="en-US" sz="1100" dirty="0"/>
          </a:p>
        </p:txBody>
      </p:sp>
      <p:sp>
        <p:nvSpPr>
          <p:cNvPr id="21" name="Shape 18"/>
          <p:cNvSpPr/>
          <p:nvPr/>
        </p:nvSpPr>
        <p:spPr>
          <a:xfrm>
            <a:off x="8915400" y="1691640"/>
            <a:ext cx="2651760" cy="1280160"/>
          </a:xfrm>
          <a:prstGeom prst="rect">
            <a:avLst/>
          </a:prstGeom>
          <a:solidFill>
            <a:schemeClr val="bg2"/>
          </a:solidFill>
          <a:ln/>
        </p:spPr>
      </p:sp>
      <p:sp>
        <p:nvSpPr>
          <p:cNvPr id="22" name="Shape 19"/>
          <p:cNvSpPr/>
          <p:nvPr/>
        </p:nvSpPr>
        <p:spPr>
          <a:xfrm>
            <a:off x="9052560" y="1828800"/>
            <a:ext cx="411480" cy="411480"/>
          </a:xfrm>
          <a:prstGeom prst="ellipse">
            <a:avLst/>
          </a:prstGeom>
          <a:solidFill>
            <a:schemeClr val="accent1"/>
          </a:solidFill>
          <a:ln/>
        </p:spPr>
      </p:sp>
      <p:sp>
        <p:nvSpPr>
          <p:cNvPr id="23" name="Text 20"/>
          <p:cNvSpPr txBox="1"/>
          <p:nvPr/>
        </p:nvSpPr>
        <p:spPr>
          <a:xfrm>
            <a:off x="9052560" y="182880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4" name="Text 21"/>
          <p:cNvSpPr txBox="1"/>
          <p:nvPr/>
        </p:nvSpPr>
        <p:spPr>
          <a:xfrm>
            <a:off x="9573768" y="1828800"/>
            <a:ext cx="1920240" cy="411480"/>
          </a:xfrm>
          <a:prstGeom prst="rect">
            <a:avLst/>
          </a:prstGeom>
          <a:noFill/>
          <a:ln/>
        </p:spPr>
        <p:txBody>
          <a:bodyPr wrap="square" lIns="0" tIns="0" rIns="0" bIns="0" rtlCol="0" anchor="ctr"/>
          <a:lstStyle/>
          <a:p>
            <a:pPr indent="0" marL="0">
              <a:buNone/>
            </a:pPr>
            <a:r>
              <a:rPr lang="en-US" sz="1300" b="1" dirty="0">
                <a:solidFill>
                  <a:schemeClr val="tx2"/>
                </a:solidFill>
              </a:rPr>
              <a:t>Pre-shipment test</a:t>
            </a:r>
            <a:endParaRPr lang="en-US" sz="1300" dirty="0"/>
          </a:p>
        </p:txBody>
      </p:sp>
      <p:sp>
        <p:nvSpPr>
          <p:cNvPr id="25" name="Text 22"/>
          <p:cNvSpPr txBox="1"/>
          <p:nvPr/>
        </p:nvSpPr>
        <p:spPr>
          <a:xfrm>
            <a:off x="9052560" y="2377440"/>
            <a:ext cx="2423160" cy="548640"/>
          </a:xfrm>
          <a:prstGeom prst="rect">
            <a:avLst/>
          </a:prstGeom>
          <a:noFill/>
          <a:ln/>
        </p:spPr>
        <p:txBody>
          <a:bodyPr wrap="square" lIns="0" tIns="0" rIns="0" bIns="0" rtlCol="0" anchor="t"/>
          <a:lstStyle/>
          <a:p>
            <a:pPr indent="0" marL="0">
              <a:buNone/>
            </a:pPr>
            <a:r>
              <a:rPr lang="en-US" sz="1100" dirty="0">
                <a:solidFill>
                  <a:schemeClr val="tx1"/>
                </a:solidFill>
              </a:rPr>
              <a:t>Equipment tested at MONIT before delivery</a:t>
            </a:r>
            <a:endParaRPr lang="en-US" sz="1100" dirty="0"/>
          </a:p>
        </p:txBody>
      </p:sp>
      <p:sp>
        <p:nvSpPr>
          <p:cNvPr id="26" name="Shape 23"/>
          <p:cNvSpPr/>
          <p:nvPr/>
        </p:nvSpPr>
        <p:spPr>
          <a:xfrm>
            <a:off x="548640" y="3154680"/>
            <a:ext cx="2651760" cy="1280160"/>
          </a:xfrm>
          <a:prstGeom prst="rect">
            <a:avLst/>
          </a:prstGeom>
          <a:solidFill>
            <a:schemeClr val="bg2"/>
          </a:solidFill>
          <a:ln/>
        </p:spPr>
      </p:sp>
      <p:sp>
        <p:nvSpPr>
          <p:cNvPr id="27" name="Shape 24"/>
          <p:cNvSpPr/>
          <p:nvPr/>
        </p:nvSpPr>
        <p:spPr>
          <a:xfrm>
            <a:off x="685800" y="3291840"/>
            <a:ext cx="411480" cy="411480"/>
          </a:xfrm>
          <a:prstGeom prst="ellipse">
            <a:avLst/>
          </a:prstGeom>
          <a:solidFill>
            <a:schemeClr val="tx2"/>
          </a:solidFill>
          <a:ln/>
        </p:spPr>
      </p:sp>
      <p:sp>
        <p:nvSpPr>
          <p:cNvPr id="28" name="Text 25"/>
          <p:cNvSpPr txBox="1"/>
          <p:nvPr/>
        </p:nvSpPr>
        <p:spPr>
          <a:xfrm>
            <a:off x="685800" y="329184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9" name="Text 26"/>
          <p:cNvSpPr txBox="1"/>
          <p:nvPr/>
        </p:nvSpPr>
        <p:spPr>
          <a:xfrm>
            <a:off x="1207008" y="3291840"/>
            <a:ext cx="1920240" cy="411480"/>
          </a:xfrm>
          <a:prstGeom prst="rect">
            <a:avLst/>
          </a:prstGeom>
          <a:noFill/>
          <a:ln/>
        </p:spPr>
        <p:txBody>
          <a:bodyPr wrap="square" lIns="0" tIns="0" rIns="0" bIns="0" rtlCol="0" anchor="ctr"/>
          <a:lstStyle/>
          <a:p>
            <a:pPr indent="0" marL="0">
              <a:buNone/>
            </a:pPr>
            <a:r>
              <a:rPr lang="en-US" sz="1300" b="1" dirty="0">
                <a:solidFill>
                  <a:schemeClr val="tx2"/>
                </a:solidFill>
              </a:rPr>
              <a:t>Install and commission</a:t>
            </a:r>
            <a:endParaRPr lang="en-US" sz="1300" dirty="0"/>
          </a:p>
        </p:txBody>
      </p:sp>
      <p:sp>
        <p:nvSpPr>
          <p:cNvPr id="30" name="Text 27"/>
          <p:cNvSpPr txBox="1"/>
          <p:nvPr/>
        </p:nvSpPr>
        <p:spPr>
          <a:xfrm>
            <a:off x="685800" y="3840480"/>
            <a:ext cx="2423160" cy="548640"/>
          </a:xfrm>
          <a:prstGeom prst="rect">
            <a:avLst/>
          </a:prstGeom>
          <a:noFill/>
          <a:ln/>
        </p:spPr>
        <p:txBody>
          <a:bodyPr wrap="square" lIns="0" tIns="0" rIns="0" bIns="0" rtlCol="0" anchor="t"/>
          <a:lstStyle/>
          <a:p>
            <a:pPr indent="0" marL="0">
              <a:buNone/>
            </a:pPr>
            <a:r>
              <a:rPr lang="en-US" sz="1100" dirty="0">
                <a:solidFill>
                  <a:schemeClr val="tx1"/>
                </a:solidFill>
              </a:rPr>
              <a:t>By MONIT at each hospital</a:t>
            </a:r>
            <a:endParaRPr lang="en-US" sz="1100" dirty="0"/>
          </a:p>
        </p:txBody>
      </p:sp>
      <p:sp>
        <p:nvSpPr>
          <p:cNvPr id="31" name="Shape 28"/>
          <p:cNvSpPr/>
          <p:nvPr/>
        </p:nvSpPr>
        <p:spPr>
          <a:xfrm>
            <a:off x="3337560" y="3154680"/>
            <a:ext cx="2651760" cy="1280160"/>
          </a:xfrm>
          <a:prstGeom prst="rect">
            <a:avLst/>
          </a:prstGeom>
          <a:solidFill>
            <a:schemeClr val="bg2"/>
          </a:solidFill>
          <a:ln/>
        </p:spPr>
      </p:sp>
      <p:sp>
        <p:nvSpPr>
          <p:cNvPr id="32" name="Shape 29"/>
          <p:cNvSpPr/>
          <p:nvPr/>
        </p:nvSpPr>
        <p:spPr>
          <a:xfrm>
            <a:off x="3474720" y="3291840"/>
            <a:ext cx="411480" cy="411480"/>
          </a:xfrm>
          <a:prstGeom prst="ellipse">
            <a:avLst/>
          </a:prstGeom>
          <a:solidFill>
            <a:schemeClr val="accent1"/>
          </a:solidFill>
          <a:ln/>
        </p:spPr>
      </p:sp>
      <p:sp>
        <p:nvSpPr>
          <p:cNvPr id="33" name="Text 30"/>
          <p:cNvSpPr txBox="1"/>
          <p:nvPr/>
        </p:nvSpPr>
        <p:spPr>
          <a:xfrm>
            <a:off x="3474720" y="329184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4" name="Text 31"/>
          <p:cNvSpPr txBox="1"/>
          <p:nvPr/>
        </p:nvSpPr>
        <p:spPr>
          <a:xfrm>
            <a:off x="3995928" y="3291840"/>
            <a:ext cx="1920240" cy="411480"/>
          </a:xfrm>
          <a:prstGeom prst="rect">
            <a:avLst/>
          </a:prstGeom>
          <a:noFill/>
          <a:ln/>
        </p:spPr>
        <p:txBody>
          <a:bodyPr wrap="square" lIns="0" tIns="0" rIns="0" bIns="0" rtlCol="0" anchor="ctr"/>
          <a:lstStyle/>
          <a:p>
            <a:pPr indent="0" marL="0">
              <a:buNone/>
            </a:pPr>
            <a:r>
              <a:rPr lang="en-US" sz="1300" b="1" dirty="0">
                <a:solidFill>
                  <a:schemeClr val="tx2"/>
                </a:solidFill>
              </a:rPr>
              <a:t>Acceptance tests</a:t>
            </a:r>
            <a:endParaRPr lang="en-US" sz="1300" dirty="0"/>
          </a:p>
        </p:txBody>
      </p:sp>
      <p:sp>
        <p:nvSpPr>
          <p:cNvPr id="35" name="Text 32"/>
          <p:cNvSpPr txBox="1"/>
          <p:nvPr/>
        </p:nvSpPr>
        <p:spPr>
          <a:xfrm>
            <a:off x="3474720" y="3840480"/>
            <a:ext cx="2423160" cy="548640"/>
          </a:xfrm>
          <a:prstGeom prst="rect">
            <a:avLst/>
          </a:prstGeom>
          <a:noFill/>
          <a:ln/>
        </p:spPr>
        <p:txBody>
          <a:bodyPr wrap="square" lIns="0" tIns="0" rIns="0" bIns="0" rtlCol="0" anchor="t"/>
          <a:lstStyle/>
          <a:p>
            <a:pPr indent="0" marL="0">
              <a:buNone/>
            </a:pPr>
            <a:r>
              <a:rPr lang="en-US" sz="1100" dirty="0">
                <a:solidFill>
                  <a:schemeClr val="tx1"/>
                </a:solidFill>
              </a:rPr>
              <a:t>Witnessed by hospital representatives</a:t>
            </a:r>
            <a:endParaRPr lang="en-US" sz="1100" dirty="0"/>
          </a:p>
        </p:txBody>
      </p:sp>
      <p:sp>
        <p:nvSpPr>
          <p:cNvPr id="36" name="Shape 33"/>
          <p:cNvSpPr/>
          <p:nvPr/>
        </p:nvSpPr>
        <p:spPr>
          <a:xfrm>
            <a:off x="6126480" y="3154680"/>
            <a:ext cx="2651760" cy="1280160"/>
          </a:xfrm>
          <a:prstGeom prst="rect">
            <a:avLst/>
          </a:prstGeom>
          <a:solidFill>
            <a:schemeClr val="bg2"/>
          </a:solidFill>
          <a:ln/>
        </p:spPr>
      </p:sp>
      <p:sp>
        <p:nvSpPr>
          <p:cNvPr id="37" name="Shape 34"/>
          <p:cNvSpPr/>
          <p:nvPr/>
        </p:nvSpPr>
        <p:spPr>
          <a:xfrm>
            <a:off x="6263640" y="3291840"/>
            <a:ext cx="411480" cy="411480"/>
          </a:xfrm>
          <a:prstGeom prst="ellipse">
            <a:avLst/>
          </a:prstGeom>
          <a:solidFill>
            <a:schemeClr val="tx2"/>
          </a:solidFill>
          <a:ln/>
        </p:spPr>
      </p:sp>
      <p:sp>
        <p:nvSpPr>
          <p:cNvPr id="38" name="Text 35"/>
          <p:cNvSpPr txBox="1"/>
          <p:nvPr/>
        </p:nvSpPr>
        <p:spPr>
          <a:xfrm>
            <a:off x="6263640" y="329184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39" name="Text 36"/>
          <p:cNvSpPr txBox="1"/>
          <p:nvPr/>
        </p:nvSpPr>
        <p:spPr>
          <a:xfrm>
            <a:off x="6784848" y="3291840"/>
            <a:ext cx="1920240" cy="411480"/>
          </a:xfrm>
          <a:prstGeom prst="rect">
            <a:avLst/>
          </a:prstGeom>
          <a:noFill/>
          <a:ln/>
        </p:spPr>
        <p:txBody>
          <a:bodyPr wrap="square" lIns="0" tIns="0" rIns="0" bIns="0" rtlCol="0" anchor="ctr"/>
          <a:lstStyle/>
          <a:p>
            <a:pPr indent="0" marL="0">
              <a:buNone/>
            </a:pPr>
            <a:r>
              <a:rPr lang="en-US" sz="1300" b="1" dirty="0">
                <a:solidFill>
                  <a:schemeClr val="tx2"/>
                </a:solidFill>
              </a:rPr>
              <a:t>Final Acceptance</a:t>
            </a:r>
            <a:endParaRPr lang="en-US" sz="1300" dirty="0"/>
          </a:p>
        </p:txBody>
      </p:sp>
      <p:sp>
        <p:nvSpPr>
          <p:cNvPr id="40" name="Text 37"/>
          <p:cNvSpPr txBox="1"/>
          <p:nvPr/>
        </p:nvSpPr>
        <p:spPr>
          <a:xfrm>
            <a:off x="6263640" y="3840480"/>
            <a:ext cx="2423160" cy="548640"/>
          </a:xfrm>
          <a:prstGeom prst="rect">
            <a:avLst/>
          </a:prstGeom>
          <a:noFill/>
          <a:ln/>
        </p:spPr>
        <p:txBody>
          <a:bodyPr wrap="square" lIns="0" tIns="0" rIns="0" bIns="0" rtlCol="0" anchor="t"/>
          <a:lstStyle/>
          <a:p>
            <a:pPr indent="0" marL="0">
              <a:buNone/>
            </a:pPr>
            <a:r>
              <a:rPr lang="en-US" sz="1100" dirty="0">
                <a:solidFill>
                  <a:schemeClr val="tx1"/>
                </a:solidFill>
              </a:rPr>
              <a:t>Notice issued per hospital; deposit reduces pro rata</a:t>
            </a:r>
            <a:endParaRPr lang="en-US" sz="1100" dirty="0"/>
          </a:p>
        </p:txBody>
      </p:sp>
      <p:sp>
        <p:nvSpPr>
          <p:cNvPr id="41" name="Shape 38"/>
          <p:cNvSpPr/>
          <p:nvPr/>
        </p:nvSpPr>
        <p:spPr>
          <a:xfrm>
            <a:off x="8915400" y="3154680"/>
            <a:ext cx="2651760" cy="1280160"/>
          </a:xfrm>
          <a:prstGeom prst="rect">
            <a:avLst/>
          </a:prstGeom>
          <a:solidFill>
            <a:schemeClr val="bg2"/>
          </a:solidFill>
          <a:ln/>
        </p:spPr>
      </p:sp>
      <p:sp>
        <p:nvSpPr>
          <p:cNvPr id="42" name="Shape 39"/>
          <p:cNvSpPr/>
          <p:nvPr/>
        </p:nvSpPr>
        <p:spPr>
          <a:xfrm>
            <a:off x="9052560" y="3291840"/>
            <a:ext cx="411480" cy="411480"/>
          </a:xfrm>
          <a:prstGeom prst="ellipse">
            <a:avLst/>
          </a:prstGeom>
          <a:solidFill>
            <a:schemeClr val="accent1"/>
          </a:solidFill>
          <a:ln/>
        </p:spPr>
      </p:sp>
      <p:sp>
        <p:nvSpPr>
          <p:cNvPr id="43" name="Text 40"/>
          <p:cNvSpPr txBox="1"/>
          <p:nvPr/>
        </p:nvSpPr>
        <p:spPr>
          <a:xfrm>
            <a:off x="9052560" y="329184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44" name="Text 41"/>
          <p:cNvSpPr txBox="1"/>
          <p:nvPr/>
        </p:nvSpPr>
        <p:spPr>
          <a:xfrm>
            <a:off x="9573768" y="3291840"/>
            <a:ext cx="1920240" cy="411480"/>
          </a:xfrm>
          <a:prstGeom prst="rect">
            <a:avLst/>
          </a:prstGeom>
          <a:noFill/>
          <a:ln/>
        </p:spPr>
        <p:txBody>
          <a:bodyPr wrap="square" lIns="0" tIns="0" rIns="0" bIns="0" rtlCol="0" anchor="ctr"/>
          <a:lstStyle/>
          <a:p>
            <a:pPr indent="0" marL="0">
              <a:buNone/>
            </a:pPr>
            <a:r>
              <a:rPr lang="en-US" sz="1300" b="1" dirty="0">
                <a:solidFill>
                  <a:schemeClr val="tx2"/>
                </a:solidFill>
              </a:rPr>
              <a:t>Invoice</a:t>
            </a:r>
            <a:endParaRPr lang="en-US" sz="1300" dirty="0"/>
          </a:p>
        </p:txBody>
      </p:sp>
      <p:sp>
        <p:nvSpPr>
          <p:cNvPr id="45" name="Text 42"/>
          <p:cNvSpPr txBox="1"/>
          <p:nvPr/>
        </p:nvSpPr>
        <p:spPr>
          <a:xfrm>
            <a:off x="9052560" y="3840480"/>
            <a:ext cx="2423160" cy="548640"/>
          </a:xfrm>
          <a:prstGeom prst="rect">
            <a:avLst/>
          </a:prstGeom>
          <a:noFill/>
          <a:ln/>
        </p:spPr>
        <p:txBody>
          <a:bodyPr wrap="square" lIns="0" tIns="0" rIns="0" bIns="0" rtlCol="0" anchor="t"/>
          <a:lstStyle/>
          <a:p>
            <a:pPr indent="0" marL="0">
              <a:buNone/>
            </a:pPr>
            <a:r>
              <a:rPr lang="en-US" sz="1100" dirty="0">
                <a:solidFill>
                  <a:schemeClr val="tx1"/>
                </a:solidFill>
              </a:rPr>
              <a:t>Submitted within 7 days of Final Acceptance</a:t>
            </a:r>
            <a:endParaRPr lang="en-US" sz="1100" dirty="0"/>
          </a:p>
        </p:txBody>
      </p:sp>
      <p:sp>
        <p:nvSpPr>
          <p:cNvPr id="46" name="Card Project governance"/>
          <p:cNvSpPr/>
          <p:nvPr/>
        </p:nvSpPr>
        <p:spPr>
          <a:xfrm>
            <a:off x="548640" y="4663440"/>
            <a:ext cx="3611880" cy="1417320"/>
          </a:xfrm>
          <a:prstGeom prst="rect">
            <a:avLst/>
          </a:prstGeom>
          <a:solidFill>
            <a:schemeClr val="bg2"/>
          </a:solidFill>
          <a:ln/>
        </p:spPr>
      </p:sp>
      <p:sp>
        <p:nvSpPr>
          <p:cNvPr id="47" name="Text 44"/>
          <p:cNvSpPr txBox="1"/>
          <p:nvPr/>
        </p:nvSpPr>
        <p:spPr>
          <a:xfrm>
            <a:off x="731520" y="4846320"/>
            <a:ext cx="3246120" cy="365760"/>
          </a:xfrm>
          <a:prstGeom prst="rect">
            <a:avLst/>
          </a:prstGeom>
          <a:noFill/>
          <a:ln/>
        </p:spPr>
        <p:txBody>
          <a:bodyPr wrap="square" lIns="0" tIns="0" rIns="0" bIns="0" rtlCol="0" anchor="ctr"/>
          <a:lstStyle/>
          <a:p>
            <a:pPr indent="0" marL="0">
              <a:buNone/>
            </a:pPr>
            <a:r>
              <a:rPr lang="en-US" sz="1400" b="1" dirty="0">
                <a:solidFill>
                  <a:schemeClr val="tx2"/>
                </a:solidFill>
              </a:rPr>
              <a:t>Project governance</a:t>
            </a:r>
            <a:endParaRPr lang="en-US" sz="1400" dirty="0"/>
          </a:p>
        </p:txBody>
      </p:sp>
      <p:sp>
        <p:nvSpPr>
          <p:cNvPr id="48" name="Text 45"/>
          <p:cNvSpPr txBox="1"/>
          <p:nvPr/>
        </p:nvSpPr>
        <p:spPr>
          <a:xfrm>
            <a:off x="731520" y="5303520"/>
            <a:ext cx="3246120" cy="64008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Quarterly project-manager meetings</a:t>
            </a:r>
            <a:endParaRPr lang="en-US" sz="1100" dirty="0"/>
          </a:p>
          <a:p>
            <a:pPr marL="152400" indent="-152400">
              <a:spcAft>
                <a:spcPts val="400"/>
              </a:spcAft>
              <a:buSzPct val="100000"/>
              <a:buChar char="•"/>
            </a:pPr>
            <a:r>
              <a:rPr lang="en-US" sz="1100" dirty="0">
                <a:solidFill>
                  <a:schemeClr val="tx1"/>
                </a:solidFill>
              </a:rPr>
              <a:t>MONIT project manager: Chief Technology Officer</a:t>
            </a:r>
            <a:endParaRPr lang="en-US" sz="1100" dirty="0"/>
          </a:p>
        </p:txBody>
      </p:sp>
      <p:sp>
        <p:nvSpPr>
          <p:cNvPr id="49" name="Card Change control"/>
          <p:cNvSpPr/>
          <p:nvPr/>
        </p:nvSpPr>
        <p:spPr>
          <a:xfrm>
            <a:off x="4288536" y="4663440"/>
            <a:ext cx="3611880" cy="1417320"/>
          </a:xfrm>
          <a:prstGeom prst="rect">
            <a:avLst/>
          </a:prstGeom>
          <a:solidFill>
            <a:schemeClr val="bg2"/>
          </a:solidFill>
          <a:ln/>
        </p:spPr>
      </p:sp>
      <p:sp>
        <p:nvSpPr>
          <p:cNvPr id="50" name="Text 47"/>
          <p:cNvSpPr txBox="1"/>
          <p:nvPr/>
        </p:nvSpPr>
        <p:spPr>
          <a:xfrm>
            <a:off x="4471416" y="4846320"/>
            <a:ext cx="3246120" cy="365760"/>
          </a:xfrm>
          <a:prstGeom prst="rect">
            <a:avLst/>
          </a:prstGeom>
          <a:noFill/>
          <a:ln/>
        </p:spPr>
        <p:txBody>
          <a:bodyPr wrap="square" lIns="0" tIns="0" rIns="0" bIns="0" rtlCol="0" anchor="ctr"/>
          <a:lstStyle/>
          <a:p>
            <a:pPr indent="0" marL="0">
              <a:buNone/>
            </a:pPr>
            <a:r>
              <a:rPr lang="en-US" sz="1400" b="1" dirty="0">
                <a:solidFill>
                  <a:schemeClr val="tx2"/>
                </a:solidFill>
              </a:rPr>
              <a:t>Change control</a:t>
            </a:r>
            <a:endParaRPr lang="en-US" sz="1400" dirty="0"/>
          </a:p>
        </p:txBody>
      </p:sp>
      <p:sp>
        <p:nvSpPr>
          <p:cNvPr id="51" name="Text 48"/>
          <p:cNvSpPr txBox="1"/>
          <p:nvPr/>
        </p:nvSpPr>
        <p:spPr>
          <a:xfrm>
            <a:off x="4471416" y="5303520"/>
            <a:ext cx="3246120" cy="64008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Changes pre-approved in writing</a:t>
            </a:r>
            <a:endParaRPr lang="en-US" sz="1100" dirty="0"/>
          </a:p>
          <a:p>
            <a:pPr marL="152400" indent="-152400">
              <a:spcAft>
                <a:spcPts val="400"/>
              </a:spcAft>
              <a:buSzPct val="100000"/>
              <a:buChar char="•"/>
            </a:pPr>
            <a:r>
              <a:rPr lang="en-US" sz="1100" dirty="0">
                <a:solidFill>
                  <a:schemeClr val="tx1"/>
                </a:solidFill>
              </a:rPr>
              <a:t>Reimbursed at cost; no hidden charges</a:t>
            </a:r>
            <a:endParaRPr lang="en-US" sz="1100" dirty="0"/>
          </a:p>
        </p:txBody>
      </p:sp>
      <p:sp>
        <p:nvSpPr>
          <p:cNvPr id="52" name="Card Quality"/>
          <p:cNvSpPr/>
          <p:nvPr/>
        </p:nvSpPr>
        <p:spPr>
          <a:xfrm>
            <a:off x="8028432" y="4663440"/>
            <a:ext cx="3611880" cy="1417320"/>
          </a:xfrm>
          <a:prstGeom prst="rect">
            <a:avLst/>
          </a:prstGeom>
          <a:solidFill>
            <a:schemeClr val="bg2"/>
          </a:solidFill>
          <a:ln/>
        </p:spPr>
      </p:sp>
      <p:sp>
        <p:nvSpPr>
          <p:cNvPr id="53" name="Text 50"/>
          <p:cNvSpPr txBox="1"/>
          <p:nvPr/>
        </p:nvSpPr>
        <p:spPr>
          <a:xfrm>
            <a:off x="8211312" y="4846320"/>
            <a:ext cx="3246120" cy="365760"/>
          </a:xfrm>
          <a:prstGeom prst="rect">
            <a:avLst/>
          </a:prstGeom>
          <a:noFill/>
          <a:ln/>
        </p:spPr>
        <p:txBody>
          <a:bodyPr wrap="square" lIns="0" tIns="0" rIns="0" bIns="0" rtlCol="0" anchor="ctr"/>
          <a:lstStyle/>
          <a:p>
            <a:pPr indent="0" marL="0">
              <a:buNone/>
            </a:pPr>
            <a:r>
              <a:rPr lang="en-US" sz="1400" b="1" dirty="0">
                <a:solidFill>
                  <a:schemeClr val="tx2"/>
                </a:solidFill>
              </a:rPr>
              <a:t>Quality</a:t>
            </a:r>
            <a:endParaRPr lang="en-US" sz="1400" dirty="0"/>
          </a:p>
        </p:txBody>
      </p:sp>
      <p:sp>
        <p:nvSpPr>
          <p:cNvPr id="54" name="Text 51"/>
          <p:cNvSpPr txBox="1"/>
          <p:nvPr/>
        </p:nvSpPr>
        <p:spPr>
          <a:xfrm>
            <a:off x="8211312" y="5303520"/>
            <a:ext cx="3246120" cy="64008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Pre-shipment testing</a:t>
            </a:r>
            <a:endParaRPr lang="en-US" sz="1100" dirty="0"/>
          </a:p>
          <a:p>
            <a:pPr marL="152400" indent="-152400">
              <a:spcAft>
                <a:spcPts val="400"/>
              </a:spcAft>
              <a:buSzPct val="100000"/>
              <a:buChar char="•"/>
            </a:pPr>
            <a:r>
              <a:rPr lang="en-US" sz="1100" dirty="0">
                <a:solidFill>
                  <a:schemeClr val="tx1"/>
                </a:solidFill>
              </a:rPr>
              <a:t>Acceptance tests per ward</a:t>
            </a:r>
            <a:endParaRPr lang="en-US" sz="11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4 · UNDERSTANDING OF THE PROJECT</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Deployment is planned ward by ward around each hospital's stated preferences, using the same proven pattern at all three sites</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NHG requirement table for KTPH, Woodlands Health (WH) and TTSH; MONIT deployment pattern. Floor plans to follow from NHG.</a:t>
            </a:r>
            <a:endParaRPr lang="en-US" sz="900" dirty="0"/>
          </a:p>
        </p:txBody>
      </p:sp>
      <p:sp>
        <p:nvSpPr>
          <p:cNvPr id="6" name="Shape 3"/>
          <p:cNvSpPr/>
          <p:nvPr/>
        </p:nvSpPr>
        <p:spPr>
          <a:xfrm>
            <a:off x="548640" y="1691640"/>
            <a:ext cx="3611880" cy="457200"/>
          </a:xfrm>
          <a:prstGeom prst="rect">
            <a:avLst/>
          </a:prstGeom>
          <a:solidFill>
            <a:schemeClr val="tx2"/>
          </a:solidFill>
          <a:ln/>
        </p:spPr>
      </p:sp>
      <p:sp>
        <p:nvSpPr>
          <p:cNvPr id="7" name="Text 4"/>
          <p:cNvSpPr txBox="1"/>
          <p:nvPr/>
        </p:nvSpPr>
        <p:spPr>
          <a:xfrm>
            <a:off x="685800" y="1691640"/>
            <a:ext cx="2240280" cy="457200"/>
          </a:xfrm>
          <a:prstGeom prst="rect">
            <a:avLst/>
          </a:prstGeom>
          <a:noFill/>
          <a:ln/>
        </p:spPr>
        <p:txBody>
          <a:bodyPr wrap="square" lIns="0" tIns="0" rIns="0" bIns="0" rtlCol="0" anchor="ctr"/>
          <a:lstStyle/>
          <a:p>
            <a:pPr indent="0" marL="0">
              <a:buNone/>
            </a:pPr>
            <a:r>
              <a:rPr lang="en-US" sz="1300" b="1" dirty="0">
                <a:solidFill>
                  <a:schemeClr val="bg1"/>
                </a:solidFill>
              </a:rPr>
              <a:t>Khoo Teck Puat Hospital</a:t>
            </a:r>
            <a:endParaRPr lang="en-US" sz="1300" dirty="0"/>
          </a:p>
        </p:txBody>
      </p:sp>
      <p:sp>
        <p:nvSpPr>
          <p:cNvPr id="8" name="Text 5"/>
          <p:cNvSpPr txBox="1"/>
          <p:nvPr/>
        </p:nvSpPr>
        <p:spPr>
          <a:xfrm>
            <a:off x="2834640" y="1691640"/>
            <a:ext cx="1234440" cy="457200"/>
          </a:xfrm>
          <a:prstGeom prst="rect">
            <a:avLst/>
          </a:prstGeom>
          <a:noFill/>
          <a:ln/>
        </p:spPr>
        <p:txBody>
          <a:bodyPr wrap="square" lIns="0" tIns="0" rIns="0" bIns="0" rtlCol="0" anchor="ctr"/>
          <a:lstStyle/>
          <a:p>
            <a:pPr algn="r" indent="0" marL="0">
              <a:buNone/>
            </a:pPr>
            <a:r>
              <a:rPr lang="en-US" sz="1000" dirty="0">
                <a:solidFill>
                  <a:srgbClr val="CADCFC"/>
                </a:solidFill>
              </a:rPr>
              <a:t>60 sensors</a:t>
            </a:r>
            <a:endParaRPr lang="en-US" sz="1000" dirty="0"/>
          </a:p>
        </p:txBody>
      </p:sp>
      <p:sp>
        <p:nvSpPr>
          <p:cNvPr id="9" name="Shape 6"/>
          <p:cNvSpPr/>
          <p:nvPr/>
        </p:nvSpPr>
        <p:spPr>
          <a:xfrm>
            <a:off x="548640" y="2194560"/>
            <a:ext cx="3611880" cy="1600200"/>
          </a:xfrm>
          <a:prstGeom prst="rect">
            <a:avLst/>
          </a:prstGeom>
          <a:solidFill>
            <a:schemeClr val="bg2"/>
          </a:solidFill>
          <a:ln/>
        </p:spPr>
      </p:sp>
      <p:sp>
        <p:nvSpPr>
          <p:cNvPr id="10" name="Text 7"/>
          <p:cNvSpPr txBox="1"/>
          <p:nvPr/>
        </p:nvSpPr>
        <p:spPr>
          <a:xfrm>
            <a:off x="685800" y="2286000"/>
            <a:ext cx="3337560" cy="14630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chemeClr val="tx1"/>
                </a:solidFill>
              </a:rPr>
              <a:t>Wards: Tower D7, Tower B (acute stroke), Tower D8</a:t>
            </a:r>
            <a:endParaRPr lang="en-US" sz="1050" dirty="0"/>
          </a:p>
          <a:p>
            <a:pPr marL="152400" indent="-152400">
              <a:spcAft>
                <a:spcPts val="500"/>
              </a:spcAft>
              <a:buSzPct val="100000"/>
              <a:buChar char="•"/>
            </a:pPr>
            <a:r>
              <a:rPr lang="en-US" sz="1050" dirty="0">
                <a:solidFill>
                  <a:schemeClr val="tx1"/>
                </a:solidFill>
              </a:rPr>
              <a:t>Preferred: ceiling-mounted gateways</a:t>
            </a:r>
            <a:endParaRPr lang="en-US" sz="1050" dirty="0"/>
          </a:p>
          <a:p>
            <a:pPr marL="152400" indent="-152400">
              <a:spcAft>
                <a:spcPts val="500"/>
              </a:spcAft>
              <a:buSzPct val="100000"/>
              <a:buChar char="•"/>
            </a:pPr>
            <a:r>
              <a:rPr lang="en-US" sz="1050" dirty="0">
                <a:solidFill>
                  <a:schemeClr val="tx1"/>
                </a:solidFill>
              </a:rPr>
              <a:t>Signal amplifiers to specific power requirements</a:t>
            </a:r>
            <a:endParaRPr lang="en-US" sz="1050" dirty="0"/>
          </a:p>
          <a:p>
            <a:pPr marL="152400" indent="-152400">
              <a:spcAft>
                <a:spcPts val="500"/>
              </a:spcAft>
              <a:buSzPct val="100000"/>
              <a:buChar char="•"/>
            </a:pPr>
            <a:r>
              <a:rPr lang="en-US" sz="1050" dirty="0">
                <a:solidFill>
                  <a:schemeClr val="tx1"/>
                </a:solidFill>
              </a:rPr>
              <a:t>Barcode scanner at monitoring station</a:t>
            </a:r>
            <a:endParaRPr lang="en-US" sz="1050" dirty="0"/>
          </a:p>
        </p:txBody>
      </p:sp>
      <p:sp>
        <p:nvSpPr>
          <p:cNvPr id="11" name="Proposed response"/>
          <p:cNvSpPr/>
          <p:nvPr/>
        </p:nvSpPr>
        <p:spPr>
          <a:xfrm>
            <a:off x="548640" y="3886200"/>
            <a:ext cx="3611880" cy="1188720"/>
          </a:xfrm>
          <a:prstGeom prst="rect">
            <a:avLst/>
          </a:prstGeom>
          <a:solidFill>
            <a:srgbClr val="E6F6F7"/>
          </a:solidFill>
          <a:ln w="12700">
            <a:solidFill>
              <a:srgbClr val="00A3AD"/>
            </a:solidFill>
            <a:prstDash val="dash"/>
          </a:ln>
        </p:spPr>
      </p:sp>
      <p:sp>
        <p:nvSpPr>
          <p:cNvPr id="12" name="Text 9"/>
          <p:cNvSpPr txBox="1"/>
          <p:nvPr/>
        </p:nvSpPr>
        <p:spPr>
          <a:xfrm>
            <a:off x="640080" y="3886200"/>
            <a:ext cx="3429000" cy="1188720"/>
          </a:xfrm>
          <a:prstGeom prst="rect">
            <a:avLst/>
          </a:prstGeom>
          <a:noFill/>
          <a:ln/>
        </p:spPr>
        <p:txBody>
          <a:bodyPr wrap="square" lIns="0" tIns="0" rIns="0" bIns="0" rtlCol="0" anchor="ctr"/>
          <a:lstStyle/>
          <a:p>
            <a:pPr indent="0" marL="0">
              <a:buNone/>
            </a:pPr>
            <a:r>
              <a:rPr lang="en-US" sz="1050" b="1" dirty="0">
                <a:solidFill>
                  <a:srgbClr val="0B6F76"/>
                </a:solidFill>
              </a:rPr>
              <a:t>PROPOSED  </a:t>
            </a:r>
            <a:pPr indent="0" marL="0">
              <a:buNone/>
            </a:pPr>
            <a:r>
              <a:rPr lang="en-US" sz="1050" dirty="0">
                <a:solidFill>
                  <a:srgbClr val="1F2937"/>
                </a:solidFill>
              </a:rPr>
              <a:t>Ceiling-mounted gateways at the corridor side of each bay cluster, powered to KTPH's power specification; barcode scanner at the monitoring-station dashboard.</a:t>
            </a:r>
            <a:endParaRPr lang="en-US" sz="1050" dirty="0"/>
          </a:p>
        </p:txBody>
      </p:sp>
      <p:sp>
        <p:nvSpPr>
          <p:cNvPr id="13" name="Input placeholder"/>
          <p:cNvSpPr/>
          <p:nvPr/>
        </p:nvSpPr>
        <p:spPr>
          <a:xfrm>
            <a:off x="548640" y="5166360"/>
            <a:ext cx="3611880" cy="777240"/>
          </a:xfrm>
          <a:prstGeom prst="rect">
            <a:avLst/>
          </a:prstGeom>
          <a:solidFill>
            <a:srgbClr val="FFF4D6"/>
          </a:solidFill>
          <a:ln w="12700">
            <a:solidFill>
              <a:srgbClr val="F2A900"/>
            </a:solidFill>
            <a:prstDash val="dash"/>
          </a:ln>
        </p:spPr>
      </p:sp>
      <p:sp>
        <p:nvSpPr>
          <p:cNvPr id="14" name="Text 11"/>
          <p:cNvSpPr txBox="1"/>
          <p:nvPr/>
        </p:nvSpPr>
        <p:spPr>
          <a:xfrm>
            <a:off x="640080" y="5166360"/>
            <a:ext cx="3429000" cy="777240"/>
          </a:xfrm>
          <a:prstGeom prst="rect">
            <a:avLst/>
          </a:prstGeom>
          <a:noFill/>
          <a:ln/>
        </p:spPr>
        <p:txBody>
          <a:bodyPr wrap="square" lIns="0" tIns="0" rIns="0" bIns="0" rtlCol="0" anchor="ctr"/>
          <a:lstStyle/>
          <a:p>
            <a:pPr indent="0" marL="0">
              <a:buNone/>
            </a:pPr>
            <a:r>
              <a:rPr lang="en-US" sz="1000" i="1" dirty="0">
                <a:solidFill>
                  <a:srgbClr val="7A4F00"/>
                </a:solidFill>
              </a:rPr>
              <a:t>[INPUT REQUIRED] Ward layout / floor plan from NHG with gateway positions marked.</a:t>
            </a:r>
            <a:endParaRPr lang="en-US" sz="1000" dirty="0"/>
          </a:p>
        </p:txBody>
      </p:sp>
      <p:sp>
        <p:nvSpPr>
          <p:cNvPr id="15" name="Shape 12"/>
          <p:cNvSpPr/>
          <p:nvPr/>
        </p:nvSpPr>
        <p:spPr>
          <a:xfrm>
            <a:off x="4297680" y="1691640"/>
            <a:ext cx="3611880" cy="457200"/>
          </a:xfrm>
          <a:prstGeom prst="rect">
            <a:avLst/>
          </a:prstGeom>
          <a:solidFill>
            <a:schemeClr val="tx2"/>
          </a:solidFill>
          <a:ln/>
        </p:spPr>
      </p:sp>
      <p:sp>
        <p:nvSpPr>
          <p:cNvPr id="16" name="Text 13"/>
          <p:cNvSpPr txBox="1"/>
          <p:nvPr/>
        </p:nvSpPr>
        <p:spPr>
          <a:xfrm>
            <a:off x="4434840" y="1691640"/>
            <a:ext cx="2240280" cy="457200"/>
          </a:xfrm>
          <a:prstGeom prst="rect">
            <a:avLst/>
          </a:prstGeom>
          <a:noFill/>
          <a:ln/>
        </p:spPr>
        <p:txBody>
          <a:bodyPr wrap="square" lIns="0" tIns="0" rIns="0" bIns="0" rtlCol="0" anchor="ctr"/>
          <a:lstStyle/>
          <a:p>
            <a:pPr indent="0" marL="0">
              <a:buNone/>
            </a:pPr>
            <a:r>
              <a:rPr lang="en-US" sz="1300" b="1" dirty="0">
                <a:solidFill>
                  <a:schemeClr val="bg1"/>
                </a:solidFill>
              </a:rPr>
              <a:t>Woodlands Health</a:t>
            </a:r>
            <a:endParaRPr lang="en-US" sz="1300" dirty="0"/>
          </a:p>
        </p:txBody>
      </p:sp>
      <p:sp>
        <p:nvSpPr>
          <p:cNvPr id="17" name="Text 14"/>
          <p:cNvSpPr txBox="1"/>
          <p:nvPr/>
        </p:nvSpPr>
        <p:spPr>
          <a:xfrm>
            <a:off x="6583680" y="1691640"/>
            <a:ext cx="1234440" cy="457200"/>
          </a:xfrm>
          <a:prstGeom prst="rect">
            <a:avLst/>
          </a:prstGeom>
          <a:noFill/>
          <a:ln/>
        </p:spPr>
        <p:txBody>
          <a:bodyPr wrap="square" lIns="0" tIns="0" rIns="0" bIns="0" rtlCol="0" anchor="ctr"/>
          <a:lstStyle/>
          <a:p>
            <a:pPr algn="r" indent="0" marL="0">
              <a:buNone/>
            </a:pPr>
            <a:r>
              <a:rPr lang="en-US" sz="1000" dirty="0">
                <a:solidFill>
                  <a:srgbClr val="CADCFC"/>
                </a:solidFill>
              </a:rPr>
              <a:t>35 sensors (derived)</a:t>
            </a:r>
            <a:endParaRPr lang="en-US" sz="1000" dirty="0"/>
          </a:p>
        </p:txBody>
      </p:sp>
      <p:sp>
        <p:nvSpPr>
          <p:cNvPr id="18" name="Shape 15"/>
          <p:cNvSpPr/>
          <p:nvPr/>
        </p:nvSpPr>
        <p:spPr>
          <a:xfrm>
            <a:off x="4297680" y="2194560"/>
            <a:ext cx="3611880" cy="1600200"/>
          </a:xfrm>
          <a:prstGeom prst="rect">
            <a:avLst/>
          </a:prstGeom>
          <a:solidFill>
            <a:schemeClr val="bg2"/>
          </a:solidFill>
          <a:ln/>
        </p:spPr>
      </p:sp>
      <p:sp>
        <p:nvSpPr>
          <p:cNvPr id="19" name="Text 16"/>
          <p:cNvSpPr txBox="1"/>
          <p:nvPr/>
        </p:nvSpPr>
        <p:spPr>
          <a:xfrm>
            <a:off x="4434840" y="2286000"/>
            <a:ext cx="3337560" cy="14630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chemeClr val="tx1"/>
                </a:solidFill>
              </a:rPr>
              <a:t>Wards: A41, W62, W74</a:t>
            </a:r>
            <a:endParaRPr lang="en-US" sz="1050" dirty="0"/>
          </a:p>
          <a:p>
            <a:pPr marL="152400" indent="-152400">
              <a:spcAft>
                <a:spcPts val="500"/>
              </a:spcAft>
              <a:buSzPct val="100000"/>
              <a:buChar char="•"/>
            </a:pPr>
            <a:r>
              <a:rPr lang="en-US" sz="1050" dirty="0">
                <a:solidFill>
                  <a:schemeClr val="tx1"/>
                </a:solidFill>
              </a:rPr>
              <a:t>Minimal, hidden behind cabinet or wall; portable; not on ceiling</a:t>
            </a:r>
            <a:endParaRPr lang="en-US" sz="1050" dirty="0"/>
          </a:p>
          <a:p>
            <a:pPr marL="152400" indent="-152400">
              <a:spcAft>
                <a:spcPts val="500"/>
              </a:spcAft>
              <a:buSzPct val="100000"/>
              <a:buChar char="•"/>
            </a:pPr>
            <a:r>
              <a:rPr lang="en-US" sz="1050" dirty="0">
                <a:solidFill>
                  <a:schemeClr val="tx1"/>
                </a:solidFill>
              </a:rPr>
              <a:t>No power points along the A41 corridor</a:t>
            </a:r>
            <a:endParaRPr lang="en-US" sz="1050" dirty="0"/>
          </a:p>
          <a:p>
            <a:pPr marL="152400" indent="-152400">
              <a:spcAft>
                <a:spcPts val="500"/>
              </a:spcAft>
              <a:buSzPct val="100000"/>
              <a:buChar char="•"/>
            </a:pPr>
            <a:r>
              <a:rPr lang="en-US" sz="1050" dirty="0">
                <a:solidFill>
                  <a:schemeClr val="tx1"/>
                </a:solidFill>
              </a:rPr>
              <a:t>Dashboard and Zebra DS22 scanner at monitoring station; no tablet</a:t>
            </a:r>
            <a:endParaRPr lang="en-US" sz="1050" dirty="0"/>
          </a:p>
        </p:txBody>
      </p:sp>
      <p:sp>
        <p:nvSpPr>
          <p:cNvPr id="20" name="Proposed response"/>
          <p:cNvSpPr/>
          <p:nvPr/>
        </p:nvSpPr>
        <p:spPr>
          <a:xfrm>
            <a:off x="4297680" y="3886200"/>
            <a:ext cx="3611880" cy="1188720"/>
          </a:xfrm>
          <a:prstGeom prst="rect">
            <a:avLst/>
          </a:prstGeom>
          <a:solidFill>
            <a:srgbClr val="E6F6F7"/>
          </a:solidFill>
          <a:ln w="12700">
            <a:solidFill>
              <a:srgbClr val="00A3AD"/>
            </a:solidFill>
            <a:prstDash val="dash"/>
          </a:ln>
        </p:spPr>
      </p:sp>
      <p:sp>
        <p:nvSpPr>
          <p:cNvPr id="21" name="Text 18"/>
          <p:cNvSpPr txBox="1"/>
          <p:nvPr/>
        </p:nvSpPr>
        <p:spPr>
          <a:xfrm>
            <a:off x="4389120" y="3886200"/>
            <a:ext cx="3429000" cy="1188720"/>
          </a:xfrm>
          <a:prstGeom prst="rect">
            <a:avLst/>
          </a:prstGeom>
          <a:noFill/>
          <a:ln/>
        </p:spPr>
        <p:txBody>
          <a:bodyPr wrap="square" lIns="0" tIns="0" rIns="0" bIns="0" rtlCol="0" anchor="ctr"/>
          <a:lstStyle/>
          <a:p>
            <a:pPr indent="0" marL="0">
              <a:buNone/>
            </a:pPr>
            <a:r>
              <a:rPr lang="en-US" sz="1050" b="1" dirty="0">
                <a:solidFill>
                  <a:srgbClr val="0B6F76"/>
                </a:solidFill>
              </a:rPr>
              <a:t>PROPOSED  </a:t>
            </a:r>
            <a:pPr indent="0" marL="0">
              <a:buNone/>
            </a:pPr>
            <a:r>
              <a:rPr lang="en-US" sz="1050" dirty="0">
                <a:solidFill>
                  <a:srgbClr val="1F2937"/>
                </a:solidFill>
              </a:rPr>
              <a:t>Portable plug-in gateways behind cabinets or at wall sockets inside bays and rooms; trial one gateway for four cubicles in W62 before rollout.</a:t>
            </a:r>
            <a:endParaRPr lang="en-US" sz="1050" dirty="0"/>
          </a:p>
        </p:txBody>
      </p:sp>
      <p:sp>
        <p:nvSpPr>
          <p:cNvPr id="22" name="Input placeholder"/>
          <p:cNvSpPr/>
          <p:nvPr/>
        </p:nvSpPr>
        <p:spPr>
          <a:xfrm>
            <a:off x="4297680" y="5166360"/>
            <a:ext cx="3611880" cy="777240"/>
          </a:xfrm>
          <a:prstGeom prst="rect">
            <a:avLst/>
          </a:prstGeom>
          <a:solidFill>
            <a:srgbClr val="FFF4D6"/>
          </a:solidFill>
          <a:ln w="12700">
            <a:solidFill>
              <a:srgbClr val="F2A900"/>
            </a:solidFill>
            <a:prstDash val="dash"/>
          </a:ln>
        </p:spPr>
      </p:sp>
      <p:sp>
        <p:nvSpPr>
          <p:cNvPr id="23" name="Text 20"/>
          <p:cNvSpPr txBox="1"/>
          <p:nvPr/>
        </p:nvSpPr>
        <p:spPr>
          <a:xfrm>
            <a:off x="4389120" y="5166360"/>
            <a:ext cx="3429000" cy="777240"/>
          </a:xfrm>
          <a:prstGeom prst="rect">
            <a:avLst/>
          </a:prstGeom>
          <a:noFill/>
          <a:ln/>
        </p:spPr>
        <p:txBody>
          <a:bodyPr wrap="square" lIns="0" tIns="0" rIns="0" bIns="0" rtlCol="0" anchor="ctr"/>
          <a:lstStyle/>
          <a:p>
            <a:pPr indent="0" marL="0">
              <a:buNone/>
            </a:pPr>
            <a:r>
              <a:rPr lang="en-US" sz="1000" i="1" dirty="0">
                <a:solidFill>
                  <a:srgbClr val="7A4F00"/>
                </a:solidFill>
              </a:rPr>
              <a:t>[INPUT REQUIRED] Ward layout / floor plan from NHG with gateway positions marked.</a:t>
            </a:r>
            <a:endParaRPr lang="en-US" sz="1000" dirty="0"/>
          </a:p>
        </p:txBody>
      </p:sp>
      <p:sp>
        <p:nvSpPr>
          <p:cNvPr id="24" name="Shape 21"/>
          <p:cNvSpPr/>
          <p:nvPr/>
        </p:nvSpPr>
        <p:spPr>
          <a:xfrm>
            <a:off x="8046720" y="1691640"/>
            <a:ext cx="3611880" cy="457200"/>
          </a:xfrm>
          <a:prstGeom prst="rect">
            <a:avLst/>
          </a:prstGeom>
          <a:solidFill>
            <a:schemeClr val="tx2"/>
          </a:solidFill>
          <a:ln/>
        </p:spPr>
      </p:sp>
      <p:sp>
        <p:nvSpPr>
          <p:cNvPr id="25" name="Text 22"/>
          <p:cNvSpPr txBox="1"/>
          <p:nvPr/>
        </p:nvSpPr>
        <p:spPr>
          <a:xfrm>
            <a:off x="8183880" y="1691640"/>
            <a:ext cx="2240280" cy="457200"/>
          </a:xfrm>
          <a:prstGeom prst="rect">
            <a:avLst/>
          </a:prstGeom>
          <a:noFill/>
          <a:ln/>
        </p:spPr>
        <p:txBody>
          <a:bodyPr wrap="square" lIns="0" tIns="0" rIns="0" bIns="0" rtlCol="0" anchor="ctr"/>
          <a:lstStyle/>
          <a:p>
            <a:pPr indent="0" marL="0">
              <a:buNone/>
            </a:pPr>
            <a:r>
              <a:rPr lang="en-US" sz="1300" b="1" dirty="0">
                <a:solidFill>
                  <a:schemeClr val="bg1"/>
                </a:solidFill>
              </a:rPr>
              <a:t>Tan Tock Seng Hospital</a:t>
            </a:r>
            <a:endParaRPr lang="en-US" sz="1300" dirty="0"/>
          </a:p>
        </p:txBody>
      </p:sp>
      <p:sp>
        <p:nvSpPr>
          <p:cNvPr id="26" name="Text 23"/>
          <p:cNvSpPr txBox="1"/>
          <p:nvPr/>
        </p:nvSpPr>
        <p:spPr>
          <a:xfrm>
            <a:off x="10332720" y="1691640"/>
            <a:ext cx="1234440" cy="457200"/>
          </a:xfrm>
          <a:prstGeom prst="rect">
            <a:avLst/>
          </a:prstGeom>
          <a:noFill/>
          <a:ln/>
        </p:spPr>
        <p:txBody>
          <a:bodyPr wrap="square" lIns="0" tIns="0" rIns="0" bIns="0" rtlCol="0" anchor="ctr"/>
          <a:lstStyle/>
          <a:p>
            <a:pPr algn="r" indent="0" marL="0">
              <a:buNone/>
            </a:pPr>
            <a:r>
              <a:rPr lang="en-US" sz="1000" dirty="0">
                <a:solidFill>
                  <a:srgbClr val="CADCFC"/>
                </a:solidFill>
              </a:rPr>
              <a:t>40 sensors</a:t>
            </a:r>
            <a:endParaRPr lang="en-US" sz="1000" dirty="0"/>
          </a:p>
        </p:txBody>
      </p:sp>
      <p:sp>
        <p:nvSpPr>
          <p:cNvPr id="27" name="Shape 24"/>
          <p:cNvSpPr/>
          <p:nvPr/>
        </p:nvSpPr>
        <p:spPr>
          <a:xfrm>
            <a:off x="8046720" y="2194560"/>
            <a:ext cx="3611880" cy="1600200"/>
          </a:xfrm>
          <a:prstGeom prst="rect">
            <a:avLst/>
          </a:prstGeom>
          <a:solidFill>
            <a:schemeClr val="bg2"/>
          </a:solidFill>
          <a:ln/>
        </p:spPr>
      </p:sp>
      <p:sp>
        <p:nvSpPr>
          <p:cNvPr id="28" name="Text 25"/>
          <p:cNvSpPr txBox="1"/>
          <p:nvPr/>
        </p:nvSpPr>
        <p:spPr>
          <a:xfrm>
            <a:off x="8183880" y="2286000"/>
            <a:ext cx="3337560" cy="14630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chemeClr val="tx1"/>
                </a:solidFill>
              </a:rPr>
              <a:t>Wards: 5A, 7C, 13B, 5H</a:t>
            </a:r>
            <a:endParaRPr lang="en-US" sz="1050" dirty="0"/>
          </a:p>
          <a:p>
            <a:pPr marL="152400" indent="-152400">
              <a:spcAft>
                <a:spcPts val="500"/>
              </a:spcAft>
              <a:buSzPct val="100000"/>
              <a:buChar char="•"/>
            </a:pPr>
            <a:r>
              <a:rPr lang="en-US" sz="1050" dirty="0">
                <a:solidFill>
                  <a:schemeClr val="tx1"/>
                </a:solidFill>
              </a:rPr>
              <a:t>Wall power-point plug-in; no drilling; minimal infrastructure</a:t>
            </a:r>
            <a:endParaRPr lang="en-US" sz="1050" dirty="0"/>
          </a:p>
          <a:p>
            <a:pPr marL="152400" indent="-152400">
              <a:spcAft>
                <a:spcPts val="500"/>
              </a:spcAft>
              <a:buSzPct val="100000"/>
              <a:buChar char="•"/>
            </a:pPr>
            <a:r>
              <a:rPr lang="en-US" sz="1050" dirty="0">
                <a:solidFill>
                  <a:schemeClr val="tx1"/>
                </a:solidFill>
              </a:rPr>
              <a:t>Gym area needs no gateway; 13B corridor has no wall power</a:t>
            </a:r>
            <a:endParaRPr lang="en-US" sz="1050" dirty="0"/>
          </a:p>
          <a:p>
            <a:pPr marL="152400" indent="-152400">
              <a:spcAft>
                <a:spcPts val="500"/>
              </a:spcAft>
              <a:buSzPct val="100000"/>
              <a:buChar char="•"/>
            </a:pPr>
            <a:r>
              <a:rPr lang="en-US" sz="1050" dirty="0">
                <a:solidFill>
                  <a:schemeClr val="tx1"/>
                </a:solidFill>
              </a:rPr>
              <a:t>Dashboard at nursing monitoring station</a:t>
            </a:r>
            <a:endParaRPr lang="en-US" sz="1050" dirty="0"/>
          </a:p>
        </p:txBody>
      </p:sp>
      <p:sp>
        <p:nvSpPr>
          <p:cNvPr id="29" name="Proposed response"/>
          <p:cNvSpPr/>
          <p:nvPr/>
        </p:nvSpPr>
        <p:spPr>
          <a:xfrm>
            <a:off x="8046720" y="3886200"/>
            <a:ext cx="3611880" cy="1188720"/>
          </a:xfrm>
          <a:prstGeom prst="rect">
            <a:avLst/>
          </a:prstGeom>
          <a:solidFill>
            <a:srgbClr val="E6F6F7"/>
          </a:solidFill>
          <a:ln w="12700">
            <a:solidFill>
              <a:srgbClr val="00A3AD"/>
            </a:solidFill>
            <a:prstDash val="dash"/>
          </a:ln>
        </p:spPr>
      </p:sp>
      <p:sp>
        <p:nvSpPr>
          <p:cNvPr id="30" name="Text 27"/>
          <p:cNvSpPr txBox="1"/>
          <p:nvPr/>
        </p:nvSpPr>
        <p:spPr>
          <a:xfrm>
            <a:off x="8138160" y="3886200"/>
            <a:ext cx="3429000" cy="1188720"/>
          </a:xfrm>
          <a:prstGeom prst="rect">
            <a:avLst/>
          </a:prstGeom>
          <a:noFill/>
          <a:ln/>
        </p:spPr>
        <p:txBody>
          <a:bodyPr wrap="square" lIns="0" tIns="0" rIns="0" bIns="0" rtlCol="0" anchor="ctr"/>
          <a:lstStyle/>
          <a:p>
            <a:pPr indent="0" marL="0">
              <a:buNone/>
            </a:pPr>
            <a:r>
              <a:rPr lang="en-US" sz="1050" b="1" dirty="0">
                <a:solidFill>
                  <a:srgbClr val="0B6F76"/>
                </a:solidFill>
              </a:rPr>
              <a:t>PROPOSED  </a:t>
            </a:r>
            <a:pPr indent="0" marL="0">
              <a:buNone/>
            </a:pPr>
            <a:r>
              <a:rPr lang="en-US" sz="1050" dirty="0">
                <a:solidFill>
                  <a:srgbClr val="1F2937"/>
                </a:solidFill>
              </a:rPr>
              <a:t>Plug-in gateways at existing wall sockets with no drilling or new cabling; in 13B, gateways inside or beside single rooms where sockets exist.</a:t>
            </a:r>
            <a:endParaRPr lang="en-US" sz="1050" dirty="0"/>
          </a:p>
        </p:txBody>
      </p:sp>
      <p:sp>
        <p:nvSpPr>
          <p:cNvPr id="31" name="Input placeholder"/>
          <p:cNvSpPr/>
          <p:nvPr/>
        </p:nvSpPr>
        <p:spPr>
          <a:xfrm>
            <a:off x="8046720" y="5166360"/>
            <a:ext cx="3611880" cy="777240"/>
          </a:xfrm>
          <a:prstGeom prst="rect">
            <a:avLst/>
          </a:prstGeom>
          <a:solidFill>
            <a:srgbClr val="FFF4D6"/>
          </a:solidFill>
          <a:ln w="12700">
            <a:solidFill>
              <a:srgbClr val="F2A900"/>
            </a:solidFill>
            <a:prstDash val="dash"/>
          </a:ln>
        </p:spPr>
      </p:sp>
      <p:sp>
        <p:nvSpPr>
          <p:cNvPr id="32" name="Text 29"/>
          <p:cNvSpPr txBox="1"/>
          <p:nvPr/>
        </p:nvSpPr>
        <p:spPr>
          <a:xfrm>
            <a:off x="8138160" y="5166360"/>
            <a:ext cx="3429000" cy="777240"/>
          </a:xfrm>
          <a:prstGeom prst="rect">
            <a:avLst/>
          </a:prstGeom>
          <a:noFill/>
          <a:ln/>
        </p:spPr>
        <p:txBody>
          <a:bodyPr wrap="square" lIns="0" tIns="0" rIns="0" bIns="0" rtlCol="0" anchor="ctr"/>
          <a:lstStyle/>
          <a:p>
            <a:pPr indent="0" marL="0">
              <a:buNone/>
            </a:pPr>
            <a:r>
              <a:rPr lang="en-US" sz="1000" i="1" dirty="0">
                <a:solidFill>
                  <a:srgbClr val="7A4F00"/>
                </a:solidFill>
              </a:rPr>
              <a:t>[INPUT REQUIRED] Ward layout / floor plan from NHG with gateway positions marked.</a:t>
            </a:r>
            <a:endParaRPr lang="en-US" sz="10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4 · UNDERSTANDING OF THE PROJECT</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MONIT meets each hospital's stated preferences for mounting, power and nurse-station workflow</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NHG requirement table; MONIT proposed responses. Zebra DS22 scanner integration to be confirmed by MONIT engineering.</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3566160"/>
                <a:gridCol w="2103120"/>
                <a:gridCol w="5422392"/>
              </a:tblGrid>
              <a:tr h="411480">
                <a:tc>
                  <a:txBody>
                    <a:bodyPr/>
                    <a:lstStyle/>
                    <a:p>
                      <a:pPr indent="0" marL="0">
                        <a:buNone/>
                      </a:pPr>
                      <a:r>
                        <a:rPr lang="en-US" sz="1000" b="1" dirty="0">
                          <a:solidFill>
                            <a:srgbClr val="FFFFFF"/>
                          </a:solidFill>
                        </a:rPr>
                        <a:t>Hospital requirement</a:t>
                      </a:r>
                      <a:endParaRPr lang="en-US" sz="10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00" b="1" dirty="0">
                          <a:solidFill>
                            <a:srgbClr val="FFFFFF"/>
                          </a:solidFill>
                        </a:rPr>
                        <a:t>Hospital</a:t>
                      </a:r>
                      <a:endParaRPr lang="en-US" sz="10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00" b="1" dirty="0">
                          <a:solidFill>
                            <a:srgbClr val="FFFFFF"/>
                          </a:solidFill>
                        </a:rPr>
                        <a:t>MONIT response</a:t>
                      </a:r>
                      <a:endParaRPr lang="en-US" sz="10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r>
              <a:tr h="411480">
                <a:tc>
                  <a:txBody>
                    <a:bodyPr/>
                    <a:lstStyle/>
                    <a:p>
                      <a:pPr indent="0" marL="0">
                        <a:buNone/>
                      </a:pPr>
                      <a:r>
                        <a:rPr lang="en-US" sz="1000" b="1" dirty="0">
                          <a:solidFill>
                            <a:srgbClr val="1F2937"/>
                          </a:solidFill>
                        </a:rPr>
                        <a:t>Web-based dashboard</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All three</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Included: ward dashboard on the monitoring station (slide 9)</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411480">
                <a:tc>
                  <a:txBody>
                    <a:bodyPr/>
                    <a:lstStyle/>
                    <a:p>
                      <a:pPr indent="0" marL="0">
                        <a:buNone/>
                      </a:pPr>
                      <a:r>
                        <a:rPr lang="en-US" sz="1000" b="1" dirty="0">
                          <a:solidFill>
                            <a:srgbClr val="1F2937"/>
                          </a:solidFill>
                        </a:rPr>
                        <a:t>Barcode scanner at monitoring station</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KTPH, WH (Zebra DS22)</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b="1" dirty="0">
                          <a:solidFill>
                            <a:srgbClr val="0B6F76"/>
                          </a:solidFill>
                        </a:rPr>
                        <a:t>PROPOSED  </a:t>
                      </a:r>
                      <a:pPr indent="0" marL="0">
                        <a:buNone/>
                      </a:pPr>
                      <a:r>
                        <a:rPr lang="en-US" sz="1000" dirty="0">
                          <a:solidFill>
                            <a:srgbClr val="1F2937"/>
                          </a:solidFill>
                        </a:rPr>
                        <a:t>Scanner input to identify patient and bed on the dashboard</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E6F6F7"/>
                    </a:solidFill>
                  </a:tcPr>
                </a:tc>
              </a:tr>
              <a:tr h="411480">
                <a:tc>
                  <a:txBody>
                    <a:bodyPr/>
                    <a:lstStyle/>
                    <a:p>
                      <a:pPr indent="0" marL="0">
                        <a:buNone/>
                      </a:pPr>
                      <a:r>
                        <a:rPr lang="en-US" sz="1000" b="1" dirty="0">
                          <a:solidFill>
                            <a:srgbClr val="1F2937"/>
                          </a:solidFill>
                        </a:rPr>
                        <a:t>No tablet</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WH</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b="1" dirty="0">
                          <a:solidFill>
                            <a:srgbClr val="0B6F76"/>
                          </a:solidFill>
                        </a:rPr>
                        <a:t>PROPOSED  </a:t>
                      </a:r>
                      <a:pPr indent="0" marL="0">
                        <a:buNone/>
                      </a:pPr>
                      <a:r>
                        <a:rPr lang="en-US" sz="1000" dirty="0">
                          <a:solidFill>
                            <a:srgbClr val="1F2937"/>
                          </a:solidFill>
                        </a:rPr>
                        <a:t>Dashboard runs on the monitoring-station PC; mobile app optional</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E6F6F7"/>
                    </a:solidFill>
                  </a:tcPr>
                </a:tc>
              </a:tr>
              <a:tr h="411480">
                <a:tc>
                  <a:txBody>
                    <a:bodyPr/>
                    <a:lstStyle/>
                    <a:p>
                      <a:pPr indent="0" marL="0">
                        <a:buNone/>
                      </a:pPr>
                      <a:r>
                        <a:rPr lang="en-US" sz="1000" b="1" dirty="0">
                          <a:solidFill>
                            <a:srgbClr val="1F2937"/>
                          </a:solidFill>
                        </a:rPr>
                        <a:t>Ceiling mount, specific power requirements</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KTPH</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b="1" dirty="0">
                          <a:solidFill>
                            <a:srgbClr val="0B6F76"/>
                          </a:solidFill>
                        </a:rPr>
                        <a:t>PROPOSED  </a:t>
                      </a:r>
                      <a:pPr indent="0" marL="0">
                        <a:buNone/>
                      </a:pPr>
                      <a:r>
                        <a:rPr lang="en-US" sz="1000" dirty="0">
                          <a:solidFill>
                            <a:srgbClr val="1F2937"/>
                          </a:solidFill>
                        </a:rPr>
                        <a:t>Ceiling-mounted gateways powered to KTPH's specification</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E6F6F7"/>
                    </a:solidFill>
                  </a:tcPr>
                </a:tc>
              </a:tr>
              <a:tr h="411480">
                <a:tc>
                  <a:txBody>
                    <a:bodyPr/>
                    <a:lstStyle/>
                    <a:p>
                      <a:pPr indent="0" marL="0">
                        <a:buNone/>
                      </a:pPr>
                      <a:r>
                        <a:rPr lang="en-US" sz="1000" b="1" dirty="0">
                          <a:solidFill>
                            <a:srgbClr val="1F2937"/>
                          </a:solidFill>
                        </a:rPr>
                        <a:t>Hidden behind cabinet or wall; portable</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WH</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b="1" dirty="0">
                          <a:solidFill>
                            <a:srgbClr val="0B6F76"/>
                          </a:solidFill>
                        </a:rPr>
                        <a:t>PROPOSED  </a:t>
                      </a:r>
                      <a:pPr indent="0" marL="0">
                        <a:buNone/>
                      </a:pPr>
                      <a:r>
                        <a:rPr lang="en-US" sz="1000" dirty="0">
                          <a:solidFill>
                            <a:srgbClr val="1F2937"/>
                          </a:solidFill>
                        </a:rPr>
                        <a:t>Plug-in gateways behind cabinets or at wall sockets; not on ceiling</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E6F6F7"/>
                    </a:solidFill>
                  </a:tcPr>
                </a:tc>
              </a:tr>
              <a:tr h="411480">
                <a:tc>
                  <a:txBody>
                    <a:bodyPr/>
                    <a:lstStyle/>
                    <a:p>
                      <a:pPr indent="0" marL="0">
                        <a:buNone/>
                      </a:pPr>
                      <a:r>
                        <a:rPr lang="en-US" sz="1000" b="1" dirty="0">
                          <a:solidFill>
                            <a:srgbClr val="1F2937"/>
                          </a:solidFill>
                        </a:rPr>
                        <a:t>Wall plug-in; no drilling; minimal cost</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TTSH</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b="1" dirty="0">
                          <a:solidFill>
                            <a:srgbClr val="0B6F76"/>
                          </a:solidFill>
                        </a:rPr>
                        <a:t>PROPOSED  </a:t>
                      </a:r>
                      <a:pPr indent="0" marL="0">
                        <a:buNone/>
                      </a:pPr>
                      <a:r>
                        <a:rPr lang="en-US" sz="1000" dirty="0">
                          <a:solidFill>
                            <a:srgbClr val="1F2937"/>
                          </a:solidFill>
                        </a:rPr>
                        <a:t>Plug-in at existing sockets; no drilling or new cabling</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E6F6F7"/>
                    </a:solidFill>
                  </a:tcPr>
                </a:tc>
              </a:tr>
              <a:tr h="411480">
                <a:tc>
                  <a:txBody>
                    <a:bodyPr/>
                    <a:lstStyle/>
                    <a:p>
                      <a:pPr indent="0" marL="0">
                        <a:buNone/>
                      </a:pPr>
                      <a:r>
                        <a:rPr lang="en-US" sz="1000" b="1" dirty="0">
                          <a:solidFill>
                            <a:srgbClr val="1F2937"/>
                          </a:solidFill>
                        </a:rPr>
                        <a:t>No power points along corridor</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WH A41, TTSH 13B</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b="1" dirty="0">
                          <a:solidFill>
                            <a:srgbClr val="0B6F76"/>
                          </a:solidFill>
                        </a:rPr>
                        <a:t>PROPOSED  </a:t>
                      </a:r>
                      <a:pPr indent="0" marL="0">
                        <a:buNone/>
                      </a:pPr>
                      <a:r>
                        <a:rPr lang="en-US" sz="1000" dirty="0">
                          <a:solidFill>
                            <a:srgbClr val="1F2937"/>
                          </a:solidFill>
                        </a:rPr>
                        <a:t>Gateways placed where sockets exist, inside bays or rooms</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E6F6F7"/>
                    </a:solidFill>
                  </a:tcPr>
                </a:tc>
              </a:tr>
              <a:tr h="411480">
                <a:tc>
                  <a:txBody>
                    <a:bodyPr/>
                    <a:lstStyle/>
                    <a:p>
                      <a:pPr indent="0" marL="0">
                        <a:buNone/>
                      </a:pPr>
                      <a:r>
                        <a:rPr lang="en-US" sz="1000" b="1" dirty="0">
                          <a:solidFill>
                            <a:srgbClr val="1F2937"/>
                          </a:solidFill>
                        </a:rPr>
                        <a:t>Gym area needs no gateway</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TTSH 5A</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No gateway planned</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411480">
                <a:tc>
                  <a:txBody>
                    <a:bodyPr/>
                    <a:lstStyle/>
                    <a:p>
                      <a:pPr indent="0" marL="0">
                        <a:buNone/>
                      </a:pPr>
                      <a:r>
                        <a:rPr lang="en-US" sz="1000" b="1" dirty="0">
                          <a:solidFill>
                            <a:srgbClr val="1F2937"/>
                          </a:solidFill>
                        </a:rPr>
                        <a:t>Sensors and gateways proposed as one package</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All three</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Package quantities on the next slides, per ward</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4 · UNDERSTANDING OF THE PROJECT</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BLE gateway quantities follow a coverage rule based on cubicles and single rooms, because sensors are pooled across beds</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NHG requirement table (ward layouts, WH W62 trial note, sensor totals 60 / 40); MONIT sizing method. Ratios to be validated by the on-site survey and pilot ward.</a:t>
            </a:r>
            <a:endParaRPr lang="en-US" sz="900" dirty="0"/>
          </a:p>
        </p:txBody>
      </p:sp>
      <p:sp>
        <p:nvSpPr>
          <p:cNvPr id="6" name="Shape 3"/>
          <p:cNvSpPr/>
          <p:nvPr/>
        </p:nvSpPr>
        <p:spPr>
          <a:xfrm>
            <a:off x="594360" y="1737360"/>
            <a:ext cx="502920" cy="502920"/>
          </a:xfrm>
          <a:prstGeom prst="ellipse">
            <a:avLst/>
          </a:prstGeom>
          <a:solidFill>
            <a:schemeClr val="tx2"/>
          </a:solidFill>
          <a:ln/>
        </p:spPr>
      </p:sp>
      <p:sp>
        <p:nvSpPr>
          <p:cNvPr id="7" name="Text 4"/>
          <p:cNvSpPr txBox="1"/>
          <p:nvPr/>
        </p:nvSpPr>
        <p:spPr>
          <a:xfrm>
            <a:off x="594360" y="1737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234440" y="1737360"/>
            <a:ext cx="1371600" cy="502920"/>
          </a:xfrm>
          <a:prstGeom prst="rect">
            <a:avLst/>
          </a:prstGeom>
          <a:noFill/>
          <a:ln/>
        </p:spPr>
        <p:txBody>
          <a:bodyPr wrap="square" lIns="0" tIns="0" rIns="0" bIns="0" rtlCol="0" anchor="ctr"/>
          <a:lstStyle/>
          <a:p>
            <a:pPr indent="0" marL="0">
              <a:buNone/>
            </a:pPr>
            <a:r>
              <a:rPr lang="en-US" sz="1400" b="1" dirty="0">
                <a:solidFill>
                  <a:schemeClr val="tx2"/>
                </a:solidFill>
              </a:rPr>
              <a:t>Map</a:t>
            </a:r>
            <a:endParaRPr lang="en-US" sz="1400" dirty="0"/>
          </a:p>
        </p:txBody>
      </p:sp>
      <p:sp>
        <p:nvSpPr>
          <p:cNvPr id="9" name="Text 6"/>
          <p:cNvSpPr txBox="1"/>
          <p:nvPr/>
        </p:nvSpPr>
        <p:spPr>
          <a:xfrm>
            <a:off x="594360" y="2377440"/>
            <a:ext cx="2011680" cy="868680"/>
          </a:xfrm>
          <a:prstGeom prst="rect">
            <a:avLst/>
          </a:prstGeom>
          <a:noFill/>
          <a:ln/>
        </p:spPr>
        <p:txBody>
          <a:bodyPr wrap="square" lIns="0" tIns="0" rIns="0" bIns="0" rtlCol="0" anchor="t"/>
          <a:lstStyle/>
          <a:p>
            <a:pPr indent="0" marL="0">
              <a:buNone/>
            </a:pPr>
            <a:r>
              <a:rPr lang="en-US" sz="1150" dirty="0">
                <a:solidFill>
                  <a:schemeClr val="tx1"/>
                </a:solidFill>
              </a:rPr>
              <a:t>List cubicles, single rooms and corridors from each ward layout</a:t>
            </a:r>
            <a:endParaRPr lang="en-US" sz="1150" dirty="0"/>
          </a:p>
        </p:txBody>
      </p:sp>
      <p:sp>
        <p:nvSpPr>
          <p:cNvPr id="10" name="Shape 7"/>
          <p:cNvSpPr/>
          <p:nvPr/>
        </p:nvSpPr>
        <p:spPr>
          <a:xfrm>
            <a:off x="2834640" y="1737360"/>
            <a:ext cx="502920" cy="502920"/>
          </a:xfrm>
          <a:prstGeom prst="ellipse">
            <a:avLst/>
          </a:prstGeom>
          <a:solidFill>
            <a:schemeClr val="accent1"/>
          </a:solidFill>
          <a:ln/>
        </p:spPr>
      </p:sp>
      <p:sp>
        <p:nvSpPr>
          <p:cNvPr id="11" name="Text 8"/>
          <p:cNvSpPr txBox="1"/>
          <p:nvPr/>
        </p:nvSpPr>
        <p:spPr>
          <a:xfrm>
            <a:off x="2834640" y="1737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3474720" y="1737360"/>
            <a:ext cx="1371600" cy="502920"/>
          </a:xfrm>
          <a:prstGeom prst="rect">
            <a:avLst/>
          </a:prstGeom>
          <a:noFill/>
          <a:ln/>
        </p:spPr>
        <p:txBody>
          <a:bodyPr wrap="square" lIns="0" tIns="0" rIns="0" bIns="0" rtlCol="0" anchor="ctr"/>
          <a:lstStyle/>
          <a:p>
            <a:pPr indent="0" marL="0">
              <a:buNone/>
            </a:pPr>
            <a:r>
              <a:rPr lang="en-US" sz="1400" b="1" dirty="0">
                <a:solidFill>
                  <a:schemeClr val="tx2"/>
                </a:solidFill>
              </a:rPr>
              <a:t>Cover</a:t>
            </a:r>
            <a:endParaRPr lang="en-US" sz="1400" dirty="0"/>
          </a:p>
        </p:txBody>
      </p:sp>
      <p:sp>
        <p:nvSpPr>
          <p:cNvPr id="13" name="Text 10"/>
          <p:cNvSpPr txBox="1"/>
          <p:nvPr/>
        </p:nvSpPr>
        <p:spPr>
          <a:xfrm>
            <a:off x="2834640" y="2377440"/>
            <a:ext cx="2011680" cy="868680"/>
          </a:xfrm>
          <a:prstGeom prst="rect">
            <a:avLst/>
          </a:prstGeom>
          <a:noFill/>
          <a:ln/>
        </p:spPr>
        <p:txBody>
          <a:bodyPr wrap="square" lIns="0" tIns="0" rIns="0" bIns="0" rtlCol="0" anchor="t"/>
          <a:lstStyle/>
          <a:p>
            <a:pPr indent="0" marL="0">
              <a:buNone/>
            </a:pPr>
            <a:r>
              <a:rPr lang="en-US" sz="1150" dirty="0">
                <a:solidFill>
                  <a:schemeClr val="tx1"/>
                </a:solidFill>
              </a:rPr>
              <a:t>One gateway per four cubicles; one per two adjacent single rooms</a:t>
            </a:r>
            <a:endParaRPr lang="en-US" sz="1150" dirty="0"/>
          </a:p>
        </p:txBody>
      </p:sp>
      <p:sp>
        <p:nvSpPr>
          <p:cNvPr id="14" name="Shape 11"/>
          <p:cNvSpPr/>
          <p:nvPr/>
        </p:nvSpPr>
        <p:spPr>
          <a:xfrm>
            <a:off x="5074920" y="1737360"/>
            <a:ext cx="502920" cy="502920"/>
          </a:xfrm>
          <a:prstGeom prst="ellipse">
            <a:avLst/>
          </a:prstGeom>
          <a:solidFill>
            <a:schemeClr val="tx2"/>
          </a:solidFill>
          <a:ln/>
        </p:spPr>
      </p:sp>
      <p:sp>
        <p:nvSpPr>
          <p:cNvPr id="15" name="Text 12"/>
          <p:cNvSpPr txBox="1"/>
          <p:nvPr/>
        </p:nvSpPr>
        <p:spPr>
          <a:xfrm>
            <a:off x="5074920" y="1737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5715000" y="1737360"/>
            <a:ext cx="1371600" cy="502920"/>
          </a:xfrm>
          <a:prstGeom prst="rect">
            <a:avLst/>
          </a:prstGeom>
          <a:noFill/>
          <a:ln/>
        </p:spPr>
        <p:txBody>
          <a:bodyPr wrap="square" lIns="0" tIns="0" rIns="0" bIns="0" rtlCol="0" anchor="ctr"/>
          <a:lstStyle/>
          <a:p>
            <a:pPr indent="0" marL="0">
              <a:buNone/>
            </a:pPr>
            <a:r>
              <a:rPr lang="en-US" sz="1400" b="1" dirty="0">
                <a:solidFill>
                  <a:schemeClr val="tx2"/>
                </a:solidFill>
              </a:rPr>
              <a:t>Check power</a:t>
            </a:r>
            <a:endParaRPr lang="en-US" sz="1400" dirty="0"/>
          </a:p>
        </p:txBody>
      </p:sp>
      <p:sp>
        <p:nvSpPr>
          <p:cNvPr id="17" name="Text 14"/>
          <p:cNvSpPr txBox="1"/>
          <p:nvPr/>
        </p:nvSpPr>
        <p:spPr>
          <a:xfrm>
            <a:off x="5074920" y="2377440"/>
            <a:ext cx="2011680" cy="868680"/>
          </a:xfrm>
          <a:prstGeom prst="rect">
            <a:avLst/>
          </a:prstGeom>
          <a:noFill/>
          <a:ln/>
        </p:spPr>
        <p:txBody>
          <a:bodyPr wrap="square" lIns="0" tIns="0" rIns="0" bIns="0" rtlCol="0" anchor="t"/>
          <a:lstStyle/>
          <a:p>
            <a:pPr indent="0" marL="0">
              <a:buNone/>
            </a:pPr>
            <a:r>
              <a:rPr lang="en-US" sz="1150" dirty="0">
                <a:solidFill>
                  <a:schemeClr val="tx1"/>
                </a:solidFill>
              </a:rPr>
              <a:t>Confirm a socket or ceiling supply at each position</a:t>
            </a:r>
            <a:endParaRPr lang="en-US" sz="1150" dirty="0"/>
          </a:p>
        </p:txBody>
      </p:sp>
      <p:sp>
        <p:nvSpPr>
          <p:cNvPr id="18" name="Shape 15"/>
          <p:cNvSpPr/>
          <p:nvPr/>
        </p:nvSpPr>
        <p:spPr>
          <a:xfrm>
            <a:off x="7315200" y="1737360"/>
            <a:ext cx="502920" cy="502920"/>
          </a:xfrm>
          <a:prstGeom prst="ellipse">
            <a:avLst/>
          </a:prstGeom>
          <a:solidFill>
            <a:schemeClr val="accent1"/>
          </a:solidFill>
          <a:ln/>
        </p:spPr>
      </p:sp>
      <p:sp>
        <p:nvSpPr>
          <p:cNvPr id="19" name="Text 16"/>
          <p:cNvSpPr txBox="1"/>
          <p:nvPr/>
        </p:nvSpPr>
        <p:spPr>
          <a:xfrm>
            <a:off x="7315200" y="1737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Text 17"/>
          <p:cNvSpPr txBox="1"/>
          <p:nvPr/>
        </p:nvSpPr>
        <p:spPr>
          <a:xfrm>
            <a:off x="7955280" y="1737360"/>
            <a:ext cx="1371600" cy="502920"/>
          </a:xfrm>
          <a:prstGeom prst="rect">
            <a:avLst/>
          </a:prstGeom>
          <a:noFill/>
          <a:ln/>
        </p:spPr>
        <p:txBody>
          <a:bodyPr wrap="square" lIns="0" tIns="0" rIns="0" bIns="0" rtlCol="0" anchor="ctr"/>
          <a:lstStyle/>
          <a:p>
            <a:pPr indent="0" marL="0">
              <a:buNone/>
            </a:pPr>
            <a:r>
              <a:rPr lang="en-US" sz="1400" b="1" dirty="0">
                <a:solidFill>
                  <a:schemeClr val="tx2"/>
                </a:solidFill>
              </a:rPr>
              <a:t>Add spares</a:t>
            </a:r>
            <a:endParaRPr lang="en-US" sz="1400" dirty="0"/>
          </a:p>
        </p:txBody>
      </p:sp>
      <p:sp>
        <p:nvSpPr>
          <p:cNvPr id="21" name="Text 18"/>
          <p:cNvSpPr txBox="1"/>
          <p:nvPr/>
        </p:nvSpPr>
        <p:spPr>
          <a:xfrm>
            <a:off x="7315200" y="2377440"/>
            <a:ext cx="2011680" cy="868680"/>
          </a:xfrm>
          <a:prstGeom prst="rect">
            <a:avLst/>
          </a:prstGeom>
          <a:noFill/>
          <a:ln/>
        </p:spPr>
        <p:txBody>
          <a:bodyPr wrap="square" lIns="0" tIns="0" rIns="0" bIns="0" rtlCol="0" anchor="t"/>
          <a:lstStyle/>
          <a:p>
            <a:pPr indent="0" marL="0">
              <a:buNone/>
            </a:pPr>
            <a:r>
              <a:rPr lang="en-US" sz="1150" dirty="0">
                <a:solidFill>
                  <a:schemeClr val="tx1"/>
                </a:solidFill>
              </a:rPr>
              <a:t>10% spare gateways, shown as a separate line</a:t>
            </a:r>
            <a:endParaRPr lang="en-US" sz="1150" dirty="0"/>
          </a:p>
        </p:txBody>
      </p:sp>
      <p:sp>
        <p:nvSpPr>
          <p:cNvPr id="22" name="Shape 19"/>
          <p:cNvSpPr/>
          <p:nvPr/>
        </p:nvSpPr>
        <p:spPr>
          <a:xfrm>
            <a:off x="9555480" y="1737360"/>
            <a:ext cx="502920" cy="502920"/>
          </a:xfrm>
          <a:prstGeom prst="ellipse">
            <a:avLst/>
          </a:prstGeom>
          <a:solidFill>
            <a:schemeClr val="tx2"/>
          </a:solidFill>
          <a:ln/>
        </p:spPr>
      </p:sp>
      <p:sp>
        <p:nvSpPr>
          <p:cNvPr id="23" name="Text 20"/>
          <p:cNvSpPr txBox="1"/>
          <p:nvPr/>
        </p:nvSpPr>
        <p:spPr>
          <a:xfrm>
            <a:off x="9555480" y="1737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4" name="Text 21"/>
          <p:cNvSpPr txBox="1"/>
          <p:nvPr/>
        </p:nvSpPr>
        <p:spPr>
          <a:xfrm>
            <a:off x="10195560" y="1737360"/>
            <a:ext cx="1371600" cy="502920"/>
          </a:xfrm>
          <a:prstGeom prst="rect">
            <a:avLst/>
          </a:prstGeom>
          <a:noFill/>
          <a:ln/>
        </p:spPr>
        <p:txBody>
          <a:bodyPr wrap="square" lIns="0" tIns="0" rIns="0" bIns="0" rtlCol="0" anchor="ctr"/>
          <a:lstStyle/>
          <a:p>
            <a:pPr indent="0" marL="0">
              <a:buNone/>
            </a:pPr>
            <a:r>
              <a:rPr lang="en-US" sz="1400" b="1" dirty="0">
                <a:solidFill>
                  <a:schemeClr val="tx2"/>
                </a:solidFill>
              </a:rPr>
              <a:t>Verify</a:t>
            </a:r>
            <a:endParaRPr lang="en-US" sz="1400" dirty="0"/>
          </a:p>
        </p:txBody>
      </p:sp>
      <p:sp>
        <p:nvSpPr>
          <p:cNvPr id="25" name="Text 22"/>
          <p:cNvSpPr txBox="1"/>
          <p:nvPr/>
        </p:nvSpPr>
        <p:spPr>
          <a:xfrm>
            <a:off x="9555480" y="2377440"/>
            <a:ext cx="2011680" cy="868680"/>
          </a:xfrm>
          <a:prstGeom prst="rect">
            <a:avLst/>
          </a:prstGeom>
          <a:noFill/>
          <a:ln/>
        </p:spPr>
        <p:txBody>
          <a:bodyPr wrap="square" lIns="0" tIns="0" rIns="0" bIns="0" rtlCol="0" anchor="t"/>
          <a:lstStyle/>
          <a:p>
            <a:pPr indent="0" marL="0">
              <a:buNone/>
            </a:pPr>
            <a:r>
              <a:rPr lang="en-US" sz="1150" dirty="0">
                <a:solidFill>
                  <a:schemeClr val="tx1"/>
                </a:solidFill>
              </a:rPr>
              <a:t>Survey and pilot ward confirm coverage before rollout</a:t>
            </a:r>
            <a:endParaRPr lang="en-US" sz="1150" dirty="0"/>
          </a:p>
        </p:txBody>
      </p:sp>
      <p:sp>
        <p:nvSpPr>
          <p:cNvPr id="26" name="Shape 23"/>
          <p:cNvSpPr/>
          <p:nvPr/>
        </p:nvSpPr>
        <p:spPr>
          <a:xfrm>
            <a:off x="548640" y="3520440"/>
            <a:ext cx="5669280" cy="2468880"/>
          </a:xfrm>
          <a:prstGeom prst="rect">
            <a:avLst/>
          </a:prstGeom>
          <a:solidFill>
            <a:schemeClr val="tx2"/>
          </a:solidFill>
          <a:ln/>
        </p:spPr>
      </p:sp>
      <p:sp>
        <p:nvSpPr>
          <p:cNvPr id="27" name="Text 24"/>
          <p:cNvSpPr txBox="1"/>
          <p:nvPr/>
        </p:nvSpPr>
        <p:spPr>
          <a:xfrm>
            <a:off x="777240" y="3657600"/>
            <a:ext cx="5212080" cy="274320"/>
          </a:xfrm>
          <a:prstGeom prst="rect">
            <a:avLst/>
          </a:prstGeom>
          <a:noFill/>
          <a:ln/>
        </p:spPr>
        <p:txBody>
          <a:bodyPr wrap="square" lIns="0" tIns="0" rIns="0" bIns="0" rtlCol="0" anchor="t"/>
          <a:lstStyle/>
          <a:p>
            <a:pPr indent="0" marL="0">
              <a:buNone/>
            </a:pPr>
            <a:r>
              <a:rPr lang="en-US" sz="1300" b="1" dirty="0">
                <a:solidFill>
                  <a:srgbClr val="CADCFC"/>
                </a:solidFill>
              </a:rPr>
              <a:t>Sizing rule (per ward)</a:t>
            </a:r>
            <a:endParaRPr lang="en-US" sz="1300" dirty="0"/>
          </a:p>
        </p:txBody>
      </p:sp>
      <p:sp>
        <p:nvSpPr>
          <p:cNvPr id="28" name="Text 25"/>
          <p:cNvSpPr txBox="1"/>
          <p:nvPr/>
        </p:nvSpPr>
        <p:spPr>
          <a:xfrm>
            <a:off x="777240" y="4023360"/>
            <a:ext cx="5212080" cy="82296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Gateways = ⌈ Cubicles ÷ 4 ⌉ + ⌈ Single rooms ÷ 2 ⌉   (+ 10% spare overall)</a:t>
            </a:r>
            <a:endParaRPr lang="en-US" sz="1600" dirty="0"/>
          </a:p>
        </p:txBody>
      </p:sp>
      <p:sp>
        <p:nvSpPr>
          <p:cNvPr id="29" name="Text 26"/>
          <p:cNvSpPr txBox="1"/>
          <p:nvPr/>
        </p:nvSpPr>
        <p:spPr>
          <a:xfrm>
            <a:off x="777240" y="4983480"/>
            <a:ext cx="5212080" cy="868680"/>
          </a:xfrm>
          <a:prstGeom prst="rect">
            <a:avLst/>
          </a:prstGeom>
          <a:noFill/>
          <a:ln/>
        </p:spPr>
        <p:txBody>
          <a:bodyPr wrap="square" lIns="0" tIns="0" rIns="0" bIns="0" rtlCol="0" anchor="t"/>
          <a:lstStyle/>
          <a:p>
            <a:pPr indent="0" marL="0">
              <a:buNone/>
            </a:pPr>
            <a:r>
              <a:rPr lang="en-US" sz="1200" dirty="0">
                <a:solidFill>
                  <a:srgbClr val="CADCFC"/>
                </a:solidFill>
              </a:rPr>
              <a:t>Sensors (KTPH 60 · WH 35 · TTSH 40) are pooled and moved between beds, so bed-area coverage, not sensor count, sets the gateway number.</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92240" y="3520440"/>
          <a:ext cx="5148072" cy="914400"/>
        </p:xfrm>
        <a:graphic>
          <a:graphicData uri="http://schemas.openxmlformats.org/drawingml/2006/table">
            <a:tbl>
              <a:tblPr/>
              <a:tblGrid>
                <a:gridCol w="1280160"/>
                <a:gridCol w="2560320"/>
                <a:gridCol w="1307592"/>
              </a:tblGrid>
              <a:tr h="457200">
                <a:tc>
                  <a:txBody>
                    <a:bodyPr/>
                    <a:lstStyle/>
                    <a:p>
                      <a:pPr indent="0" marL="0">
                        <a:buNone/>
                      </a:pPr>
                      <a:r>
                        <a:rPr lang="en-US" sz="1050" b="1" dirty="0">
                          <a:solidFill>
                            <a:srgbClr val="FFFFFF"/>
                          </a:solidFill>
                        </a:rPr>
                        <a:t>Scenario</a:t>
                      </a:r>
                      <a:endParaRPr lang="en-US" sz="10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50" b="1" dirty="0">
                          <a:solidFill>
                            <a:srgbClr val="FFFFFF"/>
                          </a:solidFill>
                        </a:rPr>
                        <a:t>Rule</a:t>
                      </a:r>
                      <a:endParaRPr lang="en-US" sz="10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50" b="1" dirty="0">
                          <a:solidFill>
                            <a:srgbClr val="FFFFFF"/>
                          </a:solidFill>
                        </a:rPr>
                        <a:t>Total</a:t>
                      </a:r>
                      <a:endParaRPr lang="en-US" sz="10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r>
              <a:tr h="457200">
                <a:tc>
                  <a:txBody>
                    <a:bodyPr/>
                    <a:lstStyle/>
                    <a:p>
                      <a:pPr indent="0" marL="0">
                        <a:buNone/>
                      </a:pPr>
                      <a:r>
                        <a:rPr lang="en-US" sz="1050" b="1" dirty="0">
                          <a:solidFill>
                            <a:srgbClr val="1F2937"/>
                          </a:solidFill>
                        </a:rPr>
                        <a:t>Lean</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1 per 4 cubicles; 1 per 4 single rooms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31</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F2937"/>
                          </a:solidFill>
                        </a:rPr>
                        <a:t>Base (proposed)</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1 per 4 cubicles; 1 per 2 single rooms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40 (+4 spare = 44)</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457200">
                <a:tc>
                  <a:txBody>
                    <a:bodyPr/>
                    <a:lstStyle/>
                    <a:p>
                      <a:pPr indent="0" marL="0">
                        <a:buNone/>
                      </a:pPr>
                      <a:r>
                        <a:rPr lang="en-US" sz="1050" b="1" dirty="0">
                          <a:solidFill>
                            <a:srgbClr val="1F2937"/>
                          </a:solidFill>
                        </a:rPr>
                        <a:t>Conservative</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1 per 2 cubicles; 1 per 2 single rooms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50</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bl>
          </a:graphicData>
        </a:graphic>
      </p:graphicFrame>
      <p:sp>
        <p:nvSpPr>
          <p:cNvPr id="31" name="Text 27"/>
          <p:cNvSpPr txBox="1"/>
          <p:nvPr/>
        </p:nvSpPr>
        <p:spPr>
          <a:xfrm>
            <a:off x="6492240" y="5486400"/>
            <a:ext cx="5148072" cy="502920"/>
          </a:xfrm>
          <a:prstGeom prst="rect">
            <a:avLst/>
          </a:prstGeom>
          <a:noFill/>
          <a:ln/>
        </p:spPr>
        <p:txBody>
          <a:bodyPr wrap="square" lIns="0" tIns="0" rIns="0" bIns="0" rtlCol="0" anchor="t"/>
          <a:lstStyle/>
          <a:p>
            <a:pPr indent="0" marL="0">
              <a:buNone/>
            </a:pPr>
            <a:r>
              <a:rPr lang="en-US" sz="1050" dirty="0">
                <a:solidFill>
                  <a:schemeClr val="accent4"/>
                </a:solidFill>
              </a:rPr>
              <a:t>Basis: NHG's WH W62 note that one BLE gateway can cover four cubicles; single-room ratio to be validated in the pilot ward.</a:t>
            </a:r>
            <a:endParaRPr lang="en-US" sz="105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4 · UNDERSTANDING OF THE PROJECT</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Proposed BLE gateway quantity by hospital and ward: 44 gateways in total, including 10% spares (mandatory RFP response)</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calculation from NHG's ward descriptions; est. = assumed pending the ward layouts NHG will share.</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818120" cy="914400"/>
        </p:xfrm>
        <a:graphic>
          <a:graphicData uri="http://schemas.openxmlformats.org/drawingml/2006/table">
            <a:tbl>
              <a:tblPr/>
              <a:tblGrid>
                <a:gridCol w="2514600"/>
                <a:gridCol w="1097280"/>
                <a:gridCol w="2286000"/>
                <a:gridCol w="822960"/>
                <a:gridCol w="1097280"/>
              </a:tblGrid>
              <a:tr h="338328">
                <a:tc>
                  <a:txBody>
                    <a:bodyPr/>
                    <a:lstStyle/>
                    <a:p>
                      <a:pPr indent="0" marL="0">
                        <a:buNone/>
                      </a:pPr>
                      <a:r>
                        <a:rPr lang="en-US" sz="1000" b="1" dirty="0">
                          <a:solidFill>
                            <a:srgbClr val="FFFFFF"/>
                          </a:solidFill>
                        </a:rPr>
                        <a:t>Hospital · ward</a:t>
                      </a:r>
                      <a:endParaRPr lang="en-US" sz="10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00" b="1" dirty="0">
                          <a:solidFill>
                            <a:srgbClr val="FFFFFF"/>
                          </a:solidFill>
                        </a:rPr>
                        <a:t>Single rooms</a:t>
                      </a:r>
                      <a:endParaRPr lang="en-US" sz="10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00" b="1" dirty="0">
                          <a:solidFill>
                            <a:srgbClr val="FFFFFF"/>
                          </a:solidFill>
                        </a:rPr>
                        <a:t>Cubicles (beds)</a:t>
                      </a:r>
                      <a:endParaRPr lang="en-US" sz="10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00" b="1" dirty="0">
                          <a:solidFill>
                            <a:srgbClr val="FFFFFF"/>
                          </a:solidFill>
                        </a:rPr>
                        <a:t>Base</a:t>
                      </a:r>
                      <a:endParaRPr lang="en-US" sz="10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00" b="1" dirty="0">
                          <a:solidFill>
                            <a:srgbClr val="FFFFFF"/>
                          </a:solidFill>
                        </a:rPr>
                        <a:t>Range</a:t>
                      </a:r>
                      <a:endParaRPr lang="en-US" sz="10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r>
              <a:tr h="338328">
                <a:tc>
                  <a:txBody>
                    <a:bodyPr/>
                    <a:lstStyle/>
                    <a:p>
                      <a:pPr indent="0" marL="0">
                        <a:buNone/>
                      </a:pPr>
                      <a:r>
                        <a:rPr lang="en-US" sz="1000" b="1" dirty="0">
                          <a:solidFill>
                            <a:srgbClr val="1F2937"/>
                          </a:solidFill>
                        </a:rPr>
                        <a:t>KTPH · Tower D7</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2</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8 (64)</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3</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3–5</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338328">
                <a:tc>
                  <a:txBody>
                    <a:bodyPr/>
                    <a:lstStyle/>
                    <a:p>
                      <a:pPr indent="0" marL="0">
                        <a:buNone/>
                      </a:pPr>
                      <a:r>
                        <a:rPr lang="en-US" sz="1000" b="1" dirty="0">
                          <a:solidFill>
                            <a:srgbClr val="1F2937"/>
                          </a:solidFill>
                        </a:rPr>
                        <a:t>KTPH · Tower B (acute stroke)</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3</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6 (30)</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4</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3–5</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338328">
                <a:tc>
                  <a:txBody>
                    <a:bodyPr/>
                    <a:lstStyle/>
                    <a:p>
                      <a:pPr indent="0" marL="0">
                        <a:buNone/>
                      </a:pPr>
                      <a:r>
                        <a:rPr lang="en-US" sz="1000" b="1" dirty="0">
                          <a:solidFill>
                            <a:srgbClr val="1F2937"/>
                          </a:solidFill>
                        </a:rPr>
                        <a:t>KTPH · Tower D8</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2</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8 (32)</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3</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3–5</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338328">
                <a:tc>
                  <a:txBody>
                    <a:bodyPr/>
                    <a:lstStyle/>
                    <a:p>
                      <a:pPr indent="0" marL="0">
                        <a:buNone/>
                      </a:pPr>
                      <a:r>
                        <a:rPr lang="en-US" sz="1000" b="1" dirty="0">
                          <a:solidFill>
                            <a:srgbClr val="1F2937"/>
                          </a:solidFill>
                        </a:rPr>
                        <a:t>WH · A41</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4</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6 (36)</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4</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3–5</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338328">
                <a:tc>
                  <a:txBody>
                    <a:bodyPr/>
                    <a:lstStyle/>
                    <a:p>
                      <a:pPr indent="0" marL="0">
                        <a:buNone/>
                      </a:pPr>
                      <a:r>
                        <a:rPr lang="en-US" sz="1000" b="1" dirty="0">
                          <a:solidFill>
                            <a:srgbClr val="1F2937"/>
                          </a:solidFill>
                        </a:rPr>
                        <a:t>WH · W62</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2</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i="1" dirty="0">
                          <a:solidFill>
                            <a:srgbClr val="7A4F00"/>
                          </a:solidFill>
                        </a:rPr>
                        <a:t>[INPUT] 4 est.</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000" dirty="0">
                          <a:solidFill>
                            <a:srgbClr val="1F2937"/>
                          </a:solidFill>
                        </a:rPr>
                        <a:t>2</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2–3</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338328">
                <a:tc>
                  <a:txBody>
                    <a:bodyPr/>
                    <a:lstStyle/>
                    <a:p>
                      <a:pPr indent="0" marL="0">
                        <a:buNone/>
                      </a:pPr>
                      <a:r>
                        <a:rPr lang="en-US" sz="1000" b="1" dirty="0">
                          <a:solidFill>
                            <a:srgbClr val="1F2937"/>
                          </a:solidFill>
                        </a:rPr>
                        <a:t>WH · W74</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6</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3</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2–3</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338328">
                <a:tc>
                  <a:txBody>
                    <a:bodyPr/>
                    <a:lstStyle/>
                    <a:p>
                      <a:pPr indent="0" marL="0">
                        <a:buNone/>
                      </a:pPr>
                      <a:r>
                        <a:rPr lang="en-US" sz="1000" b="1" dirty="0">
                          <a:solidFill>
                            <a:srgbClr val="1F2937"/>
                          </a:solidFill>
                        </a:rPr>
                        <a:t>TTSH · 5A</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2</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i="1" dirty="0">
                          <a:solidFill>
                            <a:srgbClr val="7A4F00"/>
                          </a:solidFill>
                        </a:rPr>
                        <a:t>[INPUT] 5 est. (6 beds each)</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000" dirty="0">
                          <a:solidFill>
                            <a:srgbClr val="1F2937"/>
                          </a:solidFill>
                        </a:rPr>
                        <a:t>3</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3–4</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338328">
                <a:tc>
                  <a:txBody>
                    <a:bodyPr/>
                    <a:lstStyle/>
                    <a:p>
                      <a:pPr indent="0" marL="0">
                        <a:buNone/>
                      </a:pPr>
                      <a:r>
                        <a:rPr lang="en-US" sz="1000" b="1" dirty="0">
                          <a:solidFill>
                            <a:srgbClr val="1F2937"/>
                          </a:solidFill>
                        </a:rPr>
                        <a:t>TTSH · 7C</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2</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i="1" dirty="0">
                          <a:solidFill>
                            <a:srgbClr val="7A4F00"/>
                          </a:solidFill>
                        </a:rPr>
                        <a:t>[INPUT] 5 est. (5 beds each)</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000" dirty="0">
                          <a:solidFill>
                            <a:srgbClr val="1F2937"/>
                          </a:solidFill>
                        </a:rPr>
                        <a:t>3</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3–4</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338328">
                <a:tc>
                  <a:txBody>
                    <a:bodyPr/>
                    <a:lstStyle/>
                    <a:p>
                      <a:pPr indent="0" marL="0">
                        <a:buNone/>
                      </a:pPr>
                      <a:r>
                        <a:rPr lang="en-US" sz="1000" b="1" dirty="0">
                          <a:solidFill>
                            <a:srgbClr val="1F2937"/>
                          </a:solidFill>
                        </a:rPr>
                        <a:t>TTSH · 13B</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15</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8</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4–8</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338328">
                <a:tc>
                  <a:txBody>
                    <a:bodyPr/>
                    <a:lstStyle/>
                    <a:p>
                      <a:pPr indent="0" marL="0">
                        <a:buNone/>
                      </a:pPr>
                      <a:r>
                        <a:rPr lang="en-US" sz="1000" b="1" dirty="0">
                          <a:solidFill>
                            <a:srgbClr val="1F2937"/>
                          </a:solidFill>
                        </a:rPr>
                        <a:t>TTSH · 5H</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10</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5 (25)</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7</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00" dirty="0">
                          <a:solidFill>
                            <a:srgbClr val="1F2937"/>
                          </a:solidFill>
                        </a:rPr>
                        <a:t>5–8</a:t>
                      </a:r>
                      <a:endParaRPr lang="en-US" sz="10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bl>
          </a:graphicData>
        </a:graphic>
      </p:graphicFrame>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8595360" y="1691640"/>
          <a:ext cx="3044952" cy="914400"/>
        </p:xfrm>
        <a:graphic>
          <a:graphicData uri="http://schemas.openxmlformats.org/drawingml/2006/table">
            <a:tbl>
              <a:tblPr/>
              <a:tblGrid>
                <a:gridCol w="1371600"/>
                <a:gridCol w="731520"/>
                <a:gridCol w="941832"/>
              </a:tblGrid>
              <a:tr h="384048">
                <a:tc>
                  <a:txBody>
                    <a:bodyPr/>
                    <a:lstStyle/>
                    <a:p>
                      <a:pPr indent="0" marL="0">
                        <a:buNone/>
                      </a:pPr>
                      <a:r>
                        <a:rPr lang="en-US" sz="1050" b="1" dirty="0">
                          <a:solidFill>
                            <a:srgbClr val="FFFFFF"/>
                          </a:solidFill>
                        </a:rPr>
                        <a:t>Summary</a:t>
                      </a:r>
                      <a:endParaRPr lang="en-US" sz="10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50" b="1" dirty="0">
                          <a:solidFill>
                            <a:srgbClr val="FFFFFF"/>
                          </a:solidFill>
                        </a:rPr>
                        <a:t>Base</a:t>
                      </a:r>
                      <a:endParaRPr lang="en-US" sz="10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50" b="1" dirty="0">
                          <a:solidFill>
                            <a:srgbClr val="FFFFFF"/>
                          </a:solidFill>
                        </a:rPr>
                        <a:t>Range</a:t>
                      </a:r>
                      <a:endParaRPr lang="en-US" sz="10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r>
              <a:tr h="384048">
                <a:tc>
                  <a:txBody>
                    <a:bodyPr/>
                    <a:lstStyle/>
                    <a:p>
                      <a:pPr indent="0" marL="0">
                        <a:buNone/>
                      </a:pPr>
                      <a:r>
                        <a:rPr lang="en-US" sz="1050" b="1" dirty="0">
                          <a:solidFill>
                            <a:srgbClr val="1F2937"/>
                          </a:solidFill>
                        </a:rPr>
                        <a:t>KTPH</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10</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9–15</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F2937"/>
                          </a:solidFill>
                        </a:rPr>
                        <a:t>WH</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9</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7–11</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384048">
                <a:tc>
                  <a:txBody>
                    <a:bodyPr/>
                    <a:lstStyle/>
                    <a:p>
                      <a:pPr indent="0" marL="0">
                        <a:buNone/>
                      </a:pPr>
                      <a:r>
                        <a:rPr lang="en-US" sz="1050" b="1" dirty="0">
                          <a:solidFill>
                            <a:srgbClr val="1F2937"/>
                          </a:solidFill>
                        </a:rPr>
                        <a:t>TTSH</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21</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15–24</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F2937"/>
                          </a:solidFill>
                        </a:rPr>
                        <a:t>Total</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40</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31–50</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384048">
                <a:tc>
                  <a:txBody>
                    <a:bodyPr/>
                    <a:lstStyle/>
                    <a:p>
                      <a:pPr indent="0" marL="0">
                        <a:buNone/>
                      </a:pPr>
                      <a:r>
                        <a:rPr lang="en-US" sz="1050" b="1" dirty="0">
                          <a:solidFill>
                            <a:srgbClr val="1F2937"/>
                          </a:solidFill>
                        </a:rPr>
                        <a:t>Spares (10%)</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4</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F2937"/>
                          </a:solidFill>
                        </a:rPr>
                        <a:t>Proposed</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44</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bl>
          </a:graphicData>
        </a:graphic>
      </p:graphicFrame>
      <p:sp>
        <p:nvSpPr>
          <p:cNvPr id="8" name="Input placeholder"/>
          <p:cNvSpPr/>
          <p:nvPr/>
        </p:nvSpPr>
        <p:spPr>
          <a:xfrm>
            <a:off x="8595360" y="4526280"/>
            <a:ext cx="3044952" cy="502920"/>
          </a:xfrm>
          <a:prstGeom prst="rect">
            <a:avLst/>
          </a:prstGeom>
          <a:solidFill>
            <a:srgbClr val="FFF4D6"/>
          </a:solidFill>
          <a:ln w="12700">
            <a:solidFill>
              <a:srgbClr val="F2A900"/>
            </a:solidFill>
            <a:prstDash val="dash"/>
          </a:ln>
        </p:spPr>
      </p:sp>
      <p:sp>
        <p:nvSpPr>
          <p:cNvPr id="9" name="Text 4"/>
          <p:cNvSpPr txBox="1"/>
          <p:nvPr/>
        </p:nvSpPr>
        <p:spPr>
          <a:xfrm>
            <a:off x="8686800" y="4526280"/>
            <a:ext cx="2862072" cy="502920"/>
          </a:xfrm>
          <a:prstGeom prst="rect">
            <a:avLst/>
          </a:prstGeom>
          <a:noFill/>
          <a:ln/>
        </p:spPr>
        <p:txBody>
          <a:bodyPr wrap="square" lIns="0" tIns="0" rIns="0" bIns="0" rtlCol="0" anchor="ctr"/>
          <a:lstStyle/>
          <a:p>
            <a:pPr indent="0" marL="0">
              <a:buNone/>
            </a:pPr>
            <a:r>
              <a:rPr lang="en-US" sz="950" i="1" dirty="0">
                <a:solidFill>
                  <a:srgbClr val="7A4F00"/>
                </a:solidFill>
              </a:rPr>
              <a:t>[INPUT REQUIRED] Confirm est. cubicle counts from layouts.</a:t>
            </a:r>
            <a:endParaRPr lang="en-US" sz="950" dirty="0"/>
          </a:p>
        </p:txBody>
      </p:sp>
      <p:sp>
        <p:nvSpPr>
          <p:cNvPr id="10" name="Proposed response"/>
          <p:cNvSpPr/>
          <p:nvPr/>
        </p:nvSpPr>
        <p:spPr>
          <a:xfrm>
            <a:off x="548640" y="5532120"/>
            <a:ext cx="11091672" cy="548640"/>
          </a:xfrm>
          <a:prstGeom prst="rect">
            <a:avLst/>
          </a:prstGeom>
          <a:solidFill>
            <a:srgbClr val="E6F6F7"/>
          </a:solidFill>
          <a:ln w="12700">
            <a:solidFill>
              <a:srgbClr val="00A3AD"/>
            </a:solidFill>
            <a:prstDash val="dash"/>
          </a:ln>
        </p:spPr>
      </p:sp>
      <p:sp>
        <p:nvSpPr>
          <p:cNvPr id="11" name="Text 6"/>
          <p:cNvSpPr txBox="1"/>
          <p:nvPr/>
        </p:nvSpPr>
        <p:spPr>
          <a:xfrm>
            <a:off x="640080" y="5532120"/>
            <a:ext cx="10908792" cy="548640"/>
          </a:xfrm>
          <a:prstGeom prst="rect">
            <a:avLst/>
          </a:prstGeom>
          <a:noFill/>
          <a:ln/>
        </p:spPr>
        <p:txBody>
          <a:bodyPr wrap="square" lIns="0" tIns="0" rIns="0" bIns="0" rtlCol="0" anchor="ctr"/>
          <a:lstStyle/>
          <a:p>
            <a:pPr indent="0" marL="0">
              <a:buNone/>
            </a:pPr>
            <a:r>
              <a:rPr lang="en-US" sz="1100" b="1" dirty="0">
                <a:solidFill>
                  <a:srgbClr val="0B6F76"/>
                </a:solidFill>
              </a:rPr>
              <a:t>PROPOSED  </a:t>
            </a:r>
            <a:pPr indent="0" marL="0">
              <a:buNone/>
            </a:pPr>
            <a:r>
              <a:rPr lang="en-US" sz="1100" dirty="0">
                <a:solidFill>
                  <a:srgbClr val="1F2937"/>
                </a:solidFill>
              </a:rPr>
              <a:t>Quantities are proposed from NHG's ward descriptions; final counts are confirmed against the ward layouts and the on-site survey, and entered in the tender sheet's editable BLE quantity field.</a:t>
            </a:r>
            <a:endParaRPr lang="en-US" sz="11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5 · PROJECT TIMELINE</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The plan runs from Letter of Award to Final Acceptance, with go-live in about six months</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Master Agreement Schedule 2, Clause 12; RFP Section 1 clause 10. T0 = Letter of Award; lead times are proposed.</a:t>
            </a:r>
            <a:endParaRPr lang="en-US" sz="900" dirty="0"/>
          </a:p>
        </p:txBody>
      </p:sp>
      <p:sp>
        <p:nvSpPr>
          <p:cNvPr id="6" name="Shape 3"/>
          <p:cNvSpPr/>
          <p:nvPr/>
        </p:nvSpPr>
        <p:spPr>
          <a:xfrm>
            <a:off x="3931920" y="1645920"/>
            <a:ext cx="1185906" cy="292608"/>
          </a:xfrm>
          <a:prstGeom prst="rect">
            <a:avLst/>
          </a:prstGeom>
          <a:solidFill>
            <a:schemeClr val="tx2"/>
          </a:solidFill>
          <a:ln w="6350">
            <a:solidFill>
              <a:srgbClr val="FFFFFF"/>
            </a:solidFill>
            <a:prstDash val="solid"/>
          </a:ln>
        </p:spPr>
      </p:sp>
      <p:sp>
        <p:nvSpPr>
          <p:cNvPr id="7" name="Text 4"/>
          <p:cNvSpPr txBox="1"/>
          <p:nvPr/>
        </p:nvSpPr>
        <p:spPr>
          <a:xfrm>
            <a:off x="3931920" y="1645920"/>
            <a:ext cx="1185906" cy="292608"/>
          </a:xfrm>
          <a:prstGeom prst="rect">
            <a:avLst/>
          </a:prstGeom>
          <a:noFill/>
          <a:ln/>
        </p:spPr>
        <p:txBody>
          <a:bodyPr wrap="square" lIns="0" tIns="0" rIns="0" bIns="0" rtlCol="0" anchor="ctr"/>
          <a:lstStyle/>
          <a:p>
            <a:pPr algn="ctr" indent="0" marL="0">
              <a:buNone/>
            </a:pPr>
            <a:r>
              <a:rPr lang="en-US" sz="1100" b="1" dirty="0">
                <a:solidFill>
                  <a:schemeClr val="bg1"/>
                </a:solidFill>
              </a:rPr>
              <a:t>M1</a:t>
            </a:r>
            <a:endParaRPr lang="en-US" sz="1100" dirty="0"/>
          </a:p>
        </p:txBody>
      </p:sp>
      <p:sp>
        <p:nvSpPr>
          <p:cNvPr id="8" name="Shape 5"/>
          <p:cNvSpPr/>
          <p:nvPr/>
        </p:nvSpPr>
        <p:spPr>
          <a:xfrm>
            <a:off x="5117826" y="1645920"/>
            <a:ext cx="1185906" cy="292608"/>
          </a:xfrm>
          <a:prstGeom prst="rect">
            <a:avLst/>
          </a:prstGeom>
          <a:solidFill>
            <a:schemeClr val="accent2"/>
          </a:solidFill>
          <a:ln w="6350">
            <a:solidFill>
              <a:srgbClr val="FFFFFF"/>
            </a:solidFill>
            <a:prstDash val="solid"/>
          </a:ln>
        </p:spPr>
      </p:sp>
      <p:sp>
        <p:nvSpPr>
          <p:cNvPr id="9" name="Text 6"/>
          <p:cNvSpPr txBox="1"/>
          <p:nvPr/>
        </p:nvSpPr>
        <p:spPr>
          <a:xfrm>
            <a:off x="5117826" y="1645920"/>
            <a:ext cx="1185906" cy="292608"/>
          </a:xfrm>
          <a:prstGeom prst="rect">
            <a:avLst/>
          </a:prstGeom>
          <a:noFill/>
          <a:ln/>
        </p:spPr>
        <p:txBody>
          <a:bodyPr wrap="square" lIns="0" tIns="0" rIns="0" bIns="0" rtlCol="0" anchor="ctr"/>
          <a:lstStyle/>
          <a:p>
            <a:pPr algn="ctr" indent="0" marL="0">
              <a:buNone/>
            </a:pPr>
            <a:r>
              <a:rPr lang="en-US" sz="1100" b="1" dirty="0">
                <a:solidFill>
                  <a:schemeClr val="bg1"/>
                </a:solidFill>
              </a:rPr>
              <a:t>M2</a:t>
            </a:r>
            <a:endParaRPr lang="en-US" sz="1100" dirty="0"/>
          </a:p>
        </p:txBody>
      </p:sp>
      <p:sp>
        <p:nvSpPr>
          <p:cNvPr id="10" name="Shape 7"/>
          <p:cNvSpPr/>
          <p:nvPr/>
        </p:nvSpPr>
        <p:spPr>
          <a:xfrm>
            <a:off x="6303733" y="1645920"/>
            <a:ext cx="1185906" cy="292608"/>
          </a:xfrm>
          <a:prstGeom prst="rect">
            <a:avLst/>
          </a:prstGeom>
          <a:solidFill>
            <a:schemeClr val="tx2"/>
          </a:solidFill>
          <a:ln w="6350">
            <a:solidFill>
              <a:srgbClr val="FFFFFF"/>
            </a:solidFill>
            <a:prstDash val="solid"/>
          </a:ln>
        </p:spPr>
      </p:sp>
      <p:sp>
        <p:nvSpPr>
          <p:cNvPr id="11" name="Text 8"/>
          <p:cNvSpPr txBox="1"/>
          <p:nvPr/>
        </p:nvSpPr>
        <p:spPr>
          <a:xfrm>
            <a:off x="6303733" y="1645920"/>
            <a:ext cx="1185906" cy="292608"/>
          </a:xfrm>
          <a:prstGeom prst="rect">
            <a:avLst/>
          </a:prstGeom>
          <a:noFill/>
          <a:ln/>
        </p:spPr>
        <p:txBody>
          <a:bodyPr wrap="square" lIns="0" tIns="0" rIns="0" bIns="0" rtlCol="0" anchor="ctr"/>
          <a:lstStyle/>
          <a:p>
            <a:pPr algn="ctr" indent="0" marL="0">
              <a:buNone/>
            </a:pPr>
            <a:r>
              <a:rPr lang="en-US" sz="1100" b="1" dirty="0">
                <a:solidFill>
                  <a:schemeClr val="bg1"/>
                </a:solidFill>
              </a:rPr>
              <a:t>M3</a:t>
            </a:r>
            <a:endParaRPr lang="en-US" sz="1100" dirty="0"/>
          </a:p>
        </p:txBody>
      </p:sp>
      <p:sp>
        <p:nvSpPr>
          <p:cNvPr id="12" name="Shape 9"/>
          <p:cNvSpPr/>
          <p:nvPr/>
        </p:nvSpPr>
        <p:spPr>
          <a:xfrm>
            <a:off x="7489639" y="1645920"/>
            <a:ext cx="1185906" cy="292608"/>
          </a:xfrm>
          <a:prstGeom prst="rect">
            <a:avLst/>
          </a:prstGeom>
          <a:solidFill>
            <a:schemeClr val="accent2"/>
          </a:solidFill>
          <a:ln w="6350">
            <a:solidFill>
              <a:srgbClr val="FFFFFF"/>
            </a:solidFill>
            <a:prstDash val="solid"/>
          </a:ln>
        </p:spPr>
      </p:sp>
      <p:sp>
        <p:nvSpPr>
          <p:cNvPr id="13" name="Text 10"/>
          <p:cNvSpPr txBox="1"/>
          <p:nvPr/>
        </p:nvSpPr>
        <p:spPr>
          <a:xfrm>
            <a:off x="7489639" y="1645920"/>
            <a:ext cx="1185906" cy="292608"/>
          </a:xfrm>
          <a:prstGeom prst="rect">
            <a:avLst/>
          </a:prstGeom>
          <a:noFill/>
          <a:ln/>
        </p:spPr>
        <p:txBody>
          <a:bodyPr wrap="square" lIns="0" tIns="0" rIns="0" bIns="0" rtlCol="0" anchor="ctr"/>
          <a:lstStyle/>
          <a:p>
            <a:pPr algn="ctr" indent="0" marL="0">
              <a:buNone/>
            </a:pPr>
            <a:r>
              <a:rPr lang="en-US" sz="1100" b="1" dirty="0">
                <a:solidFill>
                  <a:schemeClr val="bg1"/>
                </a:solidFill>
              </a:rPr>
              <a:t>M4</a:t>
            </a:r>
            <a:endParaRPr lang="en-US" sz="1100" dirty="0"/>
          </a:p>
        </p:txBody>
      </p:sp>
      <p:sp>
        <p:nvSpPr>
          <p:cNvPr id="14" name="Shape 11"/>
          <p:cNvSpPr/>
          <p:nvPr/>
        </p:nvSpPr>
        <p:spPr>
          <a:xfrm>
            <a:off x="8675546" y="1645920"/>
            <a:ext cx="1185906" cy="292608"/>
          </a:xfrm>
          <a:prstGeom prst="rect">
            <a:avLst/>
          </a:prstGeom>
          <a:solidFill>
            <a:schemeClr val="tx2"/>
          </a:solidFill>
          <a:ln w="6350">
            <a:solidFill>
              <a:srgbClr val="FFFFFF"/>
            </a:solidFill>
            <a:prstDash val="solid"/>
          </a:ln>
        </p:spPr>
      </p:sp>
      <p:sp>
        <p:nvSpPr>
          <p:cNvPr id="15" name="Text 12"/>
          <p:cNvSpPr txBox="1"/>
          <p:nvPr/>
        </p:nvSpPr>
        <p:spPr>
          <a:xfrm>
            <a:off x="8675546" y="1645920"/>
            <a:ext cx="1185906" cy="292608"/>
          </a:xfrm>
          <a:prstGeom prst="rect">
            <a:avLst/>
          </a:prstGeom>
          <a:noFill/>
          <a:ln/>
        </p:spPr>
        <p:txBody>
          <a:bodyPr wrap="square" lIns="0" tIns="0" rIns="0" bIns="0" rtlCol="0" anchor="ctr"/>
          <a:lstStyle/>
          <a:p>
            <a:pPr algn="ctr" indent="0" marL="0">
              <a:buNone/>
            </a:pPr>
            <a:r>
              <a:rPr lang="en-US" sz="1100" b="1" dirty="0">
                <a:solidFill>
                  <a:schemeClr val="bg1"/>
                </a:solidFill>
              </a:rPr>
              <a:t>M5</a:t>
            </a:r>
            <a:endParaRPr lang="en-US" sz="1100" dirty="0"/>
          </a:p>
        </p:txBody>
      </p:sp>
      <p:sp>
        <p:nvSpPr>
          <p:cNvPr id="16" name="Shape 13"/>
          <p:cNvSpPr/>
          <p:nvPr/>
        </p:nvSpPr>
        <p:spPr>
          <a:xfrm>
            <a:off x="9861452" y="1645920"/>
            <a:ext cx="1185906" cy="292608"/>
          </a:xfrm>
          <a:prstGeom prst="rect">
            <a:avLst/>
          </a:prstGeom>
          <a:solidFill>
            <a:schemeClr val="accent2"/>
          </a:solidFill>
          <a:ln w="6350">
            <a:solidFill>
              <a:srgbClr val="FFFFFF"/>
            </a:solidFill>
            <a:prstDash val="solid"/>
          </a:ln>
        </p:spPr>
      </p:sp>
      <p:sp>
        <p:nvSpPr>
          <p:cNvPr id="17" name="Text 14"/>
          <p:cNvSpPr txBox="1"/>
          <p:nvPr/>
        </p:nvSpPr>
        <p:spPr>
          <a:xfrm>
            <a:off x="9861452" y="1645920"/>
            <a:ext cx="1185906" cy="292608"/>
          </a:xfrm>
          <a:prstGeom prst="rect">
            <a:avLst/>
          </a:prstGeom>
          <a:noFill/>
          <a:ln/>
        </p:spPr>
        <p:txBody>
          <a:bodyPr wrap="square" lIns="0" tIns="0" rIns="0" bIns="0" rtlCol="0" anchor="ctr"/>
          <a:lstStyle/>
          <a:p>
            <a:pPr algn="ctr" indent="0" marL="0">
              <a:buNone/>
            </a:pPr>
            <a:r>
              <a:rPr lang="en-US" sz="1100" b="1" dirty="0">
                <a:solidFill>
                  <a:schemeClr val="bg1"/>
                </a:solidFill>
              </a:rPr>
              <a:t>M6</a:t>
            </a:r>
            <a:endParaRPr lang="en-US" sz="1100" dirty="0"/>
          </a:p>
        </p:txBody>
      </p:sp>
      <p:sp>
        <p:nvSpPr>
          <p:cNvPr id="18" name="Shape 15"/>
          <p:cNvSpPr/>
          <p:nvPr/>
        </p:nvSpPr>
        <p:spPr>
          <a:xfrm>
            <a:off x="11047359" y="1645920"/>
            <a:ext cx="592953" cy="292608"/>
          </a:xfrm>
          <a:prstGeom prst="rect">
            <a:avLst/>
          </a:prstGeom>
          <a:solidFill>
            <a:schemeClr val="tx2"/>
          </a:solidFill>
          <a:ln w="6350">
            <a:solidFill>
              <a:srgbClr val="FFFFFF"/>
            </a:solidFill>
            <a:prstDash val="solid"/>
          </a:ln>
        </p:spPr>
      </p:sp>
      <p:sp>
        <p:nvSpPr>
          <p:cNvPr id="19" name="Text 16"/>
          <p:cNvSpPr txBox="1"/>
          <p:nvPr/>
        </p:nvSpPr>
        <p:spPr>
          <a:xfrm>
            <a:off x="11047359" y="1645920"/>
            <a:ext cx="592953" cy="292608"/>
          </a:xfrm>
          <a:prstGeom prst="rect">
            <a:avLst/>
          </a:prstGeom>
          <a:noFill/>
          <a:ln/>
        </p:spPr>
        <p:txBody>
          <a:bodyPr wrap="square" lIns="0" tIns="0" rIns="0" bIns="0" rtlCol="0" anchor="ctr"/>
          <a:lstStyle/>
          <a:p>
            <a:pPr algn="ctr" indent="0" marL="0">
              <a:buNone/>
            </a:pPr>
            <a:r>
              <a:rPr lang="en-US" sz="1100" b="1" dirty="0">
                <a:solidFill>
                  <a:schemeClr val="bg1"/>
                </a:solidFill>
              </a:rPr>
              <a:t>M7</a:t>
            </a:r>
            <a:endParaRPr lang="en-US" sz="1100" dirty="0"/>
          </a:p>
        </p:txBody>
      </p:sp>
      <p:sp>
        <p:nvSpPr>
          <p:cNvPr id="20" name="Shape 17"/>
          <p:cNvSpPr/>
          <p:nvPr/>
        </p:nvSpPr>
        <p:spPr>
          <a:xfrm>
            <a:off x="548640" y="2011680"/>
            <a:ext cx="11091672" cy="352044"/>
          </a:xfrm>
          <a:prstGeom prst="rect">
            <a:avLst/>
          </a:prstGeom>
          <a:solidFill>
            <a:schemeClr val="bg2"/>
          </a:solidFill>
          <a:ln/>
        </p:spPr>
      </p:sp>
      <p:sp>
        <p:nvSpPr>
          <p:cNvPr id="21" name="Text 18"/>
          <p:cNvSpPr txBox="1"/>
          <p:nvPr/>
        </p:nvSpPr>
        <p:spPr>
          <a:xfrm>
            <a:off x="640080" y="2029968"/>
            <a:ext cx="3246120" cy="310896"/>
          </a:xfrm>
          <a:prstGeom prst="rect">
            <a:avLst/>
          </a:prstGeom>
          <a:noFill/>
          <a:ln/>
        </p:spPr>
        <p:txBody>
          <a:bodyPr wrap="square" lIns="0" tIns="0" rIns="0" bIns="0" rtlCol="0" anchor="ctr"/>
          <a:lstStyle/>
          <a:p>
            <a:pPr indent="0" marL="0">
              <a:buNone/>
            </a:pPr>
            <a:r>
              <a:rPr lang="en-US" sz="1100" dirty="0">
                <a:solidFill>
                  <a:schemeClr val="tx1"/>
                </a:solidFill>
              </a:rPr>
              <a:t>Award, deposit, insurance, training plan</a:t>
            </a:r>
            <a:endParaRPr lang="en-US" sz="1100" dirty="0"/>
          </a:p>
        </p:txBody>
      </p:sp>
      <p:sp>
        <p:nvSpPr>
          <p:cNvPr id="22" name="Gantt Award, deposit, insurance, training plan"/>
          <p:cNvSpPr/>
          <p:nvPr/>
        </p:nvSpPr>
        <p:spPr>
          <a:xfrm>
            <a:off x="3931920" y="2075688"/>
            <a:ext cx="592953" cy="228600"/>
          </a:xfrm>
          <a:prstGeom prst="rect">
            <a:avLst/>
          </a:prstGeom>
          <a:solidFill>
            <a:schemeClr val="tx2"/>
          </a:solidFill>
          <a:ln/>
        </p:spPr>
      </p:sp>
      <p:sp>
        <p:nvSpPr>
          <p:cNvPr id="23" name="Text 20"/>
          <p:cNvSpPr txBox="1"/>
          <p:nvPr/>
        </p:nvSpPr>
        <p:spPr>
          <a:xfrm>
            <a:off x="640080" y="2382012"/>
            <a:ext cx="3246120" cy="310896"/>
          </a:xfrm>
          <a:prstGeom prst="rect">
            <a:avLst/>
          </a:prstGeom>
          <a:noFill/>
          <a:ln/>
        </p:spPr>
        <p:txBody>
          <a:bodyPr wrap="square" lIns="0" tIns="0" rIns="0" bIns="0" rtlCol="0" anchor="ctr"/>
          <a:lstStyle/>
          <a:p>
            <a:pPr indent="0" marL="0">
              <a:buNone/>
            </a:pPr>
            <a:r>
              <a:rPr lang="en-US" sz="1100" dirty="0">
                <a:solidFill>
                  <a:schemeClr val="tx1"/>
                </a:solidFill>
              </a:rPr>
              <a:t>Mobilisation (≥ 28 days)</a:t>
            </a:r>
            <a:endParaRPr lang="en-US" sz="1100" dirty="0"/>
          </a:p>
        </p:txBody>
      </p:sp>
      <p:sp>
        <p:nvSpPr>
          <p:cNvPr id="24" name="Gantt Mobilisation (≥ 28 days)"/>
          <p:cNvSpPr/>
          <p:nvPr/>
        </p:nvSpPr>
        <p:spPr>
          <a:xfrm>
            <a:off x="3931920" y="2427732"/>
            <a:ext cx="1185906" cy="228600"/>
          </a:xfrm>
          <a:prstGeom prst="rect">
            <a:avLst/>
          </a:prstGeom>
          <a:solidFill>
            <a:schemeClr val="tx2"/>
          </a:solidFill>
          <a:ln/>
        </p:spPr>
      </p:sp>
      <p:sp>
        <p:nvSpPr>
          <p:cNvPr id="25" name="Shape 22"/>
          <p:cNvSpPr/>
          <p:nvPr/>
        </p:nvSpPr>
        <p:spPr>
          <a:xfrm>
            <a:off x="548640" y="2715768"/>
            <a:ext cx="11091672" cy="352044"/>
          </a:xfrm>
          <a:prstGeom prst="rect">
            <a:avLst/>
          </a:prstGeom>
          <a:solidFill>
            <a:schemeClr val="bg2"/>
          </a:solidFill>
          <a:ln/>
        </p:spPr>
      </p:sp>
      <p:sp>
        <p:nvSpPr>
          <p:cNvPr id="26" name="Text 23"/>
          <p:cNvSpPr txBox="1"/>
          <p:nvPr/>
        </p:nvSpPr>
        <p:spPr>
          <a:xfrm>
            <a:off x="640080" y="2734056"/>
            <a:ext cx="3246120" cy="310896"/>
          </a:xfrm>
          <a:prstGeom prst="rect">
            <a:avLst/>
          </a:prstGeom>
          <a:noFill/>
          <a:ln/>
        </p:spPr>
        <p:txBody>
          <a:bodyPr wrap="square" lIns="0" tIns="0" rIns="0" bIns="0" rtlCol="0" anchor="ctr"/>
          <a:lstStyle/>
          <a:p>
            <a:pPr indent="0" marL="0">
              <a:buNone/>
            </a:pPr>
            <a:r>
              <a:rPr lang="en-US" sz="1100" dirty="0">
                <a:solidFill>
                  <a:schemeClr val="tx1"/>
                </a:solidFill>
              </a:rPr>
              <a:t>Floor-plan review, Wi-Fi/RF survey, relay count</a:t>
            </a:r>
            <a:endParaRPr lang="en-US" sz="1100" dirty="0"/>
          </a:p>
        </p:txBody>
      </p:sp>
      <p:sp>
        <p:nvSpPr>
          <p:cNvPr id="27" name="Gantt Floor-plan review, Wi-Fi/RF survey, relay count"/>
          <p:cNvSpPr/>
          <p:nvPr/>
        </p:nvSpPr>
        <p:spPr>
          <a:xfrm>
            <a:off x="4524873" y="2779776"/>
            <a:ext cx="1185906" cy="228600"/>
          </a:xfrm>
          <a:prstGeom prst="rect">
            <a:avLst/>
          </a:prstGeom>
          <a:solidFill>
            <a:schemeClr val="accent1"/>
          </a:solidFill>
          <a:ln/>
        </p:spPr>
      </p:sp>
      <p:sp>
        <p:nvSpPr>
          <p:cNvPr id="28" name="Text 25"/>
          <p:cNvSpPr txBox="1"/>
          <p:nvPr/>
        </p:nvSpPr>
        <p:spPr>
          <a:xfrm>
            <a:off x="640080" y="3086100"/>
            <a:ext cx="3246120" cy="310896"/>
          </a:xfrm>
          <a:prstGeom prst="rect">
            <a:avLst/>
          </a:prstGeom>
          <a:noFill/>
          <a:ln/>
        </p:spPr>
        <p:txBody>
          <a:bodyPr wrap="square" lIns="0" tIns="0" rIns="0" bIns="0" rtlCol="0" anchor="ctr"/>
          <a:lstStyle/>
          <a:p>
            <a:pPr indent="0" marL="0">
              <a:buNone/>
            </a:pPr>
            <a:r>
              <a:rPr lang="en-US" sz="1100" dirty="0">
                <a:solidFill>
                  <a:schemeClr val="tx1"/>
                </a:solidFill>
              </a:rPr>
              <a:t>Production, pre-shipment test, shipping, customs</a:t>
            </a:r>
            <a:endParaRPr lang="en-US" sz="1100" dirty="0"/>
          </a:p>
        </p:txBody>
      </p:sp>
      <p:sp>
        <p:nvSpPr>
          <p:cNvPr id="29" name="Gantt Production, pre-shipment test, shipping, customs"/>
          <p:cNvSpPr/>
          <p:nvPr/>
        </p:nvSpPr>
        <p:spPr>
          <a:xfrm>
            <a:off x="4821350" y="3131820"/>
            <a:ext cx="2371813" cy="228600"/>
          </a:xfrm>
          <a:prstGeom prst="rect">
            <a:avLst/>
          </a:prstGeom>
          <a:solidFill>
            <a:schemeClr val="accent3"/>
          </a:solidFill>
          <a:ln/>
        </p:spPr>
      </p:sp>
      <p:sp>
        <p:nvSpPr>
          <p:cNvPr id="30" name="Shape 27"/>
          <p:cNvSpPr/>
          <p:nvPr/>
        </p:nvSpPr>
        <p:spPr>
          <a:xfrm>
            <a:off x="548640" y="3419856"/>
            <a:ext cx="11091672" cy="352044"/>
          </a:xfrm>
          <a:prstGeom prst="rect">
            <a:avLst/>
          </a:prstGeom>
          <a:solidFill>
            <a:schemeClr val="bg2"/>
          </a:solidFill>
          <a:ln/>
        </p:spPr>
      </p:sp>
      <p:sp>
        <p:nvSpPr>
          <p:cNvPr id="31" name="Text 28"/>
          <p:cNvSpPr txBox="1"/>
          <p:nvPr/>
        </p:nvSpPr>
        <p:spPr>
          <a:xfrm>
            <a:off x="640080" y="3438144"/>
            <a:ext cx="3246120" cy="310896"/>
          </a:xfrm>
          <a:prstGeom prst="rect">
            <a:avLst/>
          </a:prstGeom>
          <a:noFill/>
          <a:ln/>
        </p:spPr>
        <p:txBody>
          <a:bodyPr wrap="square" lIns="0" tIns="0" rIns="0" bIns="0" rtlCol="0" anchor="ctr"/>
          <a:lstStyle/>
          <a:p>
            <a:pPr indent="0" marL="0">
              <a:buNone/>
            </a:pPr>
            <a:r>
              <a:rPr lang="en-US" sz="1100" dirty="0">
                <a:solidFill>
                  <a:schemeClr val="tx1"/>
                </a:solidFill>
              </a:rPr>
              <a:t>Pilot install and commissioning</a:t>
            </a:r>
            <a:endParaRPr lang="en-US" sz="1100" dirty="0"/>
          </a:p>
        </p:txBody>
      </p:sp>
      <p:sp>
        <p:nvSpPr>
          <p:cNvPr id="32" name="Gantt Pilot install and commissioning"/>
          <p:cNvSpPr/>
          <p:nvPr/>
        </p:nvSpPr>
        <p:spPr>
          <a:xfrm>
            <a:off x="7193163" y="3483864"/>
            <a:ext cx="592953" cy="228600"/>
          </a:xfrm>
          <a:prstGeom prst="rect">
            <a:avLst/>
          </a:prstGeom>
          <a:solidFill>
            <a:schemeClr val="accent1"/>
          </a:solidFill>
          <a:ln/>
        </p:spPr>
      </p:sp>
      <p:sp>
        <p:nvSpPr>
          <p:cNvPr id="33" name="Text 30"/>
          <p:cNvSpPr txBox="1"/>
          <p:nvPr/>
        </p:nvSpPr>
        <p:spPr>
          <a:xfrm>
            <a:off x="640080" y="3790188"/>
            <a:ext cx="3246120" cy="310896"/>
          </a:xfrm>
          <a:prstGeom prst="rect">
            <a:avLst/>
          </a:prstGeom>
          <a:noFill/>
          <a:ln/>
        </p:spPr>
        <p:txBody>
          <a:bodyPr wrap="square" lIns="0" tIns="0" rIns="0" bIns="0" rtlCol="0" anchor="ctr"/>
          <a:lstStyle/>
          <a:p>
            <a:pPr indent="0" marL="0">
              <a:buNone/>
            </a:pPr>
            <a:r>
              <a:rPr lang="en-US" sz="1100" dirty="0">
                <a:solidFill>
                  <a:schemeClr val="tx1"/>
                </a:solidFill>
              </a:rPr>
              <a:t>User training (≤ 14 days after delivery)</a:t>
            </a:r>
            <a:endParaRPr lang="en-US" sz="1100" dirty="0"/>
          </a:p>
        </p:txBody>
      </p:sp>
      <p:sp>
        <p:nvSpPr>
          <p:cNvPr id="34" name="Gantt User training (≤ 14 days after delivery)"/>
          <p:cNvSpPr/>
          <p:nvPr/>
        </p:nvSpPr>
        <p:spPr>
          <a:xfrm>
            <a:off x="7193163" y="3835908"/>
            <a:ext cx="1185906" cy="228600"/>
          </a:xfrm>
          <a:prstGeom prst="rect">
            <a:avLst/>
          </a:prstGeom>
          <a:solidFill>
            <a:schemeClr val="accent1"/>
          </a:solidFill>
          <a:ln/>
        </p:spPr>
      </p:sp>
      <p:sp>
        <p:nvSpPr>
          <p:cNvPr id="35" name="Shape 32"/>
          <p:cNvSpPr/>
          <p:nvPr/>
        </p:nvSpPr>
        <p:spPr>
          <a:xfrm>
            <a:off x="548640" y="4123944"/>
            <a:ext cx="11091672" cy="352044"/>
          </a:xfrm>
          <a:prstGeom prst="rect">
            <a:avLst/>
          </a:prstGeom>
          <a:solidFill>
            <a:schemeClr val="bg2"/>
          </a:solidFill>
          <a:ln/>
        </p:spPr>
      </p:sp>
      <p:sp>
        <p:nvSpPr>
          <p:cNvPr id="36" name="Text 33"/>
          <p:cNvSpPr txBox="1"/>
          <p:nvPr/>
        </p:nvSpPr>
        <p:spPr>
          <a:xfrm>
            <a:off x="640080" y="4142232"/>
            <a:ext cx="3246120" cy="310896"/>
          </a:xfrm>
          <a:prstGeom prst="rect">
            <a:avLst/>
          </a:prstGeom>
          <a:noFill/>
          <a:ln/>
        </p:spPr>
        <p:txBody>
          <a:bodyPr wrap="square" lIns="0" tIns="0" rIns="0" bIns="0" rtlCol="0" anchor="ctr"/>
          <a:lstStyle/>
          <a:p>
            <a:pPr indent="0" marL="0">
              <a:buNone/>
            </a:pPr>
            <a:r>
              <a:rPr lang="en-US" sz="1100" dirty="0">
                <a:solidFill>
                  <a:schemeClr val="tx1"/>
                </a:solidFill>
              </a:rPr>
              <a:t>Pilot acceptance tests</a:t>
            </a:r>
            <a:endParaRPr lang="en-US" sz="1100" dirty="0"/>
          </a:p>
        </p:txBody>
      </p:sp>
      <p:sp>
        <p:nvSpPr>
          <p:cNvPr id="37" name="Gantt Pilot acceptance tests"/>
          <p:cNvSpPr/>
          <p:nvPr/>
        </p:nvSpPr>
        <p:spPr>
          <a:xfrm>
            <a:off x="7786116" y="4187952"/>
            <a:ext cx="592953" cy="228600"/>
          </a:xfrm>
          <a:prstGeom prst="rect">
            <a:avLst/>
          </a:prstGeom>
          <a:solidFill>
            <a:schemeClr val="accent1"/>
          </a:solidFill>
          <a:ln/>
        </p:spPr>
      </p:sp>
      <p:sp>
        <p:nvSpPr>
          <p:cNvPr id="38" name="Text 35"/>
          <p:cNvSpPr txBox="1"/>
          <p:nvPr/>
        </p:nvSpPr>
        <p:spPr>
          <a:xfrm>
            <a:off x="640080" y="4494276"/>
            <a:ext cx="3246120" cy="310896"/>
          </a:xfrm>
          <a:prstGeom prst="rect">
            <a:avLst/>
          </a:prstGeom>
          <a:noFill/>
          <a:ln/>
        </p:spPr>
        <p:txBody>
          <a:bodyPr wrap="square" lIns="0" tIns="0" rIns="0" bIns="0" rtlCol="0" anchor="ctr"/>
          <a:lstStyle/>
          <a:p>
            <a:pPr indent="0" marL="0">
              <a:buNone/>
            </a:pPr>
            <a:r>
              <a:rPr lang="en-US" sz="1100" dirty="0">
                <a:solidFill>
                  <a:schemeClr val="tx1"/>
                </a:solidFill>
              </a:rPr>
              <a:t>Ward-by-ward rollout</a:t>
            </a:r>
            <a:endParaRPr lang="en-US" sz="1100" dirty="0"/>
          </a:p>
        </p:txBody>
      </p:sp>
      <p:sp>
        <p:nvSpPr>
          <p:cNvPr id="39" name="Gantt Ward-by-ward rollout"/>
          <p:cNvSpPr/>
          <p:nvPr/>
        </p:nvSpPr>
        <p:spPr>
          <a:xfrm>
            <a:off x="8082593" y="4539996"/>
            <a:ext cx="2371813" cy="228600"/>
          </a:xfrm>
          <a:prstGeom prst="rect">
            <a:avLst/>
          </a:prstGeom>
          <a:solidFill>
            <a:schemeClr val="tx2"/>
          </a:solidFill>
          <a:ln/>
        </p:spPr>
      </p:sp>
      <p:sp>
        <p:nvSpPr>
          <p:cNvPr id="40" name="Shape 37"/>
          <p:cNvSpPr/>
          <p:nvPr/>
        </p:nvSpPr>
        <p:spPr>
          <a:xfrm>
            <a:off x="548640" y="4828032"/>
            <a:ext cx="11091672" cy="352044"/>
          </a:xfrm>
          <a:prstGeom prst="rect">
            <a:avLst/>
          </a:prstGeom>
          <a:solidFill>
            <a:schemeClr val="bg2"/>
          </a:solidFill>
          <a:ln/>
        </p:spPr>
      </p:sp>
      <p:sp>
        <p:nvSpPr>
          <p:cNvPr id="41" name="Text 38"/>
          <p:cNvSpPr txBox="1"/>
          <p:nvPr/>
        </p:nvSpPr>
        <p:spPr>
          <a:xfrm>
            <a:off x="640080" y="4846320"/>
            <a:ext cx="3246120" cy="310896"/>
          </a:xfrm>
          <a:prstGeom prst="rect">
            <a:avLst/>
          </a:prstGeom>
          <a:noFill/>
          <a:ln/>
        </p:spPr>
        <p:txBody>
          <a:bodyPr wrap="square" lIns="0" tIns="0" rIns="0" bIns="0" rtlCol="0" anchor="ctr"/>
          <a:lstStyle/>
          <a:p>
            <a:pPr indent="0" marL="0">
              <a:buNone/>
            </a:pPr>
            <a:r>
              <a:rPr lang="en-US" sz="1100" dirty="0">
                <a:solidFill>
                  <a:schemeClr val="tx1"/>
                </a:solidFill>
              </a:rPr>
              <a:t>Final Acceptance and invoice (≤ 7 days)</a:t>
            </a:r>
            <a:endParaRPr lang="en-US" sz="1100" dirty="0"/>
          </a:p>
        </p:txBody>
      </p:sp>
      <p:sp>
        <p:nvSpPr>
          <p:cNvPr id="42" name="Gantt Final Acceptance and invoice (≤ 7 days)"/>
          <p:cNvSpPr/>
          <p:nvPr/>
        </p:nvSpPr>
        <p:spPr>
          <a:xfrm>
            <a:off x="10157929" y="4892040"/>
            <a:ext cx="889430" cy="228600"/>
          </a:xfrm>
          <a:prstGeom prst="rect">
            <a:avLst/>
          </a:prstGeom>
          <a:solidFill>
            <a:schemeClr val="accent5"/>
          </a:solidFill>
          <a:ln/>
        </p:spPr>
      </p:sp>
      <p:sp>
        <p:nvSpPr>
          <p:cNvPr id="43" name="Text 40"/>
          <p:cNvSpPr txBox="1"/>
          <p:nvPr/>
        </p:nvSpPr>
        <p:spPr>
          <a:xfrm>
            <a:off x="640080" y="5198364"/>
            <a:ext cx="3246120" cy="310896"/>
          </a:xfrm>
          <a:prstGeom prst="rect">
            <a:avLst/>
          </a:prstGeom>
          <a:noFill/>
          <a:ln/>
        </p:spPr>
        <p:txBody>
          <a:bodyPr wrap="square" lIns="0" tIns="0" rIns="0" bIns="0" rtlCol="0" anchor="ctr"/>
          <a:lstStyle/>
          <a:p>
            <a:pPr indent="0" marL="0">
              <a:buNone/>
            </a:pPr>
            <a:r>
              <a:rPr lang="en-US" sz="1100" dirty="0">
                <a:solidFill>
                  <a:schemeClr val="tx1"/>
                </a:solidFill>
              </a:rPr>
              <a:t>Hypercare and optimisation</a:t>
            </a:r>
            <a:endParaRPr lang="en-US" sz="1100" dirty="0"/>
          </a:p>
        </p:txBody>
      </p:sp>
      <p:sp>
        <p:nvSpPr>
          <p:cNvPr id="44" name="Gantt Hypercare and optimisation"/>
          <p:cNvSpPr/>
          <p:nvPr/>
        </p:nvSpPr>
        <p:spPr>
          <a:xfrm>
            <a:off x="10454406" y="5244084"/>
            <a:ext cx="1185906" cy="228600"/>
          </a:xfrm>
          <a:prstGeom prst="rect">
            <a:avLst/>
          </a:prstGeom>
          <a:solidFill>
            <a:schemeClr val="accent5"/>
          </a:solidFill>
          <a:ln/>
        </p:spPr>
      </p:sp>
      <p:sp>
        <p:nvSpPr>
          <p:cNvPr id="45" name="Proposed response"/>
          <p:cNvSpPr/>
          <p:nvPr/>
        </p:nvSpPr>
        <p:spPr>
          <a:xfrm>
            <a:off x="548640" y="5623560"/>
            <a:ext cx="11091672" cy="457200"/>
          </a:xfrm>
          <a:prstGeom prst="rect">
            <a:avLst/>
          </a:prstGeom>
          <a:solidFill>
            <a:srgbClr val="E6F6F7"/>
          </a:solidFill>
          <a:ln w="12700">
            <a:solidFill>
              <a:srgbClr val="00A3AD"/>
            </a:solidFill>
            <a:prstDash val="dash"/>
          </a:ln>
        </p:spPr>
      </p:sp>
      <p:sp>
        <p:nvSpPr>
          <p:cNvPr id="46" name="Text 43"/>
          <p:cNvSpPr txBox="1"/>
          <p:nvPr/>
        </p:nvSpPr>
        <p:spPr>
          <a:xfrm>
            <a:off x="640080" y="5623560"/>
            <a:ext cx="10908792" cy="457200"/>
          </a:xfrm>
          <a:prstGeom prst="rect">
            <a:avLst/>
          </a:prstGeom>
          <a:noFill/>
          <a:ln/>
        </p:spPr>
        <p:txBody>
          <a:bodyPr wrap="square" lIns="0" tIns="0" rIns="0" bIns="0" rtlCol="0" anchor="ctr"/>
          <a:lstStyle/>
          <a:p>
            <a:pPr indent="0" marL="0">
              <a:buNone/>
            </a:pPr>
            <a:r>
              <a:rPr lang="en-US" sz="1050" b="1" dirty="0">
                <a:solidFill>
                  <a:srgbClr val="0B6F76"/>
                </a:solidFill>
              </a:rPr>
              <a:t>PROPOSED  </a:t>
            </a:r>
            <a:pPr indent="0" marL="0">
              <a:buNone/>
            </a:pPr>
            <a:r>
              <a:rPr lang="en-US" sz="1050" dirty="0">
                <a:solidFill>
                  <a:srgbClr val="1F2937"/>
                </a:solidFill>
              </a:rPr>
              <a:t>Lead time: production, quality test, air freight and customs about 8 weeks from order; installation about 2 weeks per hospital pilot; hypercare 4 weeks. To be confirmed at award.</a:t>
            </a:r>
            <a:endParaRPr lang="en-US" sz="105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6 · REFERENCES AND TRACK RECORD</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Each reference shows scale, scope, results and a contact KTPH can call</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customer references. Written consent from each referee is obtained before they are named.</a:t>
            </a:r>
            <a:endParaRPr lang="en-US" sz="900" dirty="0"/>
          </a:p>
        </p:txBody>
      </p:sp>
      <p:sp>
        <p:nvSpPr>
          <p:cNvPr id="6" name="Shape 3"/>
          <p:cNvSpPr/>
          <p:nvPr/>
        </p:nvSpPr>
        <p:spPr>
          <a:xfrm>
            <a:off x="548640" y="1691640"/>
            <a:ext cx="3611880" cy="3154680"/>
          </a:xfrm>
          <a:prstGeom prst="rect">
            <a:avLst/>
          </a:prstGeom>
          <a:solidFill>
            <a:schemeClr val="bg2"/>
          </a:solidFill>
          <a:ln/>
        </p:spPr>
      </p:sp>
      <p:sp>
        <p:nvSpPr>
          <p:cNvPr id="7" name="Shape 4"/>
          <p:cNvSpPr/>
          <p:nvPr/>
        </p:nvSpPr>
        <p:spPr>
          <a:xfrm>
            <a:off x="731520" y="1828800"/>
            <a:ext cx="457200" cy="457200"/>
          </a:xfrm>
          <a:prstGeom prst="ellipse">
            <a:avLst/>
          </a:prstGeom>
          <a:solidFill>
            <a:schemeClr val="tx2"/>
          </a:solidFill>
          <a:ln/>
        </p:spPr>
      </p:sp>
      <p:pic>
        <p:nvPicPr>
          <p:cNvPr id="8" name="Image 0" descr="preencoded.png">    </p:cNvPr>
          <p:cNvPicPr>
            <a:picLocks noChangeAspect="1"/>
          </p:cNvPicPr>
          <p:nvPr/>
        </p:nvPicPr>
        <p:blipFill>
          <a:blip r:embed="rId1"/>
          <a:stretch>
            <a:fillRect/>
          </a:stretch>
        </p:blipFill>
        <p:spPr>
          <a:xfrm>
            <a:off x="845820" y="1943100"/>
            <a:ext cx="228600" cy="228600"/>
          </a:xfrm>
          <a:prstGeom prst="rect">
            <a:avLst/>
          </a:prstGeom>
        </p:spPr>
      </p:pic>
      <p:sp>
        <p:nvSpPr>
          <p:cNvPr id="9" name="Text 5"/>
          <p:cNvSpPr txBox="1"/>
          <p:nvPr/>
        </p:nvSpPr>
        <p:spPr>
          <a:xfrm>
            <a:off x="1325880" y="1828800"/>
            <a:ext cx="2651760" cy="457200"/>
          </a:xfrm>
          <a:prstGeom prst="rect">
            <a:avLst/>
          </a:prstGeom>
          <a:noFill/>
          <a:ln/>
        </p:spPr>
        <p:txBody>
          <a:bodyPr wrap="square" lIns="0" tIns="0" rIns="0" bIns="0" rtlCol="0" anchor="ctr"/>
          <a:lstStyle/>
          <a:p>
            <a:pPr indent="0" marL="0">
              <a:buNone/>
            </a:pPr>
            <a:r>
              <a:rPr lang="en-US" sz="1400" b="1" dirty="0">
                <a:solidFill>
                  <a:schemeClr val="tx2"/>
                </a:solidFill>
              </a:rPr>
              <a:t>Reference 1</a:t>
            </a:r>
            <a:endParaRPr lang="en-US" sz="1400" dirty="0"/>
          </a:p>
        </p:txBody>
      </p:sp>
      <p:sp>
        <p:nvSpPr>
          <p:cNvPr id="10" name="Input placeholder"/>
          <p:cNvSpPr/>
          <p:nvPr/>
        </p:nvSpPr>
        <p:spPr>
          <a:xfrm>
            <a:off x="731520" y="2468880"/>
            <a:ext cx="3246120" cy="457200"/>
          </a:xfrm>
          <a:prstGeom prst="rect">
            <a:avLst/>
          </a:prstGeom>
          <a:solidFill>
            <a:srgbClr val="FFF4D6"/>
          </a:solidFill>
          <a:ln w="12700">
            <a:solidFill>
              <a:srgbClr val="F2A900"/>
            </a:solidFill>
            <a:prstDash val="dash"/>
          </a:ln>
        </p:spPr>
      </p:sp>
      <p:sp>
        <p:nvSpPr>
          <p:cNvPr id="11" name="Text 7"/>
          <p:cNvSpPr txBox="1"/>
          <p:nvPr/>
        </p:nvSpPr>
        <p:spPr>
          <a:xfrm>
            <a:off x="822960" y="2468880"/>
            <a:ext cx="3063240" cy="457200"/>
          </a:xfrm>
          <a:prstGeom prst="rect">
            <a:avLst/>
          </a:prstGeom>
          <a:noFill/>
          <a:ln/>
        </p:spPr>
        <p:txBody>
          <a:bodyPr wrap="square" lIns="0" tIns="0" rIns="0" bIns="0" rtlCol="0" anchor="ctr"/>
          <a:lstStyle/>
          <a:p>
            <a:pPr indent="0" marL="0">
              <a:buNone/>
            </a:pPr>
            <a:r>
              <a:rPr lang="en-US" sz="1000" i="1" dirty="0">
                <a:solidFill>
                  <a:srgbClr val="7A4F00"/>
                </a:solidFill>
              </a:rPr>
              <a:t>[INPUT REQUIRED] Customer and site</a:t>
            </a:r>
            <a:endParaRPr lang="en-US" sz="1000" dirty="0"/>
          </a:p>
        </p:txBody>
      </p:sp>
      <p:sp>
        <p:nvSpPr>
          <p:cNvPr id="12" name="Input placeholder"/>
          <p:cNvSpPr/>
          <p:nvPr/>
        </p:nvSpPr>
        <p:spPr>
          <a:xfrm>
            <a:off x="731520" y="2999232"/>
            <a:ext cx="3246120" cy="457200"/>
          </a:xfrm>
          <a:prstGeom prst="rect">
            <a:avLst/>
          </a:prstGeom>
          <a:solidFill>
            <a:srgbClr val="FFF4D6"/>
          </a:solidFill>
          <a:ln w="12700">
            <a:solidFill>
              <a:srgbClr val="F2A900"/>
            </a:solidFill>
            <a:prstDash val="dash"/>
          </a:ln>
        </p:spPr>
      </p:sp>
      <p:sp>
        <p:nvSpPr>
          <p:cNvPr id="13" name="Text 9"/>
          <p:cNvSpPr txBox="1"/>
          <p:nvPr/>
        </p:nvSpPr>
        <p:spPr>
          <a:xfrm>
            <a:off x="822960" y="2999232"/>
            <a:ext cx="3063240" cy="457200"/>
          </a:xfrm>
          <a:prstGeom prst="rect">
            <a:avLst/>
          </a:prstGeom>
          <a:noFill/>
          <a:ln/>
        </p:spPr>
        <p:txBody>
          <a:bodyPr wrap="square" lIns="0" tIns="0" rIns="0" bIns="0" rtlCol="0" anchor="ctr"/>
          <a:lstStyle/>
          <a:p>
            <a:pPr indent="0" marL="0">
              <a:buNone/>
            </a:pPr>
            <a:r>
              <a:rPr lang="en-US" sz="1000" i="1" dirty="0">
                <a:solidFill>
                  <a:srgbClr val="7A4F00"/>
                </a:solidFill>
              </a:rPr>
              <a:t>[INPUT REQUIRED] Beds, wards, devices installed</a:t>
            </a:r>
            <a:endParaRPr lang="en-US" sz="1000" dirty="0"/>
          </a:p>
        </p:txBody>
      </p:sp>
      <p:sp>
        <p:nvSpPr>
          <p:cNvPr id="14" name="Input placeholder"/>
          <p:cNvSpPr/>
          <p:nvPr/>
        </p:nvSpPr>
        <p:spPr>
          <a:xfrm>
            <a:off x="731520" y="3529584"/>
            <a:ext cx="3246120" cy="457200"/>
          </a:xfrm>
          <a:prstGeom prst="rect">
            <a:avLst/>
          </a:prstGeom>
          <a:solidFill>
            <a:srgbClr val="FFF4D6"/>
          </a:solidFill>
          <a:ln w="12700">
            <a:solidFill>
              <a:srgbClr val="F2A900"/>
            </a:solidFill>
            <a:prstDash val="dash"/>
          </a:ln>
        </p:spPr>
      </p:sp>
      <p:sp>
        <p:nvSpPr>
          <p:cNvPr id="15" name="Text 11"/>
          <p:cNvSpPr txBox="1"/>
          <p:nvPr/>
        </p:nvSpPr>
        <p:spPr>
          <a:xfrm>
            <a:off x="822960" y="3529584"/>
            <a:ext cx="3063240" cy="457200"/>
          </a:xfrm>
          <a:prstGeom prst="rect">
            <a:avLst/>
          </a:prstGeom>
          <a:noFill/>
          <a:ln/>
        </p:spPr>
        <p:txBody>
          <a:bodyPr wrap="square" lIns="0" tIns="0" rIns="0" bIns="0" rtlCol="0" anchor="ctr"/>
          <a:lstStyle/>
          <a:p>
            <a:pPr indent="0" marL="0">
              <a:buNone/>
            </a:pPr>
            <a:r>
              <a:rPr lang="en-US" sz="1000" i="1" dirty="0">
                <a:solidFill>
                  <a:srgbClr val="7A4F00"/>
                </a:solidFill>
              </a:rPr>
              <a:t>[INPUT REQUIRED] Period and measured outcome</a:t>
            </a:r>
            <a:endParaRPr lang="en-US" sz="1000" dirty="0"/>
          </a:p>
        </p:txBody>
      </p:sp>
      <p:sp>
        <p:nvSpPr>
          <p:cNvPr id="16" name="Input placeholder"/>
          <p:cNvSpPr/>
          <p:nvPr/>
        </p:nvSpPr>
        <p:spPr>
          <a:xfrm>
            <a:off x="731520" y="4059936"/>
            <a:ext cx="3246120" cy="640080"/>
          </a:xfrm>
          <a:prstGeom prst="rect">
            <a:avLst/>
          </a:prstGeom>
          <a:solidFill>
            <a:srgbClr val="FFF4D6"/>
          </a:solidFill>
          <a:ln w="12700">
            <a:solidFill>
              <a:srgbClr val="F2A900"/>
            </a:solidFill>
            <a:prstDash val="dash"/>
          </a:ln>
        </p:spPr>
      </p:sp>
      <p:sp>
        <p:nvSpPr>
          <p:cNvPr id="17" name="Text 13"/>
          <p:cNvSpPr txBox="1"/>
          <p:nvPr/>
        </p:nvSpPr>
        <p:spPr>
          <a:xfrm>
            <a:off x="822960" y="4059936"/>
            <a:ext cx="3063240" cy="640080"/>
          </a:xfrm>
          <a:prstGeom prst="rect">
            <a:avLst/>
          </a:prstGeom>
          <a:noFill/>
          <a:ln/>
        </p:spPr>
        <p:txBody>
          <a:bodyPr wrap="square" lIns="0" tIns="0" rIns="0" bIns="0" rtlCol="0" anchor="ctr"/>
          <a:lstStyle/>
          <a:p>
            <a:pPr indent="0" marL="0">
              <a:buNone/>
            </a:pPr>
            <a:r>
              <a:rPr lang="en-US" sz="1000" i="1" dirty="0">
                <a:solidFill>
                  <a:srgbClr val="7A4F00"/>
                </a:solidFill>
              </a:rPr>
              <a:t>[INPUT REQUIRED] Referee name, role, contact (consent obtained)</a:t>
            </a:r>
            <a:endParaRPr lang="en-US" sz="1000" dirty="0"/>
          </a:p>
        </p:txBody>
      </p:sp>
      <p:sp>
        <p:nvSpPr>
          <p:cNvPr id="18" name="Shape 14"/>
          <p:cNvSpPr/>
          <p:nvPr/>
        </p:nvSpPr>
        <p:spPr>
          <a:xfrm>
            <a:off x="4297680" y="1691640"/>
            <a:ext cx="3611880" cy="3154680"/>
          </a:xfrm>
          <a:prstGeom prst="rect">
            <a:avLst/>
          </a:prstGeom>
          <a:solidFill>
            <a:schemeClr val="bg2"/>
          </a:solidFill>
          <a:ln/>
        </p:spPr>
      </p:sp>
      <p:sp>
        <p:nvSpPr>
          <p:cNvPr id="19" name="Shape 15"/>
          <p:cNvSpPr/>
          <p:nvPr/>
        </p:nvSpPr>
        <p:spPr>
          <a:xfrm>
            <a:off x="4480560" y="1828800"/>
            <a:ext cx="457200" cy="457200"/>
          </a:xfrm>
          <a:prstGeom prst="ellipse">
            <a:avLst/>
          </a:prstGeom>
          <a:solidFill>
            <a:schemeClr val="accent1"/>
          </a:solidFill>
          <a:ln/>
        </p:spPr>
      </p:sp>
      <p:pic>
        <p:nvPicPr>
          <p:cNvPr id="20" name="Image 1" descr="preencoded.png">    </p:cNvPr>
          <p:cNvPicPr>
            <a:picLocks noChangeAspect="1"/>
          </p:cNvPicPr>
          <p:nvPr/>
        </p:nvPicPr>
        <p:blipFill>
          <a:blip r:embed="rId2"/>
          <a:stretch>
            <a:fillRect/>
          </a:stretch>
        </p:blipFill>
        <p:spPr>
          <a:xfrm>
            <a:off x="4594860" y="1943100"/>
            <a:ext cx="228600" cy="228600"/>
          </a:xfrm>
          <a:prstGeom prst="rect">
            <a:avLst/>
          </a:prstGeom>
        </p:spPr>
      </p:pic>
      <p:sp>
        <p:nvSpPr>
          <p:cNvPr id="21" name="Text 16"/>
          <p:cNvSpPr txBox="1"/>
          <p:nvPr/>
        </p:nvSpPr>
        <p:spPr>
          <a:xfrm>
            <a:off x="5074920" y="1828800"/>
            <a:ext cx="2651760" cy="457200"/>
          </a:xfrm>
          <a:prstGeom prst="rect">
            <a:avLst/>
          </a:prstGeom>
          <a:noFill/>
          <a:ln/>
        </p:spPr>
        <p:txBody>
          <a:bodyPr wrap="square" lIns="0" tIns="0" rIns="0" bIns="0" rtlCol="0" anchor="ctr"/>
          <a:lstStyle/>
          <a:p>
            <a:pPr indent="0" marL="0">
              <a:buNone/>
            </a:pPr>
            <a:r>
              <a:rPr lang="en-US" sz="1400" b="1" dirty="0">
                <a:solidFill>
                  <a:schemeClr val="tx2"/>
                </a:solidFill>
              </a:rPr>
              <a:t>Reference 2</a:t>
            </a:r>
            <a:endParaRPr lang="en-US" sz="1400" dirty="0"/>
          </a:p>
        </p:txBody>
      </p:sp>
      <p:sp>
        <p:nvSpPr>
          <p:cNvPr id="22" name="Input placeholder"/>
          <p:cNvSpPr/>
          <p:nvPr/>
        </p:nvSpPr>
        <p:spPr>
          <a:xfrm>
            <a:off x="4480560" y="2468880"/>
            <a:ext cx="3246120" cy="457200"/>
          </a:xfrm>
          <a:prstGeom prst="rect">
            <a:avLst/>
          </a:prstGeom>
          <a:solidFill>
            <a:srgbClr val="FFF4D6"/>
          </a:solidFill>
          <a:ln w="12700">
            <a:solidFill>
              <a:srgbClr val="F2A900"/>
            </a:solidFill>
            <a:prstDash val="dash"/>
          </a:ln>
        </p:spPr>
      </p:sp>
      <p:sp>
        <p:nvSpPr>
          <p:cNvPr id="23" name="Text 18"/>
          <p:cNvSpPr txBox="1"/>
          <p:nvPr/>
        </p:nvSpPr>
        <p:spPr>
          <a:xfrm>
            <a:off x="4572000" y="2468880"/>
            <a:ext cx="3063240" cy="457200"/>
          </a:xfrm>
          <a:prstGeom prst="rect">
            <a:avLst/>
          </a:prstGeom>
          <a:noFill/>
          <a:ln/>
        </p:spPr>
        <p:txBody>
          <a:bodyPr wrap="square" lIns="0" tIns="0" rIns="0" bIns="0" rtlCol="0" anchor="ctr"/>
          <a:lstStyle/>
          <a:p>
            <a:pPr indent="0" marL="0">
              <a:buNone/>
            </a:pPr>
            <a:r>
              <a:rPr lang="en-US" sz="1000" i="1" dirty="0">
                <a:solidFill>
                  <a:srgbClr val="7A4F00"/>
                </a:solidFill>
              </a:rPr>
              <a:t>[INPUT REQUIRED] Customer and site</a:t>
            </a:r>
            <a:endParaRPr lang="en-US" sz="1000" dirty="0"/>
          </a:p>
        </p:txBody>
      </p:sp>
      <p:sp>
        <p:nvSpPr>
          <p:cNvPr id="24" name="Input placeholder"/>
          <p:cNvSpPr/>
          <p:nvPr/>
        </p:nvSpPr>
        <p:spPr>
          <a:xfrm>
            <a:off x="4480560" y="2999232"/>
            <a:ext cx="3246120" cy="457200"/>
          </a:xfrm>
          <a:prstGeom prst="rect">
            <a:avLst/>
          </a:prstGeom>
          <a:solidFill>
            <a:srgbClr val="FFF4D6"/>
          </a:solidFill>
          <a:ln w="12700">
            <a:solidFill>
              <a:srgbClr val="F2A900"/>
            </a:solidFill>
            <a:prstDash val="dash"/>
          </a:ln>
        </p:spPr>
      </p:sp>
      <p:sp>
        <p:nvSpPr>
          <p:cNvPr id="25" name="Text 20"/>
          <p:cNvSpPr txBox="1"/>
          <p:nvPr/>
        </p:nvSpPr>
        <p:spPr>
          <a:xfrm>
            <a:off x="4572000" y="2999232"/>
            <a:ext cx="3063240" cy="457200"/>
          </a:xfrm>
          <a:prstGeom prst="rect">
            <a:avLst/>
          </a:prstGeom>
          <a:noFill/>
          <a:ln/>
        </p:spPr>
        <p:txBody>
          <a:bodyPr wrap="square" lIns="0" tIns="0" rIns="0" bIns="0" rtlCol="0" anchor="ctr"/>
          <a:lstStyle/>
          <a:p>
            <a:pPr indent="0" marL="0">
              <a:buNone/>
            </a:pPr>
            <a:r>
              <a:rPr lang="en-US" sz="1000" i="1" dirty="0">
                <a:solidFill>
                  <a:srgbClr val="7A4F00"/>
                </a:solidFill>
              </a:rPr>
              <a:t>[INPUT REQUIRED] Beds, wards, devices installed</a:t>
            </a:r>
            <a:endParaRPr lang="en-US" sz="1000" dirty="0"/>
          </a:p>
        </p:txBody>
      </p:sp>
      <p:sp>
        <p:nvSpPr>
          <p:cNvPr id="26" name="Input placeholder"/>
          <p:cNvSpPr/>
          <p:nvPr/>
        </p:nvSpPr>
        <p:spPr>
          <a:xfrm>
            <a:off x="4480560" y="3529584"/>
            <a:ext cx="3246120" cy="457200"/>
          </a:xfrm>
          <a:prstGeom prst="rect">
            <a:avLst/>
          </a:prstGeom>
          <a:solidFill>
            <a:srgbClr val="FFF4D6"/>
          </a:solidFill>
          <a:ln w="12700">
            <a:solidFill>
              <a:srgbClr val="F2A900"/>
            </a:solidFill>
            <a:prstDash val="dash"/>
          </a:ln>
        </p:spPr>
      </p:sp>
      <p:sp>
        <p:nvSpPr>
          <p:cNvPr id="27" name="Text 22"/>
          <p:cNvSpPr txBox="1"/>
          <p:nvPr/>
        </p:nvSpPr>
        <p:spPr>
          <a:xfrm>
            <a:off x="4572000" y="3529584"/>
            <a:ext cx="3063240" cy="457200"/>
          </a:xfrm>
          <a:prstGeom prst="rect">
            <a:avLst/>
          </a:prstGeom>
          <a:noFill/>
          <a:ln/>
        </p:spPr>
        <p:txBody>
          <a:bodyPr wrap="square" lIns="0" tIns="0" rIns="0" bIns="0" rtlCol="0" anchor="ctr"/>
          <a:lstStyle/>
          <a:p>
            <a:pPr indent="0" marL="0">
              <a:buNone/>
            </a:pPr>
            <a:r>
              <a:rPr lang="en-US" sz="1000" i="1" dirty="0">
                <a:solidFill>
                  <a:srgbClr val="7A4F00"/>
                </a:solidFill>
              </a:rPr>
              <a:t>[INPUT REQUIRED] Period and measured outcome</a:t>
            </a:r>
            <a:endParaRPr lang="en-US" sz="1000" dirty="0"/>
          </a:p>
        </p:txBody>
      </p:sp>
      <p:sp>
        <p:nvSpPr>
          <p:cNvPr id="28" name="Input placeholder"/>
          <p:cNvSpPr/>
          <p:nvPr/>
        </p:nvSpPr>
        <p:spPr>
          <a:xfrm>
            <a:off x="4480560" y="4059936"/>
            <a:ext cx="3246120" cy="640080"/>
          </a:xfrm>
          <a:prstGeom prst="rect">
            <a:avLst/>
          </a:prstGeom>
          <a:solidFill>
            <a:srgbClr val="FFF4D6"/>
          </a:solidFill>
          <a:ln w="12700">
            <a:solidFill>
              <a:srgbClr val="F2A900"/>
            </a:solidFill>
            <a:prstDash val="dash"/>
          </a:ln>
        </p:spPr>
      </p:sp>
      <p:sp>
        <p:nvSpPr>
          <p:cNvPr id="29" name="Text 24"/>
          <p:cNvSpPr txBox="1"/>
          <p:nvPr/>
        </p:nvSpPr>
        <p:spPr>
          <a:xfrm>
            <a:off x="4572000" y="4059936"/>
            <a:ext cx="3063240" cy="640080"/>
          </a:xfrm>
          <a:prstGeom prst="rect">
            <a:avLst/>
          </a:prstGeom>
          <a:noFill/>
          <a:ln/>
        </p:spPr>
        <p:txBody>
          <a:bodyPr wrap="square" lIns="0" tIns="0" rIns="0" bIns="0" rtlCol="0" anchor="ctr"/>
          <a:lstStyle/>
          <a:p>
            <a:pPr indent="0" marL="0">
              <a:buNone/>
            </a:pPr>
            <a:r>
              <a:rPr lang="en-US" sz="1000" i="1" dirty="0">
                <a:solidFill>
                  <a:srgbClr val="7A4F00"/>
                </a:solidFill>
              </a:rPr>
              <a:t>[INPUT REQUIRED] Referee name, role, contact (consent obtained)</a:t>
            </a:r>
            <a:endParaRPr lang="en-US" sz="1000" dirty="0"/>
          </a:p>
        </p:txBody>
      </p:sp>
      <p:sp>
        <p:nvSpPr>
          <p:cNvPr id="30" name="Shape 25"/>
          <p:cNvSpPr/>
          <p:nvPr/>
        </p:nvSpPr>
        <p:spPr>
          <a:xfrm>
            <a:off x="8046720" y="1691640"/>
            <a:ext cx="3611880" cy="3154680"/>
          </a:xfrm>
          <a:prstGeom prst="rect">
            <a:avLst/>
          </a:prstGeom>
          <a:solidFill>
            <a:schemeClr val="bg2"/>
          </a:solidFill>
          <a:ln/>
        </p:spPr>
      </p:sp>
      <p:sp>
        <p:nvSpPr>
          <p:cNvPr id="31" name="Shape 26"/>
          <p:cNvSpPr/>
          <p:nvPr/>
        </p:nvSpPr>
        <p:spPr>
          <a:xfrm>
            <a:off x="8229600" y="1828800"/>
            <a:ext cx="457200" cy="457200"/>
          </a:xfrm>
          <a:prstGeom prst="ellipse">
            <a:avLst/>
          </a:prstGeom>
          <a:solidFill>
            <a:schemeClr val="tx2"/>
          </a:solidFill>
          <a:ln/>
        </p:spPr>
      </p:sp>
      <p:pic>
        <p:nvPicPr>
          <p:cNvPr id="32" name="Image 2" descr="preencoded.png">    </p:cNvPr>
          <p:cNvPicPr>
            <a:picLocks noChangeAspect="1"/>
          </p:cNvPicPr>
          <p:nvPr/>
        </p:nvPicPr>
        <p:blipFill>
          <a:blip r:embed="rId3"/>
          <a:stretch>
            <a:fillRect/>
          </a:stretch>
        </p:blipFill>
        <p:spPr>
          <a:xfrm>
            <a:off x="8343900" y="1943100"/>
            <a:ext cx="228600" cy="228600"/>
          </a:xfrm>
          <a:prstGeom prst="rect">
            <a:avLst/>
          </a:prstGeom>
        </p:spPr>
      </p:pic>
      <p:sp>
        <p:nvSpPr>
          <p:cNvPr id="33" name="Text 27"/>
          <p:cNvSpPr txBox="1"/>
          <p:nvPr/>
        </p:nvSpPr>
        <p:spPr>
          <a:xfrm>
            <a:off x="8823960" y="1828800"/>
            <a:ext cx="2651760" cy="457200"/>
          </a:xfrm>
          <a:prstGeom prst="rect">
            <a:avLst/>
          </a:prstGeom>
          <a:noFill/>
          <a:ln/>
        </p:spPr>
        <p:txBody>
          <a:bodyPr wrap="square" lIns="0" tIns="0" rIns="0" bIns="0" rtlCol="0" anchor="ctr"/>
          <a:lstStyle/>
          <a:p>
            <a:pPr indent="0" marL="0">
              <a:buNone/>
            </a:pPr>
            <a:r>
              <a:rPr lang="en-US" sz="1400" b="1" dirty="0">
                <a:solidFill>
                  <a:schemeClr val="tx2"/>
                </a:solidFill>
              </a:rPr>
              <a:t>Reference 3</a:t>
            </a:r>
            <a:endParaRPr lang="en-US" sz="1400" dirty="0"/>
          </a:p>
        </p:txBody>
      </p:sp>
      <p:sp>
        <p:nvSpPr>
          <p:cNvPr id="34" name="Input placeholder"/>
          <p:cNvSpPr/>
          <p:nvPr/>
        </p:nvSpPr>
        <p:spPr>
          <a:xfrm>
            <a:off x="8229600" y="2468880"/>
            <a:ext cx="3246120" cy="457200"/>
          </a:xfrm>
          <a:prstGeom prst="rect">
            <a:avLst/>
          </a:prstGeom>
          <a:solidFill>
            <a:srgbClr val="FFF4D6"/>
          </a:solidFill>
          <a:ln w="12700">
            <a:solidFill>
              <a:srgbClr val="F2A900"/>
            </a:solidFill>
            <a:prstDash val="dash"/>
          </a:ln>
        </p:spPr>
      </p:sp>
      <p:sp>
        <p:nvSpPr>
          <p:cNvPr id="35" name="Text 29"/>
          <p:cNvSpPr txBox="1"/>
          <p:nvPr/>
        </p:nvSpPr>
        <p:spPr>
          <a:xfrm>
            <a:off x="8321040" y="2468880"/>
            <a:ext cx="3063240" cy="457200"/>
          </a:xfrm>
          <a:prstGeom prst="rect">
            <a:avLst/>
          </a:prstGeom>
          <a:noFill/>
          <a:ln/>
        </p:spPr>
        <p:txBody>
          <a:bodyPr wrap="square" lIns="0" tIns="0" rIns="0" bIns="0" rtlCol="0" anchor="ctr"/>
          <a:lstStyle/>
          <a:p>
            <a:pPr indent="0" marL="0">
              <a:buNone/>
            </a:pPr>
            <a:r>
              <a:rPr lang="en-US" sz="1000" i="1" dirty="0">
                <a:solidFill>
                  <a:srgbClr val="7A4F00"/>
                </a:solidFill>
              </a:rPr>
              <a:t>[INPUT REQUIRED] Customer and site</a:t>
            </a:r>
            <a:endParaRPr lang="en-US" sz="1000" dirty="0"/>
          </a:p>
        </p:txBody>
      </p:sp>
      <p:sp>
        <p:nvSpPr>
          <p:cNvPr id="36" name="Input placeholder"/>
          <p:cNvSpPr/>
          <p:nvPr/>
        </p:nvSpPr>
        <p:spPr>
          <a:xfrm>
            <a:off x="8229600" y="2999232"/>
            <a:ext cx="3246120" cy="457200"/>
          </a:xfrm>
          <a:prstGeom prst="rect">
            <a:avLst/>
          </a:prstGeom>
          <a:solidFill>
            <a:srgbClr val="FFF4D6"/>
          </a:solidFill>
          <a:ln w="12700">
            <a:solidFill>
              <a:srgbClr val="F2A900"/>
            </a:solidFill>
            <a:prstDash val="dash"/>
          </a:ln>
        </p:spPr>
      </p:sp>
      <p:sp>
        <p:nvSpPr>
          <p:cNvPr id="37" name="Text 31"/>
          <p:cNvSpPr txBox="1"/>
          <p:nvPr/>
        </p:nvSpPr>
        <p:spPr>
          <a:xfrm>
            <a:off x="8321040" y="2999232"/>
            <a:ext cx="3063240" cy="457200"/>
          </a:xfrm>
          <a:prstGeom prst="rect">
            <a:avLst/>
          </a:prstGeom>
          <a:noFill/>
          <a:ln/>
        </p:spPr>
        <p:txBody>
          <a:bodyPr wrap="square" lIns="0" tIns="0" rIns="0" bIns="0" rtlCol="0" anchor="ctr"/>
          <a:lstStyle/>
          <a:p>
            <a:pPr indent="0" marL="0">
              <a:buNone/>
            </a:pPr>
            <a:r>
              <a:rPr lang="en-US" sz="1000" i="1" dirty="0">
                <a:solidFill>
                  <a:srgbClr val="7A4F00"/>
                </a:solidFill>
              </a:rPr>
              <a:t>[INPUT REQUIRED] Beds, wards, devices installed</a:t>
            </a:r>
            <a:endParaRPr lang="en-US" sz="1000" dirty="0"/>
          </a:p>
        </p:txBody>
      </p:sp>
      <p:sp>
        <p:nvSpPr>
          <p:cNvPr id="38" name="Input placeholder"/>
          <p:cNvSpPr/>
          <p:nvPr/>
        </p:nvSpPr>
        <p:spPr>
          <a:xfrm>
            <a:off x="8229600" y="3529584"/>
            <a:ext cx="3246120" cy="457200"/>
          </a:xfrm>
          <a:prstGeom prst="rect">
            <a:avLst/>
          </a:prstGeom>
          <a:solidFill>
            <a:srgbClr val="FFF4D6"/>
          </a:solidFill>
          <a:ln w="12700">
            <a:solidFill>
              <a:srgbClr val="F2A900"/>
            </a:solidFill>
            <a:prstDash val="dash"/>
          </a:ln>
        </p:spPr>
      </p:sp>
      <p:sp>
        <p:nvSpPr>
          <p:cNvPr id="39" name="Text 33"/>
          <p:cNvSpPr txBox="1"/>
          <p:nvPr/>
        </p:nvSpPr>
        <p:spPr>
          <a:xfrm>
            <a:off x="8321040" y="3529584"/>
            <a:ext cx="3063240" cy="457200"/>
          </a:xfrm>
          <a:prstGeom prst="rect">
            <a:avLst/>
          </a:prstGeom>
          <a:noFill/>
          <a:ln/>
        </p:spPr>
        <p:txBody>
          <a:bodyPr wrap="square" lIns="0" tIns="0" rIns="0" bIns="0" rtlCol="0" anchor="ctr"/>
          <a:lstStyle/>
          <a:p>
            <a:pPr indent="0" marL="0">
              <a:buNone/>
            </a:pPr>
            <a:r>
              <a:rPr lang="en-US" sz="1000" i="1" dirty="0">
                <a:solidFill>
                  <a:srgbClr val="7A4F00"/>
                </a:solidFill>
              </a:rPr>
              <a:t>[INPUT REQUIRED] Period and measured outcome</a:t>
            </a:r>
            <a:endParaRPr lang="en-US" sz="1000" dirty="0"/>
          </a:p>
        </p:txBody>
      </p:sp>
      <p:sp>
        <p:nvSpPr>
          <p:cNvPr id="40" name="Input placeholder"/>
          <p:cNvSpPr/>
          <p:nvPr/>
        </p:nvSpPr>
        <p:spPr>
          <a:xfrm>
            <a:off x="8229600" y="4059936"/>
            <a:ext cx="3246120" cy="640080"/>
          </a:xfrm>
          <a:prstGeom prst="rect">
            <a:avLst/>
          </a:prstGeom>
          <a:solidFill>
            <a:srgbClr val="FFF4D6"/>
          </a:solidFill>
          <a:ln w="12700">
            <a:solidFill>
              <a:srgbClr val="F2A900"/>
            </a:solidFill>
            <a:prstDash val="dash"/>
          </a:ln>
        </p:spPr>
      </p:sp>
      <p:sp>
        <p:nvSpPr>
          <p:cNvPr id="41" name="Text 35"/>
          <p:cNvSpPr txBox="1"/>
          <p:nvPr/>
        </p:nvSpPr>
        <p:spPr>
          <a:xfrm>
            <a:off x="8321040" y="4059936"/>
            <a:ext cx="3063240" cy="640080"/>
          </a:xfrm>
          <a:prstGeom prst="rect">
            <a:avLst/>
          </a:prstGeom>
          <a:noFill/>
          <a:ln/>
        </p:spPr>
        <p:txBody>
          <a:bodyPr wrap="square" lIns="0" tIns="0" rIns="0" bIns="0" rtlCol="0" anchor="ctr"/>
          <a:lstStyle/>
          <a:p>
            <a:pPr indent="0" marL="0">
              <a:buNone/>
            </a:pPr>
            <a:r>
              <a:rPr lang="en-US" sz="1000" i="1" dirty="0">
                <a:solidFill>
                  <a:srgbClr val="7A4F00"/>
                </a:solidFill>
              </a:rPr>
              <a:t>[INPUT REQUIRED] Referee name, role, contact (consent obtained)</a:t>
            </a:r>
            <a:endParaRPr lang="en-US" sz="1000" dirty="0"/>
          </a:p>
        </p:txBody>
      </p:sp>
      <p:sp>
        <p:nvSpPr>
          <p:cNvPr id="42" name="Proposed response"/>
          <p:cNvSpPr/>
          <p:nvPr/>
        </p:nvSpPr>
        <p:spPr>
          <a:xfrm>
            <a:off x="548640" y="5029200"/>
            <a:ext cx="11091672" cy="1005840"/>
          </a:xfrm>
          <a:prstGeom prst="rect">
            <a:avLst/>
          </a:prstGeom>
          <a:solidFill>
            <a:srgbClr val="E6F6F7"/>
          </a:solidFill>
          <a:ln w="12700">
            <a:solidFill>
              <a:srgbClr val="00A3AD"/>
            </a:solidFill>
            <a:prstDash val="dash"/>
          </a:ln>
        </p:spPr>
      </p:sp>
      <p:sp>
        <p:nvSpPr>
          <p:cNvPr id="43" name="Text 37"/>
          <p:cNvSpPr txBox="1"/>
          <p:nvPr/>
        </p:nvSpPr>
        <p:spPr>
          <a:xfrm>
            <a:off x="640080" y="5029200"/>
            <a:ext cx="10908792" cy="1005840"/>
          </a:xfrm>
          <a:prstGeom prst="rect">
            <a:avLst/>
          </a:prstGeom>
          <a:noFill/>
          <a:ln/>
        </p:spPr>
        <p:txBody>
          <a:bodyPr wrap="square" lIns="0" tIns="0" rIns="0" bIns="0" rtlCol="0" anchor="ctr"/>
          <a:lstStyle/>
          <a:p>
            <a:pPr indent="0" marL="0">
              <a:buNone/>
            </a:pPr>
            <a:r>
              <a:rPr lang="en-US" sz="1200" b="1" dirty="0">
                <a:solidFill>
                  <a:srgbClr val="0B6F76"/>
                </a:solidFill>
              </a:rPr>
              <a:t>PROPOSED  </a:t>
            </a:r>
            <a:pPr indent="0" marL="0">
              <a:buNone/>
            </a:pPr>
            <a:r>
              <a:rPr lang="en-US" sz="1200" dirty="0">
                <a:solidFill>
                  <a:srgbClr val="1F2937"/>
                </a:solidFill>
              </a:rPr>
              <a:t>Reference mix: (1) an acute hospital ward deployment, (2) a long-term-care or nursing-home deployment, (3) a deployment integrated with hospital Wi-Fi. For each, MONIT provides scale, go-live date, measured results and a referee contactable by KTPH procurement.</a:t>
            </a:r>
            <a:endParaRPr lang="en-US" sz="12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7 · SUSTAINABILITY INITIATIVES</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MONIT answers each of the four sustainability criteria with evidence in the format KTPH procurement asks for</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RFP sustainability criteria; ALPS ISO14000-certified environment (Section 1, clause 19); product facts from Master Agreement Schedule 3.</a:t>
            </a:r>
            <a:endParaRPr lang="en-US" sz="900" dirty="0"/>
          </a:p>
        </p:txBody>
      </p:sp>
      <p:sp>
        <p:nvSpPr>
          <p:cNvPr id="6" name="Shape 3"/>
          <p:cNvSpPr/>
          <p:nvPr/>
        </p:nvSpPr>
        <p:spPr>
          <a:xfrm>
            <a:off x="548640" y="1691640"/>
            <a:ext cx="5468112" cy="2103120"/>
          </a:xfrm>
          <a:prstGeom prst="rect">
            <a:avLst/>
          </a:prstGeom>
          <a:solidFill>
            <a:schemeClr val="bg2"/>
          </a:solidFill>
          <a:ln/>
        </p:spPr>
      </p:sp>
      <p:sp>
        <p:nvSpPr>
          <p:cNvPr id="7" name="Shape 4"/>
          <p:cNvSpPr/>
          <p:nvPr/>
        </p:nvSpPr>
        <p:spPr>
          <a:xfrm>
            <a:off x="731520" y="1828800"/>
            <a:ext cx="457200" cy="457200"/>
          </a:xfrm>
          <a:prstGeom prst="ellipse">
            <a:avLst/>
          </a:prstGeom>
          <a:solidFill>
            <a:schemeClr val="accent5"/>
          </a:solidFill>
          <a:ln/>
        </p:spPr>
      </p:sp>
      <p:pic>
        <p:nvPicPr>
          <p:cNvPr id="8" name="Image 0" descr="preencoded.png">    </p:cNvPr>
          <p:cNvPicPr>
            <a:picLocks noChangeAspect="1"/>
          </p:cNvPicPr>
          <p:nvPr/>
        </p:nvPicPr>
        <p:blipFill>
          <a:blip r:embed="rId1"/>
          <a:stretch>
            <a:fillRect/>
          </a:stretch>
        </p:blipFill>
        <p:spPr>
          <a:xfrm>
            <a:off x="845820" y="1943100"/>
            <a:ext cx="228600" cy="228600"/>
          </a:xfrm>
          <a:prstGeom prst="rect">
            <a:avLst/>
          </a:prstGeom>
        </p:spPr>
      </p:pic>
      <p:sp>
        <p:nvSpPr>
          <p:cNvPr id="9" name="Text 5"/>
          <p:cNvSpPr txBox="1"/>
          <p:nvPr/>
        </p:nvSpPr>
        <p:spPr>
          <a:xfrm>
            <a:off x="1325880" y="1828800"/>
            <a:ext cx="4480560" cy="457200"/>
          </a:xfrm>
          <a:prstGeom prst="rect">
            <a:avLst/>
          </a:prstGeom>
          <a:noFill/>
          <a:ln/>
        </p:spPr>
        <p:txBody>
          <a:bodyPr wrap="square" lIns="0" tIns="0" rIns="0" bIns="0" rtlCol="0" anchor="ctr"/>
          <a:lstStyle/>
          <a:p>
            <a:pPr indent="0" marL="0">
              <a:buNone/>
            </a:pPr>
            <a:r>
              <a:rPr lang="en-US" sz="1400" b="1" dirty="0">
                <a:solidFill>
                  <a:schemeClr val="tx2"/>
                </a:solidFill>
              </a:rPr>
              <a:t>Renewable energy</a:t>
            </a:r>
            <a:endParaRPr lang="en-US" sz="1400" dirty="0"/>
          </a:p>
        </p:txBody>
      </p:sp>
      <p:sp>
        <p:nvSpPr>
          <p:cNvPr id="10" name="Proposed response"/>
          <p:cNvSpPr/>
          <p:nvPr/>
        </p:nvSpPr>
        <p:spPr>
          <a:xfrm>
            <a:off x="731520" y="2404872"/>
            <a:ext cx="5102352" cy="731520"/>
          </a:xfrm>
          <a:prstGeom prst="rect">
            <a:avLst/>
          </a:prstGeom>
          <a:solidFill>
            <a:srgbClr val="E6F6F7"/>
          </a:solidFill>
          <a:ln w="12700">
            <a:solidFill>
              <a:srgbClr val="00A3AD"/>
            </a:solidFill>
            <a:prstDash val="dash"/>
          </a:ln>
        </p:spPr>
      </p:sp>
      <p:sp>
        <p:nvSpPr>
          <p:cNvPr id="11" name="Text 7"/>
          <p:cNvSpPr txBox="1"/>
          <p:nvPr/>
        </p:nvSpPr>
        <p:spPr>
          <a:xfrm>
            <a:off x="822960" y="2404872"/>
            <a:ext cx="4919472" cy="731520"/>
          </a:xfrm>
          <a:prstGeom prst="rect">
            <a:avLst/>
          </a:prstGeom>
          <a:noFill/>
          <a:ln/>
        </p:spPr>
        <p:txBody>
          <a:bodyPr wrap="square" lIns="0" tIns="0" rIns="0" bIns="0" rtlCol="0" anchor="ctr"/>
          <a:lstStyle/>
          <a:p>
            <a:pPr indent="0" marL="0">
              <a:buNone/>
            </a:pPr>
            <a:r>
              <a:rPr lang="en-US" sz="1000" b="1" dirty="0">
                <a:solidFill>
                  <a:srgbClr val="0B6F76"/>
                </a:solidFill>
              </a:rPr>
              <a:t>PROPOSED  </a:t>
            </a:r>
            <a:pPr indent="0" marL="0">
              <a:buNone/>
            </a:pPr>
            <a:r>
              <a:rPr lang="en-US" sz="1000" dirty="0">
                <a:solidFill>
                  <a:srgbClr val="1F2937"/>
                </a:solidFill>
              </a:rPr>
              <a:t>Evidence: Share of operations on renewable energy, e.g. solar kWh per year or green-power contract.</a:t>
            </a:r>
            <a:endParaRPr lang="en-US" sz="1000" dirty="0"/>
          </a:p>
        </p:txBody>
      </p:sp>
      <p:sp>
        <p:nvSpPr>
          <p:cNvPr id="12" name="Input placeholder"/>
          <p:cNvSpPr/>
          <p:nvPr/>
        </p:nvSpPr>
        <p:spPr>
          <a:xfrm>
            <a:off x="731520" y="3200400"/>
            <a:ext cx="5102352" cy="457200"/>
          </a:xfrm>
          <a:prstGeom prst="rect">
            <a:avLst/>
          </a:prstGeom>
          <a:solidFill>
            <a:srgbClr val="FFF4D6"/>
          </a:solidFill>
          <a:ln w="12700">
            <a:solidFill>
              <a:srgbClr val="F2A900"/>
            </a:solidFill>
            <a:prstDash val="dash"/>
          </a:ln>
        </p:spPr>
      </p:sp>
      <p:sp>
        <p:nvSpPr>
          <p:cNvPr id="13" name="Text 9"/>
          <p:cNvSpPr txBox="1"/>
          <p:nvPr/>
        </p:nvSpPr>
        <p:spPr>
          <a:xfrm>
            <a:off x="822960" y="3200400"/>
            <a:ext cx="4919472" cy="457200"/>
          </a:xfrm>
          <a:prstGeom prst="rect">
            <a:avLst/>
          </a:prstGeom>
          <a:noFill/>
          <a:ln/>
        </p:spPr>
        <p:txBody>
          <a:bodyPr wrap="square" lIns="0" tIns="0" rIns="0" bIns="0" rtlCol="0" anchor="ctr"/>
          <a:lstStyle/>
          <a:p>
            <a:pPr indent="0" marL="0">
              <a:buNone/>
            </a:pPr>
            <a:r>
              <a:rPr lang="en-US" sz="1000" i="1" dirty="0">
                <a:solidFill>
                  <a:srgbClr val="7A4F00"/>
                </a:solidFill>
              </a:rPr>
              <a:t>[INPUT REQUIRED] MONIT's current position and supporting document</a:t>
            </a:r>
            <a:endParaRPr lang="en-US" sz="1000" dirty="0"/>
          </a:p>
        </p:txBody>
      </p:sp>
      <p:sp>
        <p:nvSpPr>
          <p:cNvPr id="14" name="Shape 10"/>
          <p:cNvSpPr/>
          <p:nvPr/>
        </p:nvSpPr>
        <p:spPr>
          <a:xfrm>
            <a:off x="6172200" y="1691640"/>
            <a:ext cx="5468112" cy="2103120"/>
          </a:xfrm>
          <a:prstGeom prst="rect">
            <a:avLst/>
          </a:prstGeom>
          <a:solidFill>
            <a:schemeClr val="bg2"/>
          </a:solidFill>
          <a:ln/>
        </p:spPr>
      </p:sp>
      <p:sp>
        <p:nvSpPr>
          <p:cNvPr id="15" name="Shape 11"/>
          <p:cNvSpPr/>
          <p:nvPr/>
        </p:nvSpPr>
        <p:spPr>
          <a:xfrm>
            <a:off x="6355080" y="1828800"/>
            <a:ext cx="457200" cy="457200"/>
          </a:xfrm>
          <a:prstGeom prst="ellipse">
            <a:avLst/>
          </a:prstGeom>
          <a:solidFill>
            <a:schemeClr val="accent5"/>
          </a:solidFill>
          <a:ln/>
        </p:spPr>
      </p:sp>
      <p:pic>
        <p:nvPicPr>
          <p:cNvPr id="16" name="Image 1" descr="preencoded.png">    </p:cNvPr>
          <p:cNvPicPr>
            <a:picLocks noChangeAspect="1"/>
          </p:cNvPicPr>
          <p:nvPr/>
        </p:nvPicPr>
        <p:blipFill>
          <a:blip r:embed="rId2"/>
          <a:stretch>
            <a:fillRect/>
          </a:stretch>
        </p:blipFill>
        <p:spPr>
          <a:xfrm>
            <a:off x="6469380" y="1943100"/>
            <a:ext cx="228600" cy="228600"/>
          </a:xfrm>
          <a:prstGeom prst="rect">
            <a:avLst/>
          </a:prstGeom>
        </p:spPr>
      </p:pic>
      <p:sp>
        <p:nvSpPr>
          <p:cNvPr id="17" name="Text 12"/>
          <p:cNvSpPr txBox="1"/>
          <p:nvPr/>
        </p:nvSpPr>
        <p:spPr>
          <a:xfrm>
            <a:off x="6949440" y="1828800"/>
            <a:ext cx="4480560" cy="457200"/>
          </a:xfrm>
          <a:prstGeom prst="rect">
            <a:avLst/>
          </a:prstGeom>
          <a:noFill/>
          <a:ln/>
        </p:spPr>
        <p:txBody>
          <a:bodyPr wrap="square" lIns="0" tIns="0" rIns="0" bIns="0" rtlCol="0" anchor="ctr"/>
          <a:lstStyle/>
          <a:p>
            <a:pPr indent="0" marL="0">
              <a:buNone/>
            </a:pPr>
            <a:r>
              <a:rPr lang="en-US" sz="1400" b="1" dirty="0">
                <a:solidFill>
                  <a:schemeClr val="tx2"/>
                </a:solidFill>
              </a:rPr>
              <a:t>Energy tracking</a:t>
            </a:r>
            <a:endParaRPr lang="en-US" sz="1400" dirty="0"/>
          </a:p>
        </p:txBody>
      </p:sp>
      <p:sp>
        <p:nvSpPr>
          <p:cNvPr id="18" name="Proposed response"/>
          <p:cNvSpPr/>
          <p:nvPr/>
        </p:nvSpPr>
        <p:spPr>
          <a:xfrm>
            <a:off x="6355080" y="2404872"/>
            <a:ext cx="5102352" cy="731520"/>
          </a:xfrm>
          <a:prstGeom prst="rect">
            <a:avLst/>
          </a:prstGeom>
          <a:solidFill>
            <a:srgbClr val="E6F6F7"/>
          </a:solidFill>
          <a:ln w="12700">
            <a:solidFill>
              <a:srgbClr val="00A3AD"/>
            </a:solidFill>
            <a:prstDash val="dash"/>
          </a:ln>
        </p:spPr>
      </p:sp>
      <p:sp>
        <p:nvSpPr>
          <p:cNvPr id="19" name="Text 14"/>
          <p:cNvSpPr txBox="1"/>
          <p:nvPr/>
        </p:nvSpPr>
        <p:spPr>
          <a:xfrm>
            <a:off x="6446520" y="2404872"/>
            <a:ext cx="4919472" cy="731520"/>
          </a:xfrm>
          <a:prstGeom prst="rect">
            <a:avLst/>
          </a:prstGeom>
          <a:noFill/>
          <a:ln/>
        </p:spPr>
        <p:txBody>
          <a:bodyPr wrap="square" lIns="0" tIns="0" rIns="0" bIns="0" rtlCol="0" anchor="ctr"/>
          <a:lstStyle/>
          <a:p>
            <a:pPr indent="0" marL="0">
              <a:buNone/>
            </a:pPr>
            <a:r>
              <a:rPr lang="en-US" sz="1000" b="1" dirty="0">
                <a:solidFill>
                  <a:srgbClr val="0B6F76"/>
                </a:solidFill>
              </a:rPr>
              <a:t>PROPOSED  </a:t>
            </a:r>
            <a:pPr indent="0" marL="0">
              <a:buNone/>
            </a:pPr>
            <a:r>
              <a:rPr lang="en-US" sz="1000" dirty="0">
                <a:solidFill>
                  <a:srgbClr val="1F2937"/>
                </a:solidFill>
              </a:rPr>
              <a:t>Evidence: Annual energy use of offices and factories, how it is metered, and any reduction target.</a:t>
            </a:r>
            <a:endParaRPr lang="en-US" sz="1000" dirty="0"/>
          </a:p>
        </p:txBody>
      </p:sp>
      <p:sp>
        <p:nvSpPr>
          <p:cNvPr id="20" name="Input placeholder"/>
          <p:cNvSpPr/>
          <p:nvPr/>
        </p:nvSpPr>
        <p:spPr>
          <a:xfrm>
            <a:off x="6355080" y="3200400"/>
            <a:ext cx="5102352" cy="457200"/>
          </a:xfrm>
          <a:prstGeom prst="rect">
            <a:avLst/>
          </a:prstGeom>
          <a:solidFill>
            <a:srgbClr val="FFF4D6"/>
          </a:solidFill>
          <a:ln w="12700">
            <a:solidFill>
              <a:srgbClr val="F2A900"/>
            </a:solidFill>
            <a:prstDash val="dash"/>
          </a:ln>
        </p:spPr>
      </p:sp>
      <p:sp>
        <p:nvSpPr>
          <p:cNvPr id="21" name="Text 16"/>
          <p:cNvSpPr txBox="1"/>
          <p:nvPr/>
        </p:nvSpPr>
        <p:spPr>
          <a:xfrm>
            <a:off x="6446520" y="3200400"/>
            <a:ext cx="4919472" cy="457200"/>
          </a:xfrm>
          <a:prstGeom prst="rect">
            <a:avLst/>
          </a:prstGeom>
          <a:noFill/>
          <a:ln/>
        </p:spPr>
        <p:txBody>
          <a:bodyPr wrap="square" lIns="0" tIns="0" rIns="0" bIns="0" rtlCol="0" anchor="ctr"/>
          <a:lstStyle/>
          <a:p>
            <a:pPr indent="0" marL="0">
              <a:buNone/>
            </a:pPr>
            <a:r>
              <a:rPr lang="en-US" sz="1000" i="1" dirty="0">
                <a:solidFill>
                  <a:srgbClr val="7A4F00"/>
                </a:solidFill>
              </a:rPr>
              <a:t>[INPUT REQUIRED] MONIT's current position and supporting document</a:t>
            </a:r>
            <a:endParaRPr lang="en-US" sz="1000" dirty="0"/>
          </a:p>
        </p:txBody>
      </p:sp>
      <p:sp>
        <p:nvSpPr>
          <p:cNvPr id="22" name="Shape 17"/>
          <p:cNvSpPr/>
          <p:nvPr/>
        </p:nvSpPr>
        <p:spPr>
          <a:xfrm>
            <a:off x="548640" y="3931920"/>
            <a:ext cx="5468112" cy="2103120"/>
          </a:xfrm>
          <a:prstGeom prst="rect">
            <a:avLst/>
          </a:prstGeom>
          <a:solidFill>
            <a:schemeClr val="bg2"/>
          </a:solidFill>
          <a:ln/>
        </p:spPr>
      </p:sp>
      <p:sp>
        <p:nvSpPr>
          <p:cNvPr id="23" name="Shape 18"/>
          <p:cNvSpPr/>
          <p:nvPr/>
        </p:nvSpPr>
        <p:spPr>
          <a:xfrm>
            <a:off x="731520" y="4069080"/>
            <a:ext cx="457200" cy="457200"/>
          </a:xfrm>
          <a:prstGeom prst="ellipse">
            <a:avLst/>
          </a:prstGeom>
          <a:solidFill>
            <a:schemeClr val="accent5"/>
          </a:solidFill>
          <a:ln/>
        </p:spPr>
      </p:sp>
      <p:pic>
        <p:nvPicPr>
          <p:cNvPr id="24" name="Image 2" descr="preencoded.png">    </p:cNvPr>
          <p:cNvPicPr>
            <a:picLocks noChangeAspect="1"/>
          </p:cNvPicPr>
          <p:nvPr/>
        </p:nvPicPr>
        <p:blipFill>
          <a:blip r:embed="rId3"/>
          <a:stretch>
            <a:fillRect/>
          </a:stretch>
        </p:blipFill>
        <p:spPr>
          <a:xfrm>
            <a:off x="845820" y="4183380"/>
            <a:ext cx="228600" cy="228600"/>
          </a:xfrm>
          <a:prstGeom prst="rect">
            <a:avLst/>
          </a:prstGeom>
        </p:spPr>
      </p:pic>
      <p:sp>
        <p:nvSpPr>
          <p:cNvPr id="25" name="Text 19"/>
          <p:cNvSpPr txBox="1"/>
          <p:nvPr/>
        </p:nvSpPr>
        <p:spPr>
          <a:xfrm>
            <a:off x="1325880" y="4069080"/>
            <a:ext cx="4480560" cy="457200"/>
          </a:xfrm>
          <a:prstGeom prst="rect">
            <a:avLst/>
          </a:prstGeom>
          <a:noFill/>
          <a:ln/>
        </p:spPr>
        <p:txBody>
          <a:bodyPr wrap="square" lIns="0" tIns="0" rIns="0" bIns="0" rtlCol="0" anchor="ctr"/>
          <a:lstStyle/>
          <a:p>
            <a:pPr indent="0" marL="0">
              <a:buNone/>
            </a:pPr>
            <a:r>
              <a:rPr lang="en-US" sz="1400" b="1" dirty="0">
                <a:solidFill>
                  <a:schemeClr val="tx2"/>
                </a:solidFill>
              </a:rPr>
              <a:t>Environmental policy</a:t>
            </a:r>
            <a:endParaRPr lang="en-US" sz="1400" dirty="0"/>
          </a:p>
        </p:txBody>
      </p:sp>
      <p:sp>
        <p:nvSpPr>
          <p:cNvPr id="26" name="Proposed response"/>
          <p:cNvSpPr/>
          <p:nvPr/>
        </p:nvSpPr>
        <p:spPr>
          <a:xfrm>
            <a:off x="731520" y="4645152"/>
            <a:ext cx="5102352" cy="731520"/>
          </a:xfrm>
          <a:prstGeom prst="rect">
            <a:avLst/>
          </a:prstGeom>
          <a:solidFill>
            <a:srgbClr val="E6F6F7"/>
          </a:solidFill>
          <a:ln w="12700">
            <a:solidFill>
              <a:srgbClr val="00A3AD"/>
            </a:solidFill>
            <a:prstDash val="dash"/>
          </a:ln>
        </p:spPr>
      </p:sp>
      <p:sp>
        <p:nvSpPr>
          <p:cNvPr id="27" name="Text 21"/>
          <p:cNvSpPr txBox="1"/>
          <p:nvPr/>
        </p:nvSpPr>
        <p:spPr>
          <a:xfrm>
            <a:off x="822960" y="4645152"/>
            <a:ext cx="4919472" cy="731520"/>
          </a:xfrm>
          <a:prstGeom prst="rect">
            <a:avLst/>
          </a:prstGeom>
          <a:noFill/>
          <a:ln/>
        </p:spPr>
        <p:txBody>
          <a:bodyPr wrap="square" lIns="0" tIns="0" rIns="0" bIns="0" rtlCol="0" anchor="ctr"/>
          <a:lstStyle/>
          <a:p>
            <a:pPr indent="0" marL="0">
              <a:buNone/>
            </a:pPr>
            <a:r>
              <a:rPr lang="en-US" sz="1000" b="1" dirty="0">
                <a:solidFill>
                  <a:srgbClr val="0B6F76"/>
                </a:solidFill>
              </a:rPr>
              <a:t>PROPOSED  </a:t>
            </a:r>
            <a:pPr indent="0" marL="0">
              <a:buNone/>
            </a:pPr>
            <a:r>
              <a:rPr lang="en-US" sz="1000" dirty="0">
                <a:solidFill>
                  <a:srgbClr val="1F2937"/>
                </a:solidFill>
              </a:rPr>
              <a:t>Evidence: Written policy or ISO 14001; waste, packaging, battery and e-waste handling. Product: reusable sensor with single-use hygiene film.</a:t>
            </a:r>
            <a:endParaRPr lang="en-US" sz="1000" dirty="0"/>
          </a:p>
        </p:txBody>
      </p:sp>
      <p:sp>
        <p:nvSpPr>
          <p:cNvPr id="28" name="Input placeholder"/>
          <p:cNvSpPr/>
          <p:nvPr/>
        </p:nvSpPr>
        <p:spPr>
          <a:xfrm>
            <a:off x="731520" y="5440680"/>
            <a:ext cx="5102352" cy="457200"/>
          </a:xfrm>
          <a:prstGeom prst="rect">
            <a:avLst/>
          </a:prstGeom>
          <a:solidFill>
            <a:srgbClr val="FFF4D6"/>
          </a:solidFill>
          <a:ln w="12700">
            <a:solidFill>
              <a:srgbClr val="F2A900"/>
            </a:solidFill>
            <a:prstDash val="dash"/>
          </a:ln>
        </p:spPr>
      </p:sp>
      <p:sp>
        <p:nvSpPr>
          <p:cNvPr id="29" name="Text 23"/>
          <p:cNvSpPr txBox="1"/>
          <p:nvPr/>
        </p:nvSpPr>
        <p:spPr>
          <a:xfrm>
            <a:off x="822960" y="5440680"/>
            <a:ext cx="4919472" cy="457200"/>
          </a:xfrm>
          <a:prstGeom prst="rect">
            <a:avLst/>
          </a:prstGeom>
          <a:noFill/>
          <a:ln/>
        </p:spPr>
        <p:txBody>
          <a:bodyPr wrap="square" lIns="0" tIns="0" rIns="0" bIns="0" rtlCol="0" anchor="ctr"/>
          <a:lstStyle/>
          <a:p>
            <a:pPr indent="0" marL="0">
              <a:buNone/>
            </a:pPr>
            <a:r>
              <a:rPr lang="en-US" sz="1000" i="1" dirty="0">
                <a:solidFill>
                  <a:srgbClr val="7A4F00"/>
                </a:solidFill>
              </a:rPr>
              <a:t>[INPUT REQUIRED] MONIT's current position and supporting document</a:t>
            </a:r>
            <a:endParaRPr lang="en-US" sz="1000" dirty="0"/>
          </a:p>
        </p:txBody>
      </p:sp>
      <p:sp>
        <p:nvSpPr>
          <p:cNvPr id="30" name="Shape 24"/>
          <p:cNvSpPr/>
          <p:nvPr/>
        </p:nvSpPr>
        <p:spPr>
          <a:xfrm>
            <a:off x="6172200" y="3931920"/>
            <a:ext cx="5468112" cy="2103120"/>
          </a:xfrm>
          <a:prstGeom prst="rect">
            <a:avLst/>
          </a:prstGeom>
          <a:solidFill>
            <a:schemeClr val="bg2"/>
          </a:solidFill>
          <a:ln/>
        </p:spPr>
      </p:sp>
      <p:sp>
        <p:nvSpPr>
          <p:cNvPr id="31" name="Shape 25"/>
          <p:cNvSpPr/>
          <p:nvPr/>
        </p:nvSpPr>
        <p:spPr>
          <a:xfrm>
            <a:off x="6355080" y="4069080"/>
            <a:ext cx="457200" cy="457200"/>
          </a:xfrm>
          <a:prstGeom prst="ellipse">
            <a:avLst/>
          </a:prstGeom>
          <a:solidFill>
            <a:schemeClr val="accent5"/>
          </a:solidFill>
          <a:ln/>
        </p:spPr>
      </p:sp>
      <p:pic>
        <p:nvPicPr>
          <p:cNvPr id="32" name="Image 3" descr="preencoded.png">    </p:cNvPr>
          <p:cNvPicPr>
            <a:picLocks noChangeAspect="1"/>
          </p:cNvPicPr>
          <p:nvPr/>
        </p:nvPicPr>
        <p:blipFill>
          <a:blip r:embed="rId4"/>
          <a:stretch>
            <a:fillRect/>
          </a:stretch>
        </p:blipFill>
        <p:spPr>
          <a:xfrm>
            <a:off x="6469380" y="4183380"/>
            <a:ext cx="228600" cy="228600"/>
          </a:xfrm>
          <a:prstGeom prst="rect">
            <a:avLst/>
          </a:prstGeom>
        </p:spPr>
      </p:pic>
      <p:sp>
        <p:nvSpPr>
          <p:cNvPr id="33" name="Text 26"/>
          <p:cNvSpPr txBox="1"/>
          <p:nvPr/>
        </p:nvSpPr>
        <p:spPr>
          <a:xfrm>
            <a:off x="6949440" y="4069080"/>
            <a:ext cx="4480560" cy="457200"/>
          </a:xfrm>
          <a:prstGeom prst="rect">
            <a:avLst/>
          </a:prstGeom>
          <a:noFill/>
          <a:ln/>
        </p:spPr>
        <p:txBody>
          <a:bodyPr wrap="square" lIns="0" tIns="0" rIns="0" bIns="0" rtlCol="0" anchor="ctr"/>
          <a:lstStyle/>
          <a:p>
            <a:pPr indent="0" marL="0">
              <a:buNone/>
            </a:pPr>
            <a:r>
              <a:rPr lang="en-US" sz="1400" b="1" dirty="0">
                <a:solidFill>
                  <a:schemeClr val="tx2"/>
                </a:solidFill>
              </a:rPr>
              <a:t>Green products</a:t>
            </a:r>
            <a:endParaRPr lang="en-US" sz="1400" dirty="0"/>
          </a:p>
        </p:txBody>
      </p:sp>
      <p:sp>
        <p:nvSpPr>
          <p:cNvPr id="34" name="Proposed response"/>
          <p:cNvSpPr/>
          <p:nvPr/>
        </p:nvSpPr>
        <p:spPr>
          <a:xfrm>
            <a:off x="6355080" y="4645152"/>
            <a:ext cx="5102352" cy="731520"/>
          </a:xfrm>
          <a:prstGeom prst="rect">
            <a:avLst/>
          </a:prstGeom>
          <a:solidFill>
            <a:srgbClr val="E6F6F7"/>
          </a:solidFill>
          <a:ln w="12700">
            <a:solidFill>
              <a:srgbClr val="00A3AD"/>
            </a:solidFill>
            <a:prstDash val="dash"/>
          </a:ln>
        </p:spPr>
      </p:sp>
      <p:sp>
        <p:nvSpPr>
          <p:cNvPr id="35" name="Text 28"/>
          <p:cNvSpPr txBox="1"/>
          <p:nvPr/>
        </p:nvSpPr>
        <p:spPr>
          <a:xfrm>
            <a:off x="6446520" y="4645152"/>
            <a:ext cx="4919472" cy="731520"/>
          </a:xfrm>
          <a:prstGeom prst="rect">
            <a:avLst/>
          </a:prstGeom>
          <a:noFill/>
          <a:ln/>
        </p:spPr>
        <p:txBody>
          <a:bodyPr wrap="square" lIns="0" tIns="0" rIns="0" bIns="0" rtlCol="0" anchor="ctr"/>
          <a:lstStyle/>
          <a:p>
            <a:pPr indent="0" marL="0">
              <a:buNone/>
            </a:pPr>
            <a:r>
              <a:rPr lang="en-US" sz="1000" b="1" dirty="0">
                <a:solidFill>
                  <a:srgbClr val="0B6F76"/>
                </a:solidFill>
              </a:rPr>
              <a:t>PROPOSED  </a:t>
            </a:r>
            <a:pPr indent="0" marL="0">
              <a:buNone/>
            </a:pPr>
            <a:r>
              <a:rPr lang="en-US" sz="1000" dirty="0">
                <a:solidFill>
                  <a:srgbClr val="1F2937"/>
                </a:solidFill>
              </a:rPr>
              <a:t>Evidence: Green Label or energy-label products used in offices and sites; low-power 5 V USB relay.</a:t>
            </a:r>
            <a:endParaRPr lang="en-US" sz="1000" dirty="0"/>
          </a:p>
        </p:txBody>
      </p:sp>
      <p:sp>
        <p:nvSpPr>
          <p:cNvPr id="36" name="Input placeholder"/>
          <p:cNvSpPr/>
          <p:nvPr/>
        </p:nvSpPr>
        <p:spPr>
          <a:xfrm>
            <a:off x="6355080" y="5440680"/>
            <a:ext cx="5102352" cy="457200"/>
          </a:xfrm>
          <a:prstGeom prst="rect">
            <a:avLst/>
          </a:prstGeom>
          <a:solidFill>
            <a:srgbClr val="FFF4D6"/>
          </a:solidFill>
          <a:ln w="12700">
            <a:solidFill>
              <a:srgbClr val="F2A900"/>
            </a:solidFill>
            <a:prstDash val="dash"/>
          </a:ln>
        </p:spPr>
      </p:sp>
      <p:sp>
        <p:nvSpPr>
          <p:cNvPr id="37" name="Text 30"/>
          <p:cNvSpPr txBox="1"/>
          <p:nvPr/>
        </p:nvSpPr>
        <p:spPr>
          <a:xfrm>
            <a:off x="6446520" y="5440680"/>
            <a:ext cx="4919472" cy="457200"/>
          </a:xfrm>
          <a:prstGeom prst="rect">
            <a:avLst/>
          </a:prstGeom>
          <a:noFill/>
          <a:ln/>
        </p:spPr>
        <p:txBody>
          <a:bodyPr wrap="square" lIns="0" tIns="0" rIns="0" bIns="0" rtlCol="0" anchor="ctr"/>
          <a:lstStyle/>
          <a:p>
            <a:pPr indent="0" marL="0">
              <a:buNone/>
            </a:pPr>
            <a:r>
              <a:rPr lang="en-US" sz="1000" i="1" dirty="0">
                <a:solidFill>
                  <a:srgbClr val="7A4F00"/>
                </a:solidFill>
              </a:rPr>
              <a:t>[INPUT REQUIRED] MONIT's current position and supporting document</a:t>
            </a:r>
            <a:endParaRPr lang="en-US" sz="10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8 · NETWORK CONNECTIVITY AND RELAY DEVICES</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The relay joins the existing hospital Wi-Fi as a 2.4 GHz client; the hospital supplies coverage and a power outlet</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Master Agreement Schedule 3 (relay specification); MONIT. IMDA registration per Schedule 2, Clause 5.</a:t>
            </a:r>
            <a:endParaRPr lang="en-US" sz="900" dirty="0"/>
          </a:p>
        </p:txBody>
      </p:sp>
      <p:sp>
        <p:nvSpPr>
          <p:cNvPr id="6" name="Shape 3"/>
          <p:cNvSpPr/>
          <p:nvPr/>
        </p:nvSpPr>
        <p:spPr>
          <a:xfrm>
            <a:off x="548640" y="1737360"/>
            <a:ext cx="2011680" cy="1737360"/>
          </a:xfrm>
          <a:prstGeom prst="rect">
            <a:avLst/>
          </a:prstGeom>
          <a:solidFill>
            <a:schemeClr val="bg2"/>
          </a:solidFill>
          <a:ln w="6350">
            <a:solidFill>
              <a:srgbClr val="F1F4F8"/>
            </a:solidFill>
            <a:prstDash val="solid"/>
          </a:ln>
        </p:spPr>
      </p:sp>
      <p:sp>
        <p:nvSpPr>
          <p:cNvPr id="7" name="Shape 4"/>
          <p:cNvSpPr/>
          <p:nvPr/>
        </p:nvSpPr>
        <p:spPr>
          <a:xfrm>
            <a:off x="1280160" y="1874520"/>
            <a:ext cx="548640" cy="548640"/>
          </a:xfrm>
          <a:prstGeom prst="ellipse">
            <a:avLst/>
          </a:prstGeom>
          <a:solidFill>
            <a:schemeClr val="tx2"/>
          </a:solidFill>
          <a:ln/>
        </p:spPr>
      </p:sp>
      <p:pic>
        <p:nvPicPr>
          <p:cNvPr id="8" name="Image 0" descr="preencoded.png">    </p:cNvPr>
          <p:cNvPicPr>
            <a:picLocks noChangeAspect="1"/>
          </p:cNvPicPr>
          <p:nvPr/>
        </p:nvPicPr>
        <p:blipFill>
          <a:blip r:embed="rId1"/>
          <a:stretch>
            <a:fillRect/>
          </a:stretch>
        </p:blipFill>
        <p:spPr>
          <a:xfrm>
            <a:off x="1417320" y="2011680"/>
            <a:ext cx="274320" cy="274320"/>
          </a:xfrm>
          <a:prstGeom prst="rect">
            <a:avLst/>
          </a:prstGeom>
        </p:spPr>
      </p:pic>
      <p:sp>
        <p:nvSpPr>
          <p:cNvPr id="9" name="Text 5"/>
          <p:cNvSpPr txBox="1"/>
          <p:nvPr/>
        </p:nvSpPr>
        <p:spPr>
          <a:xfrm>
            <a:off x="640080" y="2560320"/>
            <a:ext cx="1828800" cy="320040"/>
          </a:xfrm>
          <a:prstGeom prst="rect">
            <a:avLst/>
          </a:prstGeom>
          <a:noFill/>
          <a:ln/>
        </p:spPr>
        <p:txBody>
          <a:bodyPr wrap="square" lIns="0" tIns="0" rIns="0" bIns="0" rtlCol="0" anchor="t"/>
          <a:lstStyle/>
          <a:p>
            <a:pPr algn="ctr" indent="0" marL="0">
              <a:buNone/>
            </a:pPr>
            <a:r>
              <a:rPr lang="en-US" sz="1300" b="1" dirty="0">
                <a:solidFill>
                  <a:schemeClr val="tx2"/>
                </a:solidFill>
              </a:rPr>
              <a:t>Sensors</a:t>
            </a:r>
            <a:endParaRPr lang="en-US" sz="1300" dirty="0"/>
          </a:p>
        </p:txBody>
      </p:sp>
      <p:sp>
        <p:nvSpPr>
          <p:cNvPr id="10" name="Text 6"/>
          <p:cNvSpPr txBox="1"/>
          <p:nvPr/>
        </p:nvSpPr>
        <p:spPr>
          <a:xfrm>
            <a:off x="640080" y="2926080"/>
            <a:ext cx="1828800" cy="457200"/>
          </a:xfrm>
          <a:prstGeom prst="rect">
            <a:avLst/>
          </a:prstGeom>
          <a:noFill/>
          <a:ln/>
        </p:spPr>
        <p:txBody>
          <a:bodyPr wrap="square" lIns="0" tIns="0" rIns="0" bIns="0" rtlCol="0" anchor="t"/>
          <a:lstStyle/>
          <a:p>
            <a:pPr algn="ctr" indent="0" marL="0">
              <a:buNone/>
            </a:pPr>
            <a:r>
              <a:rPr lang="en-US" sz="1100" dirty="0">
                <a:solidFill>
                  <a:schemeClr val="accent4"/>
                </a:solidFill>
              </a:rPr>
              <a:t>BLE, in ward beds</a:t>
            </a:r>
            <a:endParaRPr lang="en-US" sz="1100" dirty="0"/>
          </a:p>
        </p:txBody>
      </p:sp>
      <p:sp>
        <p:nvSpPr>
          <p:cNvPr id="11" name="Shape 7"/>
          <p:cNvSpPr/>
          <p:nvPr/>
        </p:nvSpPr>
        <p:spPr>
          <a:xfrm>
            <a:off x="2560320" y="2606040"/>
            <a:ext cx="228600" cy="0"/>
          </a:xfrm>
          <a:prstGeom prst="line">
            <a:avLst/>
          </a:prstGeom>
          <a:noFill/>
          <a:ln w="25400">
            <a:solidFill>
              <a:srgbClr val="00A3AD"/>
            </a:solidFill>
            <a:prstDash val="solid"/>
            <a:tailEnd type="triangle"/>
          </a:ln>
        </p:spPr>
      </p:sp>
      <p:sp>
        <p:nvSpPr>
          <p:cNvPr id="12" name="Shape 8"/>
          <p:cNvSpPr/>
          <p:nvPr/>
        </p:nvSpPr>
        <p:spPr>
          <a:xfrm>
            <a:off x="2788920" y="1737360"/>
            <a:ext cx="2011680" cy="1737360"/>
          </a:xfrm>
          <a:prstGeom prst="rect">
            <a:avLst/>
          </a:prstGeom>
          <a:solidFill>
            <a:schemeClr val="bg2"/>
          </a:solidFill>
          <a:ln w="6350">
            <a:solidFill>
              <a:srgbClr val="F1F4F8"/>
            </a:solidFill>
            <a:prstDash val="solid"/>
          </a:ln>
        </p:spPr>
      </p:sp>
      <p:sp>
        <p:nvSpPr>
          <p:cNvPr id="13" name="Shape 9"/>
          <p:cNvSpPr/>
          <p:nvPr/>
        </p:nvSpPr>
        <p:spPr>
          <a:xfrm>
            <a:off x="3520440" y="1874520"/>
            <a:ext cx="548640" cy="548640"/>
          </a:xfrm>
          <a:prstGeom prst="ellipse">
            <a:avLst/>
          </a:prstGeom>
          <a:solidFill>
            <a:schemeClr val="accent1"/>
          </a:solidFill>
          <a:ln/>
        </p:spPr>
      </p:sp>
      <p:pic>
        <p:nvPicPr>
          <p:cNvPr id="14" name="Image 1" descr="preencoded.png">    </p:cNvPr>
          <p:cNvPicPr>
            <a:picLocks noChangeAspect="1"/>
          </p:cNvPicPr>
          <p:nvPr/>
        </p:nvPicPr>
        <p:blipFill>
          <a:blip r:embed="rId2"/>
          <a:stretch>
            <a:fillRect/>
          </a:stretch>
        </p:blipFill>
        <p:spPr>
          <a:xfrm>
            <a:off x="3657600" y="2011680"/>
            <a:ext cx="274320" cy="274320"/>
          </a:xfrm>
          <a:prstGeom prst="rect">
            <a:avLst/>
          </a:prstGeom>
        </p:spPr>
      </p:pic>
      <p:sp>
        <p:nvSpPr>
          <p:cNvPr id="15" name="Text 10"/>
          <p:cNvSpPr txBox="1"/>
          <p:nvPr/>
        </p:nvSpPr>
        <p:spPr>
          <a:xfrm>
            <a:off x="2880360" y="2560320"/>
            <a:ext cx="1828800" cy="320040"/>
          </a:xfrm>
          <a:prstGeom prst="rect">
            <a:avLst/>
          </a:prstGeom>
          <a:noFill/>
          <a:ln/>
        </p:spPr>
        <p:txBody>
          <a:bodyPr wrap="square" lIns="0" tIns="0" rIns="0" bIns="0" rtlCol="0" anchor="t"/>
          <a:lstStyle/>
          <a:p>
            <a:pPr algn="ctr" indent="0" marL="0">
              <a:buNone/>
            </a:pPr>
            <a:r>
              <a:rPr lang="en-US" sz="1300" b="1" dirty="0">
                <a:solidFill>
                  <a:schemeClr val="tx2"/>
                </a:solidFill>
              </a:rPr>
              <a:t>Relay device</a:t>
            </a:r>
            <a:endParaRPr lang="en-US" sz="1300" dirty="0"/>
          </a:p>
        </p:txBody>
      </p:sp>
      <p:sp>
        <p:nvSpPr>
          <p:cNvPr id="16" name="Text 11"/>
          <p:cNvSpPr txBox="1"/>
          <p:nvPr/>
        </p:nvSpPr>
        <p:spPr>
          <a:xfrm>
            <a:off x="2880360" y="2926080"/>
            <a:ext cx="1828800" cy="457200"/>
          </a:xfrm>
          <a:prstGeom prst="rect">
            <a:avLst/>
          </a:prstGeom>
          <a:noFill/>
          <a:ln/>
        </p:spPr>
        <p:txBody>
          <a:bodyPr wrap="square" lIns="0" tIns="0" rIns="0" bIns="0" rtlCol="0" anchor="t"/>
          <a:lstStyle/>
          <a:p>
            <a:pPr algn="ctr" indent="0" marL="0">
              <a:buNone/>
            </a:pPr>
            <a:r>
              <a:rPr lang="en-US" sz="1100" dirty="0">
                <a:solidFill>
                  <a:schemeClr val="accent4"/>
                </a:solidFill>
              </a:rPr>
              <a:t>BLE 5 in · Wi-Fi 2.4 GHz out</a:t>
            </a:r>
            <a:endParaRPr lang="en-US" sz="1100" dirty="0"/>
          </a:p>
        </p:txBody>
      </p:sp>
      <p:sp>
        <p:nvSpPr>
          <p:cNvPr id="17" name="Shape 12"/>
          <p:cNvSpPr/>
          <p:nvPr/>
        </p:nvSpPr>
        <p:spPr>
          <a:xfrm>
            <a:off x="4800600" y="2606040"/>
            <a:ext cx="228600" cy="0"/>
          </a:xfrm>
          <a:prstGeom prst="line">
            <a:avLst/>
          </a:prstGeom>
          <a:noFill/>
          <a:ln w="25400">
            <a:solidFill>
              <a:srgbClr val="00A3AD"/>
            </a:solidFill>
            <a:prstDash val="solid"/>
            <a:tailEnd type="triangle"/>
          </a:ln>
        </p:spPr>
      </p:sp>
      <p:sp>
        <p:nvSpPr>
          <p:cNvPr id="18" name="Shape 13"/>
          <p:cNvSpPr/>
          <p:nvPr/>
        </p:nvSpPr>
        <p:spPr>
          <a:xfrm>
            <a:off x="5029200" y="1737360"/>
            <a:ext cx="2011680" cy="1737360"/>
          </a:xfrm>
          <a:prstGeom prst="rect">
            <a:avLst/>
          </a:prstGeom>
          <a:solidFill>
            <a:schemeClr val="bg1"/>
          </a:solidFill>
          <a:ln w="19050">
            <a:solidFill>
              <a:srgbClr val="00A3AD"/>
            </a:solidFill>
            <a:prstDash val="dash"/>
          </a:ln>
        </p:spPr>
      </p:sp>
      <p:sp>
        <p:nvSpPr>
          <p:cNvPr id="19" name="Shape 14"/>
          <p:cNvSpPr/>
          <p:nvPr/>
        </p:nvSpPr>
        <p:spPr>
          <a:xfrm>
            <a:off x="5760720" y="1874520"/>
            <a:ext cx="548640" cy="548640"/>
          </a:xfrm>
          <a:prstGeom prst="ellipse">
            <a:avLst/>
          </a:prstGeom>
          <a:solidFill>
            <a:schemeClr val="tx2"/>
          </a:solidFill>
          <a:ln/>
        </p:spPr>
      </p:sp>
      <p:pic>
        <p:nvPicPr>
          <p:cNvPr id="20" name="Image 2" descr="preencoded.png">    </p:cNvPr>
          <p:cNvPicPr>
            <a:picLocks noChangeAspect="1"/>
          </p:cNvPicPr>
          <p:nvPr/>
        </p:nvPicPr>
        <p:blipFill>
          <a:blip r:embed="rId3"/>
          <a:stretch>
            <a:fillRect/>
          </a:stretch>
        </p:blipFill>
        <p:spPr>
          <a:xfrm>
            <a:off x="5897880" y="2011680"/>
            <a:ext cx="274320" cy="274320"/>
          </a:xfrm>
          <a:prstGeom prst="rect">
            <a:avLst/>
          </a:prstGeom>
        </p:spPr>
      </p:pic>
      <p:sp>
        <p:nvSpPr>
          <p:cNvPr id="21" name="Text 15"/>
          <p:cNvSpPr txBox="1"/>
          <p:nvPr/>
        </p:nvSpPr>
        <p:spPr>
          <a:xfrm>
            <a:off x="5120640" y="2560320"/>
            <a:ext cx="1828800" cy="320040"/>
          </a:xfrm>
          <a:prstGeom prst="rect">
            <a:avLst/>
          </a:prstGeom>
          <a:noFill/>
          <a:ln/>
        </p:spPr>
        <p:txBody>
          <a:bodyPr wrap="square" lIns="0" tIns="0" rIns="0" bIns="0" rtlCol="0" anchor="t"/>
          <a:lstStyle/>
          <a:p>
            <a:pPr algn="ctr" indent="0" marL="0">
              <a:buNone/>
            </a:pPr>
            <a:r>
              <a:rPr lang="en-US" sz="1300" b="1" dirty="0">
                <a:solidFill>
                  <a:schemeClr val="tx2"/>
                </a:solidFill>
              </a:rPr>
              <a:t>Hospital Wi-Fi</a:t>
            </a:r>
            <a:endParaRPr lang="en-US" sz="1300" dirty="0"/>
          </a:p>
        </p:txBody>
      </p:sp>
      <p:sp>
        <p:nvSpPr>
          <p:cNvPr id="22" name="Text 16"/>
          <p:cNvSpPr txBox="1"/>
          <p:nvPr/>
        </p:nvSpPr>
        <p:spPr>
          <a:xfrm>
            <a:off x="5120640" y="2926080"/>
            <a:ext cx="1828800" cy="457200"/>
          </a:xfrm>
          <a:prstGeom prst="rect">
            <a:avLst/>
          </a:prstGeom>
          <a:noFill/>
          <a:ln/>
        </p:spPr>
        <p:txBody>
          <a:bodyPr wrap="square" lIns="0" tIns="0" rIns="0" bIns="0" rtlCol="0" anchor="t"/>
          <a:lstStyle/>
          <a:p>
            <a:pPr algn="ctr" indent="0" marL="0">
              <a:buNone/>
            </a:pPr>
            <a:r>
              <a:rPr lang="en-US" sz="1100" dirty="0">
                <a:solidFill>
                  <a:schemeClr val="accent4"/>
                </a:solidFill>
              </a:rPr>
              <a:t>Owned and managed by hospital</a:t>
            </a:r>
            <a:endParaRPr lang="en-US" sz="1100" dirty="0"/>
          </a:p>
        </p:txBody>
      </p:sp>
      <p:sp>
        <p:nvSpPr>
          <p:cNvPr id="23" name="Shape 17"/>
          <p:cNvSpPr/>
          <p:nvPr/>
        </p:nvSpPr>
        <p:spPr>
          <a:xfrm>
            <a:off x="7040880" y="2606040"/>
            <a:ext cx="228600" cy="0"/>
          </a:xfrm>
          <a:prstGeom prst="line">
            <a:avLst/>
          </a:prstGeom>
          <a:noFill/>
          <a:ln w="25400">
            <a:solidFill>
              <a:srgbClr val="00A3AD"/>
            </a:solidFill>
            <a:prstDash val="solid"/>
            <a:tailEnd type="triangle"/>
          </a:ln>
        </p:spPr>
      </p:sp>
      <p:sp>
        <p:nvSpPr>
          <p:cNvPr id="24" name="Shape 18"/>
          <p:cNvSpPr/>
          <p:nvPr/>
        </p:nvSpPr>
        <p:spPr>
          <a:xfrm>
            <a:off x="7269480" y="1737360"/>
            <a:ext cx="2011680" cy="1737360"/>
          </a:xfrm>
          <a:prstGeom prst="rect">
            <a:avLst/>
          </a:prstGeom>
          <a:solidFill>
            <a:schemeClr val="bg2"/>
          </a:solidFill>
          <a:ln w="6350">
            <a:solidFill>
              <a:srgbClr val="F1F4F8"/>
            </a:solidFill>
            <a:prstDash val="solid"/>
          </a:ln>
        </p:spPr>
      </p:sp>
      <p:sp>
        <p:nvSpPr>
          <p:cNvPr id="25" name="Shape 19"/>
          <p:cNvSpPr/>
          <p:nvPr/>
        </p:nvSpPr>
        <p:spPr>
          <a:xfrm>
            <a:off x="8001000" y="1874520"/>
            <a:ext cx="548640" cy="548640"/>
          </a:xfrm>
          <a:prstGeom prst="ellipse">
            <a:avLst/>
          </a:prstGeom>
          <a:solidFill>
            <a:schemeClr val="accent1"/>
          </a:solidFill>
          <a:ln/>
        </p:spPr>
      </p:sp>
      <p:pic>
        <p:nvPicPr>
          <p:cNvPr id="26" name="Image 3" descr="preencoded.png">    </p:cNvPr>
          <p:cNvPicPr>
            <a:picLocks noChangeAspect="1"/>
          </p:cNvPicPr>
          <p:nvPr/>
        </p:nvPicPr>
        <p:blipFill>
          <a:blip r:embed="rId4"/>
          <a:stretch>
            <a:fillRect/>
          </a:stretch>
        </p:blipFill>
        <p:spPr>
          <a:xfrm>
            <a:off x="8138160" y="2011680"/>
            <a:ext cx="274320" cy="274320"/>
          </a:xfrm>
          <a:prstGeom prst="rect">
            <a:avLst/>
          </a:prstGeom>
        </p:spPr>
      </p:pic>
      <p:sp>
        <p:nvSpPr>
          <p:cNvPr id="27" name="Text 20"/>
          <p:cNvSpPr txBox="1"/>
          <p:nvPr/>
        </p:nvSpPr>
        <p:spPr>
          <a:xfrm>
            <a:off x="7360920" y="2560320"/>
            <a:ext cx="1828800" cy="320040"/>
          </a:xfrm>
          <a:prstGeom prst="rect">
            <a:avLst/>
          </a:prstGeom>
          <a:noFill/>
          <a:ln/>
        </p:spPr>
        <p:txBody>
          <a:bodyPr wrap="square" lIns="0" tIns="0" rIns="0" bIns="0" rtlCol="0" anchor="t"/>
          <a:lstStyle/>
          <a:p>
            <a:pPr algn="ctr" indent="0" marL="0">
              <a:buNone/>
            </a:pPr>
            <a:r>
              <a:rPr lang="en-US" sz="1300" b="1" dirty="0">
                <a:solidFill>
                  <a:schemeClr val="tx2"/>
                </a:solidFill>
              </a:rPr>
              <a:t>MONIT cloud</a:t>
            </a:r>
            <a:endParaRPr lang="en-US" sz="1300" dirty="0"/>
          </a:p>
        </p:txBody>
      </p:sp>
      <p:sp>
        <p:nvSpPr>
          <p:cNvPr id="28" name="Text 21"/>
          <p:cNvSpPr txBox="1"/>
          <p:nvPr/>
        </p:nvSpPr>
        <p:spPr>
          <a:xfrm>
            <a:off x="7360920" y="2926080"/>
            <a:ext cx="1828800" cy="457200"/>
          </a:xfrm>
          <a:prstGeom prst="rect">
            <a:avLst/>
          </a:prstGeom>
          <a:noFill/>
          <a:ln/>
        </p:spPr>
        <p:txBody>
          <a:bodyPr wrap="square" lIns="0" tIns="0" rIns="0" bIns="0" rtlCol="0" anchor="t"/>
          <a:lstStyle/>
          <a:p>
            <a:pPr algn="ctr" indent="0" marL="0">
              <a:buNone/>
            </a:pPr>
            <a:r>
              <a:rPr lang="en-US" sz="1100" dirty="0">
                <a:solidFill>
                  <a:schemeClr val="accent4"/>
                </a:solidFill>
              </a:rPr>
              <a:t>Servers, AI, storage</a:t>
            </a:r>
            <a:endParaRPr lang="en-US" sz="1100" dirty="0"/>
          </a:p>
        </p:txBody>
      </p:sp>
      <p:sp>
        <p:nvSpPr>
          <p:cNvPr id="29" name="Shape 22"/>
          <p:cNvSpPr/>
          <p:nvPr/>
        </p:nvSpPr>
        <p:spPr>
          <a:xfrm>
            <a:off x="9281160" y="2606040"/>
            <a:ext cx="228600" cy="0"/>
          </a:xfrm>
          <a:prstGeom prst="line">
            <a:avLst/>
          </a:prstGeom>
          <a:noFill/>
          <a:ln w="25400">
            <a:solidFill>
              <a:srgbClr val="00A3AD"/>
            </a:solidFill>
            <a:prstDash val="solid"/>
            <a:tailEnd type="triangle"/>
          </a:ln>
        </p:spPr>
      </p:sp>
      <p:sp>
        <p:nvSpPr>
          <p:cNvPr id="30" name="Shape 23"/>
          <p:cNvSpPr/>
          <p:nvPr/>
        </p:nvSpPr>
        <p:spPr>
          <a:xfrm>
            <a:off x="9509760" y="1737360"/>
            <a:ext cx="2011680" cy="1737360"/>
          </a:xfrm>
          <a:prstGeom prst="rect">
            <a:avLst/>
          </a:prstGeom>
          <a:solidFill>
            <a:schemeClr val="bg2"/>
          </a:solidFill>
          <a:ln w="6350">
            <a:solidFill>
              <a:srgbClr val="F1F4F8"/>
            </a:solidFill>
            <a:prstDash val="solid"/>
          </a:ln>
        </p:spPr>
      </p:sp>
      <p:sp>
        <p:nvSpPr>
          <p:cNvPr id="31" name="Shape 24"/>
          <p:cNvSpPr/>
          <p:nvPr/>
        </p:nvSpPr>
        <p:spPr>
          <a:xfrm>
            <a:off x="10241280" y="1874520"/>
            <a:ext cx="548640" cy="548640"/>
          </a:xfrm>
          <a:prstGeom prst="ellipse">
            <a:avLst/>
          </a:prstGeom>
          <a:solidFill>
            <a:schemeClr val="tx2"/>
          </a:solidFill>
          <a:ln/>
        </p:spPr>
      </p:sp>
      <p:pic>
        <p:nvPicPr>
          <p:cNvPr id="32" name="Image 4" descr="preencoded.png">    </p:cNvPr>
          <p:cNvPicPr>
            <a:picLocks noChangeAspect="1"/>
          </p:cNvPicPr>
          <p:nvPr/>
        </p:nvPicPr>
        <p:blipFill>
          <a:blip r:embed="rId5"/>
          <a:stretch>
            <a:fillRect/>
          </a:stretch>
        </p:blipFill>
        <p:spPr>
          <a:xfrm>
            <a:off x="10378440" y="2011680"/>
            <a:ext cx="274320" cy="274320"/>
          </a:xfrm>
          <a:prstGeom prst="rect">
            <a:avLst/>
          </a:prstGeom>
        </p:spPr>
      </p:pic>
      <p:sp>
        <p:nvSpPr>
          <p:cNvPr id="33" name="Text 25"/>
          <p:cNvSpPr txBox="1"/>
          <p:nvPr/>
        </p:nvSpPr>
        <p:spPr>
          <a:xfrm>
            <a:off x="9601200" y="2560320"/>
            <a:ext cx="1828800" cy="320040"/>
          </a:xfrm>
          <a:prstGeom prst="rect">
            <a:avLst/>
          </a:prstGeom>
          <a:noFill/>
          <a:ln/>
        </p:spPr>
        <p:txBody>
          <a:bodyPr wrap="square" lIns="0" tIns="0" rIns="0" bIns="0" rtlCol="0" anchor="t"/>
          <a:lstStyle/>
          <a:p>
            <a:pPr algn="ctr" indent="0" marL="0">
              <a:buNone/>
            </a:pPr>
            <a:r>
              <a:rPr lang="en-US" sz="1300" b="1" dirty="0">
                <a:solidFill>
                  <a:schemeClr val="tx2"/>
                </a:solidFill>
              </a:rPr>
              <a:t>Dashboard and app</a:t>
            </a:r>
            <a:endParaRPr lang="en-US" sz="1300" dirty="0"/>
          </a:p>
        </p:txBody>
      </p:sp>
      <p:sp>
        <p:nvSpPr>
          <p:cNvPr id="34" name="Text 26"/>
          <p:cNvSpPr txBox="1"/>
          <p:nvPr/>
        </p:nvSpPr>
        <p:spPr>
          <a:xfrm>
            <a:off x="9601200" y="2926080"/>
            <a:ext cx="1828800" cy="457200"/>
          </a:xfrm>
          <a:prstGeom prst="rect">
            <a:avLst/>
          </a:prstGeom>
          <a:noFill/>
          <a:ln/>
        </p:spPr>
        <p:txBody>
          <a:bodyPr wrap="square" lIns="0" tIns="0" rIns="0" bIns="0" rtlCol="0" anchor="t"/>
          <a:lstStyle/>
          <a:p>
            <a:pPr algn="ctr" indent="0" marL="0">
              <a:buNone/>
            </a:pPr>
            <a:r>
              <a:rPr lang="en-US" sz="1100" dirty="0">
                <a:solidFill>
                  <a:schemeClr val="accent4"/>
                </a:solidFill>
              </a:rPr>
              <a:t>Nurse station · iOS / Android</a:t>
            </a:r>
            <a:endParaRPr lang="en-US" sz="1100" dirty="0"/>
          </a:p>
        </p:txBody>
      </p:sp>
      <p:sp>
        <p:nvSpPr>
          <p:cNvPr id="35" name="Shape 27"/>
          <p:cNvSpPr/>
          <p:nvPr/>
        </p:nvSpPr>
        <p:spPr>
          <a:xfrm>
            <a:off x="548640" y="3840480"/>
            <a:ext cx="3611880" cy="2148840"/>
          </a:xfrm>
          <a:prstGeom prst="rect">
            <a:avLst/>
          </a:prstGeom>
          <a:solidFill>
            <a:schemeClr val="bg2"/>
          </a:solidFill>
          <a:ln/>
        </p:spPr>
      </p:sp>
      <p:sp>
        <p:nvSpPr>
          <p:cNvPr id="36" name="Text 28"/>
          <p:cNvSpPr txBox="1"/>
          <p:nvPr/>
        </p:nvSpPr>
        <p:spPr>
          <a:xfrm>
            <a:off x="731520" y="3977640"/>
            <a:ext cx="3246120" cy="320040"/>
          </a:xfrm>
          <a:prstGeom prst="rect">
            <a:avLst/>
          </a:prstGeom>
          <a:noFill/>
          <a:ln/>
        </p:spPr>
        <p:txBody>
          <a:bodyPr wrap="square" lIns="0" tIns="0" rIns="0" bIns="0" rtlCol="0" anchor="t"/>
          <a:lstStyle/>
          <a:p>
            <a:pPr indent="0" marL="0">
              <a:buNone/>
            </a:pPr>
            <a:r>
              <a:rPr lang="en-US" sz="1400" b="1" dirty="0">
                <a:solidFill>
                  <a:schemeClr val="tx2"/>
                </a:solidFill>
              </a:rPr>
              <a:t>Standard Wi-Fi client</a:t>
            </a:r>
            <a:endParaRPr lang="en-US" sz="1400" dirty="0"/>
          </a:p>
        </p:txBody>
      </p:sp>
      <p:sp>
        <p:nvSpPr>
          <p:cNvPr id="37" name="Text 29"/>
          <p:cNvSpPr txBox="1"/>
          <p:nvPr/>
        </p:nvSpPr>
        <p:spPr>
          <a:xfrm>
            <a:off x="731520" y="4389120"/>
            <a:ext cx="3246120" cy="1463040"/>
          </a:xfrm>
          <a:prstGeom prst="rect">
            <a:avLst/>
          </a:prstGeom>
          <a:noFill/>
          <a:ln/>
        </p:spPr>
        <p:txBody>
          <a:bodyPr wrap="square" lIns="0" tIns="0" rIns="0" bIns="0" rtlCol="0" anchor="t"/>
          <a:lstStyle/>
          <a:p>
            <a:pPr indent="0" marL="0">
              <a:buNone/>
            </a:pPr>
            <a:r>
              <a:rPr lang="en-US" sz="1200" dirty="0">
                <a:solidFill>
                  <a:schemeClr val="tx1"/>
                </a:solidFill>
              </a:rPr>
              <a:t>Connects to the hospital's existing 2.4 GHz network; 5 GHz is not used. The hospital provides 2.4 GHz coverage at relay locations.</a:t>
            </a:r>
            <a:endParaRPr lang="en-US" sz="1200" dirty="0"/>
          </a:p>
        </p:txBody>
      </p:sp>
      <p:sp>
        <p:nvSpPr>
          <p:cNvPr id="38" name="Shape 30"/>
          <p:cNvSpPr/>
          <p:nvPr/>
        </p:nvSpPr>
        <p:spPr>
          <a:xfrm>
            <a:off x="4297680" y="3840480"/>
            <a:ext cx="3611880" cy="2148840"/>
          </a:xfrm>
          <a:prstGeom prst="rect">
            <a:avLst/>
          </a:prstGeom>
          <a:solidFill>
            <a:schemeClr val="bg2"/>
          </a:solidFill>
          <a:ln/>
        </p:spPr>
      </p:sp>
      <p:sp>
        <p:nvSpPr>
          <p:cNvPr id="39" name="Text 31"/>
          <p:cNvSpPr txBox="1"/>
          <p:nvPr/>
        </p:nvSpPr>
        <p:spPr>
          <a:xfrm>
            <a:off x="4480560" y="3977640"/>
            <a:ext cx="3246120" cy="320040"/>
          </a:xfrm>
          <a:prstGeom prst="rect">
            <a:avLst/>
          </a:prstGeom>
          <a:noFill/>
          <a:ln/>
        </p:spPr>
        <p:txBody>
          <a:bodyPr wrap="square" lIns="0" tIns="0" rIns="0" bIns="0" rtlCol="0" anchor="t"/>
          <a:lstStyle/>
          <a:p>
            <a:pPr indent="0" marL="0">
              <a:buNone/>
            </a:pPr>
            <a:r>
              <a:rPr lang="en-US" sz="1400" b="1" dirty="0">
                <a:solidFill>
                  <a:schemeClr val="tx2"/>
                </a:solidFill>
              </a:rPr>
              <a:t>Simple power</a:t>
            </a:r>
            <a:endParaRPr lang="en-US" sz="1400" dirty="0"/>
          </a:p>
        </p:txBody>
      </p:sp>
      <p:sp>
        <p:nvSpPr>
          <p:cNvPr id="40" name="Text 32"/>
          <p:cNvSpPr txBox="1"/>
          <p:nvPr/>
        </p:nvSpPr>
        <p:spPr>
          <a:xfrm>
            <a:off x="4480560" y="4389120"/>
            <a:ext cx="3246120" cy="1463040"/>
          </a:xfrm>
          <a:prstGeom prst="rect">
            <a:avLst/>
          </a:prstGeom>
          <a:noFill/>
          <a:ln/>
        </p:spPr>
        <p:txBody>
          <a:bodyPr wrap="square" lIns="0" tIns="0" rIns="0" bIns="0" rtlCol="0" anchor="t"/>
          <a:lstStyle/>
          <a:p>
            <a:pPr indent="0" marL="0">
              <a:buNone/>
            </a:pPr>
            <a:r>
              <a:rPr lang="en-US" sz="1200" dirty="0">
                <a:solidFill>
                  <a:schemeClr val="tx1"/>
                </a:solidFill>
              </a:rPr>
              <a:t>5 V USB-A, always-on: one powered outlet per relay, no new cabling to the network.</a:t>
            </a:r>
            <a:endParaRPr lang="en-US" sz="1200" dirty="0"/>
          </a:p>
        </p:txBody>
      </p:sp>
      <p:sp>
        <p:nvSpPr>
          <p:cNvPr id="41" name="Shape 33"/>
          <p:cNvSpPr/>
          <p:nvPr/>
        </p:nvSpPr>
        <p:spPr>
          <a:xfrm>
            <a:off x="8046720" y="3840480"/>
            <a:ext cx="3611880" cy="2148840"/>
          </a:xfrm>
          <a:prstGeom prst="rect">
            <a:avLst/>
          </a:prstGeom>
          <a:solidFill>
            <a:schemeClr val="bg2"/>
          </a:solidFill>
          <a:ln/>
        </p:spPr>
      </p:sp>
      <p:sp>
        <p:nvSpPr>
          <p:cNvPr id="42" name="Text 34"/>
          <p:cNvSpPr txBox="1"/>
          <p:nvPr/>
        </p:nvSpPr>
        <p:spPr>
          <a:xfrm>
            <a:off x="8229600" y="3977640"/>
            <a:ext cx="3246120" cy="320040"/>
          </a:xfrm>
          <a:prstGeom prst="rect">
            <a:avLst/>
          </a:prstGeom>
          <a:noFill/>
          <a:ln/>
        </p:spPr>
        <p:txBody>
          <a:bodyPr wrap="square" lIns="0" tIns="0" rIns="0" bIns="0" rtlCol="0" anchor="t"/>
          <a:lstStyle/>
          <a:p>
            <a:pPr indent="0" marL="0">
              <a:buNone/>
            </a:pPr>
            <a:r>
              <a:rPr lang="en-US" sz="1400" b="1" dirty="0">
                <a:solidFill>
                  <a:schemeClr val="tx2"/>
                </a:solidFill>
              </a:rPr>
              <a:t>IMDA registered</a:t>
            </a:r>
            <a:endParaRPr lang="en-US" sz="1400" dirty="0"/>
          </a:p>
        </p:txBody>
      </p:sp>
      <p:sp>
        <p:nvSpPr>
          <p:cNvPr id="43" name="Text 35"/>
          <p:cNvSpPr txBox="1"/>
          <p:nvPr/>
        </p:nvSpPr>
        <p:spPr>
          <a:xfrm>
            <a:off x="8229600" y="4389120"/>
            <a:ext cx="3246120" cy="1463040"/>
          </a:xfrm>
          <a:prstGeom prst="rect">
            <a:avLst/>
          </a:prstGeom>
          <a:noFill/>
          <a:ln/>
        </p:spPr>
        <p:txBody>
          <a:bodyPr wrap="square" lIns="0" tIns="0" rIns="0" bIns="0" rtlCol="0" anchor="t"/>
          <a:lstStyle/>
          <a:p>
            <a:pPr indent="0" marL="0">
              <a:buNone/>
            </a:pPr>
            <a:r>
              <a:rPr lang="en-US" sz="1200" dirty="0">
                <a:solidFill>
                  <a:schemeClr val="tx1"/>
                </a:solidFill>
              </a:rPr>
              <a:t>Relay registered for use in Singapore (Master Agreement Schedule 2). Registration no.: [INPUT REQUIRED]</a:t>
            </a:r>
            <a:endParaRPr lang="en-US" sz="12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8 · NETWORK CONNECTIVITY AND RELAY DEVICES</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Setup takes minutes per relay: mount, power, connect once, pair, verify</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Installation and commissioning by MONIT per Master Agreement Schedule 3.</a:t>
            </a:r>
            <a:endParaRPr lang="en-US" sz="900" dirty="0"/>
          </a:p>
        </p:txBody>
      </p:sp>
      <p:sp>
        <p:nvSpPr>
          <p:cNvPr id="6" name="Shape 3"/>
          <p:cNvSpPr/>
          <p:nvPr/>
        </p:nvSpPr>
        <p:spPr>
          <a:xfrm>
            <a:off x="548640" y="1737360"/>
            <a:ext cx="2011680" cy="2606040"/>
          </a:xfrm>
          <a:prstGeom prst="rect">
            <a:avLst/>
          </a:prstGeom>
          <a:solidFill>
            <a:schemeClr val="bg2"/>
          </a:solidFill>
          <a:ln/>
        </p:spPr>
      </p:sp>
      <p:sp>
        <p:nvSpPr>
          <p:cNvPr id="7" name="Shape 4"/>
          <p:cNvSpPr/>
          <p:nvPr/>
        </p:nvSpPr>
        <p:spPr>
          <a:xfrm>
            <a:off x="1280160" y="1874520"/>
            <a:ext cx="548640" cy="548640"/>
          </a:xfrm>
          <a:prstGeom prst="ellipse">
            <a:avLst/>
          </a:prstGeom>
          <a:solidFill>
            <a:schemeClr val="tx2"/>
          </a:solidFill>
          <a:ln/>
        </p:spPr>
      </p:sp>
      <p:pic>
        <p:nvPicPr>
          <p:cNvPr id="8" name="Image 0" descr="preencoded.png">    </p:cNvPr>
          <p:cNvPicPr>
            <a:picLocks noChangeAspect="1"/>
          </p:cNvPicPr>
          <p:nvPr/>
        </p:nvPicPr>
        <p:blipFill>
          <a:blip r:embed="rId1"/>
          <a:stretch>
            <a:fillRect/>
          </a:stretch>
        </p:blipFill>
        <p:spPr>
          <a:xfrm>
            <a:off x="1417320" y="2011680"/>
            <a:ext cx="274320" cy="274320"/>
          </a:xfrm>
          <a:prstGeom prst="rect">
            <a:avLst/>
          </a:prstGeom>
        </p:spPr>
      </p:pic>
      <p:sp>
        <p:nvSpPr>
          <p:cNvPr id="9" name="Text 5"/>
          <p:cNvSpPr txBox="1"/>
          <p:nvPr/>
        </p:nvSpPr>
        <p:spPr>
          <a:xfrm>
            <a:off x="640080" y="2560320"/>
            <a:ext cx="1828800" cy="320040"/>
          </a:xfrm>
          <a:prstGeom prst="rect">
            <a:avLst/>
          </a:prstGeom>
          <a:noFill/>
          <a:ln/>
        </p:spPr>
        <p:txBody>
          <a:bodyPr wrap="square" lIns="0" tIns="0" rIns="0" bIns="0" rtlCol="0" anchor="t"/>
          <a:lstStyle/>
          <a:p>
            <a:pPr algn="ctr" indent="0" marL="0">
              <a:buNone/>
            </a:pPr>
            <a:r>
              <a:rPr lang="en-US" sz="1300" b="1" dirty="0">
                <a:solidFill>
                  <a:schemeClr val="tx2"/>
                </a:solidFill>
              </a:rPr>
              <a:t>1  Mount and power</a:t>
            </a:r>
            <a:endParaRPr lang="en-US" sz="1300" dirty="0"/>
          </a:p>
        </p:txBody>
      </p:sp>
      <p:sp>
        <p:nvSpPr>
          <p:cNvPr id="10" name="Text 6"/>
          <p:cNvSpPr txBox="1"/>
          <p:nvPr/>
        </p:nvSpPr>
        <p:spPr>
          <a:xfrm>
            <a:off x="685800" y="2971800"/>
            <a:ext cx="1737360" cy="1280160"/>
          </a:xfrm>
          <a:prstGeom prst="rect">
            <a:avLst/>
          </a:prstGeom>
          <a:noFill/>
          <a:ln/>
        </p:spPr>
        <p:txBody>
          <a:bodyPr wrap="square" lIns="0" tIns="0" rIns="0" bIns="0" rtlCol="0" anchor="t"/>
          <a:lstStyle/>
          <a:p>
            <a:pPr algn="ctr" indent="0" marL="0">
              <a:buNone/>
            </a:pPr>
            <a:r>
              <a:rPr lang="en-US" sz="1100" dirty="0">
                <a:solidFill>
                  <a:schemeClr val="tx1"/>
                </a:solidFill>
              </a:rPr>
              <a:t>Plug the relay into a 5 V USB outlet at the planned position</a:t>
            </a:r>
            <a:endParaRPr lang="en-US" sz="1100" dirty="0"/>
          </a:p>
        </p:txBody>
      </p:sp>
      <p:sp>
        <p:nvSpPr>
          <p:cNvPr id="11" name="Shape 7"/>
          <p:cNvSpPr/>
          <p:nvPr/>
        </p:nvSpPr>
        <p:spPr>
          <a:xfrm>
            <a:off x="2788920" y="1737360"/>
            <a:ext cx="2011680" cy="2606040"/>
          </a:xfrm>
          <a:prstGeom prst="rect">
            <a:avLst/>
          </a:prstGeom>
          <a:solidFill>
            <a:schemeClr val="bg2"/>
          </a:solidFill>
          <a:ln/>
        </p:spPr>
      </p:sp>
      <p:sp>
        <p:nvSpPr>
          <p:cNvPr id="12" name="Shape 8"/>
          <p:cNvSpPr/>
          <p:nvPr/>
        </p:nvSpPr>
        <p:spPr>
          <a:xfrm>
            <a:off x="3520440" y="1874520"/>
            <a:ext cx="548640" cy="548640"/>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3657600" y="2011680"/>
            <a:ext cx="274320" cy="274320"/>
          </a:xfrm>
          <a:prstGeom prst="rect">
            <a:avLst/>
          </a:prstGeom>
        </p:spPr>
      </p:pic>
      <p:sp>
        <p:nvSpPr>
          <p:cNvPr id="14" name="Text 9"/>
          <p:cNvSpPr txBox="1"/>
          <p:nvPr/>
        </p:nvSpPr>
        <p:spPr>
          <a:xfrm>
            <a:off x="2880360" y="2560320"/>
            <a:ext cx="1828800" cy="320040"/>
          </a:xfrm>
          <a:prstGeom prst="rect">
            <a:avLst/>
          </a:prstGeom>
          <a:noFill/>
          <a:ln/>
        </p:spPr>
        <p:txBody>
          <a:bodyPr wrap="square" lIns="0" tIns="0" rIns="0" bIns="0" rtlCol="0" anchor="t"/>
          <a:lstStyle/>
          <a:p>
            <a:pPr algn="ctr" indent="0" marL="0">
              <a:buNone/>
            </a:pPr>
            <a:r>
              <a:rPr lang="en-US" sz="1300" b="1" dirty="0">
                <a:solidFill>
                  <a:schemeClr val="tx2"/>
                </a:solidFill>
              </a:rPr>
              <a:t>2  Connect once</a:t>
            </a:r>
            <a:endParaRPr lang="en-US" sz="1300" dirty="0"/>
          </a:p>
        </p:txBody>
      </p:sp>
      <p:sp>
        <p:nvSpPr>
          <p:cNvPr id="15" name="Text 10"/>
          <p:cNvSpPr txBox="1"/>
          <p:nvPr/>
        </p:nvSpPr>
        <p:spPr>
          <a:xfrm>
            <a:off x="2926080" y="2971800"/>
            <a:ext cx="1737360" cy="1280160"/>
          </a:xfrm>
          <a:prstGeom prst="rect">
            <a:avLst/>
          </a:prstGeom>
          <a:noFill/>
          <a:ln/>
        </p:spPr>
        <p:txBody>
          <a:bodyPr wrap="square" lIns="0" tIns="0" rIns="0" bIns="0" rtlCol="0" anchor="t"/>
          <a:lstStyle/>
          <a:p>
            <a:pPr algn="ctr" indent="0" marL="0">
              <a:buNone/>
            </a:pPr>
            <a:r>
              <a:rPr lang="en-US" sz="1100" dirty="0">
                <a:solidFill>
                  <a:schemeClr val="tx1"/>
                </a:solidFill>
              </a:rPr>
              <a:t>Hospital IT enters the Wi-Fi name and password during setup — MONIT never holds the password</a:t>
            </a:r>
            <a:endParaRPr lang="en-US" sz="1100" dirty="0"/>
          </a:p>
        </p:txBody>
      </p:sp>
      <p:sp>
        <p:nvSpPr>
          <p:cNvPr id="16" name="Shape 11"/>
          <p:cNvSpPr/>
          <p:nvPr/>
        </p:nvSpPr>
        <p:spPr>
          <a:xfrm>
            <a:off x="5029200" y="1737360"/>
            <a:ext cx="2011680" cy="2606040"/>
          </a:xfrm>
          <a:prstGeom prst="rect">
            <a:avLst/>
          </a:prstGeom>
          <a:solidFill>
            <a:schemeClr val="bg2"/>
          </a:solidFill>
          <a:ln/>
        </p:spPr>
      </p:sp>
      <p:sp>
        <p:nvSpPr>
          <p:cNvPr id="17" name="Shape 12"/>
          <p:cNvSpPr/>
          <p:nvPr/>
        </p:nvSpPr>
        <p:spPr>
          <a:xfrm>
            <a:off x="5760720" y="1874520"/>
            <a:ext cx="548640" cy="548640"/>
          </a:xfrm>
          <a:prstGeom prst="ellipse">
            <a:avLst/>
          </a:prstGeom>
          <a:solidFill>
            <a:schemeClr val="tx2"/>
          </a:solidFill>
          <a:ln/>
        </p:spPr>
      </p:sp>
      <p:pic>
        <p:nvPicPr>
          <p:cNvPr id="18" name="Image 2" descr="preencoded.png">    </p:cNvPr>
          <p:cNvPicPr>
            <a:picLocks noChangeAspect="1"/>
          </p:cNvPicPr>
          <p:nvPr/>
        </p:nvPicPr>
        <p:blipFill>
          <a:blip r:embed="rId3"/>
          <a:stretch>
            <a:fillRect/>
          </a:stretch>
        </p:blipFill>
        <p:spPr>
          <a:xfrm>
            <a:off x="5897880" y="2011680"/>
            <a:ext cx="274320" cy="274320"/>
          </a:xfrm>
          <a:prstGeom prst="rect">
            <a:avLst/>
          </a:prstGeom>
        </p:spPr>
      </p:pic>
      <p:sp>
        <p:nvSpPr>
          <p:cNvPr id="19" name="Text 13"/>
          <p:cNvSpPr txBox="1"/>
          <p:nvPr/>
        </p:nvSpPr>
        <p:spPr>
          <a:xfrm>
            <a:off x="5120640" y="2560320"/>
            <a:ext cx="1828800" cy="320040"/>
          </a:xfrm>
          <a:prstGeom prst="rect">
            <a:avLst/>
          </a:prstGeom>
          <a:noFill/>
          <a:ln/>
        </p:spPr>
        <p:txBody>
          <a:bodyPr wrap="square" lIns="0" tIns="0" rIns="0" bIns="0" rtlCol="0" anchor="t"/>
          <a:lstStyle/>
          <a:p>
            <a:pPr algn="ctr" indent="0" marL="0">
              <a:buNone/>
            </a:pPr>
            <a:r>
              <a:rPr lang="en-US" sz="1300" b="1" dirty="0">
                <a:solidFill>
                  <a:schemeClr val="tx2"/>
                </a:solidFill>
              </a:rPr>
              <a:t>3  Pair sensors</a:t>
            </a:r>
            <a:endParaRPr lang="en-US" sz="1300" dirty="0"/>
          </a:p>
        </p:txBody>
      </p:sp>
      <p:sp>
        <p:nvSpPr>
          <p:cNvPr id="20" name="Text 14"/>
          <p:cNvSpPr txBox="1"/>
          <p:nvPr/>
        </p:nvSpPr>
        <p:spPr>
          <a:xfrm>
            <a:off x="5166360" y="2971800"/>
            <a:ext cx="1737360" cy="1280160"/>
          </a:xfrm>
          <a:prstGeom prst="rect">
            <a:avLst/>
          </a:prstGeom>
          <a:noFill/>
          <a:ln/>
        </p:spPr>
        <p:txBody>
          <a:bodyPr wrap="square" lIns="0" tIns="0" rIns="0" bIns="0" rtlCol="0" anchor="t"/>
          <a:lstStyle/>
          <a:p>
            <a:pPr algn="ctr" indent="0" marL="0">
              <a:buNone/>
            </a:pPr>
            <a:r>
              <a:rPr lang="en-US" sz="1100" dirty="0">
                <a:solidFill>
                  <a:schemeClr val="tx1"/>
                </a:solidFill>
              </a:rPr>
              <a:t>Sensors pair with the relay over BLE</a:t>
            </a:r>
            <a:endParaRPr lang="en-US" sz="1100" dirty="0"/>
          </a:p>
        </p:txBody>
      </p:sp>
      <p:sp>
        <p:nvSpPr>
          <p:cNvPr id="21" name="Shape 15"/>
          <p:cNvSpPr/>
          <p:nvPr/>
        </p:nvSpPr>
        <p:spPr>
          <a:xfrm>
            <a:off x="7269480" y="1737360"/>
            <a:ext cx="2011680" cy="2606040"/>
          </a:xfrm>
          <a:prstGeom prst="rect">
            <a:avLst/>
          </a:prstGeom>
          <a:solidFill>
            <a:schemeClr val="bg2"/>
          </a:solidFill>
          <a:ln/>
        </p:spPr>
      </p:sp>
      <p:sp>
        <p:nvSpPr>
          <p:cNvPr id="22" name="Shape 16"/>
          <p:cNvSpPr/>
          <p:nvPr/>
        </p:nvSpPr>
        <p:spPr>
          <a:xfrm>
            <a:off x="8001000" y="1874520"/>
            <a:ext cx="548640" cy="548640"/>
          </a:xfrm>
          <a:prstGeom prst="ellipse">
            <a:avLst/>
          </a:prstGeom>
          <a:solidFill>
            <a:schemeClr val="tx2"/>
          </a:solidFill>
          <a:ln/>
        </p:spPr>
      </p:sp>
      <p:pic>
        <p:nvPicPr>
          <p:cNvPr id="23" name="Image 3" descr="preencoded.png">    </p:cNvPr>
          <p:cNvPicPr>
            <a:picLocks noChangeAspect="1"/>
          </p:cNvPicPr>
          <p:nvPr/>
        </p:nvPicPr>
        <p:blipFill>
          <a:blip r:embed="rId4"/>
          <a:stretch>
            <a:fillRect/>
          </a:stretch>
        </p:blipFill>
        <p:spPr>
          <a:xfrm>
            <a:off x="8138160" y="2011680"/>
            <a:ext cx="274320" cy="274320"/>
          </a:xfrm>
          <a:prstGeom prst="rect">
            <a:avLst/>
          </a:prstGeom>
        </p:spPr>
      </p:pic>
      <p:sp>
        <p:nvSpPr>
          <p:cNvPr id="24" name="Text 17"/>
          <p:cNvSpPr txBox="1"/>
          <p:nvPr/>
        </p:nvSpPr>
        <p:spPr>
          <a:xfrm>
            <a:off x="7360920" y="2560320"/>
            <a:ext cx="1828800" cy="320040"/>
          </a:xfrm>
          <a:prstGeom prst="rect">
            <a:avLst/>
          </a:prstGeom>
          <a:noFill/>
          <a:ln/>
        </p:spPr>
        <p:txBody>
          <a:bodyPr wrap="square" lIns="0" tIns="0" rIns="0" bIns="0" rtlCol="0" anchor="t"/>
          <a:lstStyle/>
          <a:p>
            <a:pPr algn="ctr" indent="0" marL="0">
              <a:buNone/>
            </a:pPr>
            <a:r>
              <a:rPr lang="en-US" sz="1300" b="1" dirty="0">
                <a:solidFill>
                  <a:schemeClr val="tx2"/>
                </a:solidFill>
              </a:rPr>
              <a:t>4  Register</a:t>
            </a:r>
            <a:endParaRPr lang="en-US" sz="1300" dirty="0"/>
          </a:p>
        </p:txBody>
      </p:sp>
      <p:sp>
        <p:nvSpPr>
          <p:cNvPr id="25" name="Text 18"/>
          <p:cNvSpPr txBox="1"/>
          <p:nvPr/>
        </p:nvSpPr>
        <p:spPr>
          <a:xfrm>
            <a:off x="7406640" y="2971800"/>
            <a:ext cx="1737360" cy="1280160"/>
          </a:xfrm>
          <a:prstGeom prst="rect">
            <a:avLst/>
          </a:prstGeom>
          <a:noFill/>
          <a:ln/>
        </p:spPr>
        <p:txBody>
          <a:bodyPr wrap="square" lIns="0" tIns="0" rIns="0" bIns="0" rtlCol="0" anchor="t"/>
          <a:lstStyle/>
          <a:p>
            <a:pPr algn="ctr" indent="0" marL="0">
              <a:buNone/>
            </a:pPr>
            <a:r>
              <a:rPr lang="en-US" sz="1100" dirty="0">
                <a:solidFill>
                  <a:schemeClr val="tx1"/>
                </a:solidFill>
              </a:rPr>
              <a:t>Relay registers with the MONIT cloud</a:t>
            </a:r>
            <a:endParaRPr lang="en-US" sz="1100" dirty="0"/>
          </a:p>
        </p:txBody>
      </p:sp>
      <p:sp>
        <p:nvSpPr>
          <p:cNvPr id="26" name="Shape 19"/>
          <p:cNvSpPr/>
          <p:nvPr/>
        </p:nvSpPr>
        <p:spPr>
          <a:xfrm>
            <a:off x="9509760" y="1737360"/>
            <a:ext cx="2011680" cy="2606040"/>
          </a:xfrm>
          <a:prstGeom prst="rect">
            <a:avLst/>
          </a:prstGeom>
          <a:solidFill>
            <a:schemeClr val="bg2"/>
          </a:solidFill>
          <a:ln/>
        </p:spPr>
      </p:sp>
      <p:sp>
        <p:nvSpPr>
          <p:cNvPr id="27" name="Shape 20"/>
          <p:cNvSpPr/>
          <p:nvPr/>
        </p:nvSpPr>
        <p:spPr>
          <a:xfrm>
            <a:off x="10241280" y="1874520"/>
            <a:ext cx="548640" cy="548640"/>
          </a:xfrm>
          <a:prstGeom prst="ellipse">
            <a:avLst/>
          </a:prstGeom>
          <a:solidFill>
            <a:schemeClr val="tx2"/>
          </a:solidFill>
          <a:ln/>
        </p:spPr>
      </p:sp>
      <p:pic>
        <p:nvPicPr>
          <p:cNvPr id="28" name="Image 4" descr="preencoded.png">    </p:cNvPr>
          <p:cNvPicPr>
            <a:picLocks noChangeAspect="1"/>
          </p:cNvPicPr>
          <p:nvPr/>
        </p:nvPicPr>
        <p:blipFill>
          <a:blip r:embed="rId5"/>
          <a:stretch>
            <a:fillRect/>
          </a:stretch>
        </p:blipFill>
        <p:spPr>
          <a:xfrm>
            <a:off x="10378440" y="2011680"/>
            <a:ext cx="274320" cy="274320"/>
          </a:xfrm>
          <a:prstGeom prst="rect">
            <a:avLst/>
          </a:prstGeom>
        </p:spPr>
      </p:pic>
      <p:sp>
        <p:nvSpPr>
          <p:cNvPr id="29" name="Text 21"/>
          <p:cNvSpPr txBox="1"/>
          <p:nvPr/>
        </p:nvSpPr>
        <p:spPr>
          <a:xfrm>
            <a:off x="9601200" y="2560320"/>
            <a:ext cx="1828800" cy="320040"/>
          </a:xfrm>
          <a:prstGeom prst="rect">
            <a:avLst/>
          </a:prstGeom>
          <a:noFill/>
          <a:ln/>
        </p:spPr>
        <p:txBody>
          <a:bodyPr wrap="square" lIns="0" tIns="0" rIns="0" bIns="0" rtlCol="0" anchor="t"/>
          <a:lstStyle/>
          <a:p>
            <a:pPr algn="ctr" indent="0" marL="0">
              <a:buNone/>
            </a:pPr>
            <a:r>
              <a:rPr lang="en-US" sz="1300" b="1" dirty="0">
                <a:solidFill>
                  <a:schemeClr val="tx2"/>
                </a:solidFill>
              </a:rPr>
              <a:t>5  Verify</a:t>
            </a:r>
            <a:endParaRPr lang="en-US" sz="1300" dirty="0"/>
          </a:p>
        </p:txBody>
      </p:sp>
      <p:sp>
        <p:nvSpPr>
          <p:cNvPr id="30" name="Text 22"/>
          <p:cNvSpPr txBox="1"/>
          <p:nvPr/>
        </p:nvSpPr>
        <p:spPr>
          <a:xfrm>
            <a:off x="9646920" y="2971800"/>
            <a:ext cx="1737360" cy="1280160"/>
          </a:xfrm>
          <a:prstGeom prst="rect">
            <a:avLst/>
          </a:prstGeom>
          <a:noFill/>
          <a:ln/>
        </p:spPr>
        <p:txBody>
          <a:bodyPr wrap="square" lIns="0" tIns="0" rIns="0" bIns="0" rtlCol="0" anchor="t"/>
          <a:lstStyle/>
          <a:p>
            <a:pPr algn="ctr" indent="0" marL="0">
              <a:buNone/>
            </a:pPr>
            <a:r>
              <a:rPr lang="en-US" sz="1100" dirty="0">
                <a:solidFill>
                  <a:schemeClr val="tx1"/>
                </a:solidFill>
              </a:rPr>
              <a:t>Signal and connectivity checked on the dashboard, recorded for acceptance</a:t>
            </a:r>
            <a:endParaRPr lang="en-US" sz="1100" dirty="0"/>
          </a:p>
        </p:txBody>
      </p:sp>
      <p:sp>
        <p:nvSpPr>
          <p:cNvPr id="31" name="Proposed response"/>
          <p:cNvSpPr/>
          <p:nvPr/>
        </p:nvSpPr>
        <p:spPr>
          <a:xfrm>
            <a:off x="548640" y="4480560"/>
            <a:ext cx="11091672" cy="685800"/>
          </a:xfrm>
          <a:prstGeom prst="rect">
            <a:avLst/>
          </a:prstGeom>
          <a:solidFill>
            <a:srgbClr val="E6F6F7"/>
          </a:solidFill>
          <a:ln w="12700">
            <a:solidFill>
              <a:srgbClr val="00A3AD"/>
            </a:solidFill>
            <a:prstDash val="dash"/>
          </a:ln>
        </p:spPr>
      </p:sp>
      <p:sp>
        <p:nvSpPr>
          <p:cNvPr id="32" name="Text 24"/>
          <p:cNvSpPr txBox="1"/>
          <p:nvPr/>
        </p:nvSpPr>
        <p:spPr>
          <a:xfrm>
            <a:off x="640080" y="4480560"/>
            <a:ext cx="10908792" cy="685800"/>
          </a:xfrm>
          <a:prstGeom prst="rect">
            <a:avLst/>
          </a:prstGeom>
          <a:noFill/>
          <a:ln/>
        </p:spPr>
        <p:txBody>
          <a:bodyPr wrap="square" lIns="0" tIns="0" rIns="0" bIns="0" rtlCol="0" anchor="ctr"/>
          <a:lstStyle/>
          <a:p>
            <a:pPr indent="0" marL="0">
              <a:buNone/>
            </a:pPr>
            <a:r>
              <a:rPr lang="en-US" sz="1200" b="1" dirty="0">
                <a:solidFill>
                  <a:srgbClr val="0B6F76"/>
                </a:solidFill>
              </a:rPr>
              <a:t>PROPOSED  </a:t>
            </a:r>
            <a:pPr indent="0" marL="0">
              <a:buNone/>
            </a:pPr>
            <a:r>
              <a:rPr lang="en-US" sz="1200" dirty="0">
                <a:solidFill>
                  <a:srgbClr val="1F2937"/>
                </a:solidFill>
              </a:rPr>
              <a:t>Credentials are keyed in once through a secure local setup step by hospital IT; MONIT records only that setup passed, not the password.</a:t>
            </a:r>
            <a:endParaRPr lang="en-US" sz="1200" dirty="0"/>
          </a:p>
        </p:txBody>
      </p:sp>
      <p:sp>
        <p:nvSpPr>
          <p:cNvPr id="33" name="Shape 25"/>
          <p:cNvSpPr/>
          <p:nvPr/>
        </p:nvSpPr>
        <p:spPr>
          <a:xfrm>
            <a:off x="548640" y="5303520"/>
            <a:ext cx="11091672" cy="777240"/>
          </a:xfrm>
          <a:prstGeom prst="rect">
            <a:avLst/>
          </a:prstGeom>
          <a:solidFill>
            <a:schemeClr val="tx2"/>
          </a:solidFill>
          <a:ln/>
        </p:spPr>
      </p:sp>
      <p:sp>
        <p:nvSpPr>
          <p:cNvPr id="34" name="Text 26"/>
          <p:cNvSpPr txBox="1"/>
          <p:nvPr/>
        </p:nvSpPr>
        <p:spPr>
          <a:xfrm>
            <a:off x="777240" y="5303520"/>
            <a:ext cx="10607040" cy="777240"/>
          </a:xfrm>
          <a:prstGeom prst="rect">
            <a:avLst/>
          </a:prstGeom>
          <a:noFill/>
          <a:ln/>
        </p:spPr>
        <p:txBody>
          <a:bodyPr wrap="square" lIns="0" tIns="0" rIns="0" bIns="0" rtlCol="0" anchor="ctr"/>
          <a:lstStyle/>
          <a:p>
            <a:pPr indent="0" marL="0">
              <a:buNone/>
            </a:pPr>
            <a:r>
              <a:rPr lang="en-US" sz="1200" b="1" dirty="0">
                <a:solidFill>
                  <a:schemeClr val="bg1"/>
                </a:solidFill>
              </a:rPr>
              <a:t>Hospital IT: </a:t>
            </a:r>
            <a:pPr indent="0" marL="0">
              <a:buNone/>
            </a:pPr>
            <a:r>
              <a:rPr lang="en-US" sz="1200" dirty="0">
                <a:solidFill>
                  <a:schemeClr val="bg1"/>
                </a:solidFill>
              </a:rPr>
              <a:t>provides Wi-Fi name and credentials and any approvals.   </a:t>
            </a:r>
            <a:pPr indent="0" marL="0">
              <a:buNone/>
            </a:pPr>
            <a:r>
              <a:rPr lang="en-US" sz="1200" b="1" dirty="0">
                <a:solidFill>
                  <a:schemeClr val="bg1"/>
                </a:solidFill>
              </a:rPr>
              <a:t>MONIT: </a:t>
            </a:r>
            <a:pPr indent="0" marL="0">
              <a:buNone/>
            </a:pPr>
            <a:r>
              <a:rPr lang="en-US" sz="1200" dirty="0">
                <a:solidFill>
                  <a:schemeClr val="bg1"/>
                </a:solidFill>
              </a:rPr>
              <a:t>configures relays, supports hospital IT on site, and records the setup for acceptance.</a:t>
            </a:r>
            <a:endParaRPr lang="en-US" sz="12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8 · NETWORK CONNECTIVITY AND RELAY DEVICES</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The Wi-Fi password is stored once on the relay and is not asked for again after a power outage or firmware upgrade</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proposed answer to the RFP network question. Behaviour to be confirmed against the relay firmware before issue.</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583680" cy="914400"/>
        </p:xfrm>
        <a:graphic>
          <a:graphicData uri="http://schemas.openxmlformats.org/drawingml/2006/table">
            <a:tbl>
              <a:tblPr/>
              <a:tblGrid>
                <a:gridCol w="2011680"/>
                <a:gridCol w="3200400"/>
                <a:gridCol w="1371600"/>
              </a:tblGrid>
              <a:tr h="640080">
                <a:tc>
                  <a:txBody>
                    <a:bodyPr/>
                    <a:lstStyle/>
                    <a:p>
                      <a:pPr indent="0" marL="0">
                        <a:buNone/>
                      </a:pPr>
                      <a:r>
                        <a:rPr lang="en-US" sz="1100" b="1" dirty="0">
                          <a:solidFill>
                            <a:srgbClr val="FFFFFF"/>
                          </a:solidFill>
                        </a:rPr>
                        <a:t>Event</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What happens on the relay</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Password re-entry?</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r>
              <a:tr h="640080">
                <a:tc>
                  <a:txBody>
                    <a:bodyPr/>
                    <a:lstStyle/>
                    <a:p>
                      <a:pPr indent="0" marL="0">
                        <a:buNone/>
                      </a:pPr>
                      <a:r>
                        <a:rPr lang="en-US" sz="1100" b="1" dirty="0">
                          <a:solidFill>
                            <a:srgbClr val="1F2937"/>
                          </a:solidFill>
                        </a:rPr>
                        <a:t>Power outage / restart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Relay restarts when power returns, reloads the saved credentials and reconnects automatically</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No</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640080">
                <a:tc>
                  <a:txBody>
                    <a:bodyPr/>
                    <a:lstStyle/>
                    <a:p>
                      <a:pPr indent="0" marL="0">
                        <a:buNone/>
                      </a:pPr>
                      <a:r>
                        <a:rPr lang="en-US" sz="1100" b="1" dirty="0">
                          <a:solidFill>
                            <a:srgbClr val="1F2937"/>
                          </a:solidFill>
                        </a:rPr>
                        <a:t>Firmware upgrade</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Settings are kept separate from firmware and carried through; failed updates roll back</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No</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640080">
                <a:tc>
                  <a:txBody>
                    <a:bodyPr/>
                    <a:lstStyle/>
                    <a:p>
                      <a:pPr indent="0" marL="0">
                        <a:buNone/>
                      </a:pPr>
                      <a:r>
                        <a:rPr lang="en-US" sz="1100" b="1" dirty="0">
                          <a:solidFill>
                            <a:srgbClr val="1F2937"/>
                          </a:solidFill>
                        </a:rPr>
                        <a:t>Hospital changes its Wi-Fi password</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New password entered once by hospital IT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Yes — once, by hospital IT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640080">
                <a:tc>
                  <a:txBody>
                    <a:bodyPr/>
                    <a:lstStyle/>
                    <a:p>
                      <a:pPr indent="0" marL="0">
                        <a:buNone/>
                      </a:pPr>
                      <a:r>
                        <a:rPr lang="en-US" sz="1100" b="1" dirty="0">
                          <a:solidFill>
                            <a:srgbClr val="1F2937"/>
                          </a:solidFill>
                        </a:rPr>
                        <a:t>Replacement or factory-reset relay</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New unit set up like the first install</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Yes — one-time setup</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bl>
          </a:graphicData>
        </a:graphic>
      </p:graphicFrame>
      <p:sp>
        <p:nvSpPr>
          <p:cNvPr id="7" name="Text 3"/>
          <p:cNvSpPr txBox="1"/>
          <p:nvPr/>
        </p:nvSpPr>
        <p:spPr>
          <a:xfrm>
            <a:off x="7498080" y="1691640"/>
            <a:ext cx="4114800" cy="320040"/>
          </a:xfrm>
          <a:prstGeom prst="rect">
            <a:avLst/>
          </a:prstGeom>
          <a:noFill/>
          <a:ln/>
        </p:spPr>
        <p:txBody>
          <a:bodyPr wrap="square" lIns="0" tIns="0" rIns="0" bIns="0" rtlCol="0" anchor="t"/>
          <a:lstStyle/>
          <a:p>
            <a:pPr indent="0" marL="0">
              <a:buNone/>
            </a:pPr>
            <a:r>
              <a:rPr lang="en-US" sz="1500" b="1" dirty="0">
                <a:solidFill>
                  <a:schemeClr val="tx2"/>
                </a:solidFill>
              </a:rPr>
              <a:t>How the solution achieves this</a:t>
            </a:r>
            <a:endParaRPr lang="en-US" sz="1500" dirty="0"/>
          </a:p>
        </p:txBody>
      </p:sp>
      <p:sp>
        <p:nvSpPr>
          <p:cNvPr id="8" name="Shape 4"/>
          <p:cNvSpPr/>
          <p:nvPr/>
        </p:nvSpPr>
        <p:spPr>
          <a:xfrm>
            <a:off x="7498080" y="2103120"/>
            <a:ext cx="457200" cy="457200"/>
          </a:xfrm>
          <a:prstGeom prst="ellipse">
            <a:avLst/>
          </a:prstGeom>
          <a:solidFill>
            <a:schemeClr val="tx2"/>
          </a:solidFill>
          <a:ln/>
        </p:spPr>
      </p:sp>
      <p:pic>
        <p:nvPicPr>
          <p:cNvPr id="9" name="Image 0" descr="preencoded.png">    </p:cNvPr>
          <p:cNvPicPr>
            <a:picLocks noChangeAspect="1"/>
          </p:cNvPicPr>
          <p:nvPr/>
        </p:nvPicPr>
        <p:blipFill>
          <a:blip r:embed="rId1"/>
          <a:stretch>
            <a:fillRect/>
          </a:stretch>
        </p:blipFill>
        <p:spPr>
          <a:xfrm>
            <a:off x="7612380" y="2217420"/>
            <a:ext cx="228600" cy="228600"/>
          </a:xfrm>
          <a:prstGeom prst="rect">
            <a:avLst/>
          </a:prstGeom>
        </p:spPr>
      </p:pic>
      <p:sp>
        <p:nvSpPr>
          <p:cNvPr id="10" name="Text 5"/>
          <p:cNvSpPr txBox="1"/>
          <p:nvPr/>
        </p:nvSpPr>
        <p:spPr>
          <a:xfrm>
            <a:off x="8183880" y="2103120"/>
            <a:ext cx="3474720" cy="502920"/>
          </a:xfrm>
          <a:prstGeom prst="rect">
            <a:avLst/>
          </a:prstGeom>
          <a:noFill/>
          <a:ln/>
        </p:spPr>
        <p:txBody>
          <a:bodyPr wrap="square" lIns="0" tIns="0" rIns="0" bIns="0" rtlCol="0" anchor="ctr"/>
          <a:lstStyle/>
          <a:p>
            <a:pPr indent="0" marL="0">
              <a:buNone/>
            </a:pPr>
            <a:r>
              <a:rPr lang="en-US" sz="1250" dirty="0">
                <a:solidFill>
                  <a:schemeClr val="tx1"/>
                </a:solidFill>
              </a:rPr>
              <a:t>Credentials kept in non-volatile storage</a:t>
            </a:r>
            <a:endParaRPr lang="en-US" sz="1250" dirty="0"/>
          </a:p>
        </p:txBody>
      </p:sp>
      <p:sp>
        <p:nvSpPr>
          <p:cNvPr id="11" name="Shape 6"/>
          <p:cNvSpPr/>
          <p:nvPr/>
        </p:nvSpPr>
        <p:spPr>
          <a:xfrm>
            <a:off x="7498080" y="2807208"/>
            <a:ext cx="457200" cy="45720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7612380" y="2921508"/>
            <a:ext cx="228600" cy="228600"/>
          </a:xfrm>
          <a:prstGeom prst="rect">
            <a:avLst/>
          </a:prstGeom>
        </p:spPr>
      </p:pic>
      <p:sp>
        <p:nvSpPr>
          <p:cNvPr id="13" name="Text 7"/>
          <p:cNvSpPr txBox="1"/>
          <p:nvPr/>
        </p:nvSpPr>
        <p:spPr>
          <a:xfrm>
            <a:off x="8183880" y="2807208"/>
            <a:ext cx="3474720" cy="502920"/>
          </a:xfrm>
          <a:prstGeom prst="rect">
            <a:avLst/>
          </a:prstGeom>
          <a:noFill/>
          <a:ln/>
        </p:spPr>
        <p:txBody>
          <a:bodyPr wrap="square" lIns="0" tIns="0" rIns="0" bIns="0" rtlCol="0" anchor="ctr"/>
          <a:lstStyle/>
          <a:p>
            <a:pPr indent="0" marL="0">
              <a:buNone/>
            </a:pPr>
            <a:r>
              <a:rPr lang="en-US" sz="1250" dirty="0">
                <a:solidFill>
                  <a:schemeClr val="tx1"/>
                </a:solidFill>
              </a:rPr>
              <a:t>Settings separated from firmware and preserved on upgrade</a:t>
            </a:r>
            <a:endParaRPr lang="en-US" sz="1250" dirty="0"/>
          </a:p>
        </p:txBody>
      </p:sp>
      <p:sp>
        <p:nvSpPr>
          <p:cNvPr id="14" name="Shape 8"/>
          <p:cNvSpPr/>
          <p:nvPr/>
        </p:nvSpPr>
        <p:spPr>
          <a:xfrm>
            <a:off x="7498080" y="3511296"/>
            <a:ext cx="457200" cy="457200"/>
          </a:xfrm>
          <a:prstGeom prst="ellipse">
            <a:avLst/>
          </a:prstGeom>
          <a:solidFill>
            <a:schemeClr val="tx2"/>
          </a:solidFill>
          <a:ln/>
        </p:spPr>
      </p:sp>
      <p:pic>
        <p:nvPicPr>
          <p:cNvPr id="15" name="Image 2" descr="preencoded.png">    </p:cNvPr>
          <p:cNvPicPr>
            <a:picLocks noChangeAspect="1"/>
          </p:cNvPicPr>
          <p:nvPr/>
        </p:nvPicPr>
        <p:blipFill>
          <a:blip r:embed="rId3"/>
          <a:stretch>
            <a:fillRect/>
          </a:stretch>
        </p:blipFill>
        <p:spPr>
          <a:xfrm>
            <a:off x="7612380" y="3625596"/>
            <a:ext cx="228600" cy="228600"/>
          </a:xfrm>
          <a:prstGeom prst="rect">
            <a:avLst/>
          </a:prstGeom>
        </p:spPr>
      </p:pic>
      <p:sp>
        <p:nvSpPr>
          <p:cNvPr id="16" name="Text 9"/>
          <p:cNvSpPr txBox="1"/>
          <p:nvPr/>
        </p:nvSpPr>
        <p:spPr>
          <a:xfrm>
            <a:off x="8183880" y="3511296"/>
            <a:ext cx="3474720" cy="502920"/>
          </a:xfrm>
          <a:prstGeom prst="rect">
            <a:avLst/>
          </a:prstGeom>
          <a:noFill/>
          <a:ln/>
        </p:spPr>
        <p:txBody>
          <a:bodyPr wrap="square" lIns="0" tIns="0" rIns="0" bIns="0" rtlCol="0" anchor="ctr"/>
          <a:lstStyle/>
          <a:p>
            <a:pPr indent="0" marL="0">
              <a:buNone/>
            </a:pPr>
            <a:r>
              <a:rPr lang="en-US" sz="1250" dirty="0">
                <a:solidFill>
                  <a:schemeClr val="tx1"/>
                </a:solidFill>
              </a:rPr>
              <a:t>Automatic reconnection after any outage</a:t>
            </a:r>
            <a:endParaRPr lang="en-US" sz="1250" dirty="0"/>
          </a:p>
        </p:txBody>
      </p:sp>
      <p:sp>
        <p:nvSpPr>
          <p:cNvPr id="17" name="Shape 10"/>
          <p:cNvSpPr/>
          <p:nvPr/>
        </p:nvSpPr>
        <p:spPr>
          <a:xfrm>
            <a:off x="7498080" y="4215384"/>
            <a:ext cx="457200" cy="457200"/>
          </a:xfrm>
          <a:prstGeom prst="ellipse">
            <a:avLst/>
          </a:prstGeom>
          <a:solidFill>
            <a:schemeClr val="accent1"/>
          </a:solidFill>
          <a:ln/>
        </p:spPr>
      </p:sp>
      <p:pic>
        <p:nvPicPr>
          <p:cNvPr id="18" name="Image 3" descr="preencoded.png">    </p:cNvPr>
          <p:cNvPicPr>
            <a:picLocks noChangeAspect="1"/>
          </p:cNvPicPr>
          <p:nvPr/>
        </p:nvPicPr>
        <p:blipFill>
          <a:blip r:embed="rId4"/>
          <a:stretch>
            <a:fillRect/>
          </a:stretch>
        </p:blipFill>
        <p:spPr>
          <a:xfrm>
            <a:off x="7612380" y="4329684"/>
            <a:ext cx="228600" cy="228600"/>
          </a:xfrm>
          <a:prstGeom prst="rect">
            <a:avLst/>
          </a:prstGeom>
        </p:spPr>
      </p:pic>
      <p:sp>
        <p:nvSpPr>
          <p:cNvPr id="19" name="Text 11"/>
          <p:cNvSpPr txBox="1"/>
          <p:nvPr/>
        </p:nvSpPr>
        <p:spPr>
          <a:xfrm>
            <a:off x="8183880" y="4215384"/>
            <a:ext cx="3474720" cy="502920"/>
          </a:xfrm>
          <a:prstGeom prst="rect">
            <a:avLst/>
          </a:prstGeom>
          <a:noFill/>
          <a:ln/>
        </p:spPr>
        <p:txBody>
          <a:bodyPr wrap="square" lIns="0" tIns="0" rIns="0" bIns="0" rtlCol="0" anchor="ctr"/>
          <a:lstStyle/>
          <a:p>
            <a:pPr indent="0" marL="0">
              <a:buNone/>
            </a:pPr>
            <a:r>
              <a:rPr lang="en-US" sz="1250" dirty="0">
                <a:solidFill>
                  <a:schemeClr val="tx1"/>
                </a:solidFill>
              </a:rPr>
              <a:t>Failed updates roll back to the last working version</a:t>
            </a:r>
            <a:endParaRPr lang="en-US" sz="1250" dirty="0"/>
          </a:p>
        </p:txBody>
      </p:sp>
      <p:sp>
        <p:nvSpPr>
          <p:cNvPr id="20" name="Proposed response"/>
          <p:cNvSpPr/>
          <p:nvPr/>
        </p:nvSpPr>
        <p:spPr>
          <a:xfrm>
            <a:off x="548640" y="5029200"/>
            <a:ext cx="11091672" cy="457200"/>
          </a:xfrm>
          <a:prstGeom prst="rect">
            <a:avLst/>
          </a:prstGeom>
          <a:solidFill>
            <a:srgbClr val="E6F6F7"/>
          </a:solidFill>
          <a:ln w="12700">
            <a:solidFill>
              <a:srgbClr val="00A3AD"/>
            </a:solidFill>
            <a:prstDash val="dash"/>
          </a:ln>
        </p:spPr>
      </p:sp>
      <p:sp>
        <p:nvSpPr>
          <p:cNvPr id="21" name="Text 13"/>
          <p:cNvSpPr txBox="1"/>
          <p:nvPr/>
        </p:nvSpPr>
        <p:spPr>
          <a:xfrm>
            <a:off x="640080" y="5029200"/>
            <a:ext cx="10908792" cy="457200"/>
          </a:xfrm>
          <a:prstGeom prst="rect">
            <a:avLst/>
          </a:prstGeom>
          <a:noFill/>
          <a:ln/>
        </p:spPr>
        <p:txBody>
          <a:bodyPr wrap="square" lIns="0" tIns="0" rIns="0" bIns="0" rtlCol="0" anchor="ctr"/>
          <a:lstStyle/>
          <a:p>
            <a:pPr indent="0" marL="0">
              <a:buNone/>
            </a:pPr>
            <a:r>
              <a:rPr lang="en-US" sz="1100" b="1" dirty="0">
                <a:solidFill>
                  <a:srgbClr val="0B6F76"/>
                </a:solidFill>
              </a:rPr>
              <a:t>PROPOSED  </a:t>
            </a:r>
            <a:pPr indent="0" marL="0">
              <a:buNone/>
            </a:pPr>
            <a:r>
              <a:rPr lang="en-US" sz="1100" dirty="0">
                <a:solidFill>
                  <a:srgbClr val="1F2937"/>
                </a:solidFill>
              </a:rPr>
              <a:t>Answer written for KTPH's stated expectation: no password re-entry after any outage or upgrade.</a:t>
            </a:r>
            <a:endParaRPr lang="en-US" sz="1100" dirty="0"/>
          </a:p>
        </p:txBody>
      </p:sp>
      <p:sp>
        <p:nvSpPr>
          <p:cNvPr id="22" name="Input placeholder"/>
          <p:cNvSpPr/>
          <p:nvPr/>
        </p:nvSpPr>
        <p:spPr>
          <a:xfrm>
            <a:off x="548640" y="5577840"/>
            <a:ext cx="11091672" cy="457200"/>
          </a:xfrm>
          <a:prstGeom prst="rect">
            <a:avLst/>
          </a:prstGeom>
          <a:solidFill>
            <a:srgbClr val="FFF4D6"/>
          </a:solidFill>
          <a:ln w="12700">
            <a:solidFill>
              <a:srgbClr val="F2A900"/>
            </a:solidFill>
            <a:prstDash val="dash"/>
          </a:ln>
        </p:spPr>
      </p:sp>
      <p:sp>
        <p:nvSpPr>
          <p:cNvPr id="23" name="Text 15"/>
          <p:cNvSpPr txBox="1"/>
          <p:nvPr/>
        </p:nvSpPr>
        <p:spPr>
          <a:xfrm>
            <a:off x="640080" y="5577840"/>
            <a:ext cx="10908792" cy="457200"/>
          </a:xfrm>
          <a:prstGeom prst="rect">
            <a:avLst/>
          </a:prstGeom>
          <a:noFill/>
          <a:ln/>
        </p:spPr>
        <p:txBody>
          <a:bodyPr wrap="square" lIns="0" tIns="0" rIns="0" bIns="0" rtlCol="0" anchor="ctr"/>
          <a:lstStyle/>
          <a:p>
            <a:pPr indent="0" marL="0">
              <a:buNone/>
            </a:pPr>
            <a:r>
              <a:rPr lang="en-US" sz="1100" i="1" dirty="0">
                <a:solidFill>
                  <a:srgbClr val="7A4F00"/>
                </a:solidFill>
              </a:rPr>
              <a:t>[INPUT REQUIRED] Engineering to confirm storage method, upgrade behaviour and rollback against the actual firmware.</a:t>
            </a:r>
            <a:endParaRPr lang="en-US" sz="11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8 · NETWORK CONNECTIVITY AND RELAY DEVICES</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The design keeps hospital networks and patient data protected and the service observable</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Master Agreement Schedules 7, 8 and 11; RFP Consent Form Annex A (IT Security Compliance List, Third-Party PDPA checklist, SaaS security requirements).</a:t>
            </a:r>
            <a:endParaRPr lang="en-US" sz="900" dirty="0"/>
          </a:p>
        </p:txBody>
      </p:sp>
      <p:sp>
        <p:nvSpPr>
          <p:cNvPr id="6" name="Card Network security"/>
          <p:cNvSpPr/>
          <p:nvPr/>
        </p:nvSpPr>
        <p:spPr>
          <a:xfrm>
            <a:off x="548640" y="1691640"/>
            <a:ext cx="3566160" cy="3108960"/>
          </a:xfrm>
          <a:prstGeom prst="rect">
            <a:avLst/>
          </a:prstGeom>
          <a:solidFill>
            <a:schemeClr val="bg2"/>
          </a:solidFill>
          <a:ln/>
        </p:spPr>
      </p:sp>
      <p:sp>
        <p:nvSpPr>
          <p:cNvPr id="7" name="Shape 4"/>
          <p:cNvSpPr/>
          <p:nvPr/>
        </p:nvSpPr>
        <p:spPr>
          <a:xfrm>
            <a:off x="731520" y="1874520"/>
            <a:ext cx="475488" cy="475488"/>
          </a:xfrm>
          <a:prstGeom prst="ellipse">
            <a:avLst/>
          </a:prstGeom>
          <a:solidFill>
            <a:schemeClr val="tx2"/>
          </a:solidFill>
          <a:ln/>
        </p:spPr>
      </p:sp>
      <p:pic>
        <p:nvPicPr>
          <p:cNvPr id="8" name="Image 0" descr="preencoded.png">    </p:cNvPr>
          <p:cNvPicPr>
            <a:picLocks noChangeAspect="1"/>
          </p:cNvPicPr>
          <p:nvPr/>
        </p:nvPicPr>
        <p:blipFill>
          <a:blip r:embed="rId1"/>
          <a:stretch>
            <a:fillRect/>
          </a:stretch>
        </p:blipFill>
        <p:spPr>
          <a:xfrm>
            <a:off x="850392" y="1993392"/>
            <a:ext cx="237744" cy="237744"/>
          </a:xfrm>
          <a:prstGeom prst="rect">
            <a:avLst/>
          </a:prstGeom>
        </p:spPr>
      </p:pic>
      <p:sp>
        <p:nvSpPr>
          <p:cNvPr id="9" name="Text 5"/>
          <p:cNvSpPr txBox="1"/>
          <p:nvPr/>
        </p:nvSpPr>
        <p:spPr>
          <a:xfrm>
            <a:off x="1325880" y="1874520"/>
            <a:ext cx="2606040" cy="475488"/>
          </a:xfrm>
          <a:prstGeom prst="rect">
            <a:avLst/>
          </a:prstGeom>
          <a:noFill/>
          <a:ln/>
        </p:spPr>
        <p:txBody>
          <a:bodyPr wrap="square" lIns="0" tIns="0" rIns="0" bIns="0" rtlCol="0" anchor="ctr"/>
          <a:lstStyle/>
          <a:p>
            <a:pPr indent="0" marL="0">
              <a:buNone/>
            </a:pPr>
            <a:r>
              <a:rPr lang="en-US" sz="1400" b="1" dirty="0">
                <a:solidFill>
                  <a:schemeClr val="tx2"/>
                </a:solidFill>
              </a:rPr>
              <a:t>Network security</a:t>
            </a:r>
            <a:endParaRPr lang="en-US" sz="1400" dirty="0"/>
          </a:p>
        </p:txBody>
      </p:sp>
      <p:sp>
        <p:nvSpPr>
          <p:cNvPr id="10" name="Text 6"/>
          <p:cNvSpPr txBox="1"/>
          <p:nvPr/>
        </p:nvSpPr>
        <p:spPr>
          <a:xfrm>
            <a:off x="731520" y="2514600"/>
            <a:ext cx="3200400" cy="214884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Connects as a normal Wi-Fi client under hospital policy</a:t>
            </a:r>
            <a:endParaRPr lang="en-US" sz="1200" dirty="0"/>
          </a:p>
          <a:p>
            <a:pPr marL="152400" indent="-152400">
              <a:spcAft>
                <a:spcPts val="400"/>
              </a:spcAft>
              <a:buSzPct val="100000"/>
              <a:buChar char="•"/>
            </a:pPr>
            <a:r>
              <a:rPr lang="en-US" sz="1200" dirty="0">
                <a:solidFill>
                  <a:schemeClr val="tx1"/>
                </a:solidFill>
              </a:rPr>
              <a:t>BLE between sensor and relay</a:t>
            </a:r>
            <a:endParaRPr lang="en-US" sz="1200" dirty="0"/>
          </a:p>
          <a:p>
            <a:pPr marL="152400" indent="-152400">
              <a:spcAft>
                <a:spcPts val="400"/>
              </a:spcAft>
              <a:buSzPct val="100000"/>
              <a:buChar char="•"/>
            </a:pPr>
            <a:r>
              <a:rPr lang="en-US" sz="1200" dirty="0">
                <a:solidFill>
                  <a:schemeClr val="tx1"/>
                </a:solidFill>
              </a:rPr>
              <a:t>Encrypted connection to the cloud [confirm]</a:t>
            </a:r>
            <a:endParaRPr lang="en-US" sz="1200" dirty="0"/>
          </a:p>
          <a:p>
            <a:pPr marL="152400" indent="-152400">
              <a:spcAft>
                <a:spcPts val="400"/>
              </a:spcAft>
              <a:buSzPct val="100000"/>
              <a:buChar char="•"/>
            </a:pPr>
            <a:r>
              <a:rPr lang="en-US" sz="1200" dirty="0">
                <a:solidFill>
                  <a:schemeClr val="tx1"/>
                </a:solidFill>
              </a:rPr>
              <a:t>Relay identified by hardware address for hospital approval</a:t>
            </a:r>
            <a:endParaRPr lang="en-US" sz="1200" dirty="0"/>
          </a:p>
        </p:txBody>
      </p:sp>
      <p:sp>
        <p:nvSpPr>
          <p:cNvPr id="11" name="Card Data protection"/>
          <p:cNvSpPr/>
          <p:nvPr/>
        </p:nvSpPr>
        <p:spPr>
          <a:xfrm>
            <a:off x="4315968" y="1691640"/>
            <a:ext cx="3566160" cy="3108960"/>
          </a:xfrm>
          <a:prstGeom prst="rect">
            <a:avLst/>
          </a:prstGeom>
          <a:solidFill>
            <a:schemeClr val="bg2"/>
          </a:solidFill>
          <a:ln/>
        </p:spPr>
      </p:sp>
      <p:sp>
        <p:nvSpPr>
          <p:cNvPr id="12" name="Shape 8"/>
          <p:cNvSpPr/>
          <p:nvPr/>
        </p:nvSpPr>
        <p:spPr>
          <a:xfrm>
            <a:off x="4498848" y="1874520"/>
            <a:ext cx="475488" cy="475488"/>
          </a:xfrm>
          <a:prstGeom prst="ellipse">
            <a:avLst/>
          </a:prstGeom>
          <a:solidFill>
            <a:schemeClr val="tx2"/>
          </a:solidFill>
          <a:ln/>
        </p:spPr>
      </p:sp>
      <p:pic>
        <p:nvPicPr>
          <p:cNvPr id="13" name="Image 1" descr="preencoded.png">    </p:cNvPr>
          <p:cNvPicPr>
            <a:picLocks noChangeAspect="1"/>
          </p:cNvPicPr>
          <p:nvPr/>
        </p:nvPicPr>
        <p:blipFill>
          <a:blip r:embed="rId2"/>
          <a:stretch>
            <a:fillRect/>
          </a:stretch>
        </p:blipFill>
        <p:spPr>
          <a:xfrm>
            <a:off x="4617720" y="1993392"/>
            <a:ext cx="237744" cy="237744"/>
          </a:xfrm>
          <a:prstGeom prst="rect">
            <a:avLst/>
          </a:prstGeom>
        </p:spPr>
      </p:pic>
      <p:sp>
        <p:nvSpPr>
          <p:cNvPr id="14" name="Text 9"/>
          <p:cNvSpPr txBox="1"/>
          <p:nvPr/>
        </p:nvSpPr>
        <p:spPr>
          <a:xfrm>
            <a:off x="5093208" y="1874520"/>
            <a:ext cx="2606040" cy="475488"/>
          </a:xfrm>
          <a:prstGeom prst="rect">
            <a:avLst/>
          </a:prstGeom>
          <a:noFill/>
          <a:ln/>
        </p:spPr>
        <p:txBody>
          <a:bodyPr wrap="square" lIns="0" tIns="0" rIns="0" bIns="0" rtlCol="0" anchor="ctr"/>
          <a:lstStyle/>
          <a:p>
            <a:pPr indent="0" marL="0">
              <a:buNone/>
            </a:pPr>
            <a:r>
              <a:rPr lang="en-US" sz="1400" b="1" dirty="0">
                <a:solidFill>
                  <a:schemeClr val="tx2"/>
                </a:solidFill>
              </a:rPr>
              <a:t>Data protection</a:t>
            </a:r>
            <a:endParaRPr lang="en-US" sz="1400" dirty="0"/>
          </a:p>
        </p:txBody>
      </p:sp>
      <p:sp>
        <p:nvSpPr>
          <p:cNvPr id="15" name="Text 10"/>
          <p:cNvSpPr txBox="1"/>
          <p:nvPr/>
        </p:nvSpPr>
        <p:spPr>
          <a:xfrm>
            <a:off x="4498848" y="2514600"/>
            <a:ext cx="3200400" cy="214884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PDPA terms of the Master Agreement (Schedule 7) accepted</a:t>
            </a:r>
            <a:endParaRPr lang="en-US" sz="1200" dirty="0"/>
          </a:p>
          <a:p>
            <a:pPr marL="152400" indent="-152400">
              <a:spcAft>
                <a:spcPts val="400"/>
              </a:spcAft>
              <a:buSzPct val="100000"/>
              <a:buChar char="•"/>
            </a:pPr>
            <a:r>
              <a:rPr lang="en-US" sz="1200" dirty="0">
                <a:solidFill>
                  <a:schemeClr val="tx1"/>
                </a:solidFill>
              </a:rPr>
              <a:t>Personal data not moved outside Singapore without written consent</a:t>
            </a:r>
            <a:endParaRPr lang="en-US" sz="1200" dirty="0"/>
          </a:p>
          <a:p>
            <a:pPr marL="152400" indent="-152400">
              <a:spcAft>
                <a:spcPts val="400"/>
              </a:spcAft>
              <a:buSzPct val="100000"/>
              <a:buChar char="•"/>
            </a:pPr>
            <a:r>
              <a:rPr lang="en-US" sz="1200" dirty="0">
                <a:solidFill>
                  <a:schemeClr val="tx1"/>
                </a:solidFill>
              </a:rPr>
              <a:t>Role-based access to the dashboard</a:t>
            </a:r>
            <a:endParaRPr lang="en-US" sz="1200" dirty="0"/>
          </a:p>
          <a:p>
            <a:pPr marL="152400" indent="-152400">
              <a:spcAft>
                <a:spcPts val="400"/>
              </a:spcAft>
              <a:buSzPct val="100000"/>
              <a:buChar char="•"/>
            </a:pPr>
            <a:r>
              <a:rPr lang="en-US" sz="1200" dirty="0">
                <a:solidFill>
                  <a:schemeClr val="tx1"/>
                </a:solidFill>
              </a:rPr>
              <a:t>Cloud hosting location: [INPUT REQUIRED]</a:t>
            </a:r>
            <a:endParaRPr lang="en-US" sz="1200" dirty="0"/>
          </a:p>
        </p:txBody>
      </p:sp>
      <p:sp>
        <p:nvSpPr>
          <p:cNvPr id="16" name="Card Operational monitoring"/>
          <p:cNvSpPr/>
          <p:nvPr/>
        </p:nvSpPr>
        <p:spPr>
          <a:xfrm>
            <a:off x="8074152" y="1691640"/>
            <a:ext cx="3566160" cy="3108960"/>
          </a:xfrm>
          <a:prstGeom prst="rect">
            <a:avLst/>
          </a:prstGeom>
          <a:solidFill>
            <a:schemeClr val="bg2"/>
          </a:solidFill>
          <a:ln/>
        </p:spPr>
      </p:sp>
      <p:sp>
        <p:nvSpPr>
          <p:cNvPr id="17" name="Shape 12"/>
          <p:cNvSpPr/>
          <p:nvPr/>
        </p:nvSpPr>
        <p:spPr>
          <a:xfrm>
            <a:off x="8257032" y="1874520"/>
            <a:ext cx="475488" cy="475488"/>
          </a:xfrm>
          <a:prstGeom prst="ellipse">
            <a:avLst/>
          </a:prstGeom>
          <a:solidFill>
            <a:schemeClr val="tx2"/>
          </a:solidFill>
          <a:ln/>
        </p:spPr>
      </p:sp>
      <p:pic>
        <p:nvPicPr>
          <p:cNvPr id="18" name="Image 2" descr="preencoded.png">    </p:cNvPr>
          <p:cNvPicPr>
            <a:picLocks noChangeAspect="1"/>
          </p:cNvPicPr>
          <p:nvPr/>
        </p:nvPicPr>
        <p:blipFill>
          <a:blip r:embed="rId3"/>
          <a:stretch>
            <a:fillRect/>
          </a:stretch>
        </p:blipFill>
        <p:spPr>
          <a:xfrm>
            <a:off x="8375904" y="1993392"/>
            <a:ext cx="237744" cy="237744"/>
          </a:xfrm>
          <a:prstGeom prst="rect">
            <a:avLst/>
          </a:prstGeom>
        </p:spPr>
      </p:pic>
      <p:sp>
        <p:nvSpPr>
          <p:cNvPr id="19" name="Text 13"/>
          <p:cNvSpPr txBox="1"/>
          <p:nvPr/>
        </p:nvSpPr>
        <p:spPr>
          <a:xfrm>
            <a:off x="8851392" y="1874520"/>
            <a:ext cx="2606040" cy="475488"/>
          </a:xfrm>
          <a:prstGeom prst="rect">
            <a:avLst/>
          </a:prstGeom>
          <a:noFill/>
          <a:ln/>
        </p:spPr>
        <p:txBody>
          <a:bodyPr wrap="square" lIns="0" tIns="0" rIns="0" bIns="0" rtlCol="0" anchor="ctr"/>
          <a:lstStyle/>
          <a:p>
            <a:pPr indent="0" marL="0">
              <a:buNone/>
            </a:pPr>
            <a:r>
              <a:rPr lang="en-US" sz="1400" b="1" dirty="0">
                <a:solidFill>
                  <a:schemeClr val="tx2"/>
                </a:solidFill>
              </a:rPr>
              <a:t>Operational monitoring</a:t>
            </a:r>
            <a:endParaRPr lang="en-US" sz="1400" dirty="0"/>
          </a:p>
        </p:txBody>
      </p:sp>
      <p:sp>
        <p:nvSpPr>
          <p:cNvPr id="20" name="Text 14"/>
          <p:cNvSpPr txBox="1"/>
          <p:nvPr/>
        </p:nvSpPr>
        <p:spPr>
          <a:xfrm>
            <a:off x="8257032" y="2514600"/>
            <a:ext cx="3200400" cy="214884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Relay online/offline status on the dashboard</a:t>
            </a:r>
            <a:endParaRPr lang="en-US" sz="1200" dirty="0"/>
          </a:p>
          <a:p>
            <a:pPr marL="152400" indent="-152400">
              <a:spcAft>
                <a:spcPts val="400"/>
              </a:spcAft>
              <a:buSzPct val="100000"/>
              <a:buChar char="•"/>
            </a:pPr>
            <a:r>
              <a:rPr lang="en-US" sz="1200" dirty="0">
                <a:solidFill>
                  <a:schemeClr val="tx1"/>
                </a:solidFill>
              </a:rPr>
              <a:t>Remote diagnostics by approved engineers</a:t>
            </a:r>
            <a:endParaRPr lang="en-US" sz="1200" dirty="0"/>
          </a:p>
          <a:p>
            <a:pPr marL="152400" indent="-152400">
              <a:spcAft>
                <a:spcPts val="400"/>
              </a:spcAft>
              <a:buSzPct val="100000"/>
              <a:buChar char="•"/>
            </a:pPr>
            <a:r>
              <a:rPr lang="en-US" sz="1200" dirty="0">
                <a:solidFill>
                  <a:schemeClr val="tx1"/>
                </a:solidFill>
              </a:rPr>
              <a:t>Upgrades scheduled with the hospital</a:t>
            </a:r>
            <a:endParaRPr lang="en-US" sz="1200" dirty="0"/>
          </a:p>
          <a:p>
            <a:pPr marL="152400" indent="-152400">
              <a:spcAft>
                <a:spcPts val="400"/>
              </a:spcAft>
              <a:buSzPct val="100000"/>
              <a:buChar char="•"/>
            </a:pPr>
            <a:r>
              <a:rPr lang="en-US" sz="1200" dirty="0">
                <a:solidFill>
                  <a:schemeClr val="tx1"/>
                </a:solidFill>
              </a:rPr>
              <a:t>Cybersecurity terms of Schedule 11 accepted</a:t>
            </a:r>
            <a:endParaRPr lang="en-US" sz="1200" dirty="0"/>
          </a:p>
        </p:txBody>
      </p:sp>
      <p:sp>
        <p:nvSpPr>
          <p:cNvPr id="21" name="Input placeholder"/>
          <p:cNvSpPr/>
          <p:nvPr/>
        </p:nvSpPr>
        <p:spPr>
          <a:xfrm>
            <a:off x="548640" y="5074920"/>
            <a:ext cx="11091672" cy="777240"/>
          </a:xfrm>
          <a:prstGeom prst="rect">
            <a:avLst/>
          </a:prstGeom>
          <a:solidFill>
            <a:srgbClr val="FFF4D6"/>
          </a:solidFill>
          <a:ln w="12700">
            <a:solidFill>
              <a:srgbClr val="F2A900"/>
            </a:solidFill>
            <a:prstDash val="dash"/>
          </a:ln>
        </p:spPr>
      </p:sp>
      <p:sp>
        <p:nvSpPr>
          <p:cNvPr id="22" name="Text 16"/>
          <p:cNvSpPr txBox="1"/>
          <p:nvPr/>
        </p:nvSpPr>
        <p:spPr>
          <a:xfrm>
            <a:off x="640080" y="5074920"/>
            <a:ext cx="10908792" cy="777240"/>
          </a:xfrm>
          <a:prstGeom prst="rect">
            <a:avLst/>
          </a:prstGeom>
          <a:noFill/>
          <a:ln/>
        </p:spPr>
        <p:txBody>
          <a:bodyPr wrap="square" lIns="0" tIns="0" rIns="0" bIns="0" rtlCol="0" anchor="ctr"/>
          <a:lstStyle/>
          <a:p>
            <a:pPr indent="0" marL="0">
              <a:buNone/>
            </a:pPr>
            <a:r>
              <a:rPr lang="en-US" sz="1100" i="1" dirty="0">
                <a:solidFill>
                  <a:srgbClr val="7A4F00"/>
                </a:solidFill>
              </a:rPr>
              <a:t>[INPUT REQUIRED] Status of IT Security Compliance List, Third-Party PDPA checklist and SaaS security requirements (Annex A) — attach completed forms.</a:t>
            </a:r>
            <a:endParaRPr lang="en-US" sz="11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DISCUSSION</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Eight confirmations from NHG, ALPS and the hospitals will fix the final design, service levels and price</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analysis of RFP documents, NHG requirement table and Master Agreement.</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548640"/>
                <a:gridCol w="6858000"/>
                <a:gridCol w="3685032"/>
              </a:tblGrid>
              <a:tr h="475488">
                <a:tc>
                  <a:txBody>
                    <a:bodyPr/>
                    <a:lstStyle/>
                    <a:p>
                      <a:pPr indent="0" marL="0">
                        <a:buNone/>
                      </a:pPr>
                      <a:r>
                        <a:rPr lang="en-US" sz="1150" b="1" dirty="0">
                          <a:solidFill>
                            <a:srgbClr val="FFFFFF"/>
                          </a:solidFill>
                        </a:rPr>
                        <a:t>#</a:t>
                      </a:r>
                      <a:endParaRPr lang="en-US" sz="11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50" b="1" dirty="0">
                          <a:solidFill>
                            <a:srgbClr val="FFFFFF"/>
                          </a:solidFill>
                        </a:rPr>
                        <a:t>Confirmation needed</a:t>
                      </a:r>
                      <a:endParaRPr lang="en-US" sz="11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50" b="1" dirty="0">
                          <a:solidFill>
                            <a:srgbClr val="FFFFFF"/>
                          </a:solidFill>
                        </a:rPr>
                        <a:t>Why it matters</a:t>
                      </a:r>
                      <a:endParaRPr lang="en-US" sz="11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r>
              <a:tr h="475488">
                <a:tc>
                  <a:txBody>
                    <a:bodyPr/>
                    <a:lstStyle/>
                    <a:p>
                      <a:pPr indent="0" marL="0">
                        <a:buNone/>
                      </a:pPr>
                      <a:r>
                        <a:rPr lang="en-US" sz="1150" b="1" dirty="0">
                          <a:solidFill>
                            <a:srgbClr val="1F2937"/>
                          </a:solidFill>
                        </a:rPr>
                        <a:t>1</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rPr>
                        <a:t>Ward layouts for all three hospitals; editable BLE quantity in the tender sheet</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rPr>
                        <a:t>Fixes the gateway count per ward</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rgbClr val="1F2937"/>
                          </a:solidFill>
                        </a:rPr>
                        <a:t>2</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50" dirty="0">
                          <a:solidFill>
                            <a:srgbClr val="1F2937"/>
                          </a:solidFill>
                        </a:rPr>
                        <a:t>Cubicle counts for TTSH 5A, 7C and WH W62; KTPH Tower B single rooms</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50" dirty="0">
                          <a:solidFill>
                            <a:srgbClr val="1F2937"/>
                          </a:solidFill>
                        </a:rPr>
                        <a:t>Counts are estimated today</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475488">
                <a:tc>
                  <a:txBody>
                    <a:bodyPr/>
                    <a:lstStyle/>
                    <a:p>
                      <a:pPr indent="0" marL="0">
                        <a:buNone/>
                      </a:pPr>
                      <a:r>
                        <a:rPr lang="en-US" sz="1150" b="1" dirty="0">
                          <a:solidFill>
                            <a:srgbClr val="1F2937"/>
                          </a:solidFill>
                        </a:rPr>
                        <a:t>3</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rPr>
                        <a:t>Power: KTPH ceiling power specification; sockets in WH A41 and TTSH 13B corridors</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rPr>
                        <a:t>Mounting and gateway count</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rgbClr val="1F2937"/>
                          </a:solidFill>
                        </a:rPr>
                        <a:t>4</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50" dirty="0">
                          <a:solidFill>
                            <a:srgbClr val="1F2937"/>
                          </a:solidFill>
                        </a:rPr>
                        <a:t>2.4 GHz SSID, authentication type, VLAN, MAC approval, IT contact</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50" dirty="0">
                          <a:solidFill>
                            <a:srgbClr val="1F2937"/>
                          </a:solidFill>
                        </a:rPr>
                        <a:t>Relay radio is 2.4 GHz only</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475488">
                <a:tc>
                  <a:txBody>
                    <a:bodyPr/>
                    <a:lstStyle/>
                    <a:p>
                      <a:pPr indent="0" marL="0">
                        <a:buNone/>
                      </a:pPr>
                      <a:r>
                        <a:rPr lang="en-US" sz="1150" b="1" dirty="0">
                          <a:solidFill>
                            <a:srgbClr val="1F2937"/>
                          </a:solidFill>
                        </a:rPr>
                        <a:t>5</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rPr>
                        <a:t>Spare-parts period: 7 years from delivery or 10 years after end-of-life?</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rPr>
                        <a:t>Contract and service pricing</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rgbClr val="1F2937"/>
                          </a:solidFill>
                        </a:rPr>
                        <a:t>6</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50" dirty="0">
                          <a:solidFill>
                            <a:srgbClr val="1F2937"/>
                          </a:solidFill>
                        </a:rPr>
                        <a:t>Security deposit and insurance timing (14 days RFP; 30 days Schedule 2)</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50" dirty="0">
                          <a:solidFill>
                            <a:srgbClr val="1F2937"/>
                          </a:solidFill>
                        </a:rPr>
                        <a:t>Mobilisation plan</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475488">
                <a:tc>
                  <a:txBody>
                    <a:bodyPr/>
                    <a:lstStyle/>
                    <a:p>
                      <a:pPr indent="0" marL="0">
                        <a:buNone/>
                      </a:pPr>
                      <a:r>
                        <a:rPr lang="en-US" sz="1150" b="1" dirty="0">
                          <a:solidFill>
                            <a:srgbClr val="1F2937"/>
                          </a:solidFill>
                        </a:rPr>
                        <a:t>7</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rPr>
                        <a:t>Final service-level values (response, repair, loan unit, credits)</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rPr>
                        <a:t>SLA and maintenance price</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rgbClr val="1F2937"/>
                          </a:solidFill>
                        </a:rPr>
                        <a:t>8</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50" dirty="0">
                          <a:solidFill>
                            <a:srgbClr val="1F2937"/>
                          </a:solidFill>
                        </a:rPr>
                        <a:t>Barcode scanner (Zebra DS22) integration; data hosting location</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50" dirty="0">
                          <a:solidFill>
                            <a:srgbClr val="1F2937"/>
                          </a:solidFill>
                        </a:rPr>
                        <a:t>Scope and PDPA review</a:t>
                      </a:r>
                      <a:endParaRPr lang="en-US" sz="11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bl>
          </a:graphicData>
        </a:graphic>
      </p:graphicFrame>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DISCUSSION</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KTPH can verify every claim in this document through a demo, reference calls and certificate copies</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Owners and dates to be agreed in the meeting.</a:t>
            </a:r>
            <a:endParaRPr lang="en-US"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315200" cy="914400"/>
        </p:xfrm>
        <a:graphic>
          <a:graphicData uri="http://schemas.openxmlformats.org/drawingml/2006/table">
            <a:tbl>
              <a:tblPr/>
              <a:tblGrid>
                <a:gridCol w="4389120"/>
                <a:gridCol w="1737360"/>
                <a:gridCol w="1188720"/>
              </a:tblGrid>
              <a:tr h="594360">
                <a:tc>
                  <a:txBody>
                    <a:bodyPr/>
                    <a:lstStyle/>
                    <a:p>
                      <a:pPr indent="0" marL="0">
                        <a:buNone/>
                      </a:pPr>
                      <a:r>
                        <a:rPr lang="en-US" sz="1200" b="1" dirty="0">
                          <a:solidFill>
                            <a:srgbClr val="FFFFFF"/>
                          </a:solidFill>
                        </a:rPr>
                        <a:t>Verification step</a:t>
                      </a:r>
                      <a:endParaRPr lang="en-US" sz="12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200" b="1" dirty="0">
                          <a:solidFill>
                            <a:srgbClr val="FFFFFF"/>
                          </a:solidFill>
                        </a:rPr>
                        <a:t>Owner</a:t>
                      </a:r>
                      <a:endParaRPr lang="en-US" sz="12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200" b="1" dirty="0">
                          <a:solidFill>
                            <a:srgbClr val="FFFFFF"/>
                          </a:solidFill>
                        </a:rPr>
                        <a:t>Date</a:t>
                      </a:r>
                      <a:endParaRPr lang="en-US" sz="12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r>
              <a:tr h="594360">
                <a:tc>
                  <a:txBody>
                    <a:bodyPr/>
                    <a:lstStyle/>
                    <a:p>
                      <a:pPr indent="0" marL="0">
                        <a:buNone/>
                      </a:pPr>
                      <a:r>
                        <a:rPr lang="en-US" sz="1200" b="1" dirty="0">
                          <a:solidFill>
                            <a:srgbClr val="1F2937"/>
                          </a:solidFill>
                        </a:rPr>
                        <a:t>Live demonstration of sensor, relay, dashboard and app</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MONIT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i="1" dirty="0">
                          <a:solidFill>
                            <a:srgbClr val="7A4F00"/>
                          </a:solidFill>
                        </a:rPr>
                        <a:t>[INPUT]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594360">
                <a:tc>
                  <a:txBody>
                    <a:bodyPr/>
                    <a:lstStyle/>
                    <a:p>
                      <a:pPr indent="0" marL="0">
                        <a:buNone/>
                      </a:pPr>
                      <a:r>
                        <a:rPr lang="en-US" sz="1200" b="1" dirty="0">
                          <a:solidFill>
                            <a:srgbClr val="1F2937"/>
                          </a:solidFill>
                        </a:rPr>
                        <a:t>Relay set-up and Wi-Fi reconnect test with hospital IT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200" dirty="0">
                          <a:solidFill>
                            <a:srgbClr val="1F2937"/>
                          </a:solidFill>
                        </a:rPr>
                        <a:t>MONIT / hospital IT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200" i="1" dirty="0">
                          <a:solidFill>
                            <a:srgbClr val="7A4F00"/>
                          </a:solidFill>
                        </a:rPr>
                        <a:t>[INPUT]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594360">
                <a:tc>
                  <a:txBody>
                    <a:bodyPr/>
                    <a:lstStyle/>
                    <a:p>
                      <a:pPr indent="0" marL="0">
                        <a:buNone/>
                      </a:pPr>
                      <a:r>
                        <a:rPr lang="en-US" sz="1200" b="1" dirty="0">
                          <a:solidFill>
                            <a:srgbClr val="1F2937"/>
                          </a:solidFill>
                        </a:rPr>
                        <a:t>Reference calls with customers</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MONIT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i="1" dirty="0">
                          <a:solidFill>
                            <a:srgbClr val="7A4F00"/>
                          </a:solidFill>
                        </a:rPr>
                        <a:t>[INPUT]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594360">
                <a:tc>
                  <a:txBody>
                    <a:bodyPr/>
                    <a:lstStyle/>
                    <a:p>
                      <a:pPr indent="0" marL="0">
                        <a:buNone/>
                      </a:pPr>
                      <a:r>
                        <a:rPr lang="en-US" sz="1200" b="1" dirty="0">
                          <a:solidFill>
                            <a:srgbClr val="1F2937"/>
                          </a:solidFill>
                        </a:rPr>
                        <a:t>Certificate copies (CE, IMDA, KC, ISO) and clinical reports</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200" dirty="0">
                          <a:solidFill>
                            <a:srgbClr val="1F2937"/>
                          </a:solidFill>
                        </a:rPr>
                        <a:t>MONIT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200" i="1" dirty="0">
                          <a:solidFill>
                            <a:srgbClr val="7A4F00"/>
                          </a:solidFill>
                        </a:rPr>
                        <a:t>[INPUT]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594360">
                <a:tc>
                  <a:txBody>
                    <a:bodyPr/>
                    <a:lstStyle/>
                    <a:p>
                      <a:pPr indent="0" marL="0">
                        <a:buNone/>
                      </a:pPr>
                      <a:r>
                        <a:rPr lang="en-US" sz="1200" b="1" dirty="0">
                          <a:solidFill>
                            <a:srgbClr val="1F2937"/>
                          </a:solidFill>
                        </a:rPr>
                        <a:t>Ward-by-ward relay table completed from floor plans</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MONIT / ALPS</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i="1" dirty="0">
                          <a:solidFill>
                            <a:srgbClr val="7A4F00"/>
                          </a:solidFill>
                        </a:rPr>
                        <a:t>[INPUT]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bl>
          </a:graphicData>
        </a:graphic>
      </p:graphicFrame>
      <p:sp>
        <p:nvSpPr>
          <p:cNvPr id="7" name="Shape 3"/>
          <p:cNvSpPr/>
          <p:nvPr/>
        </p:nvSpPr>
        <p:spPr>
          <a:xfrm>
            <a:off x="8138160" y="1691640"/>
            <a:ext cx="3502152" cy="3977640"/>
          </a:xfrm>
          <a:prstGeom prst="rect">
            <a:avLst/>
          </a:prstGeom>
          <a:solidFill>
            <a:schemeClr val="tx2"/>
          </a:solidFill>
          <a:ln/>
        </p:spPr>
      </p:sp>
      <p:sp>
        <p:nvSpPr>
          <p:cNvPr id="8" name="Text 4"/>
          <p:cNvSpPr txBox="1"/>
          <p:nvPr/>
        </p:nvSpPr>
        <p:spPr>
          <a:xfrm>
            <a:off x="8366760" y="1874520"/>
            <a:ext cx="3108960" cy="365760"/>
          </a:xfrm>
          <a:prstGeom prst="rect">
            <a:avLst/>
          </a:prstGeom>
          <a:noFill/>
          <a:ln/>
        </p:spPr>
        <p:txBody>
          <a:bodyPr wrap="square" lIns="0" tIns="0" rIns="0" bIns="0" rtlCol="0" anchor="t"/>
          <a:lstStyle/>
          <a:p>
            <a:pPr indent="0" marL="0">
              <a:buNone/>
            </a:pPr>
            <a:r>
              <a:rPr lang="en-US" sz="1500" b="1" dirty="0">
                <a:solidFill>
                  <a:schemeClr val="bg1"/>
                </a:solidFill>
              </a:rPr>
              <a:t>What KTPH can rely on</a:t>
            </a:r>
            <a:endParaRPr lang="en-US" sz="1500" dirty="0"/>
          </a:p>
        </p:txBody>
      </p:sp>
      <p:sp>
        <p:nvSpPr>
          <p:cNvPr id="9" name="Text 5"/>
          <p:cNvSpPr txBox="1"/>
          <p:nvPr/>
        </p:nvSpPr>
        <p:spPr>
          <a:xfrm>
            <a:off x="8366760" y="2377440"/>
            <a:ext cx="3108960" cy="310896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bg1"/>
                </a:solidFill>
              </a:rPr>
              <a:t>One accountable vendor for hardware, software, installation and service</a:t>
            </a:r>
            <a:endParaRPr lang="en-US" sz="1300" dirty="0"/>
          </a:p>
          <a:p>
            <a:pPr marL="152400" indent="-152400">
              <a:spcAft>
                <a:spcPts val="500"/>
              </a:spcAft>
              <a:buSzPct val="100000"/>
              <a:buChar char="•"/>
            </a:pPr>
            <a:r>
              <a:rPr lang="en-US" sz="1300" dirty="0">
                <a:solidFill>
                  <a:schemeClr val="bg1"/>
                </a:solidFill>
              </a:rPr>
              <a:t>Relay count tied to your floor plans and verified by survey</a:t>
            </a:r>
            <a:endParaRPr lang="en-US" sz="1300" dirty="0"/>
          </a:p>
          <a:p>
            <a:pPr marL="152400" indent="-152400">
              <a:spcAft>
                <a:spcPts val="500"/>
              </a:spcAft>
              <a:buSzPct val="100000"/>
              <a:buChar char="•"/>
            </a:pPr>
            <a:r>
              <a:rPr lang="en-US" sz="1300" dirty="0">
                <a:solidFill>
                  <a:schemeClr val="bg1"/>
                </a:solidFill>
              </a:rPr>
              <a:t>Defined acceptance steps and named engineers</a:t>
            </a:r>
            <a:endParaRPr lang="en-US" sz="1300" dirty="0"/>
          </a:p>
          <a:p>
            <a:pPr marL="152400" indent="-152400">
              <a:spcAft>
                <a:spcPts val="500"/>
              </a:spcAft>
              <a:buSzPct val="100000"/>
              <a:buChar char="•"/>
            </a:pPr>
            <a:r>
              <a:rPr lang="en-US" sz="1300" dirty="0">
                <a:solidFill>
                  <a:schemeClr val="bg1"/>
                </a:solidFill>
              </a:rPr>
              <a:t>Evidence available for every statement</a:t>
            </a:r>
            <a:endParaRPr lang="en-US" sz="13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MONIT RFP">
  <a:themeElements>
    <a:clrScheme name="MONIT RFP">
      <a:dk1>
        <a:srgbClr val="1F2937"/>
      </a:dk1>
      <a:lt1>
        <a:srgbClr val="FFFFFF"/>
      </a:lt1>
      <a:dk2>
        <a:srgbClr val="0B2A4A"/>
      </a:dk2>
      <a:lt2>
        <a:srgbClr val="F1F4F8"/>
      </a:lt2>
      <a:accent1>
        <a:srgbClr val="00A3AD"/>
      </a:accent1>
      <a:accent2>
        <a:srgbClr val="0B2A4A"/>
      </a:accent2>
      <a:accent3>
        <a:srgbClr val="F2A900"/>
      </a:accent3>
      <a:accent4>
        <a:srgbClr val="6B7A8F"/>
      </a:accent4>
      <a:accent5>
        <a:srgbClr val="2E7D6B"/>
      </a:accent5>
      <a:accent6>
        <a:srgbClr val="C0392B"/>
      </a:accent6>
      <a:hlink>
        <a:srgbClr val="00A3AD"/>
      </a:hlink>
      <a:folHlink>
        <a:srgbClr val="6B7A8F"/>
      </a:folHlink>
    </a:clrScheme>
    <a:fontScheme name="MONIT RF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KTPH-RFP-26-165-MJ — AI-Enabled Smart Diaper Care System: Discussion Document</dc:title>
  <dc:subject>PptxGenJS Presentation</dc:subject>
  <dc:creator>MONIT</dc:creator>
  <cp:lastModifiedBy>MONIT</cp:lastModifiedBy>
  <cp:revision>1</cp:revision>
  <dcterms:created xsi:type="dcterms:W3CDTF">2026-10-03T07:58:48Z</dcterms:created>
  <dcterms:modified xsi:type="dcterms:W3CDTF">2026-10-03T07:58:48Z</dcterms:modified>
</cp:coreProperties>
</file>