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1c592008-9566-0e7a-d70b-0bd34d327df0}">
          <p14:sldIdLst>
            <p14:sldId id="256"/>
          </p14:sldIdLst>
        </p14:section>
        <p14:section name="1 · Company introduction" id="{5c494418-5b55-989d-9298-3147c4c63403}">
          <p14:sldIdLst>
            <p14:sldId id="257"/>
          </p14:sldIdLst>
        </p14:section>
        <p14:section name="2 · Industry certifications and standards" id="{091c7852-7871-ba7f-1030-7f0a87d3ec9c}">
          <p14:sldIdLst>
            <p14:sldId id="258"/>
          </p14:sldIdLst>
        </p14:section>
        <p14:section name="3 · Introduction to the smart diaper system" id="{da2e25dd-20b0-08f5-4dde-c2ac098770c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3 · Maintenance, service and technical support" id="{a4e2a4e0-af1f-f207-5b5b-af5aea203753}">
          <p14:sldIdLst>
            <p14:sldId id="267"/>
            <p14:sldId id="268"/>
          </p14:sldIdLst>
        </p14:section>
        <p14:section name="4 · Understanding of the project" id="{c3ca5fe6-b15a-a1f4-afca-39f10ebe3b1b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5 · Project timeline" id="{fad0f133-3765-d903-d203-4f5db0fcba62}">
          <p14:sldIdLst>
            <p14:sldId id="275"/>
          </p14:sldIdLst>
        </p14:section>
        <p14:section name="6 · References and track record" id="{fd7ecc8c-bd17-b3df-1c8c-95f97dd66591}">
          <p14:sldIdLst>
            <p14:sldId id="276"/>
            <p14:sldId id="277"/>
          </p14:sldIdLst>
        </p14:section>
        <p14:section name="7 · Sustainability initiatives" id="{df3e1172-daf4-aa71-fd75-92d76434c30f}">
          <p14:sldIdLst>
            <p14:sldId id="278"/>
          </p14:sldIdLst>
        </p14:section>
        <p14:section name="8 · Network connectivity and relay devices" id="{b8f95abc-1db8-3210-970b-d19fb18253de}">
          <p14:sldIdLst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for the 8 Oct ALPS meeting (agenda: why a maintenance charge is needed). Each card maps to a line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 for the 8 Oct ALPS meeting (agenda: installation process).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slide: summary of data-protection commitments asked for in the RFP security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MONIT  |  KTPH-RFP-26-165-MJ  |  Discussion document — Confidential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89204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</a:rPr>
              <a:t>MONIT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Smart Diaper Care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Response to KTPH-RFP-26-165-MJ — discussion with ALPS and the KTPH, Woodlands Health and TTSH project teams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8 October 2026  |  Confidential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81160" y="914400"/>
            <a:ext cx="2651760" cy="2651760"/>
          </a:xfrm>
          <a:prstGeom prst="ellipse">
            <a:avLst/>
          </a:prstGeom>
          <a:solidFill>
            <a:srgbClr val="00A3AD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2834640"/>
            <a:ext cx="1554480" cy="155448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737360"/>
            <a:ext cx="1005840" cy="1005840"/>
          </a:xfrm>
          <a:prstGeom prst="rect">
            <a:avLst/>
          </a:prstGeom>
        </p:spPr>
      </p:pic>
      <p:pic>
        <p:nvPicPr>
          <p:cNvPr id="10" name="Image 1" descr="/home/user/tonyparkmacbookpro/assets/261008/logo_sams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5159002"/>
            <a:ext cx="3657600" cy="12491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 · COMPANY INTRODUCTION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MONIT is a Samsung spin-off digital-health company focused on making incontinence care smarter and more dignified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company records; NHIS (National Health Insurance Service, Korea) innovative welfare device listing; IMDA, KC and CE registrations (Section 2).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25880"/>
                <a:gridCol w="1737360"/>
                <a:gridCol w="3108960"/>
                <a:gridCol w="34564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Established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Head office (Korea)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Singapore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MONIT Corp.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 April 2017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Tony (Dohyeong) Park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Seocho AICT Center, 56 Yangjae-daero 12-gil, Seoul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9 Straits View, Marina One West #05-07 · distributor Intega Healthcare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514600"/>
            <a:ext cx="539496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2514600"/>
            <a:ext cx="64008" cy="1417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5528" y="2660904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Technology and business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3044952"/>
            <a:ext cx="50109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AIoT urine and faecal soiling sensing technology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Senior Diaper Care System (sensor, relay, dashboard) and Senior Diaper Subscription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B2B: general hospitals, elderly-care hospitals and care facilities</a:t>
            </a:r>
            <a:endParaRPr lang="en-US" sz="1100" dirty="0"/>
          </a:p>
        </p:txBody>
      </p:sp>
      <p:pic>
        <p:nvPicPr>
          <p:cNvPr id="10" name="Image 0" descr="/home/user/tonyparkmacbookpro/assets/261008/elder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647188"/>
            <a:ext cx="1737360" cy="1152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046720" y="2514600"/>
            <a:ext cx="3593592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8046720" y="2514600"/>
            <a:ext cx="64008" cy="1417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293608" y="266090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B2G (Korea)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93608" y="3044952"/>
            <a:ext cx="3209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Selected as an innovative welfare device by NHIS, Korea's National Health Insurance Service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18872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Proven history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931920" y="4160520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Samsung spin-off, invested by Samsung Venture Investment · NHIS innovative welfare device · customers in Korea, Japan, Singapore, the Netherlands and Australia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4709160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1188720" y="4782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Proven technology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931920" y="478231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Clinically trialled at KTPH Ward B76 (7 weeks, 15 patients) · IMDA, KC and CE registered · ISO 27001 / 27017 / 27018 certification in November 2026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48640" y="5330952"/>
            <a:ext cx="110916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48640" y="54041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5486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188720" y="54041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Complete, integrated system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3931920" y="540410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Sensor → relay → hospital Wi-Fi → cloud → nurse dashboard, delivered and supported by one team with Intega on site</a:t>
            </a:r>
            <a:endParaRPr lang="en-US" sz="1150" dirty="0"/>
          </a:p>
        </p:txBody>
      </p:sp>
      <p:pic>
        <p:nvPicPr>
          <p:cNvPr id="29" name="Image 1" descr="/home/user/tonyparkmacbookpro/assets/261008/integ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314" y="182880"/>
            <a:ext cx="887283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2 · INDUSTRY CERTIFICATIONS AND STANDARDS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Product registrations are in place, and ISO 27001 / 27017 / 27018 certification follows in November 2026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IMDA, CE and KC registration records; MONIT ISMS programme. ISO certificates will be provided on issue.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2011680"/>
                <a:gridCol w="13075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Standard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covers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ISO/IEC 27001 — information security (ISMS)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Systematic protection of patient-related data across platform and dashboard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Certification audit in progress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November 2026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ISO/IEC 27017 — cloud security controls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Security controls for the cloud platform hosting hospital data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Certification audit in progress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November 2026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ISO/IEC 27018 — PII protection in public cloud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Safeguards for personal data processed in the cloud; supports PDPA compliance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Certification audit in progress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November 2026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3749040"/>
                <a:gridCol w="176479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Registration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Sensor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Relay gateway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Validity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IMDA (Singapore)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Registered — ESER/26/5288 · BLE diaper sensor for sale and use in Singapore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Registered — ESER/26/5450 · relay gateway for sale and use in Singapore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Sensor Aug 2031 · Gateway Sep 2031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CE (EU)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Certified — RED 2014/53/EU (radio, EMC and electrical safety)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Certified — EMC 2014/30/EU (EU conformity assessment)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 expiry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KC (Korea)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Registered — R-R-mNT-SEMSYS200KSEN · radio and EMC conformity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Registered — R-R-mNT-SSG · radio and EMC conformity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 expiry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715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ISO certification is scoped to the MECS PRO platform, dashboard and Azure Singapore hosting used for the three hospitals.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MECS PRO: an AI diaper care system built for professional care settings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Components: sensor (clips onto the diaper), Safeguard sticker, relay gateway (hospital Wi-Fi), app service and web dashboard.</a:t>
            </a:r>
            <a:endParaRPr lang="en-US" sz="900" dirty="0"/>
          </a:p>
        </p:txBody>
      </p:sp>
      <p:pic>
        <p:nvPicPr>
          <p:cNvPr id="5" name="Image 0" descr="/home/user/tonyparkmacbookpro/assets/261008/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159" y="1417320"/>
            <a:ext cx="9490634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Smart care for health, dignity and efficiency: changes at the right time, not on a fixed round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MONIT; KTPH Ward B76 trial (9 Jul – 24 Aug 2025): 4.73 wet diapers per patient-day on average. Diaper saving is a MONIT customer estimate.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484632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1907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Value to hospitals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4526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Right-time diaper changes instead of routine checks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Less nurse time on manual rounds; fewer disturbances for patients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Objective data to support skin-integrity and continence care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554480" cy="2606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3566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7033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Patients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Skin integrity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48463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Prompt changes lower the risk of incontinence-associated dermatitis and pressure injury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194560" y="3383280"/>
            <a:ext cx="1554480" cy="2606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269748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70332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2860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Hospital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28600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Consumables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304288" y="48463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Up to 25% fewer unnecessary diaper changes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840480" y="3383280"/>
            <a:ext cx="1554480" cy="2606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7"/>
          <p:cNvSpPr/>
          <p:nvPr/>
        </p:nvSpPr>
        <p:spPr>
          <a:xfrm>
            <a:off x="4343400" y="356616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70332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93192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Caregivers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393192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Workload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3950208" y="48463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Fewer manual checks; alerts go to the nurse who needs them</a:t>
            </a:r>
            <a:endParaRPr lang="en-US" sz="1050" dirty="0"/>
          </a:p>
        </p:txBody>
      </p:sp>
      <p:pic>
        <p:nvPicPr>
          <p:cNvPr id="26" name="Image 3" descr="/home/user/tonyparkmacbookpro/assets/261008/sensor_b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14175"/>
            <a:ext cx="1828800" cy="2294626"/>
          </a:xfrm>
          <a:prstGeom prst="rect">
            <a:avLst/>
          </a:prstGeom>
        </p:spPr>
      </p:pic>
      <p:pic>
        <p:nvPicPr>
          <p:cNvPr id="27" name="Image 4" descr="/home/user/tonyparkmacbookpro/assets/261008/tab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336218"/>
            <a:ext cx="2103120" cy="1385964"/>
          </a:xfrm>
          <a:prstGeom prst="rect">
            <a:avLst/>
          </a:prstGeom>
        </p:spPr>
      </p:pic>
      <p:pic>
        <p:nvPicPr>
          <p:cNvPr id="28" name="Image 5" descr="/home/user/tonyparkmacbookpro/assets/261008/diaper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9541" y="1572768"/>
            <a:ext cx="3753630" cy="2194560"/>
          </a:xfrm>
          <a:prstGeom prst="rect">
            <a:avLst/>
          </a:prstGeom>
        </p:spPr>
      </p:pic>
      <p:pic>
        <p:nvPicPr>
          <p:cNvPr id="29" name="Image 6" descr="/home/user/tonyparkmacbookpro/assets/261008/diaper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8526" y="3840480"/>
            <a:ext cx="33756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AI pattern learning and a multi-channel sensor give a graded soiling level, not just wet or dry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KTPH Smart Diaper Sensor Trial, Ward B76, Phase 1 (9 Jul – 24 Aug 2025), 7-week mean, dropouts excluded; MONIT patent register.</a:t>
            </a:r>
            <a:endParaRPr lang="en-US" sz="900" dirty="0"/>
          </a:p>
        </p:txBody>
      </p:sp>
      <p:pic>
        <p:nvPicPr>
          <p:cNvPr id="5" name="Image 0" descr="/home/user/tonyparkmacbookpro/assets/261008/sensor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1733"/>
            <a:ext cx="2377440" cy="2983014"/>
          </a:xfrm>
          <a:prstGeom prst="rect">
            <a:avLst/>
          </a:prstGeom>
        </p:spPr>
      </p:pic>
      <p:pic>
        <p:nvPicPr>
          <p:cNvPr id="6" name="Image 1" descr="/home/user/tonyparkmacbookpro/assets/261008/sams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4800600"/>
            <a:ext cx="1545336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257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Developed from Samsung Electronics sensing research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32004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Global patents in diaper sensing</a:t>
            </a:r>
            <a:endParaRPr lang="en-US" sz="1300" dirty="0"/>
          </a:p>
        </p:txBody>
      </p:sp>
      <p:pic>
        <p:nvPicPr>
          <p:cNvPr id="9" name="Image 2" descr="/home/user/tonyparkmacbookpro/assets/261008/pat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74520"/>
            <a:ext cx="3975882" cy="8686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577840" y="2926080"/>
            <a:ext cx="3383280" cy="365760"/>
          </a:xfrm>
          <a:prstGeom prst="rect">
            <a:avLst/>
          </a:prstGeom>
          <a:solidFill>
            <a:srgbClr val="2E7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MONIT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9098280" y="2926080"/>
            <a:ext cx="2542032" cy="365760"/>
          </a:xfrm>
          <a:prstGeom prst="rect">
            <a:avLst/>
          </a:prstGeom>
          <a:solidFill>
            <a:srgbClr val="6B7A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Typical alternatives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200400" y="3401568"/>
            <a:ext cx="8439912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8"/>
          <p:cNvSpPr/>
          <p:nvPr/>
        </p:nvSpPr>
        <p:spPr>
          <a:xfrm>
            <a:off x="3200400" y="3401568"/>
            <a:ext cx="64008" cy="777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3383280" y="34015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Measured detection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577840" y="3456432"/>
            <a:ext cx="3383280" cy="667512"/>
          </a:xfrm>
          <a:prstGeom prst="rect">
            <a:avLst/>
          </a:prstGeom>
          <a:solidFill>
            <a:srgbClr val="E8F3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Accuracy 76.2% · specificity 82.6% · sensitivity 72.7%, measured by KTPH nurses on Ward B76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9098280" y="3456432"/>
            <a:ext cx="2542032" cy="6675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Typically wet / dry threshold only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200400" y="4270248"/>
            <a:ext cx="8439912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3"/>
          <p:cNvSpPr/>
          <p:nvPr/>
        </p:nvSpPr>
        <p:spPr>
          <a:xfrm>
            <a:off x="3200400" y="4270248"/>
            <a:ext cx="64008" cy="777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383280" y="42702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Soiling display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577840" y="4325112"/>
            <a:ext cx="3383280" cy="667512"/>
          </a:xfrm>
          <a:prstGeom prst="rect">
            <a:avLst/>
          </a:prstGeom>
          <a:solidFill>
            <a:srgbClr val="E8F3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Colour spectrum shows the soiling level so staff can judge urgency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9098280" y="4325112"/>
            <a:ext cx="2542032" cy="6675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Two states (wet / dry); staff cannot judge urgency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200400" y="5138928"/>
            <a:ext cx="8439912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3200400" y="5138928"/>
            <a:ext cx="64008" cy="777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3383280" y="51389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Sensitivity tuning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5577840" y="5193792"/>
            <a:ext cx="3383280" cy="667512"/>
          </a:xfrm>
          <a:prstGeom prst="rect">
            <a:avLst/>
          </a:prstGeom>
          <a:solidFill>
            <a:srgbClr val="E8F3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AI pattern analysis plus 5 presets and 15 personal levels per patient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9098280" y="5193792"/>
            <a:ext cx="2542032" cy="6675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Fixed threshold or manual configuration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KTPH Ward B76 trial measured the sensor in real care, and staff feedback shaped the final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Smart Diapers Sensor Trial — Phase 1 consolidated results, Week 1 to 7, KTPH (report dated 3 Dec 2025). Phase 2 continues on the B105 Smart Ward.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664208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76.2%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871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(TP+TN) / all readings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1572768"/>
            <a:ext cx="1664208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441448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82.6%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41448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Specificity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41448" y="24871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dry diaper correctly left alone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0" y="1572768"/>
            <a:ext cx="1664208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24528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72.7%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Sensitivity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224528" y="24871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wet diaper correctly alerted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1572768"/>
            <a:ext cx="1664208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07608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818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007608" y="2212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Readings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07608" y="24871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108 patient-days, 15 patients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347472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2552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Trial design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639312"/>
            <a:ext cx="31546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Khoo Teck Puat Hospital, Ward B76 (B105 Nesting Ward)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Team 3 male and Team 2 female cubicles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15 patients enrolled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Phase 1: 9 July – 24 August 2025 (7 weeks)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Wet-diaper rate: mean 4.73 per patient-day (median 4.56)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3108960"/>
            <a:ext cx="3337560" cy="2926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43400" y="3255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Singapore, why KTPH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3639312"/>
            <a:ext cx="30175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KTPH recorded 33 patients with IAD in 2024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Another restructured hospital reports IAD in ~20–30% of inpatients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Tests local climate and humidity, diverse patients and staff acceptance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Feedback (alarm handling, sensor placement) fed into the current release</a:t>
            </a:r>
            <a:endParaRPr lang="en-US" sz="1100" dirty="0"/>
          </a:p>
        </p:txBody>
      </p:sp>
      <p:pic>
        <p:nvPicPr>
          <p:cNvPr id="27" name="Image 0" descr="/home/user/tonyparkmacbookpro/assets/261008/nurse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801" y="1572768"/>
            <a:ext cx="3343390" cy="2194560"/>
          </a:xfrm>
          <a:prstGeom prst="rect">
            <a:avLst/>
          </a:prstGeom>
        </p:spPr>
      </p:pic>
      <p:pic>
        <p:nvPicPr>
          <p:cNvPr id="28" name="Image 1" descr="/home/user/tonyparkmacbookpro/assets/261008/nurse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505" y="3840480"/>
            <a:ext cx="3255981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MECS PRO web platform gives each ward a real-time view of every patient's sensor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Screens show sample data from a test environment. Also: global search (ward, room, patient, sensor), language selector, manual refresh with last-updated time and secure sign-out.</a:t>
            </a:r>
            <a:endParaRPr lang="en-US" sz="900" dirty="0"/>
          </a:p>
        </p:txBody>
      </p:sp>
      <p:pic>
        <p:nvPicPr>
          <p:cNvPr id="5" name="Image 0" descr="/home/user/tonyparkmacbookpro/assets/261008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953" y="1481328"/>
            <a:ext cx="5320415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5953" y="1481328"/>
            <a:ext cx="5320415" cy="457200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Main navigation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1874520"/>
            <a:ext cx="4690872" cy="7863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949440" y="1874520"/>
            <a:ext cx="64008" cy="7863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96328" y="2020824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Dashboard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196328" y="2404872"/>
            <a:ext cx="4306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Real-time view of wards, rooms, patients and sensors; layout editor for wards and rooms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49440" y="2715768"/>
            <a:ext cx="4690872" cy="7863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949440" y="2715768"/>
            <a:ext cx="64008" cy="7863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196328" y="286207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Device info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196328" y="3246120"/>
            <a:ext cx="4306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Information on registered devices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3557016"/>
            <a:ext cx="4690872" cy="7863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6949440" y="3557016"/>
            <a:ext cx="64008" cy="7863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96328" y="370332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Manage sensors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196328" y="4087368"/>
            <a:ext cx="4306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Sensor registry with search and filters, patient assignment, sensitivity, logs and CSV export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49440" y="4398264"/>
            <a:ext cx="4690872" cy="7863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0" y="4398264"/>
            <a:ext cx="64008" cy="7863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96328" y="4544568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Alerts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196328" y="4928616"/>
            <a:ext cx="4306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Alert list and notification handling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49440" y="5239512"/>
            <a:ext cx="4690872" cy="7863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0" y="5239512"/>
            <a:ext cx="64008" cy="78638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196328" y="5385816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Settings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196328" y="5769864"/>
            <a:ext cx="4306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System and account configuration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Real-time monitoring and alerts: caregivers see status, act on alerts and tune sensitivity per patient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Sensitivity settings: 5 quick presets (Sensitive → Insensitive) or a personal level of 1–15, set per sensor to suit the patient and diaper.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29184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72768"/>
            <a:ext cx="64008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Hierarchical drill-down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03120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Ward / room list → ward → room, with breadcrumb and back button; patient count per room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1572768"/>
            <a:ext cx="329184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977640" y="1572768"/>
            <a:ext cx="64008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24528" y="171907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Status summary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24528" y="2103120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Per-room counters: dirty, connected, disconnected and unconnected sensors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29184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63240"/>
            <a:ext cx="64008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3209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Per-patient sensor card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35935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Room tag, sensor name, battery %, alert toggle, status bar and last-updated 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77640" y="3063240"/>
            <a:ext cx="329184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3977640" y="3063240"/>
            <a:ext cx="64008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24528" y="3209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Notifications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24528" y="35935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Per-sensor alert on/off, room-alert shortcut and notification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53712"/>
            <a:ext cx="329184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53712"/>
            <a:ext cx="64008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" y="470001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Sensor action menu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5084064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Sensitivity · move room · edit device info · view sensor info · unassign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77640" y="4553712"/>
            <a:ext cx="3291840" cy="1371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3977640" y="4553712"/>
            <a:ext cx="64008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24528" y="470001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Patient workflow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24528" y="5084064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Register and assign patients from the room view; data refreshes automatically</a:t>
            </a:r>
            <a:endParaRPr lang="en-US" sz="1100" dirty="0"/>
          </a:p>
        </p:txBody>
      </p:sp>
      <p:pic>
        <p:nvPicPr>
          <p:cNvPr id="29" name="Image 0" descr="/home/user/tonyparkmacbookpro/assets/261008/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6851" y="1572768"/>
            <a:ext cx="3956130" cy="443484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7636851" y="1572768"/>
            <a:ext cx="3956130" cy="443484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Management and administration: one sensor registry and simple layout tools for each hospital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Screens show sample data from a test environment.</a:t>
            </a:r>
            <a:endParaRPr lang="en-US" sz="900" dirty="0"/>
          </a:p>
        </p:txBody>
      </p:sp>
      <p:pic>
        <p:nvPicPr>
          <p:cNvPr id="5" name="Image 0" descr="/home/user/tonyparkmacbookpro/assets/261008/man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4932"/>
            <a:ext cx="5943600" cy="2898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94932"/>
            <a:ext cx="5943600" cy="2898872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pic>
        <p:nvPicPr>
          <p:cNvPr id="7" name="Image 1" descr="/home/user/tonyparkmacbookpro/assets/261008/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5389277" cy="1463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572000"/>
            <a:ext cx="5389277" cy="146304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766560" y="1481328"/>
            <a:ext cx="48737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6766560" y="1481328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013448" y="1627632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Sensor registry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013448" y="2011680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Sensor ID, memo, status, nickname, location, battery and last seen; register sensor and export CSV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766560" y="2395728"/>
            <a:ext cx="48737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766560" y="2395728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013448" y="2542032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Search and filters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013448" y="2926080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Filter by ward, room or nickname, plus status and battery level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766560" y="3310128"/>
            <a:ext cx="48737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6766560" y="3310128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013448" y="3456432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Per-sensor actions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013448" y="3840480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Sensitivity · assign patient · edit info · logs · delete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766560" y="4224528"/>
            <a:ext cx="48737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8"/>
          <p:cNvSpPr/>
          <p:nvPr/>
        </p:nvSpPr>
        <p:spPr>
          <a:xfrm>
            <a:off x="6766560" y="4224528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013448" y="4370832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Layout management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013448" y="4754880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Add, rename or delete wards and rooms; save all, discard or close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766560" y="5138928"/>
            <a:ext cx="4873752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Shape 22"/>
          <p:cNvSpPr/>
          <p:nvPr/>
        </p:nvSpPr>
        <p:spPr>
          <a:xfrm>
            <a:off x="6766560" y="5138928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013448" y="5285232"/>
            <a:ext cx="4489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Access and localisation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013448" y="5669280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Organisation-scoped sign-in, global search and language selector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INTRODUCTION TO THE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MECS PRO mobile app brings the same core functions to the bedside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iOS app. Screens show sample data from a test environment; the notification page and per-bed menu are not shown.</a:t>
            </a:r>
            <a:endParaRPr lang="en-US" sz="900" dirty="0"/>
          </a:p>
        </p:txBody>
      </p:sp>
      <p:pic>
        <p:nvPicPr>
          <p:cNvPr id="5" name="Image 0" descr="/home/user/tonyparkmacbookpro/assets/261008/ph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2831"/>
            <a:ext cx="7680960" cy="38032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481328"/>
            <a:ext cx="3182112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8458200" y="1481328"/>
            <a:ext cx="64008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05088" y="1627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① Bed-by-bed monitoring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05088" y="2011680"/>
            <a:ext cx="2798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Card per bed: bed and patient no., battery, connection, last update and status bar; empty beds offer Add Patient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2624328"/>
            <a:ext cx="3182112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8458200" y="2624328"/>
            <a:ext cx="64008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05088" y="2770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② Per-device sensitivity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05088" y="3154680"/>
            <a:ext cx="2798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5 presets from Sensitive to Insensitive, or personal customisation; saved per sensor ID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58200" y="3767328"/>
            <a:ext cx="3182112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8458200" y="3767328"/>
            <a:ext cx="64008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05088" y="3913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③ Settings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705088" y="4297680"/>
            <a:ext cx="2798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User mode (e.g. Enterprise), app language, notification sound, alert time, app version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458200" y="4910328"/>
            <a:ext cx="3182112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8458200" y="4910328"/>
            <a:ext cx="64008" cy="1051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705088" y="50566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④ Alert time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705088" y="5440680"/>
            <a:ext cx="2798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Slider (1–10 s) sets how long the alert sound plays when a change is needed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MAINTENANCE, SERVICE AND TECHNICAL SUPPORT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Maintenance keeps a hospital-grade service running: each charge maps to work that would otherwise stop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cost basis (Rev. 2) with ISO 27001/27017/27018 added; Master Agreement Clause 13.1 (Charges fixed for the term).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548640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81378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Singapore hosting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840480" y="1737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S$225.4k over 5 years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121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Azure Singapore servers, web application firewall and the MONIT SaaS platform run 24×7, with a separate tenancy per hospital and n+1 redundancy. Without it, alerts stop.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53912" y="1572768"/>
            <a:ext cx="548640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6336792" y="17556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522" y="188137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7687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Security and compliance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9445752" y="17373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S$65.3k over 5 years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976872" y="212140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Yearly penetration re-test, ISO 27001/27017/27018 surveillance and recertification audits, and certificate renewal (now every 200 days) — the evidence hospital IT asks for.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447288"/>
            <a:ext cx="548640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363016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755898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Remote support and monitoring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3840480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S$96.9k over 5 years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371600" y="39959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24×7 security and service monitoring, incident response, firmware and app updates as phones, OS versions and security patches change.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153912" y="3447288"/>
            <a:ext cx="5486400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6336792" y="363016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522" y="3755898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976872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On-site preventive maintenance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9445752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S$102.0k over 5 years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976872" y="3995928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Four rounds a year across the three hospitals with Intega: relay checks, battery and sensor health, coverage re-test after ward changes.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7724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Why a fixed annual charge: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prices cannot change for the contract term, so costs that recur every year are priced up front with 5% escalation instead of re-quoted.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MAINTENANCE, SERVICE AND TECHNICAL SUPPORT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Five-year operating and maintenance cost is S$489.7k, with 5% annual escalation built in so charges stay fixed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cost basis (Rev. 2, 16 Sep 2026); Master Agreement Clause 13.1. SGD, ex-GST, rounded; 5.0% a year from Year 2. ISO: Y1 initial certification; Y2, Y3, Y5 surveillance (1/3) and Y4 recertification (2/3) of the initial audit, per ISO/IEC 17021-1.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8249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105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S$97.9k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Average operating cost / year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1944" y="1481328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26536" y="168249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552" y="181051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84904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S$489.7k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184904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Five-year operating cost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5248" y="1481328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339840" y="168249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856" y="181051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98208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S$387.7k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6998208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Annual subscription (79% of total)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88552" y="1481328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153144" y="168249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81051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11512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S$102.0k</a:t>
            </a:r>
            <a:endParaRPr lang="en-US" sz="2600" dirty="0"/>
          </a:p>
        </p:txBody>
      </p:sp>
      <p:sp>
        <p:nvSpPr>
          <p:cNvPr id="24" name="Text 18"/>
          <p:cNvSpPr txBox="1"/>
          <p:nvPr/>
        </p:nvSpPr>
        <p:spPr>
          <a:xfrm>
            <a:off x="9811512" y="2029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Preventive maintenance (21% of total)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78608"/>
          <a:ext cx="79552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58952"/>
                <a:gridCol w="758952"/>
                <a:gridCol w="758952"/>
                <a:gridCol w="758952"/>
                <a:gridCol w="758952"/>
                <a:gridCol w="123444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5-year total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Azure server (Singapore, site-isolated)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24,000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25,200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26,460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27,783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29,172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132,615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Azure Front Door (WAF / CDN)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4,800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5,040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5,292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5,557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5,834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26,523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MONIT SaaS platform (Azure PaaS)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12,000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12,600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13,230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13,892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14,586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66,308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Penetration re-test (one per year)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12,000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7,000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7,350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7,718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8,103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42,171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ISO 27001/27017/27018 certification &amp; audits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8,000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2,940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6,174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3,241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23,155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Remote support &amp; 24×7 monitoring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16,800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18,000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19,290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20,675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22,158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96,923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Subscription (Section 3.1) subtotal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77,600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70,640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74,562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81,797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83,096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387,695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Preventive maintenance labour (Item 6)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19,200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19,800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20,400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21,000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21,600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102,000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annual operating cost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96,800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90,440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94,962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102,797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104,696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489,695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Initial set-up (one-off) – to confirm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14,286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i="1" dirty="0">
                          <a:solidFill>
                            <a:srgbClr val="7A4F00"/>
                          </a:solidFill>
                        </a:rPr>
                        <a:t>14,286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Total annual expenditure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111,086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90,440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94,962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102,797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104,696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503,980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</a:tr>
            </a:tbl>
          </a:graphicData>
        </a:graphic>
      </p:graphicFrame>
      <p:sp>
        <p:nvSpPr>
          <p:cNvPr id="26" name="Shape 19"/>
          <p:cNvSpPr/>
          <p:nvPr/>
        </p:nvSpPr>
        <p:spPr>
          <a:xfrm>
            <a:off x="8732520" y="2578608"/>
            <a:ext cx="2907792" cy="3200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91540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the price covers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915400" y="3072384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Hosting in Singapore with a separate tenancy for each hospital and n+1 redundancy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Encrypted backup, replication and a web application firewall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Annual penetration re-test by a licensed provider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ISO 27001/27017/27018 certification, yearly surveillance audits and Year-4 recertification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Remote support, incident response and 24×7 security monitoring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Four preventive-maintenance rounds a year across all three hospitals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4 · UNDERSTANDING OF THE PROJECT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Six phases take each hospital from Letter of Award to hand-over, each closed by a hospital sign-off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RFP and Master Agreement (MA) timings as marked; teal cells are MONIT proposals to be confirmed.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46120"/>
                <a:gridCol w="1783080"/>
                <a:gridCol w="1783080"/>
                <a:gridCol w="1508760"/>
                <a:gridCol w="130759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activities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MONIT deliverable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Hospital input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Sign-off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1  Mobilise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Kick-off with ALPS and the three hospitals; project managers named; insurance in place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Project plan and contact list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Leads named for IT, nursing and facilities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Plan agreed at kick-off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Within 28 days of award (RFP)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2  Survey and design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Review ward layouts; survey 2.4 GHz Wi-Fi and power points incl. day rooms and corridors; fix relay count per ward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Site design per ward: relay positions and quantities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Ward layouts, SSID and VLAN details, ward access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Site design signed by hospital IT and ward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6F76"/>
                          </a:solidFill>
                        </a:rPr>
                        <a:t>PROPOSED 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Weeks 2–4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3  Test and deliver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Factory test of every sensor and relay; kits labelled by hospital and ward; advance delivery notice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Test records and delivery note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Receiving point and storage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Delivery accepted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Before installation (MA)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4  Install and commission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Pilot ward first at each hospital, then ward by ward; relays mounted to each hospital's rules; sensors registered; dashboard at the nurse station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Commissioning checklist per ward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Escorted access at agreed times; IT on call for network join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Ward commissioning signed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6F76"/>
                          </a:solidFill>
                        </a:rPr>
                        <a:t>PROPOSED 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1–2 wards per day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6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5  Accept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Acceptance tests witnessed by hospital staff: alerts, dashboard, connectivity, reconnection after power loss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Test report and certificate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Witnesses from nursing and IT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Final Acceptance Notice per hospital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Invoice within 7 days of acceptance (MA)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6  Train and stabilise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On-site training for nurses and IT administrators; quick-reference guides; daily check of connectivity and alerts during hypercare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Training records; hypercare report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Staff released for training; ward nursing champions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Hand-over to maintenance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Plan ≤ 14 days of contract; training ≤ 14 days of delivery (MA)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4 · UNDERSTANDING OF THE PROJECT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Site-readiness checks built on our Singapore deployments fix issues before go-live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deployment experience at KTPH and other Singapore sites.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6035040"/>
                <a:gridCol w="20391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How we prevent 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When checked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Relays use 2.4 GHz Wi-Fi only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Confirm SSID (English characters), authentication and VLAN with hospital IT; test the join at every relay position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Survey; commissioning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No power point where a relay is needed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Map power points in the survey: ceiling power at KTPH, concealed plug-in at WH, wall plug-in without drilling at TTSH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Survey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Patients spend hours in day rooms and corridors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Survey covers day rooms and common areas; add or move relays where patients spend time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Survey; first week of hypercare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Relay plug knocked or damaged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Mount away from walkways and secure the plug; keep spare relays in Singapore for quick swap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Installation; maintenance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Dashboard and app show different status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One registration per sensor; check dashboard, app and nurse-station view match before sign-off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Acceptance test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Patient or bed changes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Simple re-assignment steps in training and the quick-reference guide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Training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91672" cy="50292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440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Result: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each ward is accepted only after coverage, power, network and dashboard checks pass.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4 · UNDERSTANDING OF THE PROJECT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Clear roles, a fixed meeting rhythm and written change control keep all three hospitals on one plan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Master Agreement Clauses 4 and 23 (project managers, quarterly meetings, change control); MONIT. Teal boxes are MONIT proposals to be confirmed.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7223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32004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Project manager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MONIT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Single point of contact; plan, progress, risks and reporting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Engineering and cloud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MONIT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Platform set-up, security, hosting in Singapore, remote support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On-site support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Intega Healthcare (Singapore partner)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Installation, on-site troubleshooting, part replacement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Hospital 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KTPH / WH / TTSH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2.4 GHz Wi-Fi access, network approvals, power points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Nursing champions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Each ward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Workflow sign-off, user feedback, first-line help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Procurement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ALPS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Contract, change approval, acceptance records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1481328"/>
            <a:ext cx="359359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0" y="17602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23960" y="164592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Meeting rhythm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2231136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Quarterly project-manager meetings (Master Agreement)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046720" y="2834640"/>
            <a:ext cx="3593592" cy="777240"/>
          </a:xfrm>
          <a:prstGeom prst="rect">
            <a:avLst/>
          </a:prstGeom>
          <a:solidFill>
            <a:srgbClr val="E6F6F7"/>
          </a:solidFill>
          <a:ln w="12700">
            <a:solidFill>
              <a:srgbClr val="00A3AD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8156448" y="2834640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F76"/>
                </a:solidFill>
              </a:rPr>
              <a:t>PROPOSED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Weekly progress call and one-page written report while deployment is under way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46720" y="3749040"/>
            <a:ext cx="3593592" cy="777240"/>
          </a:xfrm>
          <a:prstGeom prst="rect">
            <a:avLst/>
          </a:prstGeom>
          <a:solidFill>
            <a:srgbClr val="E6F6F7"/>
          </a:solidFill>
          <a:ln w="12700">
            <a:solidFill>
              <a:srgbClr val="00A3AD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8156448" y="3749040"/>
            <a:ext cx="3374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F76"/>
                </a:solidFill>
              </a:rPr>
              <a:t>PROPOSED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Changes agreed in writing through ALPS before work starts (change log shared weekly)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4 · UNDERSTANDING OF THE PROJECT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Rollout follows the six phases in four stages, ward by ward, starting with one pilot ward per hospital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Stages group the six phases: Plan = phases 1–2 · Pilot = phases 3–5 on the first ward · Roll out = phases 4–5 ward by ward · Optimise = phase 6. Ward order to be confirmed with each hospital.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697480" cy="731520"/>
          </a:xfrm>
          <a:prstGeom prst="homePlate">
            <a:avLst/>
          </a:prstGeom>
          <a:solidFill>
            <a:srgbClr val="0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Plan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60604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603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Kick-off and governance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Wi-Fi / RF site survey with hospital IT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Final relay count and placement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Security and PDPA 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572768"/>
            <a:ext cx="2697480" cy="731520"/>
          </a:xfrm>
          <a:prstGeom prst="homePlate">
            <a:avLst/>
          </a:prstGeom>
          <a:solidFill>
            <a:srgbClr val="00A3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93592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Pilot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4992" y="2423160"/>
            <a:ext cx="260604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25603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Install in one pilot ward per hospital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Credential provisioning once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Staff training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UAT and acceptance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1572768"/>
            <a:ext cx="2697480" cy="731520"/>
          </a:xfrm>
          <a:prstGeom prst="homePlate">
            <a:avLst/>
          </a:prstGeom>
          <a:solidFill>
            <a:srgbClr val="0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9944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Roll out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81344" y="2423160"/>
            <a:ext cx="260604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64224" y="25603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Ward-by-ward installation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Minimise disruption to care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Daily progress tracking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Sign-off per ward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97696" y="1572768"/>
            <a:ext cx="2697480" cy="731520"/>
          </a:xfrm>
          <a:prstGeom prst="homePlate">
            <a:avLst/>
          </a:prstGeom>
          <a:solidFill>
            <a:srgbClr val="00A3A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26296" y="157276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Optimise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97696" y="2423160"/>
            <a:ext cx="260604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0576" y="256032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Hypercare period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Alert-rule tuning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Usage and benefit reporting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Hand-over to service team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Ward sequence by hospital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3611880" cy="105156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KTPH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303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Tower D → Tower B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97680" y="4892040"/>
            <a:ext cx="3611880" cy="105156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Woodlands Health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303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A41 → W62 → W74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46720" y="4892040"/>
            <a:ext cx="3611880" cy="1051560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7532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TTSH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5303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5A → 7C → 13B → 5H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4 · UNDERSTANDING OF THE PROJECT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Relay quantities follow a transparent, coverage-based method that is verified by an on-site survey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NHG ward requirement tables for KTPH, Woodlands Health and TTSH; relay reception about 20 m indoors. Final counts confirmed by the Wi-Fi / RF survey and pilot ward.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29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Mark bed locations and wall types on each ward floor plan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88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55848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Cover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29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Place relays so every bed lies within the validated coverage radius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96128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Check capacity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029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Keep sensors per relay below the maximum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36408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Add resilience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029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Add redundancy for critical gaps (e.g. 10% spare)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09760" y="15087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76688" y="1508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Verify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2029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Confirm with the Wi-Fi / RF survey and pilot ward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2743200"/>
            <a:ext cx="3611880" cy="384048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Khoo Teck Puat Hospital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60 sensors · ceiling mount preferred · barcode scanner at monitoring station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2743200"/>
            <a:ext cx="3611880" cy="384048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3484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Woodlands Health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Minimal, concealed relays (behind cabinet, not on ceiling) · dashboard at monitoring station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2743200"/>
            <a:ext cx="3611880" cy="384048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83880" y="2743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Tan Tock Seng Hospital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40 sensors · wall power-point plug-in · no drilling · dashboard at nursing station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36118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KTPH ward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Relays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Tower D (7-series)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Tower B (acute stroke unit)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Tower D (8-series)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3840480"/>
          <a:ext cx="36118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 ward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Relays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A41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W62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W74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3840480"/>
          <a:ext cx="3593592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TTSH ward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Relays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5A (Class C)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7C (Class B2)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13B (Class A)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5H (Class B2)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52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4 · UNDERSTANDING OF THE PROJECT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Installation is a short, repeatable routine per ward once the hospital has confirmed Wi-Fi and power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MECS PRO BLE Gateway installation guide; MONIT site-preparation checklist (6 Oct 2026). Detailed relay set-up in Section 8.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840480" cy="4480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Hospital provides before installation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231136"/>
            <a:ext cx="35204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2.4 GHz Wi-Fi network (5 GHz not supported) with an SSID in English characters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Wi-Fi name and password, or a dedicated IoT SSID / VLAN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MAC-address whitelisting if required — MONIT supplies relay MAC addresses before delivery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One power point per relay position (USB adapter supplied)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Escorted ward access at agreed times; IT contact on call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663440" y="157276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634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1572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Survey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29400" y="157276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Walk the ward with a test relay; confirm coverage and power points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2103120"/>
            <a:ext cx="69768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22311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6344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257800" y="22311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Mount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223113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Upper wall or corridor ceiling, away from metal cabinets; secure the plug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63440" y="2761488"/>
            <a:ext cx="69768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63440" y="2889504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66344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5257800" y="28895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Connect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629400" y="2889504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Power on; enter the hospital Wi-Fi once on the relay's set-up page (region code 1002)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663440" y="3419856"/>
            <a:ext cx="69768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63440" y="35478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66344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5257800" y="35478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Register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6629400" y="354787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Scan each sensor QR code to the bed in the dashboard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663440" y="4078224"/>
            <a:ext cx="69768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663440" y="42062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525780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Verify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6629400" y="420624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 alert on every bed; dashboard, app and nurse-station view must match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663440" y="4736592"/>
            <a:ext cx="6976872" cy="0"/>
          </a:xfrm>
          <a:prstGeom prst="line">
            <a:avLst/>
          </a:prstGeom>
          <a:noFill/>
          <a:ln w="9525">
            <a:solidFill>
              <a:srgbClr val="D5DCE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663440" y="4864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466344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5257800" y="48646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Sign off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629400" y="486460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Ward commissioning checklist signed by nursing and IT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663440" y="5504688"/>
            <a:ext cx="6976872" cy="457200"/>
          </a:xfrm>
          <a:prstGeom prst="rect">
            <a:avLst/>
          </a:prstGeom>
          <a:solidFill>
            <a:srgbClr val="E6F6F7"/>
          </a:solidFill>
          <a:ln w="12700">
            <a:solidFill>
              <a:srgbClr val="00A3AD"/>
            </a:solidFill>
            <a:prstDash val="dash"/>
          </a:ln>
        </p:spPr>
      </p:sp>
      <p:sp>
        <p:nvSpPr>
          <p:cNvPr id="41" name="Text 37"/>
          <p:cNvSpPr txBox="1"/>
          <p:nvPr/>
        </p:nvSpPr>
        <p:spPr>
          <a:xfrm>
            <a:off x="4773168" y="5504688"/>
            <a:ext cx="6757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F76"/>
                </a:solidFill>
              </a:rPr>
              <a:t>PROPOSED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1–2 wards per day per team; pilot ward first at each hospital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5 · PROJECT TIMELINE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Implementation can start on award and reach full go-live in about five months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RFP (mobilisation within 28 days of award); Master Agreement (training plan ≤ 14 days of contract). Production lead time depends on the final relay count.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481328"/>
            <a:ext cx="1298448" cy="320040"/>
          </a:xfrm>
          <a:prstGeom prst="rect">
            <a:avLst/>
          </a:prstGeom>
          <a:solidFill>
            <a:srgbClr val="0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66360" y="1481328"/>
            <a:ext cx="1298448" cy="320040"/>
          </a:xfrm>
          <a:prstGeom prst="rect">
            <a:avLst/>
          </a:prstGeom>
          <a:solidFill>
            <a:srgbClr val="0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481328"/>
            <a:ext cx="1298448" cy="320040"/>
          </a:xfrm>
          <a:prstGeom prst="rect">
            <a:avLst/>
          </a:prstGeom>
          <a:solidFill>
            <a:srgbClr val="0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1481328"/>
            <a:ext cx="1298448" cy="320040"/>
          </a:xfrm>
          <a:prstGeom prst="rect">
            <a:avLst/>
          </a:prstGeom>
          <a:solidFill>
            <a:srgbClr val="0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481328"/>
            <a:ext cx="1298448" cy="320040"/>
          </a:xfrm>
          <a:prstGeom prst="rect">
            <a:avLst/>
          </a:prstGeom>
          <a:solidFill>
            <a:srgbClr val="0B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1091672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9202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Contract and insurance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2002536"/>
            <a:ext cx="662940" cy="237744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377440"/>
            <a:ext cx="1109167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377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Mobilisation (within 28 days)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2459736"/>
            <a:ext cx="1325880" cy="237744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834640"/>
            <a:ext cx="11091672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8346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Wi-Fi / RF site survey, final relay count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03420" y="2916936"/>
            <a:ext cx="1325880" cy="237744"/>
          </a:xfrm>
          <a:prstGeom prst="rect">
            <a:avLst/>
          </a:prstGeom>
          <a:solidFill>
            <a:srgbClr val="00A3A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291840"/>
            <a:ext cx="1109167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2918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Procurement and shipment (lead time)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34890" y="3374136"/>
            <a:ext cx="2320290" cy="23774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749040"/>
            <a:ext cx="11091672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490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Pilot ward install — KTPH, WH, TTSH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3831336"/>
            <a:ext cx="994410" cy="237744"/>
          </a:xfrm>
          <a:prstGeom prst="rect">
            <a:avLst/>
          </a:prstGeom>
          <a:solidFill>
            <a:srgbClr val="00A3AD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206240"/>
            <a:ext cx="1109167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2062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UAT and pilot acceptance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55180" y="4288536"/>
            <a:ext cx="994410" cy="237744"/>
          </a:xfrm>
          <a:prstGeom prst="rect">
            <a:avLst/>
          </a:prstGeom>
          <a:solidFill>
            <a:srgbClr val="00A3AD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663440"/>
            <a:ext cx="11091672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46634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Ward-by-ward rollout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18120" y="4745736"/>
            <a:ext cx="1325880" cy="237744"/>
          </a:xfrm>
          <a:prstGeom prst="rect">
            <a:avLst/>
          </a:prstGeom>
          <a:solidFill>
            <a:srgbClr val="0B2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5120640"/>
            <a:ext cx="1109167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51206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Training (nurses, IT)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5202936"/>
            <a:ext cx="2651760" cy="237744"/>
          </a:xfrm>
          <a:prstGeom prst="rect">
            <a:avLst/>
          </a:prstGeom>
          <a:solidFill>
            <a:srgbClr val="00A3AD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577840"/>
            <a:ext cx="11091672" cy="402336"/>
          </a:xfrm>
          <a:prstGeom prst="rect">
            <a:avLst/>
          </a:prstGeom>
          <a:solidFill>
            <a:srgbClr val="F1F4F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" y="55778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Hypercare and optimisation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44000" y="5660136"/>
            <a:ext cx="1325880" cy="237744"/>
          </a:xfrm>
          <a:prstGeom prst="rect">
            <a:avLst/>
          </a:prstGeom>
          <a:solidFill>
            <a:srgbClr val="2E7D6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6 · REFERENCES AND TRACK RECORD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Our Singapore track record starts at KTPH itself and extends to public eldercare and primary care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customer records; KTPH Smart Diapers Sensor Trial report (3 Dec 2025).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2679192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7602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Khoo Teck Puat Hospital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2128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Where: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Ward B76, Singapore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968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Scale: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15 patients, 818 readings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9809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Timeline: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9 Jul – 24 Aug 2025 · Phase 2 ongoing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47288"/>
            <a:ext cx="23134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Accuracy 76.2%, specificity 82.6%, sensitivity 72.7% measured by KTPH nurses. Staff feedback on alarm handling and sensor placement went into the current release.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52800" y="1481328"/>
            <a:ext cx="2679192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3517392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692" y="1760220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084320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Vanguard Healthcare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3535680" y="22128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Where: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Tampines Care Home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535680" y="25968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Scale: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PoC with 2 residents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3535680" y="29809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Timeline: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20 May – 3 Jul 2026 · subscription roll-out under discussion</a:t>
            </a:r>
            <a:endParaRPr lang="en-US" sz="1050" dirty="0"/>
          </a:p>
        </p:txBody>
      </p:sp>
      <p:pic>
        <p:nvPicPr>
          <p:cNvPr id="20" name="Image 2" descr="/home/user/tonyparkmacbookpro/assets/261008/ref_vangu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528" y="4035602"/>
            <a:ext cx="2459736" cy="124653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56960" y="1481328"/>
            <a:ext cx="2679192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6321552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852" y="176022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88480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NTUC Health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339840" y="22128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Where: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Geylang East, Singapore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6339840" y="25968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Scale: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6 residents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339840" y="29809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Timeline: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From 7 Sep 2026</a:t>
            </a:r>
            <a:endParaRPr lang="en-US" sz="1050" dirty="0"/>
          </a:p>
        </p:txBody>
      </p:sp>
      <p:pic>
        <p:nvPicPr>
          <p:cNvPr id="28" name="Image 4" descr="/home/user/tonyparkmacbookpro/assets/261008/ref_ntu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688" y="4048853"/>
            <a:ext cx="2459736" cy="1220029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961120" y="1481328"/>
            <a:ext cx="2679192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9125712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012" y="176022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692640" y="1645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SingHealth Polyclinics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9144000" y="22128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Where: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Sengkang, Pasir Ris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9144000" y="25968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Scale: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30 participants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9144000" y="29809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Timeline: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From 10 Jul 2026</a:t>
            </a:r>
            <a:endParaRPr lang="en-US" sz="1050" dirty="0"/>
          </a:p>
        </p:txBody>
      </p:sp>
      <p:pic>
        <p:nvPicPr>
          <p:cNvPr id="36" name="Image 6" descr="/home/user/tonyparkmacbookpro/assets/261008/ref_singhealt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48" y="4025196"/>
            <a:ext cx="2459736" cy="12673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6 · REFERENCES AND TRACK RECORD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Larger programmes in Japan and Korea show the system running at scale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customer records and NHIS listing. Heart Care figures as reported by the customer.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611880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7602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Heart Care (Japan)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Where: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14 elderly-care facilities, Osaka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96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Scale: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About 2,000 sensors; 1 million diapers supplied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980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Timeline: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From Dec 2025</a:t>
            </a:r>
            <a:endParaRPr lang="en-US" sz="1050" dirty="0"/>
          </a:p>
        </p:txBody>
      </p:sp>
      <p:pic>
        <p:nvPicPr>
          <p:cNvPr id="12" name="Image 1" descr="/home/user/tonyparkmacbookpro/assets/261008/ref_heartc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13280"/>
            <a:ext cx="3392424" cy="149117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88536" y="1481328"/>
            <a:ext cx="3611880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4453128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17602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20056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NHIS innovative welfare device (Korea)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471416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Where: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National Health Insurance Service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4471416" y="2596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Scale: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National long-term-care programme (1.23 million)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471416" y="2980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Timeline: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Listed March 2024</a:t>
            </a:r>
            <a:endParaRPr lang="en-US" sz="1050" dirty="0"/>
          </a:p>
        </p:txBody>
      </p:sp>
      <p:pic>
        <p:nvPicPr>
          <p:cNvPr id="20" name="Image 3" descr="/home/user/tonyparkmacbookpro/assets/261008/ref_nhi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3719568"/>
            <a:ext cx="3392424" cy="18786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028432" y="1481328"/>
            <a:ext cx="3611880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6"/>
          <p:cNvSpPr/>
          <p:nvPr/>
        </p:nvSpPr>
        <p:spPr>
          <a:xfrm>
            <a:off x="8193024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324" y="176022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759952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Korean elderly hospitals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8211312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Where: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Samsung Noble County and premium elderly hospitals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8211312" y="2596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Scale: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180 residents · Noble County PoC of 25 confirmed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8211312" y="2980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Timeline: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Ongoing; Noble County from late Oct 2026</a:t>
            </a:r>
            <a:endParaRPr lang="en-US" sz="1050" dirty="0"/>
          </a:p>
        </p:txBody>
      </p:sp>
      <p:pic>
        <p:nvPicPr>
          <p:cNvPr id="28" name="Image 5" descr="/home/user/tonyparkmacbookpro/assets/261008/ref_kore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719138"/>
            <a:ext cx="3392424" cy="187945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7 · SUSTAINABILITY INITIATIVES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Environmental policy: MECS PRO cuts unnecessary diaper changes and the waste that goes with them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MONIT. Diaper reduction is a MONIT customer estimate.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6400800" cy="2057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Environmental policy — in place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231136"/>
            <a:ext cx="60807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Policies and practices on waste, recycling and packaging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MECS PRO can reduce unnecessary diaper consumption by up to 25%: changes happen when a diaper is soiled, not on a fixed round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Reusable sensor — only the battery is replaced, every 2–3 months</a:t>
            </a:r>
            <a:endParaRPr lang="en-US" sz="1150" dirty="0"/>
          </a:p>
        </p:txBody>
      </p:sp>
      <p:pic>
        <p:nvPicPr>
          <p:cNvPr id="10" name="Image 1" descr="/home/user/tonyparkmacbookpro/assets/261008/env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68823"/>
            <a:ext cx="3127248" cy="2154995"/>
          </a:xfrm>
          <a:prstGeom prst="rect">
            <a:avLst/>
          </a:prstGeom>
        </p:spPr>
      </p:pic>
      <p:pic>
        <p:nvPicPr>
          <p:cNvPr id="11" name="Image 2" descr="/home/user/tonyparkmacbookpro/assets/261008/env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3871888"/>
            <a:ext cx="3127248" cy="19488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0" y="1481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Other criteria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0" y="1920240"/>
            <a:ext cx="432511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9"/>
          <p:cNvSpPr/>
          <p:nvPr/>
        </p:nvSpPr>
        <p:spPr>
          <a:xfrm>
            <a:off x="7498080" y="21031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380" y="221742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924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Renewable energy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0195560" y="2167128"/>
            <a:ext cx="13258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Not applicable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8092440" y="25786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Use of solar or other renewable energy in operations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315200" y="3246120"/>
            <a:ext cx="432511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7498080" y="34290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354330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9244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Energy tracking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0195560" y="3493008"/>
            <a:ext cx="13258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Not applicable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8092440" y="39044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Tracking of energy use in offices and factories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315200" y="4572000"/>
            <a:ext cx="432511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Shape 19"/>
          <p:cNvSpPr/>
          <p:nvPr/>
        </p:nvSpPr>
        <p:spPr>
          <a:xfrm>
            <a:off x="7498080" y="475488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380" y="486918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092440" y="4754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Green products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0195560" y="4818888"/>
            <a:ext cx="13258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Not applicable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8092440" y="52303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4"/>
                </a:solidFill>
              </a:rPr>
              <a:t>Green Label products and energy-efficient equipment in offices and sites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8 · NETWORK CONNECTIVITY AND RELAY DEVICES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MECS PRO BLE gateway relays sensor data over the hospital Wi-Fi so wards are covered without new infrastructure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Model SEM-SYS200K_GAT. Registrations in Section 2.</a:t>
            </a:r>
            <a:endParaRPr lang="en-US" sz="900" dirty="0"/>
          </a:p>
        </p:txBody>
      </p:sp>
      <p:pic>
        <p:nvPicPr>
          <p:cNvPr id="5" name="Image 0" descr="/home/user/tonyparkmacbookpro/assets/261008/gw_lab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5174"/>
            <a:ext cx="4023360" cy="2486908"/>
          </a:xfrm>
          <a:prstGeom prst="rect">
            <a:avLst/>
          </a:prstGeom>
        </p:spPr>
      </p:pic>
      <p:pic>
        <p:nvPicPr>
          <p:cNvPr id="6" name="Image 1" descr="/home/user/tonyparkmacbookpro/assets/261008/gw_vie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634" y="4069080"/>
            <a:ext cx="2571372" cy="196596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81328"/>
          <a:ext cx="6793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1480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Function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Receives MECS PRO sensor data over BLE and sends it to the cloud over Wi-Fi, for the nursing station and tablets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Communication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BLE 5 (beacon) receive · Wi-Fi 2.4 GHz transmit (5 GHz not supported)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Reception range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About 20 m indoors; varies with obstacles, interference and antenna orientation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Data cycle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Collects all nearby sensors every minute; stores and re-sends if Wi-Fi drops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Updates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Remote firmware update checked every hour — wireless, no cable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Registrations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IMDA ESER/26/5450 · CE · KC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Dimensions / weight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9.5 × 4.5 × 5.5–11.3 cm (antenna incl.) · 42 g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Power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5 V USB-A, always on; restarts automatically after power loss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Installation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Upper wall or corridor ceiling, away from metal cabinets, frames and pillars; exact number confirmed on site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Data privacy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No personal information stored — sensor identifiers and soiling data only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</a:rPr>
                        <a:t>Package / origin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Gateway and quick-start guide (adapter not included) · made in China, developed and owned by MONIT (Korea) · HS 8517.62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8 · NETWORK CONNECTIVITY AND RELAY DEVICES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Each relay is set up once from a phone or tablet in a few minutes — no new network infrastructure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Set-up screens from the installation guide; network names and passwords are masked.</a:t>
            </a:r>
            <a:endParaRPr lang="en-US" sz="900" dirty="0"/>
          </a:p>
        </p:txBody>
      </p:sp>
      <p:pic>
        <p:nvPicPr>
          <p:cNvPr id="5" name="Image 0" descr="/home/user/tonyparkmacbookpro/assets/261008/gw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441" y="1481328"/>
            <a:ext cx="1003807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11091672" cy="502920"/>
          </a:xfrm>
          <a:prstGeom prst="rect">
            <a:avLst/>
          </a:prstGeom>
          <a:solidFill>
            <a:srgbClr val="E6F6F7"/>
          </a:solidFill>
          <a:ln w="12700">
            <a:solidFill>
              <a:srgbClr val="00A3AD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58368" y="5486400"/>
            <a:ext cx="10872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F76"/>
                </a:solidFill>
              </a:rPr>
              <a:t>PROPOSED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Relays supplied to the three hospitals carry a unique set-up password per device (strict-institution firmware); MONIT hands the password list to hospital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8 · NETWORK CONNECTIVITY AND RELAY DEVICES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 relay joins the hospital Wi-Fi as a standard client — only a 2.4 GHz Wi-Fi network is required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Region code 1002 = Singapore. The set-up page closes once the relay restarts.</a:t>
            </a:r>
            <a:endParaRPr lang="en-US" sz="900" dirty="0"/>
          </a:p>
        </p:txBody>
      </p:sp>
      <p:pic>
        <p:nvPicPr>
          <p:cNvPr id="5" name="Image 0" descr="/home/user/tonyparkmacbookpro/assets/261008/gw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42" y="1481328"/>
            <a:ext cx="2448956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0042" y="1481328"/>
            <a:ext cx="2448956" cy="452628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383280" y="1481328"/>
            <a:ext cx="2377440" cy="4526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62763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Enter the Wi-Fi details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1945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①  Wi-Fi name (SSID)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②  Wi-Fi password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③  Region code 1002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④  Save</a:t>
            </a:r>
            <a:endParaRPr lang="en-US" sz="1300" dirty="0"/>
          </a:p>
        </p:txBody>
      </p:sp>
      <p:pic>
        <p:nvPicPr>
          <p:cNvPr id="10" name="Image 1" descr="/home/user/tonyparkmacbookpro/assets/261008/gw_verifi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46510"/>
            <a:ext cx="3108960" cy="16069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35040" y="1546510"/>
            <a:ext cx="3108960" cy="1606996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326880" y="1481328"/>
            <a:ext cx="2313432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509760" y="16276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Verified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509760" y="2011680"/>
            <a:ext cx="19933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When the page shows 'Verified', relay set-up is complete.</a:t>
            </a:r>
            <a:endParaRPr lang="en-US" sz="1100" dirty="0"/>
          </a:p>
        </p:txBody>
      </p:sp>
      <p:pic>
        <p:nvPicPr>
          <p:cNvPr id="15" name="Image 2" descr="/home/user/tonyparkmacbookpro/assets/261008/gw_l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45991"/>
            <a:ext cx="3108960" cy="206913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035040" y="3445991"/>
            <a:ext cx="3108960" cy="2069139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26880" y="3429000"/>
            <a:ext cx="2313432" cy="2103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9509760" y="357530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Solid white LED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9509760" y="3959352"/>
            <a:ext cx="199339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When the LED turns solid white, the relay is online.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8 · NETWORK CONNECTIVITY AND RELAY DEVICES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Wi-Fi credentials are stored once on the relay — no re-entry after power outages or firmware updates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MECS PRO BLE Gateway installation guide and FAQ.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Event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happens on the relay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Re-enter Wi-Fi password?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Power outage / restart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Credentials reloaded from non-volatile memory; relay restarts and reconnects automatically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Firmware update (over the air)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Wi-Fi settings are kept across the update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Wi-Fi drops temporarily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Sensor data is stored on the relay and re-sent when Wi-Fi returns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Hospital changes the Wi-Fi password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Hospital IT enters the new credentials on each relay's set-up page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Yes — once, by hospital 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Replacement unit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New relay starts in set-up mode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Yes — one-time set-up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04672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 the solution achieves this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046720" y="20116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78240" y="2011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Credentials kept in non-volatile memory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046720" y="2971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31089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297180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Settings kept across firmware updates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046720" y="393192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069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9319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Automatic reconnection after any outage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046720" y="4892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502920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89204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 buffering while Wi-Fi is down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8 · NETWORK CONNECTIVITY AND RELAY DEVICES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Patient data stays in Singapore, is kept only as long as needed, and is protected to ISO 27001/27017/27018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Corp Data Protection Notice v1.0 (10 Sep 2026); MONIT platform security design.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361188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residency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231136"/>
            <a:ext cx="3291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Hosted on Microsoft Azure, Singapore region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Separate tenancy for each hospital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1481328"/>
            <a:ext cx="361188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602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7492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Minimal personal data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480560" y="2231136"/>
            <a:ext cx="3291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 name, birth date or gender collected at device registration — device nickname only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Relays store no personal information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46720" y="1481328"/>
            <a:ext cx="361188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17602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823960" y="1645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Encryption and access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0" y="2231136"/>
            <a:ext cx="3291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Azure SQL TDE and AES-256 encryption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Web application firewall; organisation-scoped sign-in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767328"/>
            <a:ext cx="361188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6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404622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2588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Retention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31520" y="4517136"/>
            <a:ext cx="3291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Care events kept 14 days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Audit logs kept 12 months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297680" y="3767328"/>
            <a:ext cx="361188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Shape 20"/>
          <p:cNvSpPr/>
          <p:nvPr/>
        </p:nvSpPr>
        <p:spPr>
          <a:xfrm>
            <a:off x="4480560" y="3931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404622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07492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Breach response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480560" y="4517136"/>
            <a:ext cx="3291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Notification within 1 day of a confirmed breach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Named Data Protection Officer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046720" y="3767328"/>
            <a:ext cx="3611880" cy="2148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Shape 24"/>
          <p:cNvSpPr/>
          <p:nvPr/>
        </p:nvSpPr>
        <p:spPr>
          <a:xfrm>
            <a:off x="8229600" y="39319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404622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82396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Assurance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8229600" y="4517136"/>
            <a:ext cx="32918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ISO 27001 / 27017 / 27018 certification in November 2026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Annual penetration re-test by a licensed provider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IT RFP">
  <a:themeElements>
    <a:clrScheme name="MONIT RFP">
      <a:dk1>
        <a:srgbClr val="1F2937"/>
      </a:dk1>
      <a:lt1>
        <a:srgbClr val="FFFFFF"/>
      </a:lt1>
      <a:dk2>
        <a:srgbClr val="0B2A4A"/>
      </a:dk2>
      <a:lt2>
        <a:srgbClr val="F1F4F8"/>
      </a:lt2>
      <a:accent1>
        <a:srgbClr val="00A3AD"/>
      </a:accent1>
      <a:accent2>
        <a:srgbClr val="0B2A4A"/>
      </a:accent2>
      <a:accent3>
        <a:srgbClr val="F2A900"/>
      </a:accent3>
      <a:accent4>
        <a:srgbClr val="6B7A8F"/>
      </a:accent4>
      <a:accent5>
        <a:srgbClr val="2E7D6B"/>
      </a:accent5>
      <a:accent6>
        <a:srgbClr val="C0392B"/>
      </a:accent6>
      <a:hlink>
        <a:srgbClr val="00A3AD"/>
      </a:hlink>
      <a:folHlink>
        <a:srgbClr val="6B7A8F"/>
      </a:folHlink>
    </a:clrScheme>
    <a:fontScheme name="MONIT RF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KTPH-RFP-26-165-MJ — AI-Enabled Smart Diaper Care System</dc:title>
  <dc:subject>PptxGenJS Presentation</dc:subject>
  <dc:creator>MONIT</dc:creator>
  <cp:lastModifiedBy>MONIT</cp:lastModifiedBy>
  <cp:revision>1</cp:revision>
  <dcterms:created xsi:type="dcterms:W3CDTF">2026-10-07T14:29:14Z</dcterms:created>
  <dcterms:modified xsi:type="dcterms:W3CDTF">2026-10-07T14:29:14Z</dcterms:modified>
</cp:coreProperties>
</file>