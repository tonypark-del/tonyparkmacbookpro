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MECS PRO Monitoring Platform –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3"/>
                </a:solidFill>
                <a:latin typeface="Calibri"/>
              </a:rPr>
              <a:t>Web-based AIoT diaper monitoring and caregiver alert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Attachment 1 to the MOU · MONIT Corp. · MECS PRO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A8F"/>
                </a:solidFill>
                <a:latin typeface="Calibri"/>
              </a:rPr>
              <a:t>1 / 3</a:t>
            </a:r>
          </a:p>
        </p:txBody>
      </p:sp>
      <p:pic>
        <p:nvPicPr>
          <p:cNvPr id="8" name="Picture 7" descr="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134248"/>
          </a:xfrm>
          <a:prstGeom prst="rect">
            <a:avLst/>
          </a:prstGeom>
          <a:ln w="9525">
            <a:solidFill>
              <a:srgbClr val="D5DCE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54864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Figure: Room view of the MECS PRO web dashboard (sample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280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  <a:latin typeface="Calibri"/>
              </a:rPr>
              <a:t>Main navigation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691640"/>
            <a:ext cx="4114800" cy="713232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691640"/>
            <a:ext cx="64008" cy="713232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7099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65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Real-time view of wards, rooms, patients and sensors; layout editor for wards and rooms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2496312"/>
            <a:ext cx="4114800" cy="713232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2496312"/>
            <a:ext cx="64008" cy="713232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5146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Device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7063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Information on registered devices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300984"/>
            <a:ext cx="4114800" cy="713232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80960" y="3300984"/>
            <a:ext cx="64008" cy="713232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331927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Manage sensors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575303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Sensor registry with search / filters, patient assignment, sensitivity, logs and CSV export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4105656"/>
            <a:ext cx="4114800" cy="713232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4105656"/>
            <a:ext cx="64008" cy="713232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12394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37997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Alert list and notification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4910328"/>
            <a:ext cx="4114800" cy="713232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0" y="4910328"/>
            <a:ext cx="64008" cy="713232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492861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Settings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System / account configuration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5733288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A8F"/>
                </a:solidFill>
                <a:latin typeface="Calibri"/>
              </a:rPr>
              <a:t>Also: global search (ward, room, patient, sensor), language selector, manual refresh with last-updated time, and secure sign-out.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Key Features – Real-time Monitoring &amp;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3"/>
                </a:solidFill>
                <a:latin typeface="Calibri"/>
              </a:rPr>
              <a:t>What caregivers see and do from the Room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Attachment 1 to the MOU · MONIT Corp. · MECS PRO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A8F"/>
                </a:solidFill>
                <a:latin typeface="Calibri"/>
              </a:rPr>
              <a:t>2 /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37560" cy="14630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64008" cy="146304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264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Hierarchical drill-down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19072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F2937"/>
                </a:solidFill>
                <a:latin typeface="Calibri"/>
              </a:rPr>
              <a:t>Ward / Room List → Ward → Room navigation with breadcrumb and Back button; patient count per room.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371600"/>
            <a:ext cx="3337560" cy="14630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77639" y="1371600"/>
            <a:ext cx="64008" cy="146304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4264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Status 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719072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F2937"/>
                </a:solidFill>
                <a:latin typeface="Calibri"/>
              </a:rPr>
              <a:t>Per-room counters: Dirty, Connected, Disconnected and Unconnected sensors.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3337560" cy="14630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64008" cy="146304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7238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Per-patient sensor 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64991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F2937"/>
                </a:solidFill>
                <a:latin typeface="Calibri"/>
              </a:rPr>
              <a:t>Room tag, sensor name, battery level (%), alert toggle, status indicator and bar, last-updated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017520"/>
            <a:ext cx="3337560" cy="14630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017520"/>
            <a:ext cx="64008" cy="146304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07238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3364991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F2937"/>
                </a:solidFill>
                <a:latin typeface="Calibri"/>
              </a:rPr>
              <a:t>Per-sensor alert on/off, Room alerts shortcut and Notification History for each sensor.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3337560" cy="14630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663440"/>
            <a:ext cx="64008" cy="146304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18303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Sensor action menu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10912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F2937"/>
                </a:solidFill>
                <a:latin typeface="Calibri"/>
              </a:rPr>
              <a:t>Sensitivity · Move room · Edit device info · View sensor info · Delete patient · Unassign sensor from patient.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4663440"/>
            <a:ext cx="3337560" cy="14630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77639" y="4663440"/>
            <a:ext cx="64008" cy="146304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4718303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Patient 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5010912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F2937"/>
                </a:solidFill>
                <a:latin typeface="Calibri"/>
              </a:rPr>
              <a:t>Register info and Assign patient from the Room view; data refreshes automatically with manual refresh option.</a:t>
            </a:r>
          </a:p>
        </p:txBody>
      </p:sp>
      <p:pic>
        <p:nvPicPr>
          <p:cNvPr id="32" name="Picture 31" descr="s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25880"/>
            <a:ext cx="4011912" cy="4480560"/>
          </a:xfrm>
          <a:prstGeom prst="rect">
            <a:avLst/>
          </a:prstGeom>
          <a:ln w="9525">
            <a:solidFill>
              <a:srgbClr val="D5DCE6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7589520" y="58521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Sensitivity Settings: 5 quick presets (Sensitive → Insensitive) or personal level 1–15, set per sensor to suit the user and diaper.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Key Features – Management &amp;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3"/>
                </a:solidFill>
                <a:latin typeface="Calibri"/>
              </a:rPr>
              <a:t>Sensor registry and facility layout tools for administrators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Attachment 1 to the MOU · MONIT Corp. · MECS PRO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A8F"/>
                </a:solidFill>
                <a:latin typeface="Calibri"/>
              </a:rPr>
              <a:t>3 / 3</a:t>
            </a:r>
          </a:p>
        </p:txBody>
      </p:sp>
      <p:pic>
        <p:nvPicPr>
          <p:cNvPr id="8" name="Picture 7" descr="man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943600" cy="2893337"/>
          </a:xfrm>
          <a:prstGeom prst="rect">
            <a:avLst/>
          </a:prstGeom>
          <a:ln w="9525">
            <a:solidFill>
              <a:srgbClr val="D5DCE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41148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Manage sensors: searchable registry with action menu</a:t>
            </a:r>
          </a:p>
        </p:txBody>
      </p:sp>
      <p:pic>
        <p:nvPicPr>
          <p:cNvPr id="10" name="Picture 9" descr="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434840"/>
            <a:ext cx="5943600" cy="1601133"/>
          </a:xfrm>
          <a:prstGeom prst="rect">
            <a:avLst/>
          </a:prstGeom>
          <a:ln w="9525">
            <a:solidFill>
              <a:srgbClr val="D5DCE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57200" y="6126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A8F"/>
                </a:solidFill>
                <a:latin typeface="Calibri"/>
              </a:rPr>
              <a:t>Manage layout: add / edit / remove wards and rooms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280160"/>
            <a:ext cx="5029200" cy="8686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280160"/>
            <a:ext cx="64008" cy="86868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33502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Sensor registry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27631"/>
            <a:ext cx="475488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Table of Sensor ID, memo, status, device nickname, location, battery and last seen; Register Sensor and Export CSV.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2240280"/>
            <a:ext cx="5029200" cy="8686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2240280"/>
            <a:ext cx="64008" cy="86868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295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Search &amp; filters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87752"/>
            <a:ext cx="475488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Filter by Ward, Room or Device nickname, plus status and battery level filters.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200400"/>
            <a:ext cx="5029200" cy="8686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3200400"/>
            <a:ext cx="64008" cy="86868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25526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Per-sensor 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547872"/>
            <a:ext cx="475488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Sensitivity · Assign Patient · Edit info · Logs · Delete.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160520"/>
            <a:ext cx="5029200" cy="8686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4160520"/>
            <a:ext cx="64008" cy="86868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4215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Layout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507992"/>
            <a:ext cx="475488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Add Ward / Add Room, rename, delete; Save All, Discard and Close to control changes.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5120640"/>
            <a:ext cx="5029200" cy="8686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5120640"/>
            <a:ext cx="64008" cy="868680"/>
          </a:xfrm>
          <a:prstGeom prst="rect">
            <a:avLst/>
          </a:prstGeom>
          <a:solidFill>
            <a:srgbClr val="00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5175503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2A4A"/>
                </a:solidFill>
                <a:latin typeface="Calibri"/>
              </a:rPr>
              <a:t>Access &amp; localisation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468112"/>
            <a:ext cx="475488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F2937"/>
                </a:solidFill>
                <a:latin typeface="Calibri"/>
              </a:rPr>
              <a:t>Organisation-scoped sign-in (e.g., organization_admin), global search and language selector.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6080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7A8F"/>
                </a:solidFill>
                <a:latin typeface="Calibri"/>
              </a:rPr>
              <a:t>Device info, Alerts and Settings menus are listed by name only. Features may evolve with product versions.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