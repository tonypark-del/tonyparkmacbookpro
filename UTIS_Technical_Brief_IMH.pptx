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TIS technical brief" id="{f3f76fad-936c-14af-9804-230979bc293e}">
          <p14:sldIdLst>
            <p14:sldId id="256"/>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m/day</c:v>
                </c:pt>
              </c:strCache>
            </c:strRef>
          </c:tx>
          <c:spPr>
            <a:solidFill>
              <a:srgbClr val="0E7C7B"/>
            </a:solidFill>
            <a:effectLst/>
          </c:spPr>
          <c:invertIfNegative val="0"/>
          <c:dLbls>
            <c:numFmt formatCode="&quot;~&quot;#,##0,&quot;k&quot;" sourceLinked="0"/>
            <c:txPr>
              <a:bodyPr/>
              <a:lstStyle/>
              <a:p>
                <a:pPr>
                  <a:defRPr b="0" i="0" strike="noStrike" sz="1200" u="none">
                    <a:solidFill>
                      <a:srgbClr val="1B2631"/>
                    </a:solidFill>
                    <a:latin typeface="+mn-lt"/>
                  </a:defRPr>
                </a:pPr>
              </a:p>
            </c:txPr>
            <c:showLegendKey val="0"/>
            <c:showVal val="1"/>
            <c:showCatName val="0"/>
            <c:showSerName val="0"/>
            <c:showPercent val="0"/>
            <c:showBubbleSize val="0"/>
            <c:showLeaderLines val="0"/>
          </c:dLbls>
          <c:dPt>
            <c:idx val="0"/>
            <c:invertIfNegative val="0"/>
            <c:bubble3D val="0"/>
            <c:spPr>
              <a:solidFill>
                <a:srgbClr val="0E7C7B"/>
              </a:solidFill>
              <a:effectLst/>
            </c:spPr>
          </c:dPt>
          <c:dPt>
            <c:idx val="1"/>
            <c:invertIfNegative val="0"/>
            <c:bubble3D val="0"/>
            <c:spPr>
              <a:solidFill>
                <a:srgbClr val="E8A33D"/>
              </a:solidFill>
              <a:effectLst/>
            </c:spPr>
          </c:dPt>
          <c:cat>
            <c:multiLvlStrRef>
              <c:f>Sheet1!$A$2:$A$3</c:f>
              <c:multiLvlStrCache>
                <c:ptCount val="2"/>
                <c:lvl>
                  <c:pt idx="0">
                    <c:v>Today</c:v>
                  </c:pt>
                  <c:pt idx="1">
                    <c:v>Target (assumed)</c:v>
                  </c:pt>
                </c:lvl>
              </c:multiLvlStrCache>
            </c:multiLvlStrRef>
          </c:cat>
          <c:val>
            <c:numRef>
              <c:f>Sheet1!$B$2:$B$3</c:f>
              <c:numCache>
                <c:formatCode>General</c:formatCode>
                <c:ptCount val="2"/>
                <c:pt idx="0">
                  <c:v>3000</c:v>
                </c:pt>
                <c:pt idx="1">
                  <c:v>100000</c:v>
                </c:pt>
              </c:numCache>
            </c:numRef>
          </c:val>
        </c:ser>
        <c:dLbls>
          <c:numFmt formatCode="&quot;~&quot;#,##0,&quot;k&quot;" sourceLinked="0"/>
          <c:txPr>
            <a:bodyPr/>
            <a:lstStyle/>
            <a:p>
              <a:pPr>
                <a:defRPr b="0" i="0" strike="noStrike" sz="1200" u="none">
                  <a:solidFill>
                    <a:srgbClr val="1B263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B2631"/>
                </a:solidFill>
                <a:latin typeface="+mn-lt"/>
              </a:defRPr>
            </a:pPr>
            <a:endParaRPr lang="en-GB"/>
          </a:p>
        </c:txPr>
        <c:crossAx val="2094734552"/>
        <c:crosses val="autoZero"/>
        <c:auto val="1"/>
        <c:lblAlgn val="ctr"/>
        <c:noMultiLvlLbl val="1"/>
      </c:catAx>
      <c:valAx>
        <c:axId val="2094734552"/>
        <c:scaling>
          <c:orientation val="minMax"/>
          <c:max val="200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GB"/>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GB"/>
              <a:t>7/23/19</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GB"/>
              <a:t>‹#›</a:t>
            </a:fld>
            <a:endParaRPr lang="en-GB"/>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UTIS is a nonwoven web carrying dried reagent lines. In the general reagent-strip model, urine rehydrates the dried reagent and each line reacts with its analyte: nitrite and leukocyte-esterase lines colour only above their detection level, pH always takes a colour, and protein shifts from yellow towards green. UTIS's actual reactions still have to be confirmed with its own formulation, and a UTIS-specific colour chart is still to be set because the nonwoven background changes the colour seen. The four chemistries are the general principles of commercial urine strips, not a confirmed UTIS panel; the protein pad is mainly albumin-sensitive and is not an albumin-specific assay. Colour intensity should not be assumed proportional across all ranges, nor stable over time. The bench comparison was reported by the development team; test counts, concentrations, comparator type and raw images will be shared once provided and confirmed.</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1</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line unwinds the nonwoven, dispenses the in-house reagent mix through nozzles, dries the web on hot-air and hot-plate sections and rewinds it as roll stock; this process description comes from the development team. The control items under each step are recommended and will be finalised in the internal manufacturing standard. Formulation details stay confidential; what we share is what each variable controls. Current output of about 3,000 m per day is developer-reported. About 100,000 m per day after line modification is an unverified estimate: drying, line-width variation and reactivity at higher speed still have to be checked, and the per-day basis of the target is to be confirmed.</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2</a:t>
            </a:fld>
            <a:endParaRPr lang="en-GB"/>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Concept A places the current reagent web in a flat pad or underpad, reagent side away from the skin. Its lines report urine chemistry, not wetness, and this format has not been built or tested. Moisture and incontinence are recognised pressure-injury risk factors (EPUAP/NPIAP/PPPIA International Guideline, 2019); how the indicator could support that care is a question to scope with IMH. Concept B, a dressing-integrated indicator such as exudate pH, is exploratory and needs its own chemistry and safety testing. Open points: cross-talk between adjacent lines and the effect of single versus repeated voids; the read window (the development team reports colour may shift after about four hours, without stating the start point, while products at the site they observed are changed every four to five hours; time zero should be first urine contact, and stability both before four hours and up to the change is not yet shown); repeatability; and reagent leaching onto skin. The time points and evaluation items are a development proposal, not a fixed specification. This is bench analytical testing only; no clinical or UTI diagnostic performance, certification or regulatory status is claimed.</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GB"/>
              <a:t>3</a:t>
            </a:fld>
            <a:endParaRPr lang="en-GB"/>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74320"/>
          </a:xfrm>
          <a:prstGeom prst="rect">
            <a:avLst/>
          </a:prstGeom>
          <a:noFill/>
          <a:ln/>
        </p:spPr>
        <p:txBody>
          <a:bodyPr wrap="square" rtlCol="0"/>
          <a:lstStyle>
            <a:lvl1pPr indent="0" marL="0">
              <a:buNone/>
              <a:defRPr lang="en-GB" sz="1100" b="1" spc="100" kern="0" dirty="0">
                <a:solidFill>
                  <a:schemeClr val="accent1"/>
                </a:solidFill>
              </a:defRPr>
            </a:lvl1pPr>
          </a:lstStyle>
          <a:p>
            <a:pPr indent="0" marL="0">
              <a:buNone/>
            </a:pPr>
            <a:endParaRPr lang="en-GB" sz="1100" dirty="0"/>
          </a:p>
        </p:txBody>
      </p:sp>
      <p:sp>
        <p:nvSpPr>
          <p:cNvPr id="3" name="Text 0"/>
          <p:cNvSpPr/>
          <p:nvPr>
            <p:ph idx="101" type="title" hasCustomPrompt="1"/>
          </p:nvPr>
        </p:nvSpPr>
        <p:spPr>
          <a:xfrm>
            <a:off x="457200" y="548640"/>
            <a:ext cx="11274552" cy="603504"/>
          </a:xfrm>
          <a:prstGeom prst="rect">
            <a:avLst/>
          </a:prstGeom>
          <a:noFill/>
          <a:ln/>
        </p:spPr>
        <p:txBody>
          <a:bodyPr wrap="square" rtlCol="0"/>
          <a:lstStyle>
            <a:lvl1pPr algn="l" indent="0" marL="0">
              <a:buNone/>
              <a:defRPr lang="en-GB" sz="3600" b="1" dirty="0">
                <a:solidFill>
                  <a:schemeClr val="tx2"/>
                </a:solidFill>
              </a:defRPr>
            </a:lvl1pPr>
          </a:lstStyle>
          <a:p>
            <a:pPr algn="l" indent="0" marL="0">
              <a:buNone/>
            </a:pPr>
            <a:endParaRPr lang="en-GB" sz="3600" dirty="0"/>
          </a:p>
        </p:txBody>
      </p:sp>
      <p:sp>
        <p:nvSpPr>
          <p:cNvPr id="4" name="Text 0"/>
          <p:cNvSpPr/>
          <p:nvPr>
            <p:ph idx="102" type="body" hasCustomPrompt="1"/>
          </p:nvPr>
        </p:nvSpPr>
        <p:spPr>
          <a:xfrm>
            <a:off x="457200" y="1170432"/>
            <a:ext cx="11274552" cy="365760"/>
          </a:xfrm>
          <a:prstGeom prst="rect">
            <a:avLst/>
          </a:prstGeom>
          <a:noFill/>
          <a:ln/>
        </p:spPr>
        <p:txBody>
          <a:bodyPr wrap="square" rtlCol="0"/>
          <a:lstStyle>
            <a:lvl1pPr indent="0" marL="0">
              <a:buNone/>
              <a:defRPr lang="en-GB" sz="1400" dirty="0">
                <a:solidFill>
                  <a:schemeClr val="tx1"/>
                </a:solidFill>
              </a:defRPr>
            </a:lvl1pPr>
          </a:lstStyle>
          <a:p>
            <a:pPr indent="0" marL="0">
              <a:buNone/>
            </a:pPr>
            <a:endParaRPr lang="en-GB" sz="1400" dirty="0"/>
          </a:p>
        </p:txBody>
      </p:sp>
      <p:sp>
        <p:nvSpPr>
          <p:cNvPr id="5" name="Text 0"/>
          <p:cNvSpPr/>
          <p:nvPr/>
        </p:nvSpPr>
        <p:spPr>
          <a:xfrm>
            <a:off x="457200" y="6492240"/>
            <a:ext cx="4023360" cy="237744"/>
          </a:xfrm>
          <a:prstGeom prst="rect">
            <a:avLst/>
          </a:prstGeom>
          <a:noFill/>
          <a:ln/>
        </p:spPr>
        <p:txBody>
          <a:bodyPr wrap="square" lIns="0" tIns="0" rIns="0" bIns="0" rtlCol="0" anchor="ctr"/>
          <a:lstStyle/>
          <a:p>
            <a:pPr indent="0" marL="0">
              <a:buNone/>
            </a:pPr>
            <a:r>
              <a:rPr lang="en-GB" sz="1000" dirty="0">
                <a:solidFill>
                  <a:schemeClr val="accent4"/>
                </a:solidFill>
              </a:rPr>
              <a:t>MONIT  |  Confidential: prepared for IMH R&amp;D discussion</a:t>
            </a:r>
            <a:endParaRPr lang="en-GB" sz="1000" dirty="0"/>
          </a:p>
        </p:txBody>
      </p:sp>
      <p:sp>
        <p:nvSpPr>
          <p:cNvPr id="25" name="Slide Number Placeholder 0"/>
          <p:cNvSpPr>
            <a:spLocks noGrp="1"/>
          </p:cNvSpPr>
          <p:nvPr>
            <p:ph type="sldNum" sz="quarter" idx="4294967295"/>
          </p:nvPr>
        </p:nvSpPr>
        <p:spPr>
          <a:xfrm>
            <a:off x="11365992" y="6492240"/>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GB"/>
              <a:t>1002</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5992" y="6492240"/>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GB"/>
              <a:t>null</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7"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74320"/>
          </a:xfrm>
          <a:prstGeom prst="rect">
            <a:avLst/>
          </a:prstGeom>
          <a:noFill/>
          <a:ln/>
        </p:spPr>
        <p:txBody>
          <a:bodyPr wrap="square" lIns="0" tIns="0" rIns="0" bIns="0" rtlCol="0" anchor="ctr"/>
          <a:lstStyle/>
          <a:p>
            <a:pPr indent="0" marL="0">
              <a:buNone/>
            </a:pPr>
            <a:r>
              <a:rPr lang="en-GB" sz="1100" b="1" spc="100" kern="0" dirty="0">
                <a:solidFill>
                  <a:schemeClr val="accent1"/>
                </a:solidFill>
              </a:rPr>
              <a:t>UTIS TECHNICAL BRIEF  |  SAMPLE FOR THE IMH SMART PRESSURE-INJURY CARE R&amp;D</a:t>
            </a:r>
            <a:endParaRPr lang="en-GB" sz="1100" dirty="0"/>
          </a:p>
        </p:txBody>
      </p:sp>
      <p:sp>
        <p:nvSpPr>
          <p:cNvPr id="3" name="Text 0"/>
          <p:cNvSpPr/>
          <p:nvPr>
            <p:ph idx="101" type="title" hasCustomPrompt="1"/>
          </p:nvPr>
        </p:nvSpPr>
        <p:spPr>
          <a:xfrm>
            <a:off x="457200" y="548640"/>
            <a:ext cx="11274552" cy="603504"/>
          </a:xfrm>
          <a:prstGeom prst="rect">
            <a:avLst/>
          </a:prstGeom>
          <a:noFill/>
          <a:ln/>
        </p:spPr>
        <p:txBody>
          <a:bodyPr wrap="square" lIns="0" tIns="0" rIns="0" bIns="0" rtlCol="0" anchor="ctr"/>
          <a:lstStyle/>
          <a:p>
            <a:pPr algn="l" indent="0" marL="0">
              <a:buNone/>
            </a:pPr>
            <a:r>
              <a:rPr lang="en-GB" sz="3600" b="1" dirty="0">
                <a:solidFill>
                  <a:schemeClr val="tx2"/>
                </a:solidFill>
              </a:rPr>
              <a:t>A nonwoven whose reagent lines react to urine</a:t>
            </a:r>
            <a:endParaRPr lang="en-GB" sz="3600" dirty="0"/>
          </a:p>
        </p:txBody>
      </p:sp>
      <p:sp>
        <p:nvSpPr>
          <p:cNvPr id="4" name="Text 0"/>
          <p:cNvSpPr/>
          <p:nvPr>
            <p:ph idx="102" type="body" hasCustomPrompt="1"/>
          </p:nvPr>
        </p:nvSpPr>
        <p:spPr>
          <a:xfrm>
            <a:off x="457200" y="1170432"/>
            <a:ext cx="11274552" cy="365760"/>
          </a:xfrm>
          <a:prstGeom prst="rect">
            <a:avLst/>
          </a:prstGeom>
          <a:noFill/>
          <a:ln/>
        </p:spPr>
        <p:txBody>
          <a:bodyPr wrap="square" lIns="0" tIns="0" rIns="0" bIns="0" rtlCol="0" anchor="t"/>
          <a:lstStyle/>
          <a:p>
            <a:pPr indent="0" marL="0">
              <a:buNone/>
            </a:pPr>
            <a:r>
              <a:rPr lang="en-GB" sz="1400" dirty="0">
                <a:solidFill>
                  <a:schemeClr val="tx1"/>
                </a:solidFill>
              </a:rPr>
              <a:t>In-house formulated water-soluble reagents are dispensed as lines on a moving nonwoven web, dried, and supplied as roll stock.</a:t>
            </a:r>
            <a:endParaRPr lang="en-GB" sz="1400" dirty="0"/>
          </a:p>
        </p:txBody>
      </p:sp>
      <p:sp>
        <p:nvSpPr>
          <p:cNvPr id="5" name="hero-panel"/>
          <p:cNvSpPr/>
          <p:nvPr/>
        </p:nvSpPr>
        <p:spPr>
          <a:xfrm>
            <a:off x="457200" y="1737360"/>
            <a:ext cx="5394960" cy="2560320"/>
          </a:xfrm>
          <a:prstGeom prst="roundRect">
            <a:avLst>
              <a:gd name="adj" fmla="val 4286"/>
            </a:avLst>
          </a:prstGeom>
          <a:solidFill>
            <a:schemeClr val="bg2"/>
          </a:solidFill>
          <a:ln w="12700">
            <a:solidFill>
              <a:schemeClr val="bg2"/>
            </a:solidFill>
            <a:prstDash val="solid"/>
          </a:ln>
        </p:spPr>
      </p:sp>
      <p:sp>
        <p:nvSpPr>
          <p:cNvPr id="6" name="Text 4"/>
          <p:cNvSpPr txBox="1"/>
          <p:nvPr/>
        </p:nvSpPr>
        <p:spPr>
          <a:xfrm>
            <a:off x="640080" y="1828800"/>
            <a:ext cx="2743200" cy="274320"/>
          </a:xfrm>
          <a:prstGeom prst="rect">
            <a:avLst/>
          </a:prstGeom>
          <a:noFill/>
          <a:ln/>
        </p:spPr>
        <p:txBody>
          <a:bodyPr wrap="square" lIns="0" tIns="0" rIns="0" bIns="0" rtlCol="0" anchor="t"/>
          <a:lstStyle/>
          <a:p>
            <a:pPr indent="0" marL="0">
              <a:buNone/>
            </a:pPr>
            <a:r>
              <a:rPr lang="en-GB" sz="1400" b="1" dirty="0">
                <a:solidFill>
                  <a:schemeClr val="tx2"/>
                </a:solidFill>
              </a:rPr>
              <a:t>The sample (schematic)</a:t>
            </a:r>
            <a:endParaRPr lang="en-GB" sz="1400" dirty="0"/>
          </a:p>
        </p:txBody>
      </p:sp>
      <p:sp>
        <p:nvSpPr>
          <p:cNvPr id="7" name="Shape 5"/>
          <p:cNvSpPr/>
          <p:nvPr/>
        </p:nvSpPr>
        <p:spPr>
          <a:xfrm>
            <a:off x="777240" y="3493008"/>
            <a:ext cx="640080" cy="146304"/>
          </a:xfrm>
          <a:prstGeom prst="ellipse">
            <a:avLst/>
          </a:prstGeom>
          <a:solidFill>
            <a:schemeClr val="accent5"/>
          </a:solidFill>
          <a:ln w="9525">
            <a:solidFill>
              <a:schemeClr val="accent1"/>
            </a:solidFill>
            <a:prstDash val="solid"/>
          </a:ln>
        </p:spPr>
      </p:sp>
      <p:sp>
        <p:nvSpPr>
          <p:cNvPr id="8" name="Shape 6"/>
          <p:cNvSpPr/>
          <p:nvPr/>
        </p:nvSpPr>
        <p:spPr>
          <a:xfrm>
            <a:off x="777240" y="2194560"/>
            <a:ext cx="640080" cy="1371600"/>
          </a:xfrm>
          <a:prstGeom prst="rect">
            <a:avLst/>
          </a:prstGeom>
          <a:solidFill>
            <a:schemeClr val="accent5"/>
          </a:solidFill>
          <a:ln w="12700">
            <a:solidFill>
              <a:schemeClr val="accent5"/>
            </a:solidFill>
            <a:prstDash val="solid"/>
          </a:ln>
        </p:spPr>
      </p:sp>
      <p:sp>
        <p:nvSpPr>
          <p:cNvPr id="9" name="Shape 7"/>
          <p:cNvSpPr/>
          <p:nvPr/>
        </p:nvSpPr>
        <p:spPr>
          <a:xfrm>
            <a:off x="777240" y="2194560"/>
            <a:ext cx="0" cy="1371600"/>
          </a:xfrm>
          <a:prstGeom prst="line">
            <a:avLst/>
          </a:prstGeom>
          <a:noFill/>
          <a:ln w="9525">
            <a:solidFill>
              <a:schemeClr val="accent1"/>
            </a:solidFill>
            <a:prstDash val="solid"/>
          </a:ln>
        </p:spPr>
      </p:sp>
      <p:sp>
        <p:nvSpPr>
          <p:cNvPr id="10" name="Shape 8"/>
          <p:cNvSpPr/>
          <p:nvPr/>
        </p:nvSpPr>
        <p:spPr>
          <a:xfrm>
            <a:off x="1417320" y="2194560"/>
            <a:ext cx="0" cy="1371600"/>
          </a:xfrm>
          <a:prstGeom prst="line">
            <a:avLst/>
          </a:prstGeom>
          <a:noFill/>
          <a:ln w="9525">
            <a:solidFill>
              <a:schemeClr val="accent1"/>
            </a:solidFill>
            <a:prstDash val="solid"/>
          </a:ln>
        </p:spPr>
      </p:sp>
      <p:sp>
        <p:nvSpPr>
          <p:cNvPr id="11" name="Shape 9"/>
          <p:cNvSpPr/>
          <p:nvPr/>
        </p:nvSpPr>
        <p:spPr>
          <a:xfrm>
            <a:off x="777240" y="2121408"/>
            <a:ext cx="640080" cy="146304"/>
          </a:xfrm>
          <a:prstGeom prst="ellipse">
            <a:avLst/>
          </a:prstGeom>
          <a:solidFill>
            <a:schemeClr val="bg1"/>
          </a:solidFill>
          <a:ln w="9525">
            <a:solidFill>
              <a:schemeClr val="accent1"/>
            </a:solidFill>
            <a:prstDash val="solid"/>
          </a:ln>
        </p:spPr>
      </p:sp>
      <p:sp>
        <p:nvSpPr>
          <p:cNvPr id="12" name="Shape 10"/>
          <p:cNvSpPr/>
          <p:nvPr/>
        </p:nvSpPr>
        <p:spPr>
          <a:xfrm>
            <a:off x="987552" y="2162556"/>
            <a:ext cx="219456" cy="64008"/>
          </a:xfrm>
          <a:prstGeom prst="ellipse">
            <a:avLst/>
          </a:prstGeom>
          <a:solidFill>
            <a:schemeClr val="accent1"/>
          </a:solidFill>
          <a:ln w="12700">
            <a:solidFill>
              <a:schemeClr val="accent1"/>
            </a:solidFill>
            <a:prstDash val="solid"/>
          </a:ln>
        </p:spPr>
      </p:sp>
      <p:sp>
        <p:nvSpPr>
          <p:cNvPr id="13" name="web"/>
          <p:cNvSpPr/>
          <p:nvPr/>
        </p:nvSpPr>
        <p:spPr>
          <a:xfrm>
            <a:off x="1417320" y="2194560"/>
            <a:ext cx="4160520" cy="1371600"/>
          </a:xfrm>
          <a:prstGeom prst="rect">
            <a:avLst/>
          </a:prstGeom>
          <a:solidFill>
            <a:srgbClr val="FFFFFF"/>
          </a:solidFill>
          <a:ln w="9525">
            <a:solidFill>
              <a:srgbClr val="C9D6D5"/>
            </a:solidFill>
            <a:prstDash val="solid"/>
          </a:ln>
        </p:spPr>
      </p:sp>
      <p:sp>
        <p:nvSpPr>
          <p:cNvPr id="14" name="Shape 12"/>
          <p:cNvSpPr/>
          <p:nvPr/>
        </p:nvSpPr>
        <p:spPr>
          <a:xfrm>
            <a:off x="1481328" y="2395728"/>
            <a:ext cx="4023360" cy="73152"/>
          </a:xfrm>
          <a:prstGeom prst="rect">
            <a:avLst/>
          </a:prstGeom>
          <a:solidFill>
            <a:srgbClr val="F6C9DD"/>
          </a:solidFill>
          <a:ln w="12700">
            <a:solidFill>
              <a:srgbClr val="F6C9DD"/>
            </a:solidFill>
            <a:prstDash val="solid"/>
          </a:ln>
        </p:spPr>
      </p:sp>
      <p:sp>
        <p:nvSpPr>
          <p:cNvPr id="15" name="Shape 13"/>
          <p:cNvSpPr/>
          <p:nvPr/>
        </p:nvSpPr>
        <p:spPr>
          <a:xfrm>
            <a:off x="1481328" y="2688336"/>
            <a:ext cx="4023360" cy="73152"/>
          </a:xfrm>
          <a:prstGeom prst="rect">
            <a:avLst/>
          </a:prstGeom>
          <a:solidFill>
            <a:srgbClr val="DCCDEE"/>
          </a:solidFill>
          <a:ln w="12700">
            <a:solidFill>
              <a:srgbClr val="DCCDEE"/>
            </a:solidFill>
            <a:prstDash val="solid"/>
          </a:ln>
        </p:spPr>
      </p:sp>
      <p:sp>
        <p:nvSpPr>
          <p:cNvPr id="16" name="Shape 14"/>
          <p:cNvSpPr/>
          <p:nvPr/>
        </p:nvSpPr>
        <p:spPr>
          <a:xfrm>
            <a:off x="1481328" y="2980944"/>
            <a:ext cx="4023360" cy="73152"/>
          </a:xfrm>
          <a:prstGeom prst="rect">
            <a:avLst/>
          </a:prstGeom>
          <a:solidFill>
            <a:srgbClr val="F9DDBE"/>
          </a:solidFill>
          <a:ln w="12700">
            <a:solidFill>
              <a:srgbClr val="F9DDBE"/>
            </a:solidFill>
            <a:prstDash val="solid"/>
          </a:ln>
        </p:spPr>
      </p:sp>
      <p:sp>
        <p:nvSpPr>
          <p:cNvPr id="17" name="Shape 15"/>
          <p:cNvSpPr/>
          <p:nvPr/>
        </p:nvSpPr>
        <p:spPr>
          <a:xfrm>
            <a:off x="1481328" y="3273552"/>
            <a:ext cx="4023360" cy="73152"/>
          </a:xfrm>
          <a:prstGeom prst="rect">
            <a:avLst/>
          </a:prstGeom>
          <a:solidFill>
            <a:srgbClr val="DCEBC9"/>
          </a:solidFill>
          <a:ln w="12700">
            <a:solidFill>
              <a:srgbClr val="DCEBC9"/>
            </a:solidFill>
            <a:prstDash val="solid"/>
          </a:ln>
        </p:spPr>
      </p:sp>
      <p:sp>
        <p:nvSpPr>
          <p:cNvPr id="18" name="wet-zone"/>
          <p:cNvSpPr/>
          <p:nvPr/>
        </p:nvSpPr>
        <p:spPr>
          <a:xfrm>
            <a:off x="3566160" y="2313432"/>
            <a:ext cx="1737360" cy="1133856"/>
          </a:xfrm>
          <a:prstGeom prst="ellipse">
            <a:avLst/>
          </a:prstGeom>
          <a:solidFill>
            <a:schemeClr val="accent6">
              <a:alpha val="20000"/>
            </a:schemeClr>
          </a:solidFill>
          <a:ln w="9525">
            <a:solidFill>
              <a:schemeClr val="accent6"/>
            </a:solidFill>
            <a:prstDash val="dash"/>
          </a:ln>
        </p:spPr>
      </p:sp>
      <p:sp>
        <p:nvSpPr>
          <p:cNvPr id="19" name="Shape 17"/>
          <p:cNvSpPr/>
          <p:nvPr/>
        </p:nvSpPr>
        <p:spPr>
          <a:xfrm>
            <a:off x="3682991" y="2688336"/>
            <a:ext cx="1503697" cy="73152"/>
          </a:xfrm>
          <a:prstGeom prst="rect">
            <a:avLst/>
          </a:prstGeom>
          <a:solidFill>
            <a:srgbClr val="7E57C2"/>
          </a:solidFill>
          <a:ln w="12700">
            <a:solidFill>
              <a:srgbClr val="7E57C2"/>
            </a:solidFill>
            <a:prstDash val="solid"/>
          </a:ln>
        </p:spPr>
      </p:sp>
      <p:sp>
        <p:nvSpPr>
          <p:cNvPr id="20" name="Shape 18"/>
          <p:cNvSpPr/>
          <p:nvPr/>
        </p:nvSpPr>
        <p:spPr>
          <a:xfrm>
            <a:off x="3676254" y="2980944"/>
            <a:ext cx="1517172" cy="73152"/>
          </a:xfrm>
          <a:prstGeom prst="rect">
            <a:avLst/>
          </a:prstGeom>
          <a:solidFill>
            <a:srgbClr val="F08A24"/>
          </a:solidFill>
          <a:ln w="12700">
            <a:solidFill>
              <a:srgbClr val="F08A24"/>
            </a:solidFill>
            <a:prstDash val="solid"/>
          </a:ln>
        </p:spPr>
      </p:sp>
      <p:sp>
        <p:nvSpPr>
          <p:cNvPr id="21" name="Shape 19"/>
          <p:cNvSpPr/>
          <p:nvPr/>
        </p:nvSpPr>
        <p:spPr>
          <a:xfrm>
            <a:off x="3924958" y="3273552"/>
            <a:ext cx="1019764" cy="73152"/>
          </a:xfrm>
          <a:prstGeom prst="rect">
            <a:avLst/>
          </a:prstGeom>
          <a:solidFill>
            <a:srgbClr val="4E9F3D"/>
          </a:solidFill>
          <a:ln w="12700">
            <a:solidFill>
              <a:srgbClr val="4E9F3D"/>
            </a:solidFill>
            <a:prstDash val="solid"/>
          </a:ln>
        </p:spPr>
      </p:sp>
      <p:pic>
        <p:nvPicPr>
          <p:cNvPr id="22" name="Image 0" descr="preencoded.png">    </p:cNvPr>
          <p:cNvPicPr>
            <a:picLocks noChangeAspect="1"/>
          </p:cNvPicPr>
          <p:nvPr/>
        </p:nvPicPr>
        <p:blipFill>
          <a:blip r:embed="rId1"/>
          <a:stretch>
            <a:fillRect/>
          </a:stretch>
        </p:blipFill>
        <p:spPr>
          <a:xfrm>
            <a:off x="4279392" y="1801368"/>
            <a:ext cx="310896" cy="310896"/>
          </a:xfrm>
          <a:prstGeom prst="rect">
            <a:avLst/>
          </a:prstGeom>
        </p:spPr>
      </p:pic>
      <p:sp>
        <p:nvSpPr>
          <p:cNvPr id="23" name="Text 20"/>
          <p:cNvSpPr txBox="1"/>
          <p:nvPr/>
        </p:nvSpPr>
        <p:spPr>
          <a:xfrm>
            <a:off x="502920" y="3703320"/>
            <a:ext cx="1188720" cy="365760"/>
          </a:xfrm>
          <a:prstGeom prst="rect">
            <a:avLst/>
          </a:prstGeom>
          <a:noFill/>
          <a:ln/>
        </p:spPr>
        <p:txBody>
          <a:bodyPr wrap="square" lIns="0" tIns="0" rIns="0" bIns="0" rtlCol="0" anchor="t"/>
          <a:lstStyle/>
          <a:p>
            <a:pPr algn="ctr" indent="0" marL="0">
              <a:buNone/>
            </a:pPr>
            <a:r>
              <a:rPr lang="en-GB" sz="1200" dirty="0">
                <a:solidFill>
                  <a:schemeClr val="tx1"/>
                </a:solidFill>
              </a:rPr>
              <a:t>Nonwoven roll</a:t>
            </a:r>
            <a:endParaRPr lang="en-GB" sz="1200" dirty="0"/>
          </a:p>
        </p:txBody>
      </p:sp>
      <p:sp>
        <p:nvSpPr>
          <p:cNvPr id="24" name="Shape 21"/>
          <p:cNvSpPr/>
          <p:nvPr/>
        </p:nvSpPr>
        <p:spPr>
          <a:xfrm>
            <a:off x="2670048" y="3593592"/>
            <a:ext cx="0" cy="91440"/>
          </a:xfrm>
          <a:prstGeom prst="line">
            <a:avLst/>
          </a:prstGeom>
          <a:noFill/>
          <a:ln w="9525">
            <a:solidFill>
              <a:schemeClr val="accent4"/>
            </a:solidFill>
            <a:prstDash val="solid"/>
          </a:ln>
        </p:spPr>
      </p:sp>
      <p:sp>
        <p:nvSpPr>
          <p:cNvPr id="25" name="Text 22"/>
          <p:cNvSpPr txBox="1"/>
          <p:nvPr/>
        </p:nvSpPr>
        <p:spPr>
          <a:xfrm>
            <a:off x="1892808" y="3703320"/>
            <a:ext cx="1554480" cy="365760"/>
          </a:xfrm>
          <a:prstGeom prst="rect">
            <a:avLst/>
          </a:prstGeom>
          <a:noFill/>
          <a:ln/>
        </p:spPr>
        <p:txBody>
          <a:bodyPr wrap="square" lIns="0" tIns="0" rIns="0" bIns="0" rtlCol="0" anchor="t"/>
          <a:lstStyle/>
          <a:p>
            <a:pPr algn="ctr" indent="0" marL="0">
              <a:buNone/>
            </a:pPr>
            <a:r>
              <a:rPr lang="en-GB" sz="1200" dirty="0">
                <a:solidFill>
                  <a:schemeClr val="tx1"/>
                </a:solidFill>
              </a:rPr>
              <a:t>Dried reagent lines</a:t>
            </a:r>
            <a:endParaRPr lang="en-GB" sz="1200" dirty="0"/>
          </a:p>
        </p:txBody>
      </p:sp>
      <p:sp>
        <p:nvSpPr>
          <p:cNvPr id="26" name="Shape 23"/>
          <p:cNvSpPr/>
          <p:nvPr/>
        </p:nvSpPr>
        <p:spPr>
          <a:xfrm>
            <a:off x="4434840" y="3593592"/>
            <a:ext cx="0" cy="91440"/>
          </a:xfrm>
          <a:prstGeom prst="line">
            <a:avLst/>
          </a:prstGeom>
          <a:noFill/>
          <a:ln w="9525">
            <a:solidFill>
              <a:schemeClr val="accent4"/>
            </a:solidFill>
            <a:prstDash val="solid"/>
          </a:ln>
        </p:spPr>
      </p:sp>
      <p:sp>
        <p:nvSpPr>
          <p:cNvPr id="27" name="Text 24"/>
          <p:cNvSpPr txBox="1"/>
          <p:nvPr/>
        </p:nvSpPr>
        <p:spPr>
          <a:xfrm>
            <a:off x="3337560" y="3703320"/>
            <a:ext cx="2194560" cy="365760"/>
          </a:xfrm>
          <a:prstGeom prst="rect">
            <a:avLst/>
          </a:prstGeom>
          <a:noFill/>
          <a:ln/>
        </p:spPr>
        <p:txBody>
          <a:bodyPr wrap="square" lIns="0" tIns="0" rIns="0" bIns="0" rtlCol="0" anchor="t"/>
          <a:lstStyle/>
          <a:p>
            <a:pPr algn="ctr" indent="0" marL="0">
              <a:buNone/>
            </a:pPr>
            <a:r>
              <a:rPr lang="en-GB" sz="1200" dirty="0">
                <a:solidFill>
                  <a:schemeClr val="tx1"/>
                </a:solidFill>
              </a:rPr>
              <a:t>Wetted zone: colour per analyte</a:t>
            </a:r>
            <a:endParaRPr lang="en-GB" sz="1200" dirty="0"/>
          </a:p>
        </p:txBody>
      </p:sp>
      <p:sp>
        <p:nvSpPr>
          <p:cNvPr id="28" name="Text 25"/>
          <p:cNvSpPr txBox="1"/>
          <p:nvPr/>
        </p:nvSpPr>
        <p:spPr>
          <a:xfrm>
            <a:off x="640080" y="4023360"/>
            <a:ext cx="5029200" cy="182880"/>
          </a:xfrm>
          <a:prstGeom prst="rect">
            <a:avLst/>
          </a:prstGeom>
          <a:noFill/>
          <a:ln/>
        </p:spPr>
        <p:txBody>
          <a:bodyPr wrap="square" lIns="0" tIns="0" rIns="0" bIns="0" rtlCol="0" anchor="t"/>
          <a:lstStyle/>
          <a:p>
            <a:pPr indent="0" marL="0">
              <a:buNone/>
            </a:pPr>
            <a:r>
              <a:rPr lang="en-GB" sz="1000" dirty="0">
                <a:solidFill>
                  <a:schemeClr val="accent4"/>
                </a:solidFill>
              </a:rPr>
              <a:t>Line colours are illustrative; the UTIS marker panel is not yet fixed.</a:t>
            </a:r>
            <a:endParaRPr lang="en-GB" sz="1000" dirty="0"/>
          </a:p>
        </p:txBody>
      </p:sp>
      <p:sp>
        <p:nvSpPr>
          <p:cNvPr id="29" name="Text 26"/>
          <p:cNvSpPr txBox="1"/>
          <p:nvPr/>
        </p:nvSpPr>
        <p:spPr>
          <a:xfrm>
            <a:off x="6217920" y="1828800"/>
            <a:ext cx="2743200" cy="274320"/>
          </a:xfrm>
          <a:prstGeom prst="rect">
            <a:avLst/>
          </a:prstGeom>
          <a:noFill/>
          <a:ln/>
        </p:spPr>
        <p:txBody>
          <a:bodyPr wrap="square" lIns="0" tIns="0" rIns="0" bIns="0" rtlCol="0" anchor="t"/>
          <a:lstStyle/>
          <a:p>
            <a:pPr indent="0" marL="0">
              <a:buNone/>
            </a:pPr>
            <a:r>
              <a:rPr lang="en-GB" sz="1400" b="1" dirty="0">
                <a:solidFill>
                  <a:schemeClr val="tx2"/>
                </a:solidFill>
              </a:rPr>
              <a:t>How colour appears</a:t>
            </a:r>
            <a:endParaRPr lang="en-GB" sz="1400" dirty="0"/>
          </a:p>
        </p:txBody>
      </p:sp>
      <p:sp>
        <p:nvSpPr>
          <p:cNvPr id="30" name="tag-gen"/>
          <p:cNvSpPr txBox="1"/>
          <p:nvPr/>
        </p:nvSpPr>
        <p:spPr>
          <a:xfrm>
            <a:off x="10040112" y="1856232"/>
            <a:ext cx="1691640" cy="219456"/>
          </a:xfrm>
          <a:prstGeom prst="roundRect">
            <a:avLst>
              <a:gd name="adj" fmla="val 45833"/>
            </a:avLst>
          </a:prstGeom>
          <a:solidFill>
            <a:schemeClr val="accent4"/>
          </a:solidFill>
          <a:ln/>
        </p:spPr>
        <p:txBody>
          <a:bodyPr wrap="square" lIns="0" tIns="0" rIns="0" bIns="0" rtlCol="0" anchor="ctr"/>
          <a:lstStyle/>
          <a:p>
            <a:pPr algn="ctr" indent="0" marL="0">
              <a:buNone/>
            </a:pPr>
            <a:r>
              <a:rPr lang="en-GB" sz="1000" b="1" dirty="0">
                <a:solidFill>
                  <a:schemeClr val="bg1"/>
                </a:solidFill>
              </a:rPr>
              <a:t>General principle</a:t>
            </a:r>
            <a:endParaRPr lang="en-GB" sz="1000" dirty="0"/>
          </a:p>
        </p:txBody>
      </p:sp>
      <p:sp>
        <p:nvSpPr>
          <p:cNvPr id="31" name="Shape 28"/>
          <p:cNvSpPr/>
          <p:nvPr/>
        </p:nvSpPr>
        <p:spPr>
          <a:xfrm>
            <a:off x="6446520" y="2423160"/>
            <a:ext cx="0" cy="1645920"/>
          </a:xfrm>
          <a:prstGeom prst="line">
            <a:avLst/>
          </a:prstGeom>
          <a:noFill/>
          <a:ln w="25400">
            <a:solidFill>
              <a:schemeClr val="accent5"/>
            </a:solidFill>
            <a:prstDash val="solid"/>
          </a:ln>
        </p:spPr>
      </p:sp>
      <p:sp>
        <p:nvSpPr>
          <p:cNvPr id="32" name="Shape 29"/>
          <p:cNvSpPr/>
          <p:nvPr/>
        </p:nvSpPr>
        <p:spPr>
          <a:xfrm>
            <a:off x="6217920" y="2212848"/>
            <a:ext cx="457200" cy="457200"/>
          </a:xfrm>
          <a:prstGeom prst="ellipse">
            <a:avLst/>
          </a:prstGeom>
          <a:solidFill>
            <a:schemeClr val="accent1"/>
          </a:solidFill>
          <a:ln w="12700">
            <a:solidFill>
              <a:schemeClr val="accent1"/>
            </a:solidFill>
            <a:prstDash val="solid"/>
          </a:ln>
        </p:spPr>
      </p:sp>
      <p:pic>
        <p:nvPicPr>
          <p:cNvPr id="33" name="Image 1" descr="preencoded.png">    </p:cNvPr>
          <p:cNvPicPr>
            <a:picLocks noChangeAspect="1"/>
          </p:cNvPicPr>
          <p:nvPr/>
        </p:nvPicPr>
        <p:blipFill>
          <a:blip r:embed="rId2"/>
          <a:stretch>
            <a:fillRect/>
          </a:stretch>
        </p:blipFill>
        <p:spPr>
          <a:xfrm>
            <a:off x="6332220" y="2327148"/>
            <a:ext cx="228600" cy="228600"/>
          </a:xfrm>
          <a:prstGeom prst="rect">
            <a:avLst/>
          </a:prstGeom>
        </p:spPr>
      </p:pic>
      <p:sp>
        <p:nvSpPr>
          <p:cNvPr id="34" name="Text 30"/>
          <p:cNvSpPr txBox="1"/>
          <p:nvPr/>
        </p:nvSpPr>
        <p:spPr>
          <a:xfrm>
            <a:off x="6812280" y="2267712"/>
            <a:ext cx="4919472" cy="347472"/>
          </a:xfrm>
          <a:prstGeom prst="rect">
            <a:avLst/>
          </a:prstGeom>
          <a:noFill/>
          <a:ln/>
        </p:spPr>
        <p:txBody>
          <a:bodyPr wrap="square" lIns="0" tIns="0" rIns="0" bIns="0" rtlCol="0" anchor="ctr"/>
          <a:lstStyle/>
          <a:p>
            <a:pPr indent="0" marL="0">
              <a:buNone/>
            </a:pPr>
            <a:r>
              <a:rPr lang="en-GB" sz="1400" b="1" dirty="0">
                <a:solidFill>
                  <a:schemeClr val="tx2"/>
                </a:solidFill>
              </a:rPr>
              <a:t>1  Wicking: </a:t>
            </a:r>
            <a:pPr indent="0" marL="0">
              <a:buNone/>
            </a:pPr>
            <a:r>
              <a:rPr lang="en-GB" sz="1400" dirty="0">
                <a:solidFill>
                  <a:schemeClr val="tx1"/>
                </a:solidFill>
              </a:rPr>
              <a:t>urine spreads along fibres and pores</a:t>
            </a:r>
            <a:endParaRPr lang="en-GB" sz="1400" dirty="0"/>
          </a:p>
        </p:txBody>
      </p:sp>
      <p:sp>
        <p:nvSpPr>
          <p:cNvPr id="35" name="Shape 31"/>
          <p:cNvSpPr/>
          <p:nvPr/>
        </p:nvSpPr>
        <p:spPr>
          <a:xfrm>
            <a:off x="6217920" y="2761488"/>
            <a:ext cx="457200" cy="457200"/>
          </a:xfrm>
          <a:prstGeom prst="ellipse">
            <a:avLst/>
          </a:prstGeom>
          <a:solidFill>
            <a:schemeClr val="accent1"/>
          </a:solidFill>
          <a:ln w="12700">
            <a:solidFill>
              <a:schemeClr val="accent1"/>
            </a:solidFill>
            <a:prstDash val="solid"/>
          </a:ln>
        </p:spPr>
      </p:sp>
      <p:pic>
        <p:nvPicPr>
          <p:cNvPr id="36" name="Image 2" descr="preencoded.png">    </p:cNvPr>
          <p:cNvPicPr>
            <a:picLocks noChangeAspect="1"/>
          </p:cNvPicPr>
          <p:nvPr/>
        </p:nvPicPr>
        <p:blipFill>
          <a:blip r:embed="rId3"/>
          <a:stretch>
            <a:fillRect/>
          </a:stretch>
        </p:blipFill>
        <p:spPr>
          <a:xfrm>
            <a:off x="6332220" y="2875788"/>
            <a:ext cx="228600" cy="228600"/>
          </a:xfrm>
          <a:prstGeom prst="rect">
            <a:avLst/>
          </a:prstGeom>
        </p:spPr>
      </p:pic>
      <p:sp>
        <p:nvSpPr>
          <p:cNvPr id="37" name="Text 32"/>
          <p:cNvSpPr txBox="1"/>
          <p:nvPr/>
        </p:nvSpPr>
        <p:spPr>
          <a:xfrm>
            <a:off x="6812280" y="2816352"/>
            <a:ext cx="4919472" cy="347472"/>
          </a:xfrm>
          <a:prstGeom prst="rect">
            <a:avLst/>
          </a:prstGeom>
          <a:noFill/>
          <a:ln/>
        </p:spPr>
        <p:txBody>
          <a:bodyPr wrap="square" lIns="0" tIns="0" rIns="0" bIns="0" rtlCol="0" anchor="ctr"/>
          <a:lstStyle/>
          <a:p>
            <a:pPr indent="0" marL="0">
              <a:buNone/>
            </a:pPr>
            <a:r>
              <a:rPr lang="en-GB" sz="1400" b="1" dirty="0">
                <a:solidFill>
                  <a:schemeClr val="tx2"/>
                </a:solidFill>
              </a:rPr>
              <a:t>2  Rehydration: </a:t>
            </a:r>
            <a:pPr indent="0" marL="0">
              <a:buNone/>
            </a:pPr>
            <a:r>
              <a:rPr lang="en-GB" sz="1400" dirty="0">
                <a:solidFill>
                  <a:schemeClr val="tx1"/>
                </a:solidFill>
              </a:rPr>
              <a:t>the dried reagent partly dissolves or hydrates</a:t>
            </a:r>
            <a:endParaRPr lang="en-GB" sz="1400" dirty="0"/>
          </a:p>
        </p:txBody>
      </p:sp>
      <p:sp>
        <p:nvSpPr>
          <p:cNvPr id="38" name="Shape 33"/>
          <p:cNvSpPr/>
          <p:nvPr/>
        </p:nvSpPr>
        <p:spPr>
          <a:xfrm>
            <a:off x="6217920" y="3310128"/>
            <a:ext cx="457200" cy="457200"/>
          </a:xfrm>
          <a:prstGeom prst="ellipse">
            <a:avLst/>
          </a:prstGeom>
          <a:solidFill>
            <a:schemeClr val="accent1"/>
          </a:solidFill>
          <a:ln w="12700">
            <a:solidFill>
              <a:schemeClr val="accent1"/>
            </a:solidFill>
            <a:prstDash val="solid"/>
          </a:ln>
        </p:spPr>
      </p:sp>
      <p:pic>
        <p:nvPicPr>
          <p:cNvPr id="39" name="Image 3" descr="preencoded.png">    </p:cNvPr>
          <p:cNvPicPr>
            <a:picLocks noChangeAspect="1"/>
          </p:cNvPicPr>
          <p:nvPr/>
        </p:nvPicPr>
        <p:blipFill>
          <a:blip r:embed="rId4"/>
          <a:stretch>
            <a:fillRect/>
          </a:stretch>
        </p:blipFill>
        <p:spPr>
          <a:xfrm>
            <a:off x="6332220" y="3424428"/>
            <a:ext cx="228600" cy="228600"/>
          </a:xfrm>
          <a:prstGeom prst="rect">
            <a:avLst/>
          </a:prstGeom>
        </p:spPr>
      </p:pic>
      <p:sp>
        <p:nvSpPr>
          <p:cNvPr id="40" name="Text 34"/>
          <p:cNvSpPr txBox="1"/>
          <p:nvPr/>
        </p:nvSpPr>
        <p:spPr>
          <a:xfrm>
            <a:off x="6812280" y="3364992"/>
            <a:ext cx="4919472" cy="347472"/>
          </a:xfrm>
          <a:prstGeom prst="rect">
            <a:avLst/>
          </a:prstGeom>
          <a:noFill/>
          <a:ln/>
        </p:spPr>
        <p:txBody>
          <a:bodyPr wrap="square" lIns="0" tIns="0" rIns="0" bIns="0" rtlCol="0" anchor="ctr"/>
          <a:lstStyle/>
          <a:p>
            <a:pPr indent="0" marL="0">
              <a:buNone/>
            </a:pPr>
            <a:r>
              <a:rPr lang="en-GB" sz="1400" b="1" dirty="0">
                <a:solidFill>
                  <a:schemeClr val="tx2"/>
                </a:solidFill>
              </a:rPr>
              <a:t>3  Reaction: </a:t>
            </a:r>
            <a:pPr indent="0" marL="0">
              <a:buNone/>
            </a:pPr>
            <a:r>
              <a:rPr lang="en-GB" sz="1400" dirty="0">
                <a:solidFill>
                  <a:schemeClr val="tx1"/>
                </a:solidFill>
              </a:rPr>
              <a:t>analyte yields colour or shifts an indicator [1]</a:t>
            </a:r>
            <a:endParaRPr lang="en-GB" sz="1400" dirty="0"/>
          </a:p>
        </p:txBody>
      </p:sp>
      <p:sp>
        <p:nvSpPr>
          <p:cNvPr id="41" name="Shape 35"/>
          <p:cNvSpPr/>
          <p:nvPr/>
        </p:nvSpPr>
        <p:spPr>
          <a:xfrm>
            <a:off x="6217920" y="3858768"/>
            <a:ext cx="457200" cy="457200"/>
          </a:xfrm>
          <a:prstGeom prst="ellipse">
            <a:avLst/>
          </a:prstGeom>
          <a:solidFill>
            <a:schemeClr val="accent1"/>
          </a:solidFill>
          <a:ln w="12700">
            <a:solidFill>
              <a:schemeClr val="accent1"/>
            </a:solidFill>
            <a:prstDash val="solid"/>
          </a:ln>
        </p:spPr>
      </p:sp>
      <p:pic>
        <p:nvPicPr>
          <p:cNvPr id="42" name="Image 4" descr="preencoded.png">    </p:cNvPr>
          <p:cNvPicPr>
            <a:picLocks noChangeAspect="1"/>
          </p:cNvPicPr>
          <p:nvPr/>
        </p:nvPicPr>
        <p:blipFill>
          <a:blip r:embed="rId5"/>
          <a:stretch>
            <a:fillRect/>
          </a:stretch>
        </p:blipFill>
        <p:spPr>
          <a:xfrm>
            <a:off x="6332220" y="3973068"/>
            <a:ext cx="228600" cy="228600"/>
          </a:xfrm>
          <a:prstGeom prst="rect">
            <a:avLst/>
          </a:prstGeom>
        </p:spPr>
      </p:pic>
      <p:sp>
        <p:nvSpPr>
          <p:cNvPr id="43" name="Text 36"/>
          <p:cNvSpPr txBox="1"/>
          <p:nvPr/>
        </p:nvSpPr>
        <p:spPr>
          <a:xfrm>
            <a:off x="6812280" y="3913632"/>
            <a:ext cx="4919472" cy="347472"/>
          </a:xfrm>
          <a:prstGeom prst="rect">
            <a:avLst/>
          </a:prstGeom>
          <a:noFill/>
          <a:ln/>
        </p:spPr>
        <p:txBody>
          <a:bodyPr wrap="square" lIns="0" tIns="0" rIns="0" bIns="0" rtlCol="0" anchor="ctr"/>
          <a:lstStyle/>
          <a:p>
            <a:pPr indent="0" marL="0">
              <a:buNone/>
            </a:pPr>
            <a:r>
              <a:rPr lang="en-GB" sz="1400" b="1" dirty="0">
                <a:solidFill>
                  <a:schemeClr val="tx2"/>
                </a:solidFill>
              </a:rPr>
              <a:t>4  Reading: </a:t>
            </a:r>
            <a:pPr indent="0" marL="0">
              <a:buNone/>
            </a:pPr>
            <a:r>
              <a:rPr lang="en-GB" sz="1400" dirty="0">
                <a:solidFill>
                  <a:schemeClr val="tx1"/>
                </a:solidFill>
              </a:rPr>
              <a:t>by eye or camera, vs a UTIS colour chart (to be set)</a:t>
            </a:r>
            <a:endParaRPr lang="en-GB" sz="1400" dirty="0"/>
          </a:p>
        </p:txBody>
      </p:sp>
      <p:sp>
        <p:nvSpPr>
          <p:cNvPr id="44" name="Text 37"/>
          <p:cNvSpPr txBox="1"/>
          <p:nvPr/>
        </p:nvSpPr>
        <p:spPr>
          <a:xfrm>
            <a:off x="457200" y="4553712"/>
            <a:ext cx="4937760" cy="274320"/>
          </a:xfrm>
          <a:prstGeom prst="rect">
            <a:avLst/>
          </a:prstGeom>
          <a:noFill/>
          <a:ln/>
        </p:spPr>
        <p:txBody>
          <a:bodyPr wrap="square" lIns="0" tIns="0" rIns="0" bIns="0" rtlCol="0" anchor="t"/>
          <a:lstStyle/>
          <a:p>
            <a:pPr indent="0" marL="0">
              <a:buNone/>
            </a:pPr>
            <a:r>
              <a:rPr lang="en-GB" sz="1400" b="1" dirty="0">
                <a:solidFill>
                  <a:schemeClr val="tx2"/>
                </a:solidFill>
              </a:rPr>
              <a:t>Typical reagent-strip chemistries (illustrative)</a:t>
            </a:r>
            <a:endParaRPr lang="en-GB" sz="1400" dirty="0"/>
          </a:p>
        </p:txBody>
      </p:sp>
      <p:sp>
        <p:nvSpPr>
          <p:cNvPr id="45" name="tag-gen"/>
          <p:cNvSpPr txBox="1"/>
          <p:nvPr/>
        </p:nvSpPr>
        <p:spPr>
          <a:xfrm>
            <a:off x="5989320" y="4581144"/>
            <a:ext cx="1691640" cy="219456"/>
          </a:xfrm>
          <a:prstGeom prst="roundRect">
            <a:avLst>
              <a:gd name="adj" fmla="val 45833"/>
            </a:avLst>
          </a:prstGeom>
          <a:solidFill>
            <a:schemeClr val="accent4"/>
          </a:solidFill>
          <a:ln/>
        </p:spPr>
        <p:txBody>
          <a:bodyPr wrap="square" lIns="0" tIns="0" rIns="0" bIns="0" rtlCol="0" anchor="ctr"/>
          <a:lstStyle/>
          <a:p>
            <a:pPr algn="ctr" indent="0" marL="0">
              <a:buNone/>
            </a:pPr>
            <a:r>
              <a:rPr lang="en-GB" sz="1000" b="1" dirty="0">
                <a:solidFill>
                  <a:schemeClr val="bg1"/>
                </a:solidFill>
              </a:rPr>
              <a:t>General principle [1]</a:t>
            </a:r>
            <a:endParaRPr lang="en-GB" sz="1000" dirty="0"/>
          </a:p>
        </p:txBody>
      </p:sp>
      <p:sp>
        <p:nvSpPr>
          <p:cNvPr id="46" name="Shape 39"/>
          <p:cNvSpPr/>
          <p:nvPr/>
        </p:nvSpPr>
        <p:spPr>
          <a:xfrm>
            <a:off x="457200" y="4901184"/>
            <a:ext cx="1737360" cy="1152144"/>
          </a:xfrm>
          <a:prstGeom prst="roundRect">
            <a:avLst>
              <a:gd name="adj" fmla="val 6349"/>
            </a:avLst>
          </a:prstGeom>
          <a:solidFill>
            <a:schemeClr val="bg2"/>
          </a:solidFill>
          <a:ln w="12700">
            <a:solidFill>
              <a:schemeClr val="bg2"/>
            </a:solidFill>
            <a:prstDash val="solid"/>
          </a:ln>
        </p:spPr>
      </p:sp>
      <p:sp>
        <p:nvSpPr>
          <p:cNvPr id="47" name="Shape 40"/>
          <p:cNvSpPr/>
          <p:nvPr/>
        </p:nvSpPr>
        <p:spPr>
          <a:xfrm>
            <a:off x="594360" y="5010912"/>
            <a:ext cx="704088" cy="274320"/>
          </a:xfrm>
          <a:prstGeom prst="rect">
            <a:avLst/>
          </a:prstGeom>
          <a:solidFill>
            <a:srgbClr val="F4EEDC"/>
          </a:solidFill>
          <a:ln w="6350">
            <a:solidFill>
              <a:srgbClr val="D5D5D5"/>
            </a:solidFill>
            <a:prstDash val="solid"/>
          </a:ln>
        </p:spPr>
      </p:sp>
      <p:sp>
        <p:nvSpPr>
          <p:cNvPr id="48" name="Shape 41"/>
          <p:cNvSpPr/>
          <p:nvPr/>
        </p:nvSpPr>
        <p:spPr>
          <a:xfrm>
            <a:off x="1325880" y="5010912"/>
            <a:ext cx="704088" cy="274320"/>
          </a:xfrm>
          <a:prstGeom prst="rect">
            <a:avLst/>
          </a:prstGeom>
          <a:solidFill>
            <a:srgbClr val="E0569B"/>
          </a:solidFill>
          <a:ln w="6350">
            <a:solidFill>
              <a:srgbClr val="D5D5D5"/>
            </a:solidFill>
            <a:prstDash val="solid"/>
          </a:ln>
        </p:spPr>
      </p:sp>
      <p:sp>
        <p:nvSpPr>
          <p:cNvPr id="49" name="Text 42"/>
          <p:cNvSpPr txBox="1"/>
          <p:nvPr/>
        </p:nvSpPr>
        <p:spPr>
          <a:xfrm>
            <a:off x="594360" y="5340096"/>
            <a:ext cx="1536192" cy="237744"/>
          </a:xfrm>
          <a:prstGeom prst="rect">
            <a:avLst/>
          </a:prstGeom>
          <a:noFill/>
          <a:ln/>
        </p:spPr>
        <p:txBody>
          <a:bodyPr wrap="square" lIns="0" tIns="0" rIns="0" bIns="0" rtlCol="0" anchor="t"/>
          <a:lstStyle/>
          <a:p>
            <a:pPr indent="0" marL="0">
              <a:buNone/>
            </a:pPr>
            <a:r>
              <a:rPr lang="en-GB" sz="1400" b="1" dirty="0">
                <a:solidFill>
                  <a:schemeClr val="tx2"/>
                </a:solidFill>
              </a:rPr>
              <a:t>Nitrite</a:t>
            </a:r>
            <a:endParaRPr lang="en-GB" sz="1400" dirty="0"/>
          </a:p>
        </p:txBody>
      </p:sp>
      <p:sp>
        <p:nvSpPr>
          <p:cNvPr id="50" name="Text 43"/>
          <p:cNvSpPr txBox="1"/>
          <p:nvPr/>
        </p:nvSpPr>
        <p:spPr>
          <a:xfrm>
            <a:off x="594360" y="5577840"/>
            <a:ext cx="1536192" cy="420624"/>
          </a:xfrm>
          <a:prstGeom prst="rect">
            <a:avLst/>
          </a:prstGeom>
          <a:noFill/>
          <a:ln/>
        </p:spPr>
        <p:txBody>
          <a:bodyPr wrap="square" lIns="0" tIns="0" rIns="0" bIns="0" rtlCol="0" anchor="t"/>
          <a:lstStyle/>
          <a:p>
            <a:pPr indent="0" marL="0">
              <a:buNone/>
            </a:pPr>
            <a:r>
              <a:rPr lang="en-GB" sz="1200" dirty="0">
                <a:solidFill>
                  <a:schemeClr val="tx1"/>
                </a:solidFill>
              </a:rPr>
              <a:t>Diazotisation + coupling in acid: pink</a:t>
            </a:r>
            <a:endParaRPr lang="en-GB" sz="1200" dirty="0"/>
          </a:p>
        </p:txBody>
      </p:sp>
      <p:sp>
        <p:nvSpPr>
          <p:cNvPr id="51" name="Shape 44"/>
          <p:cNvSpPr/>
          <p:nvPr/>
        </p:nvSpPr>
        <p:spPr>
          <a:xfrm>
            <a:off x="2286000" y="4901184"/>
            <a:ext cx="1737360" cy="1152144"/>
          </a:xfrm>
          <a:prstGeom prst="roundRect">
            <a:avLst>
              <a:gd name="adj" fmla="val 6349"/>
            </a:avLst>
          </a:prstGeom>
          <a:solidFill>
            <a:schemeClr val="bg2"/>
          </a:solidFill>
          <a:ln w="12700">
            <a:solidFill>
              <a:schemeClr val="bg2"/>
            </a:solidFill>
            <a:prstDash val="solid"/>
          </a:ln>
        </p:spPr>
      </p:sp>
      <p:sp>
        <p:nvSpPr>
          <p:cNvPr id="52" name="Shape 45"/>
          <p:cNvSpPr/>
          <p:nvPr/>
        </p:nvSpPr>
        <p:spPr>
          <a:xfrm>
            <a:off x="2423160" y="5010912"/>
            <a:ext cx="704088" cy="274320"/>
          </a:xfrm>
          <a:prstGeom prst="rect">
            <a:avLst/>
          </a:prstGeom>
          <a:solidFill>
            <a:srgbClr val="F4EEDC"/>
          </a:solidFill>
          <a:ln w="6350">
            <a:solidFill>
              <a:srgbClr val="D5D5D5"/>
            </a:solidFill>
            <a:prstDash val="solid"/>
          </a:ln>
        </p:spPr>
      </p:sp>
      <p:sp>
        <p:nvSpPr>
          <p:cNvPr id="53" name="Shape 46"/>
          <p:cNvSpPr/>
          <p:nvPr/>
        </p:nvSpPr>
        <p:spPr>
          <a:xfrm>
            <a:off x="3154680" y="5010912"/>
            <a:ext cx="704088" cy="274320"/>
          </a:xfrm>
          <a:prstGeom prst="rect">
            <a:avLst/>
          </a:prstGeom>
          <a:solidFill>
            <a:srgbClr val="7E57C2"/>
          </a:solidFill>
          <a:ln w="6350">
            <a:solidFill>
              <a:srgbClr val="D5D5D5"/>
            </a:solidFill>
            <a:prstDash val="solid"/>
          </a:ln>
        </p:spPr>
      </p:sp>
      <p:sp>
        <p:nvSpPr>
          <p:cNvPr id="54" name="Text 47"/>
          <p:cNvSpPr txBox="1"/>
          <p:nvPr/>
        </p:nvSpPr>
        <p:spPr>
          <a:xfrm>
            <a:off x="2423160" y="5340096"/>
            <a:ext cx="1536192" cy="237744"/>
          </a:xfrm>
          <a:prstGeom prst="rect">
            <a:avLst/>
          </a:prstGeom>
          <a:noFill/>
          <a:ln/>
        </p:spPr>
        <p:txBody>
          <a:bodyPr wrap="square" lIns="0" tIns="0" rIns="0" bIns="0" rtlCol="0" anchor="t"/>
          <a:lstStyle/>
          <a:p>
            <a:pPr indent="0" marL="0">
              <a:buNone/>
            </a:pPr>
            <a:r>
              <a:rPr lang="en-GB" sz="1400" b="1" dirty="0">
                <a:solidFill>
                  <a:schemeClr val="tx2"/>
                </a:solidFill>
              </a:rPr>
              <a:t>Leukocyte esterase</a:t>
            </a:r>
            <a:endParaRPr lang="en-GB" sz="1400" dirty="0"/>
          </a:p>
        </p:txBody>
      </p:sp>
      <p:sp>
        <p:nvSpPr>
          <p:cNvPr id="55" name="Text 48"/>
          <p:cNvSpPr txBox="1"/>
          <p:nvPr/>
        </p:nvSpPr>
        <p:spPr>
          <a:xfrm>
            <a:off x="2423160" y="5577840"/>
            <a:ext cx="1536192" cy="420624"/>
          </a:xfrm>
          <a:prstGeom prst="rect">
            <a:avLst/>
          </a:prstGeom>
          <a:noFill/>
          <a:ln/>
        </p:spPr>
        <p:txBody>
          <a:bodyPr wrap="square" lIns="0" tIns="0" rIns="0" bIns="0" rtlCol="0" anchor="t"/>
          <a:lstStyle/>
          <a:p>
            <a:pPr indent="0" marL="0">
              <a:buNone/>
            </a:pPr>
            <a:r>
              <a:rPr lang="en-GB" sz="1200" dirty="0">
                <a:solidFill>
                  <a:schemeClr val="tx1"/>
                </a:solidFill>
              </a:rPr>
              <a:t>Esterase hydrolysis + diazo coupling: purple</a:t>
            </a:r>
            <a:endParaRPr lang="en-GB" sz="1200" dirty="0"/>
          </a:p>
        </p:txBody>
      </p:sp>
      <p:sp>
        <p:nvSpPr>
          <p:cNvPr id="56" name="Shape 49"/>
          <p:cNvSpPr/>
          <p:nvPr/>
        </p:nvSpPr>
        <p:spPr>
          <a:xfrm>
            <a:off x="4114800" y="4901184"/>
            <a:ext cx="1737360" cy="1152144"/>
          </a:xfrm>
          <a:prstGeom prst="roundRect">
            <a:avLst>
              <a:gd name="adj" fmla="val 6349"/>
            </a:avLst>
          </a:prstGeom>
          <a:solidFill>
            <a:schemeClr val="bg2"/>
          </a:solidFill>
          <a:ln w="12700">
            <a:solidFill>
              <a:schemeClr val="bg2"/>
            </a:solidFill>
            <a:prstDash val="solid"/>
          </a:ln>
        </p:spPr>
      </p:sp>
      <p:sp>
        <p:nvSpPr>
          <p:cNvPr id="57" name="Shape 50"/>
          <p:cNvSpPr/>
          <p:nvPr/>
        </p:nvSpPr>
        <p:spPr>
          <a:xfrm>
            <a:off x="4251960" y="5010912"/>
            <a:ext cx="265176" cy="274320"/>
          </a:xfrm>
          <a:prstGeom prst="rect">
            <a:avLst/>
          </a:prstGeom>
          <a:solidFill>
            <a:srgbClr val="F28C28"/>
          </a:solidFill>
          <a:ln w="6350">
            <a:solidFill>
              <a:srgbClr val="D5D5D5"/>
            </a:solidFill>
            <a:prstDash val="solid"/>
          </a:ln>
        </p:spPr>
      </p:sp>
      <p:sp>
        <p:nvSpPr>
          <p:cNvPr id="58" name="Shape 51"/>
          <p:cNvSpPr/>
          <p:nvPr/>
        </p:nvSpPr>
        <p:spPr>
          <a:xfrm>
            <a:off x="4544568" y="5010912"/>
            <a:ext cx="265176" cy="274320"/>
          </a:xfrm>
          <a:prstGeom prst="rect">
            <a:avLst/>
          </a:prstGeom>
          <a:solidFill>
            <a:srgbClr val="F2C230"/>
          </a:solidFill>
          <a:ln w="6350">
            <a:solidFill>
              <a:srgbClr val="D5D5D5"/>
            </a:solidFill>
            <a:prstDash val="solid"/>
          </a:ln>
        </p:spPr>
      </p:sp>
      <p:sp>
        <p:nvSpPr>
          <p:cNvPr id="59" name="Shape 52"/>
          <p:cNvSpPr/>
          <p:nvPr/>
        </p:nvSpPr>
        <p:spPr>
          <a:xfrm>
            <a:off x="4837176" y="5010912"/>
            <a:ext cx="265176" cy="274320"/>
          </a:xfrm>
          <a:prstGeom prst="rect">
            <a:avLst/>
          </a:prstGeom>
          <a:solidFill>
            <a:srgbClr val="8CC152"/>
          </a:solidFill>
          <a:ln w="6350">
            <a:solidFill>
              <a:srgbClr val="D5D5D5"/>
            </a:solidFill>
            <a:prstDash val="solid"/>
          </a:ln>
        </p:spPr>
      </p:sp>
      <p:sp>
        <p:nvSpPr>
          <p:cNvPr id="60" name="Shape 53"/>
          <p:cNvSpPr/>
          <p:nvPr/>
        </p:nvSpPr>
        <p:spPr>
          <a:xfrm>
            <a:off x="5129784" y="5010912"/>
            <a:ext cx="265176" cy="274320"/>
          </a:xfrm>
          <a:prstGeom prst="rect">
            <a:avLst/>
          </a:prstGeom>
          <a:solidFill>
            <a:srgbClr val="3BAFA0"/>
          </a:solidFill>
          <a:ln w="6350">
            <a:solidFill>
              <a:srgbClr val="D5D5D5"/>
            </a:solidFill>
            <a:prstDash val="solid"/>
          </a:ln>
        </p:spPr>
      </p:sp>
      <p:sp>
        <p:nvSpPr>
          <p:cNvPr id="61" name="Shape 54"/>
          <p:cNvSpPr/>
          <p:nvPr/>
        </p:nvSpPr>
        <p:spPr>
          <a:xfrm>
            <a:off x="5422392" y="5010912"/>
            <a:ext cx="265176" cy="274320"/>
          </a:xfrm>
          <a:prstGeom prst="rect">
            <a:avLst/>
          </a:prstGeom>
          <a:solidFill>
            <a:srgbClr val="3C6FB4"/>
          </a:solidFill>
          <a:ln w="6350">
            <a:solidFill>
              <a:srgbClr val="D5D5D5"/>
            </a:solidFill>
            <a:prstDash val="solid"/>
          </a:ln>
        </p:spPr>
      </p:sp>
      <p:sp>
        <p:nvSpPr>
          <p:cNvPr id="62" name="Text 55"/>
          <p:cNvSpPr txBox="1"/>
          <p:nvPr/>
        </p:nvSpPr>
        <p:spPr>
          <a:xfrm>
            <a:off x="4251960" y="5340096"/>
            <a:ext cx="1536192" cy="237744"/>
          </a:xfrm>
          <a:prstGeom prst="rect">
            <a:avLst/>
          </a:prstGeom>
          <a:noFill/>
          <a:ln/>
        </p:spPr>
        <p:txBody>
          <a:bodyPr wrap="square" lIns="0" tIns="0" rIns="0" bIns="0" rtlCol="0" anchor="t"/>
          <a:lstStyle/>
          <a:p>
            <a:pPr indent="0" marL="0">
              <a:buNone/>
            </a:pPr>
            <a:r>
              <a:rPr lang="en-GB" sz="1400" b="1" dirty="0">
                <a:solidFill>
                  <a:schemeClr val="tx2"/>
                </a:solidFill>
              </a:rPr>
              <a:t>pH</a:t>
            </a:r>
            <a:endParaRPr lang="en-GB" sz="1400" dirty="0"/>
          </a:p>
        </p:txBody>
      </p:sp>
      <p:sp>
        <p:nvSpPr>
          <p:cNvPr id="63" name="Text 56"/>
          <p:cNvSpPr txBox="1"/>
          <p:nvPr/>
        </p:nvSpPr>
        <p:spPr>
          <a:xfrm>
            <a:off x="4251960" y="5577840"/>
            <a:ext cx="1536192" cy="420624"/>
          </a:xfrm>
          <a:prstGeom prst="rect">
            <a:avLst/>
          </a:prstGeom>
          <a:noFill/>
          <a:ln/>
        </p:spPr>
        <p:txBody>
          <a:bodyPr wrap="square" lIns="0" tIns="0" rIns="0" bIns="0" rtlCol="0" anchor="t"/>
          <a:lstStyle/>
          <a:p>
            <a:pPr indent="0" marL="0">
              <a:buNone/>
            </a:pPr>
            <a:r>
              <a:rPr lang="en-GB" sz="1200" dirty="0">
                <a:solidFill>
                  <a:schemeClr val="tx1"/>
                </a:solidFill>
              </a:rPr>
              <a:t>Indicator acid/base form; colours vary</a:t>
            </a:r>
            <a:endParaRPr lang="en-GB" sz="1200" dirty="0"/>
          </a:p>
        </p:txBody>
      </p:sp>
      <p:sp>
        <p:nvSpPr>
          <p:cNvPr id="64" name="Shape 57"/>
          <p:cNvSpPr/>
          <p:nvPr/>
        </p:nvSpPr>
        <p:spPr>
          <a:xfrm>
            <a:off x="5943600" y="4901184"/>
            <a:ext cx="1737360" cy="1152144"/>
          </a:xfrm>
          <a:prstGeom prst="roundRect">
            <a:avLst>
              <a:gd name="adj" fmla="val 6349"/>
            </a:avLst>
          </a:prstGeom>
          <a:solidFill>
            <a:schemeClr val="bg2"/>
          </a:solidFill>
          <a:ln w="12700">
            <a:solidFill>
              <a:schemeClr val="bg2"/>
            </a:solidFill>
            <a:prstDash val="solid"/>
          </a:ln>
        </p:spPr>
      </p:sp>
      <p:sp>
        <p:nvSpPr>
          <p:cNvPr id="65" name="Shape 58"/>
          <p:cNvSpPr/>
          <p:nvPr/>
        </p:nvSpPr>
        <p:spPr>
          <a:xfrm>
            <a:off x="6080760" y="5010912"/>
            <a:ext cx="460248" cy="274320"/>
          </a:xfrm>
          <a:prstGeom prst="rect">
            <a:avLst/>
          </a:prstGeom>
          <a:solidFill>
            <a:srgbClr val="E8D44D"/>
          </a:solidFill>
          <a:ln w="6350">
            <a:solidFill>
              <a:srgbClr val="D5D5D5"/>
            </a:solidFill>
            <a:prstDash val="solid"/>
          </a:ln>
        </p:spPr>
      </p:sp>
      <p:sp>
        <p:nvSpPr>
          <p:cNvPr id="66" name="Shape 59"/>
          <p:cNvSpPr/>
          <p:nvPr/>
        </p:nvSpPr>
        <p:spPr>
          <a:xfrm>
            <a:off x="6568440" y="5010912"/>
            <a:ext cx="460248" cy="274320"/>
          </a:xfrm>
          <a:prstGeom prst="rect">
            <a:avLst/>
          </a:prstGeom>
          <a:solidFill>
            <a:srgbClr val="9DC35A"/>
          </a:solidFill>
          <a:ln w="6350">
            <a:solidFill>
              <a:srgbClr val="D5D5D5"/>
            </a:solidFill>
            <a:prstDash val="solid"/>
          </a:ln>
        </p:spPr>
      </p:sp>
      <p:sp>
        <p:nvSpPr>
          <p:cNvPr id="67" name="Shape 60"/>
          <p:cNvSpPr/>
          <p:nvPr/>
        </p:nvSpPr>
        <p:spPr>
          <a:xfrm>
            <a:off x="7056120" y="5010912"/>
            <a:ext cx="460248" cy="274320"/>
          </a:xfrm>
          <a:prstGeom prst="rect">
            <a:avLst/>
          </a:prstGeom>
          <a:solidFill>
            <a:srgbClr val="4E9F3D"/>
          </a:solidFill>
          <a:ln w="6350">
            <a:solidFill>
              <a:srgbClr val="D5D5D5"/>
            </a:solidFill>
            <a:prstDash val="solid"/>
          </a:ln>
        </p:spPr>
      </p:sp>
      <p:sp>
        <p:nvSpPr>
          <p:cNvPr id="68" name="Text 61"/>
          <p:cNvSpPr txBox="1"/>
          <p:nvPr/>
        </p:nvSpPr>
        <p:spPr>
          <a:xfrm>
            <a:off x="6080760" y="5340096"/>
            <a:ext cx="1536192" cy="237744"/>
          </a:xfrm>
          <a:prstGeom prst="rect">
            <a:avLst/>
          </a:prstGeom>
          <a:noFill/>
          <a:ln/>
        </p:spPr>
        <p:txBody>
          <a:bodyPr wrap="square" lIns="0" tIns="0" rIns="0" bIns="0" rtlCol="0" anchor="t"/>
          <a:lstStyle/>
          <a:p>
            <a:pPr indent="0" marL="0">
              <a:buNone/>
            </a:pPr>
            <a:r>
              <a:rPr lang="en-GB" sz="1400" b="1" dirty="0">
                <a:solidFill>
                  <a:schemeClr val="tx2"/>
                </a:solidFill>
              </a:rPr>
              <a:t>Protein</a:t>
            </a:r>
            <a:endParaRPr lang="en-GB" sz="1400" dirty="0"/>
          </a:p>
        </p:txBody>
      </p:sp>
      <p:sp>
        <p:nvSpPr>
          <p:cNvPr id="69" name="Text 62"/>
          <p:cNvSpPr txBox="1"/>
          <p:nvPr/>
        </p:nvSpPr>
        <p:spPr>
          <a:xfrm>
            <a:off x="6080760" y="5577840"/>
            <a:ext cx="1536192" cy="420624"/>
          </a:xfrm>
          <a:prstGeom prst="rect">
            <a:avLst/>
          </a:prstGeom>
          <a:noFill/>
          <a:ln/>
        </p:spPr>
        <p:txBody>
          <a:bodyPr wrap="square" lIns="0" tIns="0" rIns="0" bIns="0" rtlCol="0" anchor="t"/>
          <a:lstStyle/>
          <a:p>
            <a:pPr indent="0" marL="0">
              <a:buNone/>
            </a:pPr>
            <a:r>
              <a:rPr lang="en-GB" sz="1200" dirty="0">
                <a:solidFill>
                  <a:schemeClr val="tx1"/>
                </a:solidFill>
              </a:rPr>
              <a:t>Buffered indicator binds protein: yellow to green</a:t>
            </a:r>
            <a:endParaRPr lang="en-GB" sz="1200" dirty="0"/>
          </a:p>
        </p:txBody>
      </p:sp>
      <p:sp>
        <p:nvSpPr>
          <p:cNvPr id="70" name="Text 63"/>
          <p:cNvSpPr txBox="1"/>
          <p:nvPr/>
        </p:nvSpPr>
        <p:spPr>
          <a:xfrm>
            <a:off x="457200" y="6108192"/>
            <a:ext cx="7223760" cy="201168"/>
          </a:xfrm>
          <a:prstGeom prst="rect">
            <a:avLst/>
          </a:prstGeom>
          <a:noFill/>
          <a:ln/>
        </p:spPr>
        <p:txBody>
          <a:bodyPr wrap="square" lIns="0" tIns="0" rIns="0" bIns="0" rtlCol="0" anchor="t"/>
          <a:lstStyle/>
          <a:p>
            <a:pPr indent="0" marL="0">
              <a:buNone/>
            </a:pPr>
            <a:r>
              <a:rPr lang="en-GB" sz="1000" dirty="0">
                <a:solidFill>
                  <a:schemeClr val="accent4"/>
                </a:solidFill>
              </a:rPr>
              <a:t>Principles of commercial urine strips. The UTIS composition, marker panel and read time are not yet fixed.</a:t>
            </a:r>
            <a:endParaRPr lang="en-GB" sz="1000" dirty="0"/>
          </a:p>
        </p:txBody>
      </p:sp>
      <p:sp>
        <p:nvSpPr>
          <p:cNvPr id="71" name="bench-card"/>
          <p:cNvSpPr/>
          <p:nvPr/>
        </p:nvSpPr>
        <p:spPr>
          <a:xfrm>
            <a:off x="8046720" y="4553712"/>
            <a:ext cx="3685032" cy="1755648"/>
          </a:xfrm>
          <a:prstGeom prst="roundRect">
            <a:avLst>
              <a:gd name="adj" fmla="val 5208"/>
            </a:avLst>
          </a:prstGeom>
          <a:solidFill>
            <a:schemeClr val="bg1"/>
          </a:solidFill>
          <a:ln w="12700">
            <a:solidFill>
              <a:schemeClr val="accent1"/>
            </a:solidFill>
            <a:prstDash val="solid"/>
          </a:ln>
        </p:spPr>
      </p:sp>
      <p:sp>
        <p:nvSpPr>
          <p:cNvPr id="72" name="Shape 65"/>
          <p:cNvSpPr/>
          <p:nvPr/>
        </p:nvSpPr>
        <p:spPr>
          <a:xfrm>
            <a:off x="8229600" y="4690872"/>
            <a:ext cx="411480" cy="411480"/>
          </a:xfrm>
          <a:prstGeom prst="ellipse">
            <a:avLst/>
          </a:prstGeom>
          <a:solidFill>
            <a:schemeClr val="accent1"/>
          </a:solidFill>
          <a:ln w="12700">
            <a:solidFill>
              <a:schemeClr val="accent1"/>
            </a:solidFill>
            <a:prstDash val="solid"/>
          </a:ln>
        </p:spPr>
      </p:sp>
      <p:pic>
        <p:nvPicPr>
          <p:cNvPr id="73" name="Image 5" descr="preencoded.png">    </p:cNvPr>
          <p:cNvPicPr>
            <a:picLocks noChangeAspect="1"/>
          </p:cNvPicPr>
          <p:nvPr/>
        </p:nvPicPr>
        <p:blipFill>
          <a:blip r:embed="rId6"/>
          <a:stretch>
            <a:fillRect/>
          </a:stretch>
        </p:blipFill>
        <p:spPr>
          <a:xfrm>
            <a:off x="8332470" y="4793742"/>
            <a:ext cx="205740" cy="205740"/>
          </a:xfrm>
          <a:prstGeom prst="rect">
            <a:avLst/>
          </a:prstGeom>
        </p:spPr>
      </p:pic>
      <p:sp>
        <p:nvSpPr>
          <p:cNvPr id="74" name="Text 66"/>
          <p:cNvSpPr txBox="1"/>
          <p:nvPr/>
        </p:nvSpPr>
        <p:spPr>
          <a:xfrm>
            <a:off x="8759952" y="4672584"/>
            <a:ext cx="2834640" cy="256032"/>
          </a:xfrm>
          <a:prstGeom prst="rect">
            <a:avLst/>
          </a:prstGeom>
          <a:noFill/>
          <a:ln/>
        </p:spPr>
        <p:txBody>
          <a:bodyPr wrap="square" lIns="0" tIns="0" rIns="0" bIns="0" rtlCol="0" anchor="t"/>
          <a:lstStyle/>
          <a:p>
            <a:pPr indent="0" marL="0">
              <a:buNone/>
            </a:pPr>
            <a:r>
              <a:rPr lang="en-GB" sz="1400" b="1" dirty="0">
                <a:solidFill>
                  <a:schemeClr val="tx2"/>
                </a:solidFill>
              </a:rPr>
              <a:t>Early bench check</a:t>
            </a:r>
            <a:endParaRPr lang="en-GB" sz="1400" dirty="0"/>
          </a:p>
        </p:txBody>
      </p:sp>
      <p:sp>
        <p:nvSpPr>
          <p:cNvPr id="75" name="tag-dev"/>
          <p:cNvSpPr txBox="1"/>
          <p:nvPr/>
        </p:nvSpPr>
        <p:spPr>
          <a:xfrm>
            <a:off x="8759952" y="4937760"/>
            <a:ext cx="1463040" cy="219456"/>
          </a:xfrm>
          <a:prstGeom prst="roundRect">
            <a:avLst>
              <a:gd name="adj" fmla="val 45833"/>
            </a:avLst>
          </a:prstGeom>
          <a:solidFill>
            <a:schemeClr val="accent1"/>
          </a:solidFill>
          <a:ln/>
        </p:spPr>
        <p:txBody>
          <a:bodyPr wrap="square" lIns="0" tIns="0" rIns="0" bIns="0" rtlCol="0" anchor="ctr"/>
          <a:lstStyle/>
          <a:p>
            <a:pPr algn="ctr" indent="0" marL="0">
              <a:buNone/>
            </a:pPr>
            <a:r>
              <a:rPr lang="en-GB" sz="1000" b="1" dirty="0">
                <a:solidFill>
                  <a:schemeClr val="bg1"/>
                </a:solidFill>
              </a:rPr>
              <a:t>Developer-reported</a:t>
            </a:r>
            <a:endParaRPr lang="en-GB" sz="1000" dirty="0"/>
          </a:p>
        </p:txBody>
      </p:sp>
      <p:sp>
        <p:nvSpPr>
          <p:cNvPr id="76" name="Text 68"/>
          <p:cNvSpPr txBox="1"/>
          <p:nvPr/>
        </p:nvSpPr>
        <p:spPr>
          <a:xfrm>
            <a:off x="8229600" y="5248656"/>
            <a:ext cx="3337560" cy="676656"/>
          </a:xfrm>
          <a:prstGeom prst="rect">
            <a:avLst/>
          </a:prstGeom>
          <a:noFill/>
          <a:ln/>
        </p:spPr>
        <p:txBody>
          <a:bodyPr wrap="square" lIns="0" tIns="0" rIns="0" bIns="0" rtlCol="0" anchor="t"/>
          <a:lstStyle/>
          <a:p>
            <a:pPr indent="0" marL="0">
              <a:buNone/>
            </a:pPr>
            <a:r>
              <a:rPr lang="en-GB" sz="1400" dirty="0">
                <a:solidFill>
                  <a:schemeClr val="tx1"/>
                </a:solidFill>
              </a:rPr>
              <a:t>With the same standard solution, the coated nonwoven matched the dipstick comparator in colour and reaction.</a:t>
            </a:r>
            <a:endParaRPr lang="en-GB" sz="1400" dirty="0"/>
          </a:p>
        </p:txBody>
      </p:sp>
      <p:sp>
        <p:nvSpPr>
          <p:cNvPr id="77" name="Text 69"/>
          <p:cNvSpPr txBox="1"/>
          <p:nvPr/>
        </p:nvSpPr>
        <p:spPr>
          <a:xfrm>
            <a:off x="8229600" y="5925312"/>
            <a:ext cx="3337560" cy="329184"/>
          </a:xfrm>
          <a:prstGeom prst="rect">
            <a:avLst/>
          </a:prstGeom>
          <a:noFill/>
          <a:ln/>
        </p:spPr>
        <p:txBody>
          <a:bodyPr wrap="square" lIns="0" tIns="0" rIns="0" bIns="0" rtlCol="0" anchor="t"/>
          <a:lstStyle/>
          <a:p>
            <a:pPr indent="0" marL="0">
              <a:buNone/>
            </a:pPr>
            <a:r>
              <a:rPr lang="en-GB" sz="1000" dirty="0">
                <a:solidFill>
                  <a:schemeClr val="accent4"/>
                </a:solidFill>
              </a:rPr>
              <a:t>Tested conditions only; not an accuracy claim. Comparator, n, concentrations, read time and raw data to be confirmed.</a:t>
            </a:r>
            <a:endParaRPr lang="en-GB" sz="1000" dirty="0"/>
          </a:p>
        </p:txBody>
      </p:sp>
      <p:sp>
        <p:nvSpPr>
          <p:cNvPr id="78" name="Text 70"/>
          <p:cNvSpPr txBox="1"/>
          <p:nvPr/>
        </p:nvSpPr>
        <p:spPr>
          <a:xfrm>
            <a:off x="4663440" y="6492240"/>
            <a:ext cx="6492240" cy="237744"/>
          </a:xfrm>
          <a:prstGeom prst="rect">
            <a:avLst/>
          </a:prstGeom>
          <a:noFill/>
          <a:ln/>
        </p:spPr>
        <p:txBody>
          <a:bodyPr wrap="square" lIns="0" tIns="0" rIns="0" bIns="0" rtlCol="0" anchor="ctr"/>
          <a:lstStyle/>
          <a:p>
            <a:pPr algn="r" indent="0" marL="0">
              <a:buNone/>
            </a:pPr>
            <a:r>
              <a:rPr lang="en-GB" sz="1000" dirty="0">
                <a:solidFill>
                  <a:schemeClr val="accent4"/>
                </a:solidFill>
              </a:rPr>
              <a:t>[1] Siemens urine reagent-strip instructions for use  ·  Source: UTIS TS 001 v0.1 (30 Sep 2026)</a:t>
            </a:r>
            <a:endParaRPr lang="en-GB" sz="1000" dirty="0"/>
          </a:p>
        </p:txBody>
      </p:sp>
      <p:sp>
        <p:nvSpPr>
          <p:cNvPr id="25" name="Slide Number Placeholder 0"/>
          <p:cNvSpPr>
            <a:spLocks noGrp="1"/>
          </p:cNvSpPr>
          <p:nvPr>
            <p:ph type="sldNum" sz="quarter" idx="4294967295"/>
          </p:nvPr>
        </p:nvSpPr>
        <p:spPr>
          <a:xfrm>
            <a:off x="11365992" y="6492240"/>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GB"/>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74320"/>
          </a:xfrm>
          <a:prstGeom prst="rect">
            <a:avLst/>
          </a:prstGeom>
          <a:noFill/>
          <a:ln/>
        </p:spPr>
        <p:txBody>
          <a:bodyPr wrap="square" lIns="0" tIns="0" rIns="0" bIns="0" rtlCol="0" anchor="ctr"/>
          <a:lstStyle/>
          <a:p>
            <a:pPr indent="0" marL="0">
              <a:buNone/>
            </a:pPr>
            <a:r>
              <a:rPr lang="en-GB" sz="1100" b="1" spc="100" kern="0" dirty="0">
                <a:solidFill>
                  <a:schemeClr val="accent1"/>
                </a:solidFill>
              </a:rPr>
              <a:t>MANUFACTURING</a:t>
            </a:r>
            <a:endParaRPr lang="en-GB" sz="1100" dirty="0"/>
          </a:p>
        </p:txBody>
      </p:sp>
      <p:sp>
        <p:nvSpPr>
          <p:cNvPr id="3" name="Text 0"/>
          <p:cNvSpPr/>
          <p:nvPr>
            <p:ph idx="101" type="title" hasCustomPrompt="1"/>
          </p:nvPr>
        </p:nvSpPr>
        <p:spPr>
          <a:xfrm>
            <a:off x="457200" y="548640"/>
            <a:ext cx="11274552" cy="603504"/>
          </a:xfrm>
          <a:prstGeom prst="rect">
            <a:avLst/>
          </a:prstGeom>
          <a:noFill/>
          <a:ln/>
        </p:spPr>
        <p:txBody>
          <a:bodyPr wrap="square" lIns="0" tIns="0" rIns="0" bIns="0" rtlCol="0" anchor="ctr"/>
          <a:lstStyle/>
          <a:p>
            <a:pPr algn="l" indent="0" marL="0">
              <a:buNone/>
            </a:pPr>
            <a:r>
              <a:rPr lang="en-GB" sz="3600" b="1" dirty="0">
                <a:solidFill>
                  <a:schemeClr val="tx2"/>
                </a:solidFill>
              </a:rPr>
              <a:t>Made roll-to-roll; scale-up under review</a:t>
            </a:r>
            <a:endParaRPr lang="en-GB" sz="3600" dirty="0"/>
          </a:p>
        </p:txBody>
      </p:sp>
      <p:sp>
        <p:nvSpPr>
          <p:cNvPr id="4" name="Text 0"/>
          <p:cNvSpPr/>
          <p:nvPr>
            <p:ph idx="102" type="body" hasCustomPrompt="1"/>
          </p:nvPr>
        </p:nvSpPr>
        <p:spPr>
          <a:xfrm>
            <a:off x="457200" y="1170432"/>
            <a:ext cx="11274552" cy="365760"/>
          </a:xfrm>
          <a:prstGeom prst="rect">
            <a:avLst/>
          </a:prstGeom>
          <a:noFill/>
          <a:ln/>
        </p:spPr>
        <p:txBody>
          <a:bodyPr wrap="square" lIns="0" tIns="0" rIns="0" bIns="0" rtlCol="0" anchor="t"/>
          <a:lstStyle/>
          <a:p>
            <a:pPr indent="0" marL="0">
              <a:buNone/>
            </a:pPr>
            <a:r>
              <a:rPr lang="en-GB" sz="1400" dirty="0">
                <a:solidFill>
                  <a:schemeClr val="tx1"/>
                </a:solidFill>
              </a:rPr>
              <a:t>The web is unwound, coated with reagent lines, dried and rewound as raw-material rolls for conversion into finished products.</a:t>
            </a:r>
            <a:endParaRPr lang="en-GB" sz="1400" dirty="0"/>
          </a:p>
        </p:txBody>
      </p:sp>
      <p:sp>
        <p:nvSpPr>
          <p:cNvPr id="5" name="tag-dev"/>
          <p:cNvSpPr txBox="1"/>
          <p:nvPr/>
        </p:nvSpPr>
        <p:spPr>
          <a:xfrm>
            <a:off x="6702552" y="1591056"/>
            <a:ext cx="2560320" cy="219456"/>
          </a:xfrm>
          <a:prstGeom prst="roundRect">
            <a:avLst>
              <a:gd name="adj" fmla="val 45833"/>
            </a:avLst>
          </a:prstGeom>
          <a:solidFill>
            <a:schemeClr val="accent1"/>
          </a:solidFill>
          <a:ln/>
        </p:spPr>
        <p:txBody>
          <a:bodyPr wrap="square" lIns="0" tIns="0" rIns="0" bIns="0" rtlCol="0" anchor="ctr"/>
          <a:lstStyle/>
          <a:p>
            <a:pPr algn="ctr" indent="0" marL="0">
              <a:buNone/>
            </a:pPr>
            <a:r>
              <a:rPr lang="en-GB" sz="1000" b="1" dirty="0">
                <a:solidFill>
                  <a:schemeClr val="bg1"/>
                </a:solidFill>
              </a:rPr>
              <a:t>Process (steps 1–5): developer-reported</a:t>
            </a:r>
            <a:endParaRPr lang="en-GB" sz="1000" dirty="0"/>
          </a:p>
        </p:txBody>
      </p:sp>
      <p:sp>
        <p:nvSpPr>
          <p:cNvPr id="6" name="tag-est"/>
          <p:cNvSpPr txBox="1"/>
          <p:nvPr/>
        </p:nvSpPr>
        <p:spPr>
          <a:xfrm>
            <a:off x="9354312" y="1591056"/>
            <a:ext cx="2377440" cy="219456"/>
          </a:xfrm>
          <a:prstGeom prst="roundRect">
            <a:avLst>
              <a:gd name="adj" fmla="val 45833"/>
            </a:avLst>
          </a:prstGeom>
          <a:solidFill>
            <a:schemeClr val="accent2"/>
          </a:solidFill>
          <a:ln/>
        </p:spPr>
        <p:txBody>
          <a:bodyPr wrap="square" lIns="0" tIns="0" rIns="0" bIns="0" rtlCol="0" anchor="ctr"/>
          <a:lstStyle/>
          <a:p>
            <a:pPr algn="ctr" indent="0" marL="0">
              <a:buNone/>
            </a:pPr>
            <a:r>
              <a:rPr lang="en-GB" sz="1000" b="1" dirty="0">
                <a:solidFill>
                  <a:schemeClr val="tx1"/>
                </a:solidFill>
              </a:rPr>
              <a:t>Step 6 and control items: recommended</a:t>
            </a:r>
            <a:endParaRPr lang="en-GB" sz="1000" dirty="0"/>
          </a:p>
        </p:txBody>
      </p:sp>
      <p:sp>
        <p:nvSpPr>
          <p:cNvPr id="7" name="Shape 5"/>
          <p:cNvSpPr/>
          <p:nvPr/>
        </p:nvSpPr>
        <p:spPr>
          <a:xfrm>
            <a:off x="1746504" y="2267712"/>
            <a:ext cx="1060704" cy="0"/>
          </a:xfrm>
          <a:prstGeom prst="line">
            <a:avLst/>
          </a:prstGeom>
          <a:noFill/>
          <a:ln w="19050">
            <a:solidFill>
              <a:schemeClr val="accent1"/>
            </a:solidFill>
            <a:prstDash val="solid"/>
            <a:tailEnd type="triangle"/>
          </a:ln>
        </p:spPr>
      </p:sp>
      <p:sp>
        <p:nvSpPr>
          <p:cNvPr id="8" name="Shape 6"/>
          <p:cNvSpPr/>
          <p:nvPr/>
        </p:nvSpPr>
        <p:spPr>
          <a:xfrm>
            <a:off x="978408" y="1920240"/>
            <a:ext cx="694944" cy="694944"/>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1152144" y="2093976"/>
            <a:ext cx="347472" cy="347472"/>
          </a:xfrm>
          <a:prstGeom prst="rect">
            <a:avLst/>
          </a:prstGeom>
        </p:spPr>
      </p:pic>
      <p:sp>
        <p:nvSpPr>
          <p:cNvPr id="10" name="Text 7"/>
          <p:cNvSpPr txBox="1"/>
          <p:nvPr/>
        </p:nvSpPr>
        <p:spPr>
          <a:xfrm>
            <a:off x="457200"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1  Unwind</a:t>
            </a:r>
            <a:endParaRPr lang="en-GB" sz="1400" dirty="0"/>
          </a:p>
        </p:txBody>
      </p:sp>
      <p:sp>
        <p:nvSpPr>
          <p:cNvPr id="11" name="Text 8"/>
          <p:cNvSpPr txBox="1"/>
          <p:nvPr/>
        </p:nvSpPr>
        <p:spPr>
          <a:xfrm>
            <a:off x="457200"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Web spec, tension, wrinkles, speed</a:t>
            </a:r>
            <a:endParaRPr lang="en-GB" sz="1200" dirty="0"/>
          </a:p>
        </p:txBody>
      </p:sp>
      <p:sp>
        <p:nvSpPr>
          <p:cNvPr id="12" name="Shape 9"/>
          <p:cNvSpPr/>
          <p:nvPr/>
        </p:nvSpPr>
        <p:spPr>
          <a:xfrm>
            <a:off x="3648456" y="2267712"/>
            <a:ext cx="1060704" cy="0"/>
          </a:xfrm>
          <a:prstGeom prst="line">
            <a:avLst/>
          </a:prstGeom>
          <a:noFill/>
          <a:ln w="19050">
            <a:solidFill>
              <a:schemeClr val="accent1"/>
            </a:solidFill>
            <a:prstDash val="solid"/>
            <a:tailEnd type="triangle"/>
          </a:ln>
        </p:spPr>
      </p:sp>
      <p:sp>
        <p:nvSpPr>
          <p:cNvPr id="13" name="Shape 10"/>
          <p:cNvSpPr/>
          <p:nvPr/>
        </p:nvSpPr>
        <p:spPr>
          <a:xfrm>
            <a:off x="2880360" y="1920240"/>
            <a:ext cx="694944" cy="694944"/>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3054096" y="2093976"/>
            <a:ext cx="347472" cy="347472"/>
          </a:xfrm>
          <a:prstGeom prst="rect">
            <a:avLst/>
          </a:prstGeom>
        </p:spPr>
      </p:pic>
      <p:sp>
        <p:nvSpPr>
          <p:cNvPr id="15" name="Text 11"/>
          <p:cNvSpPr txBox="1"/>
          <p:nvPr/>
        </p:nvSpPr>
        <p:spPr>
          <a:xfrm>
            <a:off x="2359152"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2  Reagent prep</a:t>
            </a:r>
            <a:endParaRPr lang="en-GB" sz="1400" dirty="0"/>
          </a:p>
        </p:txBody>
      </p:sp>
      <p:sp>
        <p:nvSpPr>
          <p:cNvPr id="16" name="Text 12"/>
          <p:cNvSpPr txBox="1"/>
          <p:nvPr/>
        </p:nvSpPr>
        <p:spPr>
          <a:xfrm>
            <a:off x="2359152"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Batch record, homogeneity, pot life</a:t>
            </a:r>
            <a:endParaRPr lang="en-GB" sz="1200" dirty="0"/>
          </a:p>
        </p:txBody>
      </p:sp>
      <p:sp>
        <p:nvSpPr>
          <p:cNvPr id="17" name="Shape 13"/>
          <p:cNvSpPr/>
          <p:nvPr/>
        </p:nvSpPr>
        <p:spPr>
          <a:xfrm>
            <a:off x="5550408" y="2267712"/>
            <a:ext cx="1060704" cy="0"/>
          </a:xfrm>
          <a:prstGeom prst="line">
            <a:avLst/>
          </a:prstGeom>
          <a:noFill/>
          <a:ln w="19050">
            <a:solidFill>
              <a:schemeClr val="accent1"/>
            </a:solidFill>
            <a:prstDash val="solid"/>
            <a:tailEnd type="triangle"/>
          </a:ln>
        </p:spPr>
      </p:sp>
      <p:sp>
        <p:nvSpPr>
          <p:cNvPr id="18" name="Shape 14"/>
          <p:cNvSpPr/>
          <p:nvPr/>
        </p:nvSpPr>
        <p:spPr>
          <a:xfrm>
            <a:off x="4782312" y="1920240"/>
            <a:ext cx="694944" cy="694944"/>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4956048" y="2093976"/>
            <a:ext cx="347472" cy="347472"/>
          </a:xfrm>
          <a:prstGeom prst="rect">
            <a:avLst/>
          </a:prstGeom>
        </p:spPr>
      </p:pic>
      <p:sp>
        <p:nvSpPr>
          <p:cNvPr id="20" name="Text 15"/>
          <p:cNvSpPr txBox="1"/>
          <p:nvPr/>
        </p:nvSpPr>
        <p:spPr>
          <a:xfrm>
            <a:off x="4261104"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3  Nozzle coating</a:t>
            </a:r>
            <a:endParaRPr lang="en-GB" sz="1400" dirty="0"/>
          </a:p>
        </p:txBody>
      </p:sp>
      <p:sp>
        <p:nvSpPr>
          <p:cNvPr id="21" name="Text 16"/>
          <p:cNvSpPr txBox="1"/>
          <p:nvPr/>
        </p:nvSpPr>
        <p:spPr>
          <a:xfrm>
            <a:off x="4261104"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Dose, line width, position, spacing</a:t>
            </a:r>
            <a:endParaRPr lang="en-GB" sz="1200" dirty="0"/>
          </a:p>
        </p:txBody>
      </p:sp>
      <p:sp>
        <p:nvSpPr>
          <p:cNvPr id="22" name="Shape 17"/>
          <p:cNvSpPr/>
          <p:nvPr/>
        </p:nvSpPr>
        <p:spPr>
          <a:xfrm>
            <a:off x="7452360" y="2267712"/>
            <a:ext cx="1060704" cy="0"/>
          </a:xfrm>
          <a:prstGeom prst="line">
            <a:avLst/>
          </a:prstGeom>
          <a:noFill/>
          <a:ln w="19050">
            <a:solidFill>
              <a:schemeClr val="accent1"/>
            </a:solidFill>
            <a:prstDash val="solid"/>
            <a:tailEnd type="triangle"/>
          </a:ln>
        </p:spPr>
      </p:sp>
      <p:sp>
        <p:nvSpPr>
          <p:cNvPr id="23" name="Shape 18"/>
          <p:cNvSpPr/>
          <p:nvPr/>
        </p:nvSpPr>
        <p:spPr>
          <a:xfrm>
            <a:off x="6684264" y="1920240"/>
            <a:ext cx="694944" cy="694944"/>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6858000" y="2093976"/>
            <a:ext cx="347472" cy="347472"/>
          </a:xfrm>
          <a:prstGeom prst="rect">
            <a:avLst/>
          </a:prstGeom>
        </p:spPr>
      </p:pic>
      <p:sp>
        <p:nvSpPr>
          <p:cNvPr id="25" name="Text 19"/>
          <p:cNvSpPr txBox="1"/>
          <p:nvPr/>
        </p:nvSpPr>
        <p:spPr>
          <a:xfrm>
            <a:off x="6163056"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4  Drying</a:t>
            </a:r>
            <a:endParaRPr lang="en-GB" sz="1400" dirty="0"/>
          </a:p>
        </p:txBody>
      </p:sp>
      <p:sp>
        <p:nvSpPr>
          <p:cNvPr id="26" name="Text 20"/>
          <p:cNvSpPr txBox="1"/>
          <p:nvPr/>
        </p:nvSpPr>
        <p:spPr>
          <a:xfrm>
            <a:off x="6163056"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Web temperature, dwell time, residual moisture</a:t>
            </a:r>
            <a:endParaRPr lang="en-GB" sz="1200" dirty="0"/>
          </a:p>
        </p:txBody>
      </p:sp>
      <p:sp>
        <p:nvSpPr>
          <p:cNvPr id="27" name="Shape 21"/>
          <p:cNvSpPr/>
          <p:nvPr/>
        </p:nvSpPr>
        <p:spPr>
          <a:xfrm>
            <a:off x="9354312" y="2267712"/>
            <a:ext cx="1060704" cy="0"/>
          </a:xfrm>
          <a:prstGeom prst="line">
            <a:avLst/>
          </a:prstGeom>
          <a:noFill/>
          <a:ln w="19050">
            <a:solidFill>
              <a:schemeClr val="accent1"/>
            </a:solidFill>
            <a:prstDash val="solid"/>
            <a:tailEnd type="triangle"/>
          </a:ln>
        </p:spPr>
      </p:sp>
      <p:sp>
        <p:nvSpPr>
          <p:cNvPr id="28" name="Shape 22"/>
          <p:cNvSpPr/>
          <p:nvPr/>
        </p:nvSpPr>
        <p:spPr>
          <a:xfrm>
            <a:off x="8586216" y="1920240"/>
            <a:ext cx="694944" cy="694944"/>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8759952" y="2093976"/>
            <a:ext cx="347472" cy="347472"/>
          </a:xfrm>
          <a:prstGeom prst="rect">
            <a:avLst/>
          </a:prstGeom>
        </p:spPr>
      </p:pic>
      <p:sp>
        <p:nvSpPr>
          <p:cNvPr id="30" name="Text 23"/>
          <p:cNvSpPr txBox="1"/>
          <p:nvPr/>
        </p:nvSpPr>
        <p:spPr>
          <a:xfrm>
            <a:off x="8065008"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5  Rewind</a:t>
            </a:r>
            <a:endParaRPr lang="en-GB" sz="1400" dirty="0"/>
          </a:p>
        </p:txBody>
      </p:sp>
      <p:sp>
        <p:nvSpPr>
          <p:cNvPr id="31" name="Text 24"/>
          <p:cNvSpPr txBox="1"/>
          <p:nvPr/>
        </p:nvSpPr>
        <p:spPr>
          <a:xfrm>
            <a:off x="8065008"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Residual heat, roll pressure, set-off</a:t>
            </a:r>
            <a:endParaRPr lang="en-GB" sz="1200" dirty="0"/>
          </a:p>
        </p:txBody>
      </p:sp>
      <p:sp>
        <p:nvSpPr>
          <p:cNvPr id="32" name="Shape 25"/>
          <p:cNvSpPr/>
          <p:nvPr/>
        </p:nvSpPr>
        <p:spPr>
          <a:xfrm>
            <a:off x="10488168" y="1920240"/>
            <a:ext cx="694944" cy="694944"/>
          </a:xfrm>
          <a:prstGeom prst="ellipse">
            <a:avLst/>
          </a:prstGeom>
          <a:solidFill>
            <a:schemeClr val="accent2"/>
          </a:solidFill>
          <a:ln w="12700">
            <a:solidFill>
              <a:schemeClr val="accent2"/>
            </a:solidFill>
            <a:prstDash val="solid"/>
          </a:ln>
        </p:spPr>
      </p:sp>
      <p:pic>
        <p:nvPicPr>
          <p:cNvPr id="33" name="Image 5" descr="preencoded.png">    </p:cNvPr>
          <p:cNvPicPr>
            <a:picLocks noChangeAspect="1"/>
          </p:cNvPicPr>
          <p:nvPr/>
        </p:nvPicPr>
        <p:blipFill>
          <a:blip r:embed="rId6"/>
          <a:stretch>
            <a:fillRect/>
          </a:stretch>
        </p:blipFill>
        <p:spPr>
          <a:xfrm>
            <a:off x="10661904" y="2093976"/>
            <a:ext cx="347472" cy="347472"/>
          </a:xfrm>
          <a:prstGeom prst="rect">
            <a:avLst/>
          </a:prstGeom>
        </p:spPr>
      </p:pic>
      <p:sp>
        <p:nvSpPr>
          <p:cNvPr id="34" name="Text 26"/>
          <p:cNvSpPr txBox="1"/>
          <p:nvPr/>
        </p:nvSpPr>
        <p:spPr>
          <a:xfrm>
            <a:off x="9966960" y="2706624"/>
            <a:ext cx="1737360" cy="274320"/>
          </a:xfrm>
          <a:prstGeom prst="rect">
            <a:avLst/>
          </a:prstGeom>
          <a:noFill/>
          <a:ln/>
        </p:spPr>
        <p:txBody>
          <a:bodyPr wrap="square" lIns="0" tIns="0" rIns="0" bIns="0" rtlCol="0" anchor="t"/>
          <a:lstStyle/>
          <a:p>
            <a:pPr algn="ctr" indent="0" marL="0">
              <a:buNone/>
            </a:pPr>
            <a:r>
              <a:rPr lang="en-GB" sz="1400" b="1" dirty="0">
                <a:solidFill>
                  <a:schemeClr val="tx2"/>
                </a:solidFill>
              </a:rPr>
              <a:t>6  Inspect &amp; release</a:t>
            </a:r>
            <a:endParaRPr lang="en-GB" sz="1400" dirty="0"/>
          </a:p>
        </p:txBody>
      </p:sp>
      <p:sp>
        <p:nvSpPr>
          <p:cNvPr id="35" name="Text 27"/>
          <p:cNvSpPr txBox="1"/>
          <p:nvPr/>
        </p:nvSpPr>
        <p:spPr>
          <a:xfrm>
            <a:off x="9966960" y="2980944"/>
            <a:ext cx="1737360" cy="502920"/>
          </a:xfrm>
          <a:prstGeom prst="rect">
            <a:avLst/>
          </a:prstGeom>
          <a:noFill/>
          <a:ln/>
        </p:spPr>
        <p:txBody>
          <a:bodyPr wrap="square" lIns="0" tIns="0" rIns="0" bIns="0" rtlCol="0" anchor="t"/>
          <a:lstStyle/>
          <a:p>
            <a:pPr algn="ctr" indent="0" marL="0">
              <a:buNone/>
            </a:pPr>
            <a:r>
              <a:rPr lang="en-GB" sz="1200" dirty="0">
                <a:solidFill>
                  <a:schemeClr val="tx1"/>
                </a:solidFill>
              </a:rPr>
              <a:t>Reaction and uniformity at start, middle, end</a:t>
            </a:r>
            <a:endParaRPr lang="en-GB" sz="1200" dirty="0"/>
          </a:p>
        </p:txBody>
      </p:sp>
      <p:sp>
        <p:nvSpPr>
          <p:cNvPr id="36" name="Text 28"/>
          <p:cNvSpPr txBox="1"/>
          <p:nvPr/>
        </p:nvSpPr>
        <p:spPr>
          <a:xfrm>
            <a:off x="457200" y="3657600"/>
            <a:ext cx="1737360" cy="384048"/>
          </a:xfrm>
          <a:prstGeom prst="rect">
            <a:avLst/>
          </a:prstGeom>
          <a:noFill/>
          <a:ln/>
        </p:spPr>
        <p:txBody>
          <a:bodyPr wrap="square" lIns="0" tIns="0" rIns="0" bIns="0" rtlCol="0" anchor="ctr"/>
          <a:lstStyle/>
          <a:p>
            <a:pPr indent="0" marL="0">
              <a:buNone/>
            </a:pPr>
            <a:r>
              <a:rPr lang="en-GB" sz="1400" b="1" dirty="0">
                <a:solidFill>
                  <a:schemeClr val="tx2"/>
                </a:solidFill>
              </a:rPr>
              <a:t>Formulation must</a:t>
            </a:r>
            <a:endParaRPr lang="en-GB" sz="1400" dirty="0"/>
          </a:p>
        </p:txBody>
      </p:sp>
      <p:sp>
        <p:nvSpPr>
          <p:cNvPr id="37" name="Text 29"/>
          <p:cNvSpPr txBox="1"/>
          <p:nvPr/>
        </p:nvSpPr>
        <p:spPr>
          <a:xfrm>
            <a:off x="2194560" y="3657600"/>
            <a:ext cx="1463040" cy="384048"/>
          </a:xfrm>
          <a:prstGeom prst="roundRect">
            <a:avLst>
              <a:gd name="adj" fmla="val 42857"/>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Keep reactivity</a:t>
            </a:r>
            <a:endParaRPr lang="en-GB" sz="1200" dirty="0"/>
          </a:p>
        </p:txBody>
      </p:sp>
      <p:sp>
        <p:nvSpPr>
          <p:cNvPr id="38" name="Text 30"/>
          <p:cNvSpPr txBox="1"/>
          <p:nvPr/>
        </p:nvSpPr>
        <p:spPr>
          <a:xfrm>
            <a:off x="3794760" y="3657600"/>
            <a:ext cx="1508760" cy="384048"/>
          </a:xfrm>
          <a:prstGeom prst="roundRect">
            <a:avLst>
              <a:gd name="adj" fmla="val 42857"/>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Hold line shape</a:t>
            </a:r>
            <a:endParaRPr lang="en-GB" sz="1200" dirty="0"/>
          </a:p>
        </p:txBody>
      </p:sp>
      <p:sp>
        <p:nvSpPr>
          <p:cNvPr id="39" name="Text 31"/>
          <p:cNvSpPr txBox="1"/>
          <p:nvPr/>
        </p:nvSpPr>
        <p:spPr>
          <a:xfrm>
            <a:off x="5440680" y="3657600"/>
            <a:ext cx="1554480" cy="384048"/>
          </a:xfrm>
          <a:prstGeom prst="roundRect">
            <a:avLst>
              <a:gd name="adj" fmla="val 42857"/>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Anchor when dry</a:t>
            </a:r>
            <a:endParaRPr lang="en-GB" sz="1200" dirty="0"/>
          </a:p>
        </p:txBody>
      </p:sp>
      <p:sp>
        <p:nvSpPr>
          <p:cNvPr id="40" name="Text 32"/>
          <p:cNvSpPr txBox="1"/>
          <p:nvPr/>
        </p:nvSpPr>
        <p:spPr>
          <a:xfrm>
            <a:off x="7132320" y="3657600"/>
            <a:ext cx="2148840" cy="384048"/>
          </a:xfrm>
          <a:prstGeom prst="roundRect">
            <a:avLst>
              <a:gd name="adj" fmla="val 42857"/>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Stay put when wet (in use)</a:t>
            </a:r>
            <a:endParaRPr lang="en-GB" sz="1200" dirty="0"/>
          </a:p>
        </p:txBody>
      </p:sp>
      <p:sp>
        <p:nvSpPr>
          <p:cNvPr id="41" name="Text 33"/>
          <p:cNvSpPr txBox="1"/>
          <p:nvPr/>
        </p:nvSpPr>
        <p:spPr>
          <a:xfrm>
            <a:off x="9418320" y="3657600"/>
            <a:ext cx="1965960" cy="384048"/>
          </a:xfrm>
          <a:prstGeom prst="roundRect">
            <a:avLst>
              <a:gd name="adj" fmla="val 42857"/>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Stay stable in storage</a:t>
            </a:r>
            <a:endParaRPr lang="en-GB" sz="1200" dirty="0"/>
          </a:p>
        </p:txBody>
      </p:sp>
      <p:sp>
        <p:nvSpPr>
          <p:cNvPr id="42" name="Text 34"/>
          <p:cNvSpPr txBox="1"/>
          <p:nvPr/>
        </p:nvSpPr>
        <p:spPr>
          <a:xfrm>
            <a:off x="2194560" y="4087368"/>
            <a:ext cx="9537192" cy="201168"/>
          </a:xfrm>
          <a:prstGeom prst="rect">
            <a:avLst/>
          </a:prstGeom>
          <a:noFill/>
          <a:ln/>
        </p:spPr>
        <p:txBody>
          <a:bodyPr wrap="square" lIns="0" tIns="0" rIns="0" bIns="0" rtlCol="0" anchor="t"/>
          <a:lstStyle/>
          <a:p>
            <a:pPr indent="0" marL="0">
              <a:buNone/>
            </a:pPr>
            <a:r>
              <a:rPr lang="en-GB" sz="1000" dirty="0">
                <a:solidFill>
                  <a:schemeClr val="accent4"/>
                </a:solidFill>
              </a:rPr>
              <a:t>Components, ratios, nozzle and drying settings are held in an internal manufacturing standard (confidential); step control items will be finalised there.</a:t>
            </a:r>
            <a:endParaRPr lang="en-GB" sz="1000" dirty="0"/>
          </a:p>
        </p:txBody>
      </p:sp>
      <p:sp>
        <p:nvSpPr>
          <p:cNvPr id="43" name="Text 35"/>
          <p:cNvSpPr txBox="1"/>
          <p:nvPr/>
        </p:nvSpPr>
        <p:spPr>
          <a:xfrm>
            <a:off x="457200" y="4526280"/>
            <a:ext cx="2011680" cy="274320"/>
          </a:xfrm>
          <a:prstGeom prst="rect">
            <a:avLst/>
          </a:prstGeom>
          <a:noFill/>
          <a:ln/>
        </p:spPr>
        <p:txBody>
          <a:bodyPr wrap="square" lIns="0" tIns="0" rIns="0" bIns="0" rtlCol="0" anchor="t"/>
          <a:lstStyle/>
          <a:p>
            <a:pPr indent="0" marL="0">
              <a:buNone/>
            </a:pPr>
            <a:r>
              <a:rPr lang="en-GB" sz="1400" b="1" dirty="0">
                <a:solidFill>
                  <a:schemeClr val="tx2"/>
                </a:solidFill>
              </a:rPr>
              <a:t>Dipstick vs UTIS</a:t>
            </a:r>
            <a:endParaRPr lang="en-GB" sz="1400" dirty="0"/>
          </a:p>
        </p:txBody>
      </p:sp>
      <p:sp>
        <p:nvSpPr>
          <p:cNvPr id="44" name="tag-dev"/>
          <p:cNvSpPr txBox="1"/>
          <p:nvPr/>
        </p:nvSpPr>
        <p:spPr>
          <a:xfrm>
            <a:off x="2331720" y="4553712"/>
            <a:ext cx="2240280" cy="219456"/>
          </a:xfrm>
          <a:prstGeom prst="roundRect">
            <a:avLst>
              <a:gd name="adj" fmla="val 45833"/>
            </a:avLst>
          </a:prstGeom>
          <a:solidFill>
            <a:schemeClr val="accent1"/>
          </a:solidFill>
          <a:ln/>
        </p:spPr>
        <p:txBody>
          <a:bodyPr wrap="square" lIns="0" tIns="0" rIns="0" bIns="0" rtlCol="0" anchor="ctr"/>
          <a:lstStyle/>
          <a:p>
            <a:pPr algn="ctr" indent="0" marL="0">
              <a:buNone/>
            </a:pPr>
            <a:r>
              <a:rPr lang="en-GB" sz="1000" b="1" dirty="0">
                <a:solidFill>
                  <a:schemeClr val="bg1"/>
                </a:solidFill>
              </a:rPr>
              <a:t>UTIS column: developer-reported</a:t>
            </a:r>
            <a:endParaRPr lang="en-GB"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4864608"/>
          <a:ext cx="6263640" cy="914400"/>
        </p:xfrm>
        <a:graphic>
          <a:graphicData uri="http://schemas.openxmlformats.org/drawingml/2006/table">
            <a:tbl>
              <a:tblPr/>
              <a:tblGrid>
                <a:gridCol w="1325880"/>
                <a:gridCol w="2286000"/>
                <a:gridCol w="2651760"/>
              </a:tblGrid>
              <a:tr h="274320">
                <a:tc>
                  <a:txBody>
                    <a:bodyPr/>
                    <a:lstStyle/>
                    <a:p>
                      <a:pPr indent="0" marL="0">
                        <a:buNone/>
                      </a:pP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tx2"/>
                    </a:solidFill>
                  </a:tcPr>
                </a:tc>
                <a:tc>
                  <a:txBody>
                    <a:bodyPr/>
                    <a:lstStyle/>
                    <a:p>
                      <a:pPr indent="0" marL="0">
                        <a:buNone/>
                      </a:pPr>
                      <a:r>
                        <a:rPr lang="en-GB" sz="1300" b="1" dirty="0">
                          <a:solidFill>
                            <a:schemeClr val="bg1"/>
                          </a:solidFill>
                          <a:latin typeface="Calibri" pitchFamily="34" charset="0"/>
                          <a:ea typeface="Calibri" pitchFamily="34" charset="-122"/>
                          <a:cs typeface="Calibri" pitchFamily="34" charset="-120"/>
                        </a:rPr>
                        <a:t>Typical dipstick [2]</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tx2"/>
                    </a:solidFill>
                  </a:tcPr>
                </a:tc>
                <a:tc>
                  <a:txBody>
                    <a:bodyPr/>
                    <a:lstStyle/>
                    <a:p>
                      <a:pPr indent="0" marL="0">
                        <a:buNone/>
                      </a:pPr>
                      <a:r>
                        <a:rPr lang="en-GB" sz="1300" b="1" dirty="0">
                          <a:solidFill>
                            <a:schemeClr val="bg1"/>
                          </a:solidFill>
                          <a:latin typeface="Calibri" pitchFamily="34" charset="0"/>
                          <a:ea typeface="Calibri" pitchFamily="34" charset="-122"/>
                          <a:cs typeface="Calibri" pitchFamily="34" charset="-120"/>
                        </a:rPr>
                        <a:t>UTIS</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tx2"/>
                    </a:solidFill>
                  </a:tcPr>
                </a:tc>
              </a:tr>
              <a:tr h="274320">
                <a:tc>
                  <a:txBody>
                    <a:bodyPr/>
                    <a:lstStyle/>
                    <a:p>
                      <a:pPr indent="0" marL="0">
                        <a:buNone/>
                      </a:pPr>
                      <a:r>
                        <a:rPr lang="en-GB" sz="1300" b="1" dirty="0">
                          <a:solidFill>
                            <a:schemeClr val="tx2"/>
                          </a:solidFill>
                          <a:latin typeface="Calibri" pitchFamily="34" charset="0"/>
                          <a:ea typeface="Calibri" pitchFamily="34" charset="-122"/>
                          <a:cs typeface="Calibri" pitchFamily="34" charset="-120"/>
                        </a:rPr>
                        <a:t>Carrier</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Absorbent test pad</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Nonwoven roll</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r>
              <a:tr h="274320">
                <a:tc>
                  <a:txBody>
                    <a:bodyPr/>
                    <a:lstStyle/>
                    <a:p>
                      <a:pPr indent="0" marL="0">
                        <a:buNone/>
                      </a:pPr>
                      <a:r>
                        <a:rPr lang="en-GB" sz="1300" b="1" dirty="0">
                          <a:solidFill>
                            <a:schemeClr val="tx2"/>
                          </a:solidFill>
                          <a:latin typeface="Calibri" pitchFamily="34" charset="0"/>
                          <a:ea typeface="Calibri" pitchFamily="34" charset="-122"/>
                          <a:cs typeface="Calibri" pitchFamily="34" charset="-120"/>
                        </a:rPr>
                        <a:t>Reagent</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Impregnated, then dried</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In-house mix, nozzle-dispensed</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r>
              <a:tr h="274320">
                <a:tc>
                  <a:txBody>
                    <a:bodyPr/>
                    <a:lstStyle/>
                    <a:p>
                      <a:pPr indent="0" marL="0">
                        <a:buNone/>
                      </a:pPr>
                      <a:r>
                        <a:rPr lang="en-GB" sz="1300" b="1" dirty="0">
                          <a:solidFill>
                            <a:schemeClr val="tx2"/>
                          </a:solidFill>
                          <a:latin typeface="Calibri" pitchFamily="34" charset="0"/>
                          <a:ea typeface="Calibri" pitchFamily="34" charset="-122"/>
                          <a:cs typeface="Calibri" pitchFamily="34" charset="-120"/>
                        </a:rPr>
                        <a:t>After drying</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Pad fixed on a stick</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Rewound as roll stock</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1"/>
                    </a:solidFill>
                  </a:tcPr>
                </a:tc>
              </a:tr>
              <a:tr h="274320">
                <a:tc>
                  <a:txBody>
                    <a:bodyPr/>
                    <a:lstStyle/>
                    <a:p>
                      <a:pPr indent="0" marL="0">
                        <a:buNone/>
                      </a:pPr>
                      <a:r>
                        <a:rPr lang="en-GB" sz="1300" b="1" dirty="0">
                          <a:solidFill>
                            <a:schemeClr val="tx2"/>
                          </a:solidFill>
                          <a:latin typeface="Calibri" pitchFamily="34" charset="0"/>
                          <a:ea typeface="Calibri" pitchFamily="34" charset="-122"/>
                          <a:cs typeface="Calibri" pitchFamily="34" charset="-120"/>
                        </a:rPr>
                        <a:t>Design focus</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Discrete pad, set read time</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c>
                  <a:txBody>
                    <a:bodyPr/>
                    <a:lstStyle/>
                    <a:p>
                      <a:pPr indent="0" marL="0">
                        <a:buNone/>
                      </a:pPr>
                      <a:r>
                        <a:rPr lang="en-GB" sz="1300" dirty="0">
                          <a:solidFill>
                            <a:schemeClr val="tx1"/>
                          </a:solidFill>
                          <a:latin typeface="Calibri" pitchFamily="34" charset="0"/>
                          <a:ea typeface="Calibri" pitchFamily="34" charset="-122"/>
                          <a:cs typeface="Calibri" pitchFamily="34" charset="-120"/>
                        </a:rPr>
                        <a:t>Spread, reactivity, run speed</a:t>
                      </a:r>
                      <a:endParaRPr lang="en-GB" sz="1300" dirty="0">
                        <a:latin typeface="Calibri" charset="0"/>
                        <a:ea typeface="Calibri" charset="0"/>
                        <a:cs typeface="Calibri" charset="0"/>
                      </a:endParaRPr>
                    </a:p>
                  </a:txBody>
                  <a:tcPr marL="73152" marR="73152" marT="0" marB="0" anchor="ctr">
                    <a:lnL w="6350" cap="flat" cmpd="sng" algn="ctr">
                      <a:solidFill>
                        <a:srgbClr val="D5E3E2"/>
                      </a:solidFill>
                      <a:prstDash val="solid"/>
                      <a:round/>
                      <a:headEnd type="none" w="med" len="med"/>
                      <a:tailEnd type="none" w="med" len="med"/>
                    </a:lnL>
                    <a:lnR w="6350" cap="flat" cmpd="sng" algn="ctr">
                      <a:solidFill>
                        <a:srgbClr val="D5E3E2"/>
                      </a:solidFill>
                      <a:prstDash val="solid"/>
                      <a:round/>
                      <a:headEnd type="none" w="med" len="med"/>
                      <a:tailEnd type="none" w="med" len="med"/>
                    </a:lnR>
                    <a:lnT w="6350" cap="flat" cmpd="sng" algn="ctr">
                      <a:solidFill>
                        <a:srgbClr val="D5E3E2"/>
                      </a:solidFill>
                      <a:prstDash val="solid"/>
                      <a:round/>
                      <a:headEnd type="none" w="med" len="med"/>
                      <a:tailEnd type="none" w="med" len="med"/>
                    </a:lnT>
                    <a:lnB w="6350" cap="flat" cmpd="sng" algn="ctr">
                      <a:solidFill>
                        <a:srgbClr val="D5E3E2"/>
                      </a:solidFill>
                      <a:prstDash val="solid"/>
                      <a:round/>
                      <a:headEnd type="none" w="med" len="med"/>
                      <a:tailEnd type="none" w="med" len="med"/>
                    </a:lnB>
                    <a:solidFill>
                      <a:schemeClr val="bg2"/>
                    </a:solidFill>
                  </a:tcPr>
                </a:tc>
              </a:tr>
            </a:tbl>
          </a:graphicData>
        </a:graphic>
      </p:graphicFrame>
      <p:sp>
        <p:nvSpPr>
          <p:cNvPr id="46" name="Text 37"/>
          <p:cNvSpPr txBox="1"/>
          <p:nvPr/>
        </p:nvSpPr>
        <p:spPr>
          <a:xfrm>
            <a:off x="7086600" y="4526280"/>
            <a:ext cx="4645152" cy="274320"/>
          </a:xfrm>
          <a:prstGeom prst="rect">
            <a:avLst/>
          </a:prstGeom>
          <a:noFill/>
          <a:ln/>
        </p:spPr>
        <p:txBody>
          <a:bodyPr wrap="square" lIns="0" tIns="0" rIns="0" bIns="0" rtlCol="0" anchor="t"/>
          <a:lstStyle/>
          <a:p>
            <a:pPr indent="0" marL="0">
              <a:buNone/>
            </a:pPr>
            <a:r>
              <a:rPr lang="en-GB" sz="1400" b="1" dirty="0">
                <a:solidFill>
                  <a:schemeClr val="tx2"/>
                </a:solidFill>
              </a:rPr>
              <a:t>Output, metres of reagent web per day (approx.)</a:t>
            </a:r>
            <a:endParaRPr lang="en-GB" sz="1400" dirty="0"/>
          </a:p>
        </p:txBody>
      </p:sp>
      <p:graphicFrame>
        <p:nvGraphicFramePr>
          <p:cNvPr id="47" name="Chart 0" descr=""/>
          <p:cNvGraphicFramePr/>
          <p:nvPr/>
        </p:nvGraphicFramePr>
        <p:xfrm>
          <a:off x="6995160" y="4828032"/>
          <a:ext cx="3063240" cy="1207008"/>
        </p:xfrm>
        <a:graphic xmlns:a="http://schemas.openxmlformats.org/drawingml/2006/main">
          <a:graphicData uri="http://schemas.openxmlformats.org/drawingml/2006/chart">
            <c:chart xmlns:c="http://schemas.openxmlformats.org/drawingml/2006/chart" r:id="rId7"/>
          </a:graphicData>
        </a:graphic>
      </p:graphicFrame>
      <p:sp>
        <p:nvSpPr>
          <p:cNvPr id="48" name="Text 38"/>
          <p:cNvSpPr txBox="1"/>
          <p:nvPr/>
        </p:nvSpPr>
        <p:spPr>
          <a:xfrm>
            <a:off x="10149840" y="4846320"/>
            <a:ext cx="1581912" cy="384048"/>
          </a:xfrm>
          <a:prstGeom prst="rect">
            <a:avLst/>
          </a:prstGeom>
          <a:noFill/>
          <a:ln/>
        </p:spPr>
        <p:txBody>
          <a:bodyPr wrap="square" lIns="0" tIns="0" rIns="0" bIns="0" rtlCol="0" anchor="t"/>
          <a:lstStyle/>
          <a:p>
            <a:pPr indent="0" marL="0">
              <a:buNone/>
            </a:pPr>
            <a:r>
              <a:rPr lang="en-GB" sz="2400" b="1" dirty="0">
                <a:solidFill>
                  <a:schemeClr val="accent4"/>
                </a:solidFill>
              </a:rPr>
              <a:t>×33</a:t>
            </a:r>
            <a:endParaRPr lang="en-GB" sz="2400" dirty="0"/>
          </a:p>
        </p:txBody>
      </p:sp>
      <p:sp>
        <p:nvSpPr>
          <p:cNvPr id="49" name="Text 39"/>
          <p:cNvSpPr txBox="1"/>
          <p:nvPr/>
        </p:nvSpPr>
        <p:spPr>
          <a:xfrm>
            <a:off x="10149840" y="5266944"/>
            <a:ext cx="1581912" cy="201168"/>
          </a:xfrm>
          <a:prstGeom prst="rect">
            <a:avLst/>
          </a:prstGeom>
          <a:noFill/>
          <a:ln/>
        </p:spPr>
        <p:txBody>
          <a:bodyPr wrap="square" lIns="0" tIns="0" rIns="0" bIns="0" rtlCol="0" anchor="t"/>
          <a:lstStyle/>
          <a:p>
            <a:pPr indent="0" marL="0">
              <a:buNone/>
            </a:pPr>
            <a:r>
              <a:rPr lang="en-GB" sz="1100" dirty="0">
                <a:solidFill>
                  <a:schemeClr val="accent4"/>
                </a:solidFill>
              </a:rPr>
              <a:t>only if target verified</a:t>
            </a:r>
            <a:endParaRPr lang="en-GB" sz="1100" dirty="0"/>
          </a:p>
        </p:txBody>
      </p:sp>
      <p:sp>
        <p:nvSpPr>
          <p:cNvPr id="50" name="tag-dev"/>
          <p:cNvSpPr txBox="1"/>
          <p:nvPr/>
        </p:nvSpPr>
        <p:spPr>
          <a:xfrm>
            <a:off x="10149840" y="5522976"/>
            <a:ext cx="1581912" cy="219456"/>
          </a:xfrm>
          <a:prstGeom prst="roundRect">
            <a:avLst>
              <a:gd name="adj" fmla="val 45833"/>
            </a:avLst>
          </a:prstGeom>
          <a:solidFill>
            <a:schemeClr val="accent1"/>
          </a:solidFill>
          <a:ln/>
        </p:spPr>
        <p:txBody>
          <a:bodyPr wrap="square" lIns="0" tIns="0" rIns="0" bIns="0" rtlCol="0" anchor="ctr"/>
          <a:lstStyle/>
          <a:p>
            <a:pPr algn="ctr" indent="0" marL="0">
              <a:buNone/>
            </a:pPr>
            <a:r>
              <a:rPr lang="en-GB" sz="1000" b="1" dirty="0">
                <a:solidFill>
                  <a:schemeClr val="bg1"/>
                </a:solidFill>
              </a:rPr>
              <a:t>Today: developer-reported</a:t>
            </a:r>
            <a:endParaRPr lang="en-GB" sz="1000" dirty="0"/>
          </a:p>
        </p:txBody>
      </p:sp>
      <p:sp>
        <p:nvSpPr>
          <p:cNvPr id="51" name="tag-est"/>
          <p:cNvSpPr txBox="1"/>
          <p:nvPr/>
        </p:nvSpPr>
        <p:spPr>
          <a:xfrm>
            <a:off x="10149840" y="5797296"/>
            <a:ext cx="1581912" cy="219456"/>
          </a:xfrm>
          <a:prstGeom prst="roundRect">
            <a:avLst>
              <a:gd name="adj" fmla="val 45833"/>
            </a:avLst>
          </a:prstGeom>
          <a:solidFill>
            <a:schemeClr val="accent2"/>
          </a:solidFill>
          <a:ln/>
        </p:spPr>
        <p:txBody>
          <a:bodyPr wrap="square" lIns="0" tIns="0" rIns="0" bIns="0" rtlCol="0" anchor="ctr"/>
          <a:lstStyle/>
          <a:p>
            <a:pPr algn="ctr" indent="0" marL="0">
              <a:buNone/>
            </a:pPr>
            <a:r>
              <a:rPr lang="en-GB" sz="1000" b="1" dirty="0">
                <a:solidFill>
                  <a:schemeClr val="tx1"/>
                </a:solidFill>
              </a:rPr>
              <a:t>Target: unverified estimate</a:t>
            </a:r>
            <a:endParaRPr lang="en-GB" sz="1000" dirty="0"/>
          </a:p>
        </p:txBody>
      </p:sp>
      <p:sp>
        <p:nvSpPr>
          <p:cNvPr id="52" name="Text 42"/>
          <p:cNvSpPr txBox="1"/>
          <p:nvPr/>
        </p:nvSpPr>
        <p:spPr>
          <a:xfrm>
            <a:off x="7086600" y="6053328"/>
            <a:ext cx="4645152" cy="329184"/>
          </a:xfrm>
          <a:prstGeom prst="rect">
            <a:avLst/>
          </a:prstGeom>
          <a:noFill/>
          <a:ln/>
        </p:spPr>
        <p:txBody>
          <a:bodyPr wrap="square" lIns="0" tIns="0" rIns="0" bIns="0" rtlCol="0" anchor="t"/>
          <a:lstStyle/>
          <a:p>
            <a:pPr indent="0" marL="0">
              <a:buNone/>
            </a:pPr>
            <a:r>
              <a:rPr lang="en-GB" sz="1000" dirty="0">
                <a:solidFill>
                  <a:schemeClr val="accent4"/>
                </a:solidFill>
              </a:rPr>
              <a:t>Unverified: drying, line width and reactivity at speed; per-day basis to be confirmed. Product yield depends on web width, lanes and cut length.</a:t>
            </a:r>
            <a:endParaRPr lang="en-GB" sz="1000" dirty="0"/>
          </a:p>
        </p:txBody>
      </p:sp>
      <p:sp>
        <p:nvSpPr>
          <p:cNvPr id="53" name="Text 43"/>
          <p:cNvSpPr txBox="1"/>
          <p:nvPr/>
        </p:nvSpPr>
        <p:spPr>
          <a:xfrm>
            <a:off x="4663440" y="6492240"/>
            <a:ext cx="6492240" cy="237744"/>
          </a:xfrm>
          <a:prstGeom prst="rect">
            <a:avLst/>
          </a:prstGeom>
          <a:noFill/>
          <a:ln/>
        </p:spPr>
        <p:txBody>
          <a:bodyPr wrap="square" lIns="0" tIns="0" rIns="0" bIns="0" rtlCol="0" anchor="ctr"/>
          <a:lstStyle/>
          <a:p>
            <a:pPr algn="r" indent="0" marL="0">
              <a:buNone/>
            </a:pPr>
            <a:r>
              <a:rPr lang="en-GB" sz="1000" dirty="0">
                <a:solidFill>
                  <a:schemeClr val="accent4"/>
                </a:solidFill>
              </a:rPr>
              <a:t>[2] US FDA 510(k) K160372 decision summary (typical dipstick pad construction only)</a:t>
            </a:r>
            <a:endParaRPr lang="en-GB" sz="1000" dirty="0"/>
          </a:p>
        </p:txBody>
      </p:sp>
      <p:sp>
        <p:nvSpPr>
          <p:cNvPr id="25" name="Slide Number Placeholder 0"/>
          <p:cNvSpPr>
            <a:spLocks noGrp="1"/>
          </p:cNvSpPr>
          <p:nvPr>
            <p:ph type="sldNum" sz="quarter" idx="4294967295"/>
          </p:nvPr>
        </p:nvSpPr>
        <p:spPr>
          <a:xfrm>
            <a:off x="11365992" y="6492240"/>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GB"/>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11274552" cy="274320"/>
          </a:xfrm>
          <a:prstGeom prst="rect">
            <a:avLst/>
          </a:prstGeom>
          <a:noFill/>
          <a:ln/>
        </p:spPr>
        <p:txBody>
          <a:bodyPr wrap="square" lIns="0" tIns="0" rIns="0" bIns="0" rtlCol="0" anchor="ctr"/>
          <a:lstStyle/>
          <a:p>
            <a:pPr indent="0" marL="0">
              <a:buNone/>
            </a:pPr>
            <a:r>
              <a:rPr lang="en-GB" sz="1100" b="1" spc="100" kern="0" dirty="0">
                <a:solidFill>
                  <a:schemeClr val="accent1"/>
                </a:solidFill>
              </a:rPr>
              <a:t>PRESSURE-INJURY CARE FIT AND VALIDATION</a:t>
            </a:r>
            <a:endParaRPr lang="en-GB" sz="1100" dirty="0"/>
          </a:p>
        </p:txBody>
      </p:sp>
      <p:sp>
        <p:nvSpPr>
          <p:cNvPr id="3" name="Text 0"/>
          <p:cNvSpPr/>
          <p:nvPr>
            <p:ph idx="101" type="title" hasCustomPrompt="1"/>
          </p:nvPr>
        </p:nvSpPr>
        <p:spPr>
          <a:xfrm>
            <a:off x="457200" y="548640"/>
            <a:ext cx="11274552" cy="603504"/>
          </a:xfrm>
          <a:prstGeom prst="rect">
            <a:avLst/>
          </a:prstGeom>
          <a:noFill/>
          <a:ln/>
        </p:spPr>
        <p:txBody>
          <a:bodyPr wrap="square" lIns="0" tIns="0" rIns="0" bIns="0" rtlCol="0" anchor="ctr"/>
          <a:lstStyle/>
          <a:p>
            <a:pPr algn="l" indent="0" marL="0">
              <a:buNone/>
            </a:pPr>
            <a:r>
              <a:rPr lang="en-GB" sz="3600" b="1" dirty="0">
                <a:solidFill>
                  <a:schemeClr val="tx2"/>
                </a:solidFill>
              </a:rPr>
              <a:t>Where it could fit, and what we need to test</a:t>
            </a:r>
            <a:endParaRPr lang="en-GB" sz="3600" dirty="0"/>
          </a:p>
        </p:txBody>
      </p:sp>
      <p:sp>
        <p:nvSpPr>
          <p:cNvPr id="4" name="Text 0"/>
          <p:cNvSpPr/>
          <p:nvPr>
            <p:ph idx="102" type="body" hasCustomPrompt="1"/>
          </p:nvPr>
        </p:nvSpPr>
        <p:spPr>
          <a:xfrm>
            <a:off x="457200" y="1170432"/>
            <a:ext cx="11274552" cy="365760"/>
          </a:xfrm>
          <a:prstGeom prst="rect">
            <a:avLst/>
          </a:prstGeom>
          <a:noFill/>
          <a:ln/>
        </p:spPr>
        <p:txBody>
          <a:bodyPr wrap="square" lIns="0" tIns="0" rIns="0" bIns="0" rtlCol="0" anchor="t"/>
          <a:lstStyle/>
          <a:p>
            <a:pPr indent="0" marL="0">
              <a:buNone/>
            </a:pPr>
            <a:r>
              <a:rPr lang="en-GB" sz="1400" dirty="0">
                <a:solidFill>
                  <a:schemeClr val="tx1"/>
                </a:solidFill>
              </a:rPr>
              <a:t>Moisture and incontinence are recognised pressure-injury risk factors [5]. Two concepts, open questions and an analytical test path.</a:t>
            </a:r>
            <a:endParaRPr lang="en-GB" sz="1400" dirty="0"/>
          </a:p>
        </p:txBody>
      </p:sp>
      <p:sp>
        <p:nvSpPr>
          <p:cNvPr id="5" name="concept-a"/>
          <p:cNvSpPr/>
          <p:nvPr/>
        </p:nvSpPr>
        <p:spPr>
          <a:xfrm>
            <a:off x="457200" y="1737360"/>
            <a:ext cx="2651760" cy="2377440"/>
          </a:xfrm>
          <a:prstGeom prst="roundRect">
            <a:avLst>
              <a:gd name="adj" fmla="val 3846"/>
            </a:avLst>
          </a:prstGeom>
          <a:solidFill>
            <a:schemeClr val="bg2"/>
          </a:solidFill>
          <a:ln w="12700">
            <a:solidFill>
              <a:schemeClr val="bg2"/>
            </a:solidFill>
            <a:prstDash val="solid"/>
          </a:ln>
        </p:spPr>
      </p:sp>
      <p:sp>
        <p:nvSpPr>
          <p:cNvPr id="6" name="Shape 4"/>
          <p:cNvSpPr/>
          <p:nvPr/>
        </p:nvSpPr>
        <p:spPr>
          <a:xfrm>
            <a:off x="960120" y="1856232"/>
            <a:ext cx="1645920" cy="822960"/>
          </a:xfrm>
          <a:prstGeom prst="roundRect">
            <a:avLst>
              <a:gd name="adj" fmla="val 8889"/>
            </a:avLst>
          </a:prstGeom>
          <a:solidFill>
            <a:srgbClr val="FFFFFF"/>
          </a:solidFill>
          <a:ln w="12700">
            <a:solidFill>
              <a:schemeClr val="accent5"/>
            </a:solidFill>
            <a:prstDash val="solid"/>
          </a:ln>
        </p:spPr>
      </p:sp>
      <p:sp>
        <p:nvSpPr>
          <p:cNvPr id="7" name="Shape 5"/>
          <p:cNvSpPr/>
          <p:nvPr/>
        </p:nvSpPr>
        <p:spPr>
          <a:xfrm>
            <a:off x="1371600" y="1856232"/>
            <a:ext cx="0" cy="822960"/>
          </a:xfrm>
          <a:prstGeom prst="line">
            <a:avLst/>
          </a:prstGeom>
          <a:noFill/>
          <a:ln w="9525">
            <a:solidFill>
              <a:srgbClr val="E3ECEB"/>
            </a:solidFill>
            <a:prstDash val="solid"/>
          </a:ln>
        </p:spPr>
      </p:sp>
      <p:sp>
        <p:nvSpPr>
          <p:cNvPr id="8" name="Shape 6"/>
          <p:cNvSpPr/>
          <p:nvPr/>
        </p:nvSpPr>
        <p:spPr>
          <a:xfrm>
            <a:off x="1783080" y="1856232"/>
            <a:ext cx="0" cy="822960"/>
          </a:xfrm>
          <a:prstGeom prst="line">
            <a:avLst/>
          </a:prstGeom>
          <a:noFill/>
          <a:ln w="9525">
            <a:solidFill>
              <a:srgbClr val="E3ECEB"/>
            </a:solidFill>
            <a:prstDash val="solid"/>
          </a:ln>
        </p:spPr>
      </p:sp>
      <p:sp>
        <p:nvSpPr>
          <p:cNvPr id="9" name="Shape 7"/>
          <p:cNvSpPr/>
          <p:nvPr/>
        </p:nvSpPr>
        <p:spPr>
          <a:xfrm>
            <a:off x="2194560" y="1856232"/>
            <a:ext cx="0" cy="822960"/>
          </a:xfrm>
          <a:prstGeom prst="line">
            <a:avLst/>
          </a:prstGeom>
          <a:noFill/>
          <a:ln w="9525">
            <a:solidFill>
              <a:srgbClr val="E3ECEB"/>
            </a:solidFill>
            <a:prstDash val="solid"/>
          </a:ln>
        </p:spPr>
      </p:sp>
      <p:sp>
        <p:nvSpPr>
          <p:cNvPr id="10" name="Shape 8"/>
          <p:cNvSpPr/>
          <p:nvPr/>
        </p:nvSpPr>
        <p:spPr>
          <a:xfrm>
            <a:off x="1051560" y="2057400"/>
            <a:ext cx="1463040" cy="54864"/>
          </a:xfrm>
          <a:prstGeom prst="rect">
            <a:avLst/>
          </a:prstGeom>
          <a:solidFill>
            <a:srgbClr val="F6C9DD"/>
          </a:solidFill>
          <a:ln w="12700">
            <a:solidFill>
              <a:srgbClr val="F6C9DD"/>
            </a:solidFill>
            <a:prstDash val="solid"/>
          </a:ln>
        </p:spPr>
      </p:sp>
      <p:sp>
        <p:nvSpPr>
          <p:cNvPr id="11" name="Shape 9"/>
          <p:cNvSpPr/>
          <p:nvPr/>
        </p:nvSpPr>
        <p:spPr>
          <a:xfrm>
            <a:off x="1051560" y="2240280"/>
            <a:ext cx="1463040" cy="54864"/>
          </a:xfrm>
          <a:prstGeom prst="rect">
            <a:avLst/>
          </a:prstGeom>
          <a:solidFill>
            <a:srgbClr val="DCCDEE"/>
          </a:solidFill>
          <a:ln w="12700">
            <a:solidFill>
              <a:srgbClr val="DCCDEE"/>
            </a:solidFill>
            <a:prstDash val="solid"/>
          </a:ln>
        </p:spPr>
      </p:sp>
      <p:sp>
        <p:nvSpPr>
          <p:cNvPr id="12" name="Shape 10"/>
          <p:cNvSpPr/>
          <p:nvPr/>
        </p:nvSpPr>
        <p:spPr>
          <a:xfrm>
            <a:off x="1051560" y="2423160"/>
            <a:ext cx="1463040" cy="54864"/>
          </a:xfrm>
          <a:prstGeom prst="rect">
            <a:avLst/>
          </a:prstGeom>
          <a:solidFill>
            <a:srgbClr val="F9DDBE"/>
          </a:solidFill>
          <a:ln w="12700">
            <a:solidFill>
              <a:srgbClr val="F9DDBE"/>
            </a:solidFill>
            <a:prstDash val="solid"/>
          </a:ln>
        </p:spPr>
      </p:sp>
      <p:sp>
        <p:nvSpPr>
          <p:cNvPr id="13" name="Shape 11"/>
          <p:cNvSpPr/>
          <p:nvPr/>
        </p:nvSpPr>
        <p:spPr>
          <a:xfrm>
            <a:off x="1463040" y="1947672"/>
            <a:ext cx="640080" cy="640080"/>
          </a:xfrm>
          <a:prstGeom prst="ellipse">
            <a:avLst/>
          </a:prstGeom>
          <a:solidFill>
            <a:schemeClr val="accent6">
              <a:alpha val="20000"/>
            </a:schemeClr>
          </a:solidFill>
          <a:ln w="9525">
            <a:solidFill>
              <a:schemeClr val="accent6"/>
            </a:solidFill>
            <a:prstDash val="dash"/>
          </a:ln>
        </p:spPr>
      </p:sp>
      <p:sp>
        <p:nvSpPr>
          <p:cNvPr id="14" name="Shape 12"/>
          <p:cNvSpPr/>
          <p:nvPr/>
        </p:nvSpPr>
        <p:spPr>
          <a:xfrm>
            <a:off x="1545336" y="2423160"/>
            <a:ext cx="475488" cy="54864"/>
          </a:xfrm>
          <a:prstGeom prst="rect">
            <a:avLst/>
          </a:prstGeom>
          <a:solidFill>
            <a:srgbClr val="F08A24"/>
          </a:solidFill>
          <a:ln w="12700">
            <a:solidFill>
              <a:srgbClr val="F08A24"/>
            </a:solidFill>
            <a:prstDash val="solid"/>
          </a:ln>
        </p:spPr>
      </p:sp>
      <p:sp>
        <p:nvSpPr>
          <p:cNvPr id="15" name="Text 13"/>
          <p:cNvSpPr txBox="1"/>
          <p:nvPr/>
        </p:nvSpPr>
        <p:spPr>
          <a:xfrm>
            <a:off x="594360" y="2743200"/>
            <a:ext cx="2423160" cy="256032"/>
          </a:xfrm>
          <a:prstGeom prst="rect">
            <a:avLst/>
          </a:prstGeom>
          <a:noFill/>
          <a:ln/>
        </p:spPr>
        <p:txBody>
          <a:bodyPr wrap="square" lIns="0" tIns="0" rIns="0" bIns="0" rtlCol="0" anchor="t"/>
          <a:lstStyle/>
          <a:p>
            <a:pPr indent="0" marL="0">
              <a:buNone/>
            </a:pPr>
            <a:r>
              <a:rPr lang="en-GB" sz="1400" b="1" dirty="0">
                <a:solidFill>
                  <a:schemeClr val="tx2"/>
                </a:solidFill>
              </a:rPr>
              <a:t>Pad / underpad insert</a:t>
            </a:r>
            <a:endParaRPr lang="en-GB" sz="1400" dirty="0"/>
          </a:p>
        </p:txBody>
      </p:sp>
      <p:sp>
        <p:nvSpPr>
          <p:cNvPr id="16" name="Text 14"/>
          <p:cNvSpPr txBox="1"/>
          <p:nvPr/>
        </p:nvSpPr>
        <p:spPr>
          <a:xfrm>
            <a:off x="594360" y="3017520"/>
            <a:ext cx="2423160" cy="713232"/>
          </a:xfrm>
          <a:prstGeom prst="rect">
            <a:avLst/>
          </a:prstGeom>
          <a:noFill/>
          <a:ln/>
        </p:spPr>
        <p:txBody>
          <a:bodyPr wrap="square" lIns="0" tIns="0" rIns="0" bIns="0" rtlCol="0" anchor="t"/>
          <a:lstStyle/>
          <a:p>
            <a:pPr indent="0" marL="0">
              <a:buNone/>
            </a:pPr>
            <a:r>
              <a:rPr lang="en-GB" sz="1200" dirty="0">
                <a:solidFill>
                  <a:schemeClr val="tx1"/>
                </a:solidFill>
              </a:rPr>
              <a:t>Reagent web in a pad or underpad, reagent side away from skin; lines read urine chemistry, not wetness.</a:t>
            </a:r>
            <a:endParaRPr lang="en-GB" sz="1200" dirty="0"/>
          </a:p>
        </p:txBody>
      </p:sp>
      <p:sp>
        <p:nvSpPr>
          <p:cNvPr id="17" name="tag-est"/>
          <p:cNvSpPr txBox="1"/>
          <p:nvPr/>
        </p:nvSpPr>
        <p:spPr>
          <a:xfrm>
            <a:off x="594360" y="3776472"/>
            <a:ext cx="2377440" cy="219456"/>
          </a:xfrm>
          <a:prstGeom prst="roundRect">
            <a:avLst>
              <a:gd name="adj" fmla="val 45833"/>
            </a:avLst>
          </a:prstGeom>
          <a:solidFill>
            <a:schemeClr val="accent2"/>
          </a:solidFill>
          <a:ln/>
        </p:spPr>
        <p:txBody>
          <a:bodyPr wrap="square" lIns="0" tIns="0" rIns="0" bIns="0" rtlCol="0" anchor="ctr"/>
          <a:lstStyle/>
          <a:p>
            <a:pPr algn="ctr" indent="0" marL="0">
              <a:buNone/>
            </a:pPr>
            <a:r>
              <a:rPr lang="en-GB" sz="1000" b="1" dirty="0">
                <a:solidFill>
                  <a:schemeClr val="tx1"/>
                </a:solidFill>
              </a:rPr>
              <a:t>Concept: current web, untested format</a:t>
            </a:r>
            <a:endParaRPr lang="en-GB" sz="1000" dirty="0"/>
          </a:p>
        </p:txBody>
      </p:sp>
      <p:sp>
        <p:nvSpPr>
          <p:cNvPr id="18" name="concept-b"/>
          <p:cNvSpPr/>
          <p:nvPr/>
        </p:nvSpPr>
        <p:spPr>
          <a:xfrm>
            <a:off x="3246120" y="1737360"/>
            <a:ext cx="2651760" cy="2377440"/>
          </a:xfrm>
          <a:prstGeom prst="roundRect">
            <a:avLst>
              <a:gd name="adj" fmla="val 3846"/>
            </a:avLst>
          </a:prstGeom>
          <a:solidFill>
            <a:schemeClr val="bg2"/>
          </a:solidFill>
          <a:ln w="12700">
            <a:solidFill>
              <a:schemeClr val="bg2"/>
            </a:solidFill>
            <a:prstDash val="solid"/>
          </a:ln>
        </p:spPr>
      </p:sp>
      <p:sp>
        <p:nvSpPr>
          <p:cNvPr id="19" name="Shape 17"/>
          <p:cNvSpPr/>
          <p:nvPr/>
        </p:nvSpPr>
        <p:spPr>
          <a:xfrm>
            <a:off x="4114800" y="1856232"/>
            <a:ext cx="914400" cy="822960"/>
          </a:xfrm>
          <a:prstGeom prst="roundRect">
            <a:avLst>
              <a:gd name="adj" fmla="val 13333"/>
            </a:avLst>
          </a:prstGeom>
          <a:solidFill>
            <a:srgbClr val="FBF4E8"/>
          </a:solidFill>
          <a:ln w="12700">
            <a:solidFill>
              <a:srgbClr val="D8C9B0"/>
            </a:solidFill>
            <a:prstDash val="solid"/>
          </a:ln>
        </p:spPr>
      </p:sp>
      <p:sp>
        <p:nvSpPr>
          <p:cNvPr id="20" name="Shape 18"/>
          <p:cNvSpPr/>
          <p:nvPr/>
        </p:nvSpPr>
        <p:spPr>
          <a:xfrm>
            <a:off x="4279392" y="1993392"/>
            <a:ext cx="585216" cy="548640"/>
          </a:xfrm>
          <a:prstGeom prst="roundRect">
            <a:avLst>
              <a:gd name="adj" fmla="val 10000"/>
            </a:avLst>
          </a:prstGeom>
          <a:solidFill>
            <a:srgbClr val="FFFFFF"/>
          </a:solidFill>
          <a:ln w="9525">
            <a:solidFill>
              <a:srgbClr val="D8C9B0"/>
            </a:solidFill>
            <a:prstDash val="solid"/>
          </a:ln>
        </p:spPr>
      </p:sp>
      <p:sp>
        <p:nvSpPr>
          <p:cNvPr id="21" name="Shape 19"/>
          <p:cNvSpPr/>
          <p:nvPr/>
        </p:nvSpPr>
        <p:spPr>
          <a:xfrm>
            <a:off x="4425696" y="2121408"/>
            <a:ext cx="292608" cy="292608"/>
          </a:xfrm>
          <a:prstGeom prst="ellipse">
            <a:avLst/>
          </a:prstGeom>
          <a:solidFill>
            <a:srgbClr val="F2C230"/>
          </a:solidFill>
          <a:ln w="12700">
            <a:solidFill>
              <a:srgbClr val="F2C230"/>
            </a:solidFill>
            <a:prstDash val="solid"/>
          </a:ln>
        </p:spPr>
      </p:sp>
      <p:sp>
        <p:nvSpPr>
          <p:cNvPr id="22" name="Shape 20"/>
          <p:cNvSpPr/>
          <p:nvPr/>
        </p:nvSpPr>
        <p:spPr>
          <a:xfrm>
            <a:off x="4498848" y="2194560"/>
            <a:ext cx="146304" cy="146304"/>
          </a:xfrm>
          <a:prstGeom prst="ellipse">
            <a:avLst/>
          </a:prstGeom>
          <a:solidFill>
            <a:srgbClr val="3BAFA0"/>
          </a:solidFill>
          <a:ln w="12700">
            <a:solidFill>
              <a:srgbClr val="3BAFA0"/>
            </a:solidFill>
            <a:prstDash val="solid"/>
          </a:ln>
        </p:spPr>
      </p:sp>
      <p:sp>
        <p:nvSpPr>
          <p:cNvPr id="23" name="Text 21"/>
          <p:cNvSpPr txBox="1"/>
          <p:nvPr/>
        </p:nvSpPr>
        <p:spPr>
          <a:xfrm>
            <a:off x="3383280" y="2743200"/>
            <a:ext cx="2423160" cy="256032"/>
          </a:xfrm>
          <a:prstGeom prst="rect">
            <a:avLst/>
          </a:prstGeom>
          <a:noFill/>
          <a:ln/>
        </p:spPr>
        <p:txBody>
          <a:bodyPr wrap="square" lIns="0" tIns="0" rIns="0" bIns="0" rtlCol="0" anchor="t"/>
          <a:lstStyle/>
          <a:p>
            <a:pPr indent="0" marL="0">
              <a:buNone/>
            </a:pPr>
            <a:r>
              <a:rPr lang="en-GB" sz="1400" b="1" dirty="0">
                <a:solidFill>
                  <a:schemeClr val="tx2"/>
                </a:solidFill>
              </a:rPr>
              <a:t>Dressing-integrated indicator</a:t>
            </a:r>
            <a:endParaRPr lang="en-GB" sz="1400" dirty="0"/>
          </a:p>
        </p:txBody>
      </p:sp>
      <p:sp>
        <p:nvSpPr>
          <p:cNvPr id="24" name="Text 22"/>
          <p:cNvSpPr txBox="1"/>
          <p:nvPr/>
        </p:nvSpPr>
        <p:spPr>
          <a:xfrm>
            <a:off x="3383280" y="3017520"/>
            <a:ext cx="2423160" cy="713232"/>
          </a:xfrm>
          <a:prstGeom prst="rect">
            <a:avLst/>
          </a:prstGeom>
          <a:noFill/>
          <a:ln/>
        </p:spPr>
        <p:txBody>
          <a:bodyPr wrap="square" lIns="0" tIns="0" rIns="0" bIns="0" rtlCol="0" anchor="t"/>
          <a:lstStyle/>
          <a:p>
            <a:pPr indent="0" marL="0">
              <a:buNone/>
            </a:pPr>
            <a:r>
              <a:rPr lang="en-GB" sz="1200" dirty="0">
                <a:solidFill>
                  <a:schemeClr val="tx1"/>
                </a:solidFill>
              </a:rPr>
              <a:t>Indicator zone in a dressing, off the wound bed (e.g. exudate pH). Needs its own chemistry and safety tests.</a:t>
            </a:r>
            <a:endParaRPr lang="en-GB" sz="1200" dirty="0"/>
          </a:p>
        </p:txBody>
      </p:sp>
      <p:sp>
        <p:nvSpPr>
          <p:cNvPr id="25" name="tag-exp"/>
          <p:cNvSpPr txBox="1"/>
          <p:nvPr/>
        </p:nvSpPr>
        <p:spPr>
          <a:xfrm>
            <a:off x="3383280" y="3776472"/>
            <a:ext cx="2377440" cy="219456"/>
          </a:xfrm>
          <a:prstGeom prst="roundRect">
            <a:avLst>
              <a:gd name="adj" fmla="val 45833"/>
            </a:avLst>
          </a:prstGeom>
          <a:solidFill>
            <a:schemeClr val="accent3"/>
          </a:solidFill>
          <a:ln/>
        </p:spPr>
        <p:txBody>
          <a:bodyPr wrap="square" lIns="0" tIns="0" rIns="0" bIns="0" rtlCol="0" anchor="ctr"/>
          <a:lstStyle/>
          <a:p>
            <a:pPr algn="ctr" indent="0" marL="0">
              <a:buNone/>
            </a:pPr>
            <a:r>
              <a:rPr lang="en-GB" sz="1000" b="1" dirty="0">
                <a:solidFill>
                  <a:schemeClr val="bg1"/>
                </a:solidFill>
              </a:rPr>
              <a:t>Exploratory: not yet tested</a:t>
            </a:r>
            <a:endParaRPr lang="en-GB" sz="1000" dirty="0"/>
          </a:p>
        </p:txBody>
      </p:sp>
      <p:sp>
        <p:nvSpPr>
          <p:cNvPr id="26" name="Text 24"/>
          <p:cNvSpPr txBox="1"/>
          <p:nvPr/>
        </p:nvSpPr>
        <p:spPr>
          <a:xfrm>
            <a:off x="6217920" y="1737360"/>
            <a:ext cx="5486400" cy="274320"/>
          </a:xfrm>
          <a:prstGeom prst="rect">
            <a:avLst/>
          </a:prstGeom>
          <a:noFill/>
          <a:ln/>
        </p:spPr>
        <p:txBody>
          <a:bodyPr wrap="square" lIns="0" tIns="0" rIns="0" bIns="0" rtlCol="0" anchor="t"/>
          <a:lstStyle/>
          <a:p>
            <a:pPr indent="0" marL="0">
              <a:buNone/>
            </a:pPr>
            <a:r>
              <a:rPr lang="en-GB" sz="1400" b="1" dirty="0">
                <a:solidFill>
                  <a:schemeClr val="tx2"/>
                </a:solidFill>
              </a:rPr>
              <a:t>Open technical questions</a:t>
            </a:r>
            <a:endParaRPr lang="en-GB" sz="1400" dirty="0"/>
          </a:p>
        </p:txBody>
      </p:sp>
      <p:sp>
        <p:nvSpPr>
          <p:cNvPr id="27" name="Shape 25"/>
          <p:cNvSpPr/>
          <p:nvPr/>
        </p:nvSpPr>
        <p:spPr>
          <a:xfrm>
            <a:off x="6217920" y="2103120"/>
            <a:ext cx="438912" cy="438912"/>
          </a:xfrm>
          <a:prstGeom prst="ellipse">
            <a:avLst/>
          </a:prstGeom>
          <a:solidFill>
            <a:schemeClr val="accent2"/>
          </a:solidFill>
          <a:ln w="12700">
            <a:solidFill>
              <a:schemeClr val="accent2"/>
            </a:solidFill>
            <a:prstDash val="solid"/>
          </a:ln>
        </p:spPr>
      </p:sp>
      <p:pic>
        <p:nvPicPr>
          <p:cNvPr id="28" name="Image 0" descr="preencoded.png">    </p:cNvPr>
          <p:cNvPicPr>
            <a:picLocks noChangeAspect="1"/>
          </p:cNvPicPr>
          <p:nvPr/>
        </p:nvPicPr>
        <p:blipFill>
          <a:blip r:embed="rId1"/>
          <a:stretch>
            <a:fillRect/>
          </a:stretch>
        </p:blipFill>
        <p:spPr>
          <a:xfrm>
            <a:off x="6327648" y="2212848"/>
            <a:ext cx="219456" cy="219456"/>
          </a:xfrm>
          <a:prstGeom prst="rect">
            <a:avLst/>
          </a:prstGeom>
        </p:spPr>
      </p:pic>
      <p:sp>
        <p:nvSpPr>
          <p:cNvPr id="29" name="Text 26"/>
          <p:cNvSpPr txBox="1"/>
          <p:nvPr/>
        </p:nvSpPr>
        <p:spPr>
          <a:xfrm>
            <a:off x="6784848" y="2084832"/>
            <a:ext cx="4937760" cy="237744"/>
          </a:xfrm>
          <a:prstGeom prst="rect">
            <a:avLst/>
          </a:prstGeom>
          <a:noFill/>
          <a:ln/>
        </p:spPr>
        <p:txBody>
          <a:bodyPr wrap="square" lIns="0" tIns="0" rIns="0" bIns="0" rtlCol="0" anchor="t"/>
          <a:lstStyle/>
          <a:p>
            <a:pPr indent="0" marL="0">
              <a:buNone/>
            </a:pPr>
            <a:r>
              <a:rPr lang="en-GB" sz="1400" b="1" dirty="0">
                <a:solidFill>
                  <a:schemeClr val="tx2"/>
                </a:solidFill>
              </a:rPr>
              <a:t>Line cross-talk</a:t>
            </a:r>
            <a:endParaRPr lang="en-GB" sz="1400" dirty="0"/>
          </a:p>
        </p:txBody>
      </p:sp>
      <p:sp>
        <p:nvSpPr>
          <p:cNvPr id="30" name="Text 27"/>
          <p:cNvSpPr txBox="1"/>
          <p:nvPr/>
        </p:nvSpPr>
        <p:spPr>
          <a:xfrm>
            <a:off x="6784848" y="2322576"/>
            <a:ext cx="4937760" cy="420624"/>
          </a:xfrm>
          <a:prstGeom prst="rect">
            <a:avLst/>
          </a:prstGeom>
          <a:noFill/>
          <a:ln/>
        </p:spPr>
        <p:txBody>
          <a:bodyPr wrap="square" lIns="0" tIns="0" rIns="0" bIns="0" rtlCol="0" anchor="t"/>
          <a:lstStyle/>
          <a:p>
            <a:pPr indent="0" marL="0">
              <a:buNone/>
            </a:pPr>
            <a:r>
              <a:rPr lang="en-GB" sz="1200" dirty="0">
                <a:solidFill>
                  <a:schemeClr val="tx1"/>
                </a:solidFill>
              </a:rPr>
              <a:t>Wet reagent may migrate and alter the next line's colour or chemistry. Test spacing under single and repeat voids; no barriers yet.</a:t>
            </a:r>
            <a:endParaRPr lang="en-GB" sz="1200" dirty="0"/>
          </a:p>
        </p:txBody>
      </p:sp>
      <p:sp>
        <p:nvSpPr>
          <p:cNvPr id="31" name="Shape 28"/>
          <p:cNvSpPr/>
          <p:nvPr/>
        </p:nvSpPr>
        <p:spPr>
          <a:xfrm>
            <a:off x="6217920" y="2816352"/>
            <a:ext cx="438912" cy="438912"/>
          </a:xfrm>
          <a:prstGeom prst="ellipse">
            <a:avLst/>
          </a:prstGeom>
          <a:solidFill>
            <a:schemeClr val="accent2"/>
          </a:solidFill>
          <a:ln w="12700">
            <a:solidFill>
              <a:schemeClr val="accent2"/>
            </a:solidFill>
            <a:prstDash val="solid"/>
          </a:ln>
        </p:spPr>
      </p:sp>
      <p:pic>
        <p:nvPicPr>
          <p:cNvPr id="32" name="Image 1" descr="preencoded.png">    </p:cNvPr>
          <p:cNvPicPr>
            <a:picLocks noChangeAspect="1"/>
          </p:cNvPicPr>
          <p:nvPr/>
        </p:nvPicPr>
        <p:blipFill>
          <a:blip r:embed="rId2"/>
          <a:stretch>
            <a:fillRect/>
          </a:stretch>
        </p:blipFill>
        <p:spPr>
          <a:xfrm>
            <a:off x="6327648" y="2926080"/>
            <a:ext cx="219456" cy="219456"/>
          </a:xfrm>
          <a:prstGeom prst="rect">
            <a:avLst/>
          </a:prstGeom>
        </p:spPr>
      </p:pic>
      <p:sp>
        <p:nvSpPr>
          <p:cNvPr id="33" name="Text 29"/>
          <p:cNvSpPr txBox="1"/>
          <p:nvPr/>
        </p:nvSpPr>
        <p:spPr>
          <a:xfrm>
            <a:off x="6784848" y="2798064"/>
            <a:ext cx="4937760" cy="237744"/>
          </a:xfrm>
          <a:prstGeom prst="rect">
            <a:avLst/>
          </a:prstGeom>
          <a:noFill/>
          <a:ln/>
        </p:spPr>
        <p:txBody>
          <a:bodyPr wrap="square" lIns="0" tIns="0" rIns="0" bIns="0" rtlCol="0" anchor="t"/>
          <a:lstStyle/>
          <a:p>
            <a:pPr indent="0" marL="0">
              <a:buNone/>
            </a:pPr>
            <a:r>
              <a:rPr lang="en-GB" sz="1400" b="1" dirty="0">
                <a:solidFill>
                  <a:schemeClr val="tx2"/>
                </a:solidFill>
              </a:rPr>
              <a:t>Read window</a:t>
            </a:r>
            <a:endParaRPr lang="en-GB" sz="1400" dirty="0"/>
          </a:p>
        </p:txBody>
      </p:sp>
      <p:sp>
        <p:nvSpPr>
          <p:cNvPr id="34" name="Text 30"/>
          <p:cNvSpPr txBox="1"/>
          <p:nvPr/>
        </p:nvSpPr>
        <p:spPr>
          <a:xfrm>
            <a:off x="6784848" y="3035808"/>
            <a:ext cx="4937760" cy="420624"/>
          </a:xfrm>
          <a:prstGeom prst="rect">
            <a:avLst/>
          </a:prstGeom>
          <a:noFill/>
          <a:ln/>
        </p:spPr>
        <p:txBody>
          <a:bodyPr wrap="square" lIns="0" tIns="0" rIns="0" bIns="0" rtlCol="0" anchor="t"/>
          <a:lstStyle/>
          <a:p>
            <a:pPr indent="0" marL="0">
              <a:buNone/>
            </a:pPr>
            <a:r>
              <a:rPr lang="en-GB" sz="1200" dirty="0">
                <a:solidFill>
                  <a:schemeClr val="tx1"/>
                </a:solidFill>
              </a:rPr>
              <a:t>Developer-reported: colour may shift after ~4 h (start point not stated) vs 4–5 h product changes on site. Stability is unproven.</a:t>
            </a:r>
            <a:endParaRPr lang="en-GB" sz="1200" dirty="0"/>
          </a:p>
        </p:txBody>
      </p:sp>
      <p:sp>
        <p:nvSpPr>
          <p:cNvPr id="35" name="Shape 31"/>
          <p:cNvSpPr/>
          <p:nvPr/>
        </p:nvSpPr>
        <p:spPr>
          <a:xfrm>
            <a:off x="6217920" y="3529584"/>
            <a:ext cx="438912" cy="438912"/>
          </a:xfrm>
          <a:prstGeom prst="ellipse">
            <a:avLst/>
          </a:prstGeom>
          <a:solidFill>
            <a:schemeClr val="accent2"/>
          </a:solidFill>
          <a:ln w="12700">
            <a:solidFill>
              <a:schemeClr val="accent2"/>
            </a:solidFill>
            <a:prstDash val="solid"/>
          </a:ln>
        </p:spPr>
      </p:sp>
      <p:pic>
        <p:nvPicPr>
          <p:cNvPr id="36" name="Image 2" descr="preencoded.png">    </p:cNvPr>
          <p:cNvPicPr>
            <a:picLocks noChangeAspect="1"/>
          </p:cNvPicPr>
          <p:nvPr/>
        </p:nvPicPr>
        <p:blipFill>
          <a:blip r:embed="rId3"/>
          <a:stretch>
            <a:fillRect/>
          </a:stretch>
        </p:blipFill>
        <p:spPr>
          <a:xfrm>
            <a:off x="6327648" y="3639312"/>
            <a:ext cx="219456" cy="219456"/>
          </a:xfrm>
          <a:prstGeom prst="rect">
            <a:avLst/>
          </a:prstGeom>
        </p:spPr>
      </p:pic>
      <p:sp>
        <p:nvSpPr>
          <p:cNvPr id="37" name="Text 32"/>
          <p:cNvSpPr txBox="1"/>
          <p:nvPr/>
        </p:nvSpPr>
        <p:spPr>
          <a:xfrm>
            <a:off x="6784848" y="3511296"/>
            <a:ext cx="4937760" cy="237744"/>
          </a:xfrm>
          <a:prstGeom prst="rect">
            <a:avLst/>
          </a:prstGeom>
          <a:noFill/>
          <a:ln/>
        </p:spPr>
        <p:txBody>
          <a:bodyPr wrap="square" lIns="0" tIns="0" rIns="0" bIns="0" rtlCol="0" anchor="t"/>
          <a:lstStyle/>
          <a:p>
            <a:pPr indent="0" marL="0">
              <a:buNone/>
            </a:pPr>
            <a:r>
              <a:rPr lang="en-GB" sz="1400" b="1" dirty="0">
                <a:solidFill>
                  <a:schemeClr val="tx2"/>
                </a:solidFill>
              </a:rPr>
              <a:t>Repeatability and skin safety</a:t>
            </a:r>
            <a:endParaRPr lang="en-GB" sz="1400" dirty="0"/>
          </a:p>
        </p:txBody>
      </p:sp>
      <p:sp>
        <p:nvSpPr>
          <p:cNvPr id="38" name="Text 33"/>
          <p:cNvSpPr txBox="1"/>
          <p:nvPr/>
        </p:nvSpPr>
        <p:spPr>
          <a:xfrm>
            <a:off x="6784848" y="3749040"/>
            <a:ext cx="4937760" cy="420624"/>
          </a:xfrm>
          <a:prstGeom prst="rect">
            <a:avLst/>
          </a:prstGeom>
          <a:noFill/>
          <a:ln/>
        </p:spPr>
        <p:txBody>
          <a:bodyPr wrap="square" lIns="0" tIns="0" rIns="0" bIns="0" rtlCol="0" anchor="t"/>
          <a:lstStyle/>
          <a:p>
            <a:pPr indent="0" marL="0">
              <a:buNone/>
            </a:pPr>
            <a:r>
              <a:rPr lang="en-GB" sz="1200" dirty="0">
                <a:solidFill>
                  <a:schemeClr val="tx1"/>
                </a:solidFill>
              </a:rPr>
              <a:t>Lot, day, operator and web-position effects, and reagent leaching onto skin when wet, are not yet assessed.</a:t>
            </a:r>
            <a:endParaRPr lang="en-GB" sz="1200" dirty="0"/>
          </a:p>
        </p:txBody>
      </p:sp>
      <p:sp>
        <p:nvSpPr>
          <p:cNvPr id="39" name="Text 34"/>
          <p:cNvSpPr txBox="1"/>
          <p:nvPr/>
        </p:nvSpPr>
        <p:spPr>
          <a:xfrm>
            <a:off x="457200" y="4315968"/>
            <a:ext cx="3840480" cy="274320"/>
          </a:xfrm>
          <a:prstGeom prst="rect">
            <a:avLst/>
          </a:prstGeom>
          <a:noFill/>
          <a:ln/>
        </p:spPr>
        <p:txBody>
          <a:bodyPr wrap="square" lIns="0" tIns="0" rIns="0" bIns="0" rtlCol="0" anchor="t"/>
          <a:lstStyle/>
          <a:p>
            <a:pPr indent="0" marL="0">
              <a:buNone/>
            </a:pPr>
            <a:r>
              <a:rPr lang="en-GB" sz="1400" b="1" dirty="0">
                <a:solidFill>
                  <a:schemeClr val="tx2"/>
                </a:solidFill>
              </a:rPr>
              <a:t>Proposed analytical validation path</a:t>
            </a:r>
            <a:endParaRPr lang="en-GB" sz="1400" dirty="0"/>
          </a:p>
        </p:txBody>
      </p:sp>
      <p:sp>
        <p:nvSpPr>
          <p:cNvPr id="40" name="tag-est"/>
          <p:cNvSpPr txBox="1"/>
          <p:nvPr/>
        </p:nvSpPr>
        <p:spPr>
          <a:xfrm>
            <a:off x="5669280" y="4343400"/>
            <a:ext cx="1920240" cy="219456"/>
          </a:xfrm>
          <a:prstGeom prst="roundRect">
            <a:avLst>
              <a:gd name="adj" fmla="val 45833"/>
            </a:avLst>
          </a:prstGeom>
          <a:solidFill>
            <a:schemeClr val="accent2"/>
          </a:solidFill>
          <a:ln/>
        </p:spPr>
        <p:txBody>
          <a:bodyPr wrap="square" lIns="0" tIns="0" rIns="0" bIns="0" rtlCol="0" anchor="ctr"/>
          <a:lstStyle/>
          <a:p>
            <a:pPr algn="ctr" indent="0" marL="0">
              <a:buNone/>
            </a:pPr>
            <a:r>
              <a:rPr lang="en-GB" sz="1000" b="1" dirty="0">
                <a:solidFill>
                  <a:schemeClr val="tx1"/>
                </a:solidFill>
              </a:rPr>
              <a:t>Proposal, not a fixed spec</a:t>
            </a:r>
            <a:endParaRPr lang="en-GB" sz="1000" dirty="0"/>
          </a:p>
        </p:txBody>
      </p:sp>
      <p:sp>
        <p:nvSpPr>
          <p:cNvPr id="41" name="Shape 36"/>
          <p:cNvSpPr/>
          <p:nvPr/>
        </p:nvSpPr>
        <p:spPr>
          <a:xfrm>
            <a:off x="685800" y="4956048"/>
            <a:ext cx="5006340" cy="0"/>
          </a:xfrm>
          <a:prstGeom prst="line">
            <a:avLst/>
          </a:prstGeom>
          <a:noFill/>
          <a:ln w="25400">
            <a:solidFill>
              <a:schemeClr val="accent5"/>
            </a:solidFill>
            <a:prstDash val="solid"/>
          </a:ln>
        </p:spPr>
      </p:sp>
      <p:sp>
        <p:nvSpPr>
          <p:cNvPr id="42" name="Shape 37"/>
          <p:cNvSpPr/>
          <p:nvPr/>
        </p:nvSpPr>
        <p:spPr>
          <a:xfrm>
            <a:off x="5692140" y="4956048"/>
            <a:ext cx="1668780" cy="0"/>
          </a:xfrm>
          <a:prstGeom prst="line">
            <a:avLst/>
          </a:prstGeom>
          <a:noFill/>
          <a:ln w="25400">
            <a:solidFill>
              <a:schemeClr val="accent2"/>
            </a:solidFill>
            <a:prstDash val="solid"/>
          </a:ln>
        </p:spPr>
      </p:sp>
      <p:sp>
        <p:nvSpPr>
          <p:cNvPr id="43" name="Shape 38"/>
          <p:cNvSpPr/>
          <p:nvPr/>
        </p:nvSpPr>
        <p:spPr>
          <a:xfrm>
            <a:off x="617220" y="4887468"/>
            <a:ext cx="137160" cy="137160"/>
          </a:xfrm>
          <a:prstGeom prst="ellipse">
            <a:avLst/>
          </a:prstGeom>
          <a:solidFill>
            <a:schemeClr val="accent4"/>
          </a:solidFill>
          <a:ln w="12700">
            <a:solidFill>
              <a:schemeClr val="bg1"/>
            </a:solidFill>
            <a:prstDash val="solid"/>
          </a:ln>
        </p:spPr>
      </p:sp>
      <p:sp>
        <p:nvSpPr>
          <p:cNvPr id="44" name="Text 39"/>
          <p:cNvSpPr txBox="1"/>
          <p:nvPr/>
        </p:nvSpPr>
        <p:spPr>
          <a:xfrm>
            <a:off x="41148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1m</a:t>
            </a:r>
            <a:endParaRPr lang="en-GB" sz="1100" dirty="0"/>
          </a:p>
        </p:txBody>
      </p:sp>
      <p:sp>
        <p:nvSpPr>
          <p:cNvPr id="45" name="Shape 40"/>
          <p:cNvSpPr/>
          <p:nvPr/>
        </p:nvSpPr>
        <p:spPr>
          <a:xfrm>
            <a:off x="1451610" y="4887468"/>
            <a:ext cx="137160" cy="137160"/>
          </a:xfrm>
          <a:prstGeom prst="ellipse">
            <a:avLst/>
          </a:prstGeom>
          <a:solidFill>
            <a:schemeClr val="accent4"/>
          </a:solidFill>
          <a:ln w="12700">
            <a:solidFill>
              <a:schemeClr val="bg1"/>
            </a:solidFill>
            <a:prstDash val="solid"/>
          </a:ln>
        </p:spPr>
      </p:sp>
      <p:sp>
        <p:nvSpPr>
          <p:cNvPr id="46" name="Text 41"/>
          <p:cNvSpPr txBox="1"/>
          <p:nvPr/>
        </p:nvSpPr>
        <p:spPr>
          <a:xfrm>
            <a:off x="124587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5m</a:t>
            </a:r>
            <a:endParaRPr lang="en-GB" sz="1100" dirty="0"/>
          </a:p>
        </p:txBody>
      </p:sp>
      <p:sp>
        <p:nvSpPr>
          <p:cNvPr id="47" name="Shape 42"/>
          <p:cNvSpPr/>
          <p:nvPr/>
        </p:nvSpPr>
        <p:spPr>
          <a:xfrm>
            <a:off x="2286000" y="4887468"/>
            <a:ext cx="137160" cy="137160"/>
          </a:xfrm>
          <a:prstGeom prst="ellipse">
            <a:avLst/>
          </a:prstGeom>
          <a:solidFill>
            <a:schemeClr val="accent4"/>
          </a:solidFill>
          <a:ln w="12700">
            <a:solidFill>
              <a:schemeClr val="bg1"/>
            </a:solidFill>
            <a:prstDash val="solid"/>
          </a:ln>
        </p:spPr>
      </p:sp>
      <p:sp>
        <p:nvSpPr>
          <p:cNvPr id="48" name="Text 43"/>
          <p:cNvSpPr txBox="1"/>
          <p:nvPr/>
        </p:nvSpPr>
        <p:spPr>
          <a:xfrm>
            <a:off x="208026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15m</a:t>
            </a:r>
            <a:endParaRPr lang="en-GB" sz="1100" dirty="0"/>
          </a:p>
        </p:txBody>
      </p:sp>
      <p:sp>
        <p:nvSpPr>
          <p:cNvPr id="49" name="Shape 44"/>
          <p:cNvSpPr/>
          <p:nvPr/>
        </p:nvSpPr>
        <p:spPr>
          <a:xfrm>
            <a:off x="3120390" y="4887468"/>
            <a:ext cx="137160" cy="137160"/>
          </a:xfrm>
          <a:prstGeom prst="ellipse">
            <a:avLst/>
          </a:prstGeom>
          <a:solidFill>
            <a:schemeClr val="accent4"/>
          </a:solidFill>
          <a:ln w="12700">
            <a:solidFill>
              <a:schemeClr val="bg1"/>
            </a:solidFill>
            <a:prstDash val="solid"/>
          </a:ln>
        </p:spPr>
      </p:sp>
      <p:sp>
        <p:nvSpPr>
          <p:cNvPr id="50" name="Text 45"/>
          <p:cNvSpPr txBox="1"/>
          <p:nvPr/>
        </p:nvSpPr>
        <p:spPr>
          <a:xfrm>
            <a:off x="291465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30m</a:t>
            </a:r>
            <a:endParaRPr lang="en-GB" sz="1100" dirty="0"/>
          </a:p>
        </p:txBody>
      </p:sp>
      <p:sp>
        <p:nvSpPr>
          <p:cNvPr id="51" name="Shape 46"/>
          <p:cNvSpPr/>
          <p:nvPr/>
        </p:nvSpPr>
        <p:spPr>
          <a:xfrm>
            <a:off x="3954780" y="4887468"/>
            <a:ext cx="137160" cy="137160"/>
          </a:xfrm>
          <a:prstGeom prst="ellipse">
            <a:avLst/>
          </a:prstGeom>
          <a:solidFill>
            <a:schemeClr val="accent4"/>
          </a:solidFill>
          <a:ln w="12700">
            <a:solidFill>
              <a:schemeClr val="bg1"/>
            </a:solidFill>
            <a:prstDash val="solid"/>
          </a:ln>
        </p:spPr>
      </p:sp>
      <p:sp>
        <p:nvSpPr>
          <p:cNvPr id="52" name="Text 47"/>
          <p:cNvSpPr txBox="1"/>
          <p:nvPr/>
        </p:nvSpPr>
        <p:spPr>
          <a:xfrm>
            <a:off x="374904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1h</a:t>
            </a:r>
            <a:endParaRPr lang="en-GB" sz="1100" dirty="0"/>
          </a:p>
        </p:txBody>
      </p:sp>
      <p:sp>
        <p:nvSpPr>
          <p:cNvPr id="53" name="Shape 48"/>
          <p:cNvSpPr/>
          <p:nvPr/>
        </p:nvSpPr>
        <p:spPr>
          <a:xfrm>
            <a:off x="4789170" y="4887468"/>
            <a:ext cx="137160" cy="137160"/>
          </a:xfrm>
          <a:prstGeom prst="ellipse">
            <a:avLst/>
          </a:prstGeom>
          <a:solidFill>
            <a:schemeClr val="accent4"/>
          </a:solidFill>
          <a:ln w="12700">
            <a:solidFill>
              <a:schemeClr val="bg1"/>
            </a:solidFill>
            <a:prstDash val="solid"/>
          </a:ln>
        </p:spPr>
      </p:sp>
      <p:sp>
        <p:nvSpPr>
          <p:cNvPr id="54" name="Text 49"/>
          <p:cNvSpPr txBox="1"/>
          <p:nvPr/>
        </p:nvSpPr>
        <p:spPr>
          <a:xfrm>
            <a:off x="4583430" y="4663440"/>
            <a:ext cx="548640" cy="182880"/>
          </a:xfrm>
          <a:prstGeom prst="rect">
            <a:avLst/>
          </a:prstGeom>
          <a:noFill/>
          <a:ln/>
        </p:spPr>
        <p:txBody>
          <a:bodyPr wrap="square" lIns="0" tIns="0" rIns="0" bIns="0" rtlCol="0" anchor="t"/>
          <a:lstStyle/>
          <a:p>
            <a:pPr algn="ctr" indent="0" marL="0">
              <a:buNone/>
            </a:pPr>
            <a:r>
              <a:rPr lang="en-GB" sz="1100" dirty="0">
                <a:solidFill>
                  <a:schemeClr val="accent4"/>
                </a:solidFill>
              </a:rPr>
              <a:t>2h</a:t>
            </a:r>
            <a:endParaRPr lang="en-GB" sz="1100" dirty="0"/>
          </a:p>
        </p:txBody>
      </p:sp>
      <p:sp>
        <p:nvSpPr>
          <p:cNvPr id="55" name="Shape 50"/>
          <p:cNvSpPr/>
          <p:nvPr/>
        </p:nvSpPr>
        <p:spPr>
          <a:xfrm>
            <a:off x="5600700" y="4864608"/>
            <a:ext cx="182880" cy="182880"/>
          </a:xfrm>
          <a:prstGeom prst="ellipse">
            <a:avLst/>
          </a:prstGeom>
          <a:solidFill>
            <a:schemeClr val="accent2"/>
          </a:solidFill>
          <a:ln w="12700">
            <a:solidFill>
              <a:schemeClr val="bg1"/>
            </a:solidFill>
            <a:prstDash val="solid"/>
          </a:ln>
        </p:spPr>
      </p:sp>
      <p:sp>
        <p:nvSpPr>
          <p:cNvPr id="56" name="Text 51"/>
          <p:cNvSpPr txBox="1"/>
          <p:nvPr/>
        </p:nvSpPr>
        <p:spPr>
          <a:xfrm>
            <a:off x="5417820" y="4663440"/>
            <a:ext cx="548640" cy="182880"/>
          </a:xfrm>
          <a:prstGeom prst="rect">
            <a:avLst/>
          </a:prstGeom>
          <a:noFill/>
          <a:ln/>
        </p:spPr>
        <p:txBody>
          <a:bodyPr wrap="square" lIns="0" tIns="0" rIns="0" bIns="0" rtlCol="0" anchor="t"/>
          <a:lstStyle/>
          <a:p>
            <a:pPr algn="ctr" indent="0" marL="0">
              <a:buNone/>
            </a:pPr>
            <a:r>
              <a:rPr lang="en-GB" sz="1100" b="1" dirty="0">
                <a:solidFill>
                  <a:schemeClr val="tx1"/>
                </a:solidFill>
              </a:rPr>
              <a:t>4h</a:t>
            </a:r>
            <a:endParaRPr lang="en-GB" sz="1100" dirty="0"/>
          </a:p>
        </p:txBody>
      </p:sp>
      <p:sp>
        <p:nvSpPr>
          <p:cNvPr id="57" name="Shape 52"/>
          <p:cNvSpPr/>
          <p:nvPr/>
        </p:nvSpPr>
        <p:spPr>
          <a:xfrm>
            <a:off x="6435090" y="4864608"/>
            <a:ext cx="182880" cy="182880"/>
          </a:xfrm>
          <a:prstGeom prst="ellipse">
            <a:avLst/>
          </a:prstGeom>
          <a:solidFill>
            <a:schemeClr val="accent2"/>
          </a:solidFill>
          <a:ln w="12700">
            <a:solidFill>
              <a:schemeClr val="bg1"/>
            </a:solidFill>
            <a:prstDash val="solid"/>
          </a:ln>
        </p:spPr>
      </p:sp>
      <p:sp>
        <p:nvSpPr>
          <p:cNvPr id="58" name="Text 53"/>
          <p:cNvSpPr txBox="1"/>
          <p:nvPr/>
        </p:nvSpPr>
        <p:spPr>
          <a:xfrm>
            <a:off x="6252210" y="4663440"/>
            <a:ext cx="548640" cy="182880"/>
          </a:xfrm>
          <a:prstGeom prst="rect">
            <a:avLst/>
          </a:prstGeom>
          <a:noFill/>
          <a:ln/>
        </p:spPr>
        <p:txBody>
          <a:bodyPr wrap="square" lIns="0" tIns="0" rIns="0" bIns="0" rtlCol="0" anchor="t"/>
          <a:lstStyle/>
          <a:p>
            <a:pPr algn="ctr" indent="0" marL="0">
              <a:buNone/>
            </a:pPr>
            <a:r>
              <a:rPr lang="en-GB" sz="1100" b="1" dirty="0">
                <a:solidFill>
                  <a:schemeClr val="tx1"/>
                </a:solidFill>
              </a:rPr>
              <a:t>5h</a:t>
            </a:r>
            <a:endParaRPr lang="en-GB" sz="1100" dirty="0"/>
          </a:p>
        </p:txBody>
      </p:sp>
      <p:sp>
        <p:nvSpPr>
          <p:cNvPr id="59" name="Shape 54"/>
          <p:cNvSpPr/>
          <p:nvPr/>
        </p:nvSpPr>
        <p:spPr>
          <a:xfrm>
            <a:off x="7269480" y="4864608"/>
            <a:ext cx="182880" cy="182880"/>
          </a:xfrm>
          <a:prstGeom prst="ellipse">
            <a:avLst/>
          </a:prstGeom>
          <a:solidFill>
            <a:schemeClr val="accent2"/>
          </a:solidFill>
          <a:ln w="12700">
            <a:solidFill>
              <a:schemeClr val="bg1"/>
            </a:solidFill>
            <a:prstDash val="solid"/>
          </a:ln>
        </p:spPr>
      </p:sp>
      <p:sp>
        <p:nvSpPr>
          <p:cNvPr id="60" name="Text 55"/>
          <p:cNvSpPr txBox="1"/>
          <p:nvPr/>
        </p:nvSpPr>
        <p:spPr>
          <a:xfrm>
            <a:off x="7086600" y="4663440"/>
            <a:ext cx="548640" cy="182880"/>
          </a:xfrm>
          <a:prstGeom prst="rect">
            <a:avLst/>
          </a:prstGeom>
          <a:noFill/>
          <a:ln/>
        </p:spPr>
        <p:txBody>
          <a:bodyPr wrap="square" lIns="0" tIns="0" rIns="0" bIns="0" rtlCol="0" anchor="t"/>
          <a:lstStyle/>
          <a:p>
            <a:pPr algn="ctr" indent="0" marL="0">
              <a:buNone/>
            </a:pPr>
            <a:r>
              <a:rPr lang="en-GB" sz="1100" b="1" dirty="0">
                <a:solidFill>
                  <a:schemeClr val="tx1"/>
                </a:solidFill>
              </a:rPr>
              <a:t>6h</a:t>
            </a:r>
            <a:endParaRPr lang="en-GB" sz="1100" dirty="0"/>
          </a:p>
        </p:txBody>
      </p:sp>
      <p:sp>
        <p:nvSpPr>
          <p:cNvPr id="61" name="Text 56"/>
          <p:cNvSpPr txBox="1"/>
          <p:nvPr/>
        </p:nvSpPr>
        <p:spPr>
          <a:xfrm>
            <a:off x="457200" y="5102352"/>
            <a:ext cx="7132320" cy="201168"/>
          </a:xfrm>
          <a:prstGeom prst="rect">
            <a:avLst/>
          </a:prstGeom>
          <a:noFill/>
          <a:ln/>
        </p:spPr>
        <p:txBody>
          <a:bodyPr wrap="square" lIns="0" tIns="0" rIns="0" bIns="0" rtlCol="0" anchor="t"/>
          <a:lstStyle/>
          <a:p>
            <a:pPr indent="0" marL="0">
              <a:buNone/>
            </a:pPr>
            <a:r>
              <a:rPr lang="en-GB" sz="1100" dirty="0">
                <a:solidFill>
                  <a:schemeClr val="accent4"/>
                </a:solidFill>
              </a:rPr>
              <a:t>Record colour and result from first urine contact. Amber: reported shift after ~4 h (time zero unconfirmed).</a:t>
            </a:r>
            <a:endParaRPr lang="en-GB" sz="1100" dirty="0"/>
          </a:p>
        </p:txBody>
      </p:sp>
      <p:sp>
        <p:nvSpPr>
          <p:cNvPr id="62" name="Text 57"/>
          <p:cNvSpPr txBox="1"/>
          <p:nvPr/>
        </p:nvSpPr>
        <p:spPr>
          <a:xfrm>
            <a:off x="457200" y="5394960"/>
            <a:ext cx="2313432" cy="310896"/>
          </a:xfrm>
          <a:prstGeom prst="roundRect">
            <a:avLst>
              <a:gd name="adj" fmla="val 47059"/>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Agreement across concentrations</a:t>
            </a:r>
            <a:endParaRPr lang="en-GB" sz="1200" dirty="0"/>
          </a:p>
        </p:txBody>
      </p:sp>
      <p:sp>
        <p:nvSpPr>
          <p:cNvPr id="63" name="Text 58"/>
          <p:cNvSpPr txBox="1"/>
          <p:nvPr/>
        </p:nvSpPr>
        <p:spPr>
          <a:xfrm>
            <a:off x="2862072" y="5394960"/>
            <a:ext cx="2313432" cy="310896"/>
          </a:xfrm>
          <a:prstGeom prst="roundRect">
            <a:avLst>
              <a:gd name="adj" fmla="val 47059"/>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Lot, day, operator repeatability</a:t>
            </a:r>
            <a:endParaRPr lang="en-GB" sz="1200" dirty="0"/>
          </a:p>
        </p:txBody>
      </p:sp>
      <p:sp>
        <p:nvSpPr>
          <p:cNvPr id="64" name="Text 59"/>
          <p:cNvSpPr txBox="1"/>
          <p:nvPr/>
        </p:nvSpPr>
        <p:spPr>
          <a:xfrm>
            <a:off x="5266944" y="5394960"/>
            <a:ext cx="2313432" cy="310896"/>
          </a:xfrm>
          <a:prstGeom prst="roundRect">
            <a:avLst>
              <a:gd name="adj" fmla="val 47059"/>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Repeat voids, cross-talk to 6 h</a:t>
            </a:r>
            <a:endParaRPr lang="en-GB" sz="1200" dirty="0"/>
          </a:p>
        </p:txBody>
      </p:sp>
      <p:sp>
        <p:nvSpPr>
          <p:cNvPr id="65" name="Text 60"/>
          <p:cNvSpPr txBox="1"/>
          <p:nvPr/>
        </p:nvSpPr>
        <p:spPr>
          <a:xfrm>
            <a:off x="457200" y="5779008"/>
            <a:ext cx="2313432" cy="310896"/>
          </a:xfrm>
          <a:prstGeom prst="roundRect">
            <a:avLst>
              <a:gd name="adj" fmla="val 47059"/>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Real urine and finished product</a:t>
            </a:r>
            <a:endParaRPr lang="en-GB" sz="1200" dirty="0"/>
          </a:p>
        </p:txBody>
      </p:sp>
      <p:sp>
        <p:nvSpPr>
          <p:cNvPr id="66" name="Text 61"/>
          <p:cNvSpPr txBox="1"/>
          <p:nvPr/>
        </p:nvSpPr>
        <p:spPr>
          <a:xfrm>
            <a:off x="2862072" y="5779008"/>
            <a:ext cx="2313432" cy="310896"/>
          </a:xfrm>
          <a:prstGeom prst="roundRect">
            <a:avLst>
              <a:gd name="adj" fmla="val 47059"/>
            </a:avLst>
          </a:prstGeom>
          <a:solidFill>
            <a:schemeClr val="bg2"/>
          </a:solidFill>
          <a:ln w="9525">
            <a:solidFill>
              <a:schemeClr val="accent5"/>
            </a:solidFill>
          </a:ln>
        </p:spPr>
        <p:txBody>
          <a:bodyPr wrap="square" lIns="0" tIns="0" rIns="0" bIns="0" rtlCol="0" anchor="ctr"/>
          <a:lstStyle/>
          <a:p>
            <a:pPr algn="ctr" indent="0" marL="0">
              <a:buNone/>
            </a:pPr>
            <a:r>
              <a:rPr lang="en-GB" sz="1200" dirty="0">
                <a:solidFill>
                  <a:schemeClr val="tx1"/>
                </a:solidFill>
              </a:rPr>
              <a:t>Storage, interference (vitamin C)</a:t>
            </a:r>
            <a:endParaRPr lang="en-GB" sz="1200" dirty="0"/>
          </a:p>
        </p:txBody>
      </p:sp>
      <p:sp>
        <p:nvSpPr>
          <p:cNvPr id="67" name="Text 62"/>
          <p:cNvSpPr txBox="1"/>
          <p:nvPr/>
        </p:nvSpPr>
        <p:spPr>
          <a:xfrm>
            <a:off x="5266944" y="5760720"/>
            <a:ext cx="2313432" cy="365760"/>
          </a:xfrm>
          <a:prstGeom prst="rect">
            <a:avLst/>
          </a:prstGeom>
          <a:noFill/>
          <a:ln/>
        </p:spPr>
        <p:txBody>
          <a:bodyPr wrap="square" lIns="0" tIns="0" rIns="0" bIns="0" rtlCol="0" anchor="ctr"/>
          <a:lstStyle/>
          <a:p>
            <a:pPr algn="ctr" indent="0" marL="0">
              <a:buNone/>
            </a:pPr>
            <a:r>
              <a:rPr lang="en-GB" sz="1000" dirty="0">
                <a:solidFill>
                  <a:schemeClr val="accent4"/>
                </a:solidFill>
              </a:rPr>
              <a:t>Binary: CLSI EP12 [3]</a:t>
            </a:r>
            <a:endParaRPr lang="en-GB" sz="1000" dirty="0"/>
          </a:p>
          <a:p>
            <a:pPr algn="ctr" indent="0" marL="0">
              <a:buNone/>
            </a:pPr>
            <a:r>
              <a:rPr lang="en-GB" sz="1000" dirty="0">
                <a:solidFill>
                  <a:schemeClr val="accent4"/>
                </a:solidFill>
              </a:rPr>
              <a:t>pH, graded: own plan [4]</a:t>
            </a:r>
            <a:endParaRPr lang="en-GB" sz="1000" dirty="0"/>
          </a:p>
        </p:txBody>
      </p:sp>
      <p:sp>
        <p:nvSpPr>
          <p:cNvPr id="68" name="Text 63"/>
          <p:cNvSpPr txBox="1"/>
          <p:nvPr/>
        </p:nvSpPr>
        <p:spPr>
          <a:xfrm>
            <a:off x="457200" y="6199632"/>
            <a:ext cx="7315200" cy="201168"/>
          </a:xfrm>
          <a:prstGeom prst="rect">
            <a:avLst/>
          </a:prstGeom>
          <a:noFill/>
          <a:ln/>
        </p:spPr>
        <p:txBody>
          <a:bodyPr wrap="square" lIns="0" tIns="0" rIns="0" bIns="0" rtlCol="0" anchor="t"/>
          <a:lstStyle/>
          <a:p>
            <a:pPr indent="0" marL="0">
              <a:buNone/>
            </a:pPr>
            <a:r>
              <a:rPr lang="en-GB" sz="1000" dirty="0">
                <a:solidFill>
                  <a:schemeClr val="accent4"/>
                </a:solidFill>
              </a:rPr>
              <a:t>Bench agreement is not a test certificate, regulatory approval or clinical (e.g. UTI) diagnostic performance.</a:t>
            </a:r>
            <a:endParaRPr lang="en-GB" sz="1000" dirty="0"/>
          </a:p>
        </p:txBody>
      </p:sp>
      <p:sp>
        <p:nvSpPr>
          <p:cNvPr id="69" name="next-steps"/>
          <p:cNvSpPr/>
          <p:nvPr/>
        </p:nvSpPr>
        <p:spPr>
          <a:xfrm>
            <a:off x="7955280" y="4315968"/>
            <a:ext cx="3776472" cy="1975104"/>
          </a:xfrm>
          <a:prstGeom prst="roundRect">
            <a:avLst>
              <a:gd name="adj" fmla="val 4630"/>
            </a:avLst>
          </a:prstGeom>
          <a:solidFill>
            <a:schemeClr val="tx2"/>
          </a:solidFill>
          <a:ln w="12700">
            <a:solidFill>
              <a:schemeClr val="tx2"/>
            </a:solidFill>
            <a:prstDash val="solid"/>
          </a:ln>
        </p:spPr>
      </p:sp>
      <p:sp>
        <p:nvSpPr>
          <p:cNvPr id="70" name="Text 65"/>
          <p:cNvSpPr txBox="1"/>
          <p:nvPr/>
        </p:nvSpPr>
        <p:spPr>
          <a:xfrm>
            <a:off x="8156448" y="4425696"/>
            <a:ext cx="3429000" cy="274320"/>
          </a:xfrm>
          <a:prstGeom prst="rect">
            <a:avLst/>
          </a:prstGeom>
          <a:noFill/>
          <a:ln/>
        </p:spPr>
        <p:txBody>
          <a:bodyPr wrap="square" lIns="0" tIns="0" rIns="0" bIns="0" rtlCol="0" anchor="t"/>
          <a:lstStyle/>
          <a:p>
            <a:pPr indent="0" marL="0">
              <a:buNone/>
            </a:pPr>
            <a:r>
              <a:rPr lang="en-GB" sz="1400" b="1" dirty="0">
                <a:solidFill>
                  <a:schemeClr val="bg1"/>
                </a:solidFill>
              </a:rPr>
              <a:t>Proposed next steps with IMH</a:t>
            </a:r>
            <a:endParaRPr lang="en-GB" sz="1400" dirty="0"/>
          </a:p>
        </p:txBody>
      </p:sp>
      <p:sp>
        <p:nvSpPr>
          <p:cNvPr id="71" name="Text 66"/>
          <p:cNvSpPr txBox="1"/>
          <p:nvPr/>
        </p:nvSpPr>
        <p:spPr>
          <a:xfrm>
            <a:off x="8156448" y="4736592"/>
            <a:ext cx="3429000" cy="14630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GB" sz="1200" dirty="0">
                <a:solidFill>
                  <a:schemeClr val="bg1"/>
                </a:solidFill>
              </a:rPr>
              <a:t>Agree target markers and output format</a:t>
            </a:r>
            <a:endParaRPr lang="en-GB" sz="1200" dirty="0"/>
          </a:p>
          <a:p>
            <a:pPr marL="342900" indent="-342900">
              <a:spcAft>
                <a:spcPts val="400"/>
              </a:spcAft>
              <a:buSzPct val="100000"/>
              <a:buFont typeface="+mj-lt"/>
              <a:buAutoNum type="arabicPeriod" startAt="1"/>
            </a:pPr>
            <a:r>
              <a:rPr lang="en-GB" sz="1200" dirty="0">
                <a:solidFill>
                  <a:schemeClr val="bg1"/>
                </a:solidFill>
              </a:rPr>
              <a:t>Co-design test protocol and acceptance criteria</a:t>
            </a:r>
            <a:endParaRPr lang="en-GB" sz="1200" dirty="0"/>
          </a:p>
          <a:p>
            <a:pPr marL="342900" indent="-342900">
              <a:spcAft>
                <a:spcPts val="400"/>
              </a:spcAft>
              <a:buSzPct val="100000"/>
              <a:buFont typeface="+mj-lt"/>
              <a:buAutoNum type="arabicPeriod" startAt="1"/>
            </a:pPr>
            <a:r>
              <a:rPr lang="en-GB" sz="1200" dirty="0">
                <a:solidFill>
                  <a:schemeClr val="bg1"/>
                </a:solidFill>
              </a:rPr>
              <a:t>MONIT supplies sample sets (lots, layouts)</a:t>
            </a:r>
            <a:endParaRPr lang="en-GB" sz="1200" dirty="0"/>
          </a:p>
          <a:p>
            <a:pPr marL="342900" indent="-342900">
              <a:spcAft>
                <a:spcPts val="400"/>
              </a:spcAft>
              <a:buSzPct val="100000"/>
              <a:buFont typeface="+mj-lt"/>
              <a:buAutoNum type="arabicPeriod" startAt="1"/>
            </a:pPr>
            <a:r>
              <a:rPr lang="en-GB" sz="1200" dirty="0">
                <a:solidFill>
                  <a:schemeClr val="bg1"/>
                </a:solidFill>
              </a:rPr>
              <a:t>Use images from the validated read window for AI reading (timing to agree with IMH)</a:t>
            </a:r>
            <a:endParaRPr lang="en-GB" sz="1200" dirty="0"/>
          </a:p>
        </p:txBody>
      </p:sp>
      <p:sp>
        <p:nvSpPr>
          <p:cNvPr id="72" name="Text 67"/>
          <p:cNvSpPr txBox="1"/>
          <p:nvPr/>
        </p:nvSpPr>
        <p:spPr>
          <a:xfrm>
            <a:off x="4663440" y="6492240"/>
            <a:ext cx="6492240" cy="237744"/>
          </a:xfrm>
          <a:prstGeom prst="rect">
            <a:avLst/>
          </a:prstGeom>
          <a:noFill/>
          <a:ln/>
        </p:spPr>
        <p:txBody>
          <a:bodyPr wrap="square" lIns="0" tIns="0" rIns="0" bIns="0" rtlCol="0" anchor="ctr"/>
          <a:lstStyle/>
          <a:p>
            <a:pPr algn="r" indent="0" marL="0">
              <a:buNone/>
            </a:pPr>
            <a:r>
              <a:rPr lang="en-GB" sz="1000" dirty="0">
                <a:solidFill>
                  <a:schemeClr val="accent4"/>
                </a:solidFill>
              </a:rPr>
              <a:t>[3] CLSI EP12, 3rd ed.  ·  [4] CLSI method verification  ·  [5] EPUAP/NPIAP/PPPIA guideline, 2019</a:t>
            </a:r>
            <a:endParaRPr lang="en-GB" sz="1000" dirty="0"/>
          </a:p>
        </p:txBody>
      </p:sp>
      <p:sp>
        <p:nvSpPr>
          <p:cNvPr id="25" name="Slide Number Placeholder 0"/>
          <p:cNvSpPr>
            <a:spLocks noGrp="1"/>
          </p:cNvSpPr>
          <p:nvPr>
            <p:ph type="sldNum" sz="quarter" idx="4294967295"/>
          </p:nvPr>
        </p:nvSpPr>
        <p:spPr>
          <a:xfrm>
            <a:off x="11365992" y="6492240"/>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GB"/>
              <a:t>3</a:t>
            </a:fld>
            <a:endParaRPr lang="en-GB"/>
          </a:p>
        </p:txBody>
      </p:sp>
    </p:spTree>
  </p:cSld>
  <p:clrMapOvr>
    <a:masterClrMapping/>
  </p:clrMapOvr>
</p:sld>
</file>

<file path=ppt/theme/theme1.xml><?xml version="1.0" encoding="utf-8"?>
<a:theme xmlns:a="http://schemas.openxmlformats.org/drawingml/2006/main" name="MONIT UTIS">
  <a:themeElements>
    <a:clrScheme name="MONIT UTIS">
      <a:dk1>
        <a:srgbClr val="1B2631"/>
      </a:dk1>
      <a:lt1>
        <a:srgbClr val="FFFFFF"/>
      </a:lt1>
      <a:dk2>
        <a:srgbClr val="0B4F5C"/>
      </a:dk2>
      <a:lt2>
        <a:srgbClr val="EAF4F3"/>
      </a:lt2>
      <a:accent1>
        <a:srgbClr val="0E7C7B"/>
      </a:accent1>
      <a:accent2>
        <a:srgbClr val="E8A33D"/>
      </a:accent2>
      <a:accent3>
        <a:srgbClr val="C8453F"/>
      </a:accent3>
      <a:accent4>
        <a:srgbClr val="5F6B7A"/>
      </a:accent4>
      <a:accent5>
        <a:srgbClr val="B8D8D5"/>
      </a:accent5>
      <a:accent6>
        <a:srgbClr val="2E86AB"/>
      </a:accent6>
      <a:hlink>
        <a:srgbClr val="0E7C7B"/>
      </a:hlink>
      <a:folHlink>
        <a:srgbClr val="5F6B7A"/>
      </a:folHlink>
    </a:clrScheme>
    <a:fontScheme name="MONIT UTI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MONIT Co.,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UTIS Reagent Nonwoven: Technical Brief for IMH</dc:title>
  <dc:subject>Sample technical brief for the IMH smart pressure-injury care R&amp;D project</dc:subject>
  <dc:creator>MONIT Co., Ltd.</dc:creator>
  <cp:lastModifiedBy>MONIT Co., Ltd.</cp:lastModifiedBy>
  <cp:revision>1</cp:revision>
  <dcterms:created xsi:type="dcterms:W3CDTF">2026-10-10T23:03:01Z</dcterms:created>
  <dcterms:modified xsi:type="dcterms:W3CDTF">2026-10-10T23:03:01Z</dcterms:modified>
</cp:coreProperties>
</file>